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6" r:id="rId11"/>
    <p:sldId id="267" r:id="rId12"/>
    <p:sldId id="268" r:id="rId13"/>
    <p:sldId id="269" r:id="rId14"/>
    <p:sldId id="265" r:id="rId15"/>
    <p:sldId id="270" r:id="rId16"/>
    <p:sldId id="271" r:id="rId17"/>
    <p:sldId id="272" r:id="rId18"/>
    <p:sldId id="273" r:id="rId19"/>
    <p:sldId id="279" r:id="rId20"/>
    <p:sldId id="274" r:id="rId21"/>
    <p:sldId id="276" r:id="rId22"/>
    <p:sldId id="277" r:id="rId23"/>
    <p:sldId id="278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D8D54-E94C-4E4B-85A3-4574DEF337B6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1B9A2-7F92-4704-A966-EDE6FB596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442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C7028-006A-4C6C-B4B1-A20F1724A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74938-1530-4611-B6BE-1392C572C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AFB4-6091-4B4C-AA41-7164FED1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12C88-7AA8-4482-9CF1-79161681C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08CCD-35B8-4B0B-8EB4-58A98126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6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11DB7-21B2-43DB-B55F-49B3F7E3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15D4-2893-4111-A9B5-BADBB6743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3FDF2-49E8-495D-8143-8419F6D5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1CEF5-5FF1-443D-B894-121A4D5BC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E9A79-8FF0-48F8-9BC3-D3C9A64D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5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D0D13-AE52-442C-8CE0-D4F47F2C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DB336-98A7-4A6F-A059-D7C54FF63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D3F25-B065-4557-939E-578909E5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FF89-F335-4B6F-893C-5184553E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27C7E-D604-4816-8204-216B11E0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4D6D2-C824-4567-8754-8C2D6946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EB922-BB93-496D-9D42-376F89E06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F5CD5-ADF2-4568-8EC4-06FB84B0D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5E49B-8E9D-4E6E-AD50-7C55064DB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CA4584-34B2-4AF1-8465-EAF252C8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4D1DA-DD48-440F-BD3F-80EBB9D5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6B3C5-F3F9-466A-83C7-1D27C600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4F98F-F8DC-459E-9118-C1270CAFF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C8FA0-1F58-410B-9534-6D329D552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09C43-871A-40CA-85FE-233CAD755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FD94E-330C-45DC-B3B0-50A8D3863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DF7D48-A5C2-41DF-9F53-024509CC6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4A631C-68FF-4EDF-B53D-CCE849C61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A24E0-7F6B-469C-B1EB-29633334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9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CD14-8741-4890-BCE1-BB1EE216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19C96-F64D-4EC4-80B5-6AAFBAC7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52099-B319-4D8E-A813-8E7744C5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1228F-A5B8-4DC7-B85A-69AAC04F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C8E7E-3920-4444-A61B-6909202F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CB5FE-0094-4BC3-9193-5F89B2CA4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87D74-6204-4248-94D1-AE4A66B5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2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0F48-0D18-408D-A852-CD2806992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41340-010A-4AE6-91AF-DD83936CB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29F72-6135-4D6B-8969-6B4F1773C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4EEAD-57AE-4E52-A2A8-963E983E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CA5F1-E01B-4719-98FD-7DAD6D28F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3F2A9-2748-45A4-9ED9-3E42FA9A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1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208E-AED5-4186-9AE1-E00A3085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8E83C-41D6-4792-A50E-A0FAD2F7F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E4E2D-77E8-4C9F-BD2C-196D0C80B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5B51B-3C89-4D0C-BF03-70D87071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04DC4-3AFF-4162-9DA8-D2212744D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208A8-139D-4F67-965A-4C732AAB4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16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D817-D313-4587-A3EC-3FCA668F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26F0E-932D-41A4-AC5A-0F3CE13AE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8EF1F-CCB8-476C-8C07-C154588B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851F-E025-4528-9A5D-0C106294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3F473-7842-4275-9356-6C0ADFC6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7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CC8E-64DC-417D-9A5B-183CB60DA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9E554-6670-4B02-A42D-16C4A1CC5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C9813-5839-446A-8183-465A7305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0CF36-FFD3-4E91-8836-DB3A3133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49F81-ECFD-41D0-B88F-FC7D5E6D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74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1F1627-2B15-4D9C-891C-17BBDA6A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F4AA5-B571-4C72-8874-1CB4930B5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B120C-2861-47AE-B94B-476A58D72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6950D-B03A-48F2-9585-F61F5A44680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E56E5-9ED8-4569-BF1E-9727A890E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A8D4-B3D7-49A8-B692-1812371AB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465F-015A-4958-97B4-BA340747E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48C3-8447-46F5-8F10-0B792701E2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Generative Adversarial Networks: GAN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4D258-2FFA-4881-984B-19A642710D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“the most interesting idea in the last 10 years in Machine Learning”</a:t>
            </a:r>
            <a:br>
              <a:rPr lang="en-US" b="0" i="1" dirty="0">
                <a:solidFill>
                  <a:srgbClr val="292929"/>
                </a:solidFill>
                <a:effectLst/>
                <a:latin typeface="charter"/>
              </a:rPr>
            </a:b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Y. </a:t>
            </a:r>
            <a:r>
              <a:rPr lang="en-US" b="0" i="1" dirty="0" err="1">
                <a:solidFill>
                  <a:srgbClr val="292929"/>
                </a:solidFill>
                <a:effectLst/>
                <a:latin typeface="charter"/>
              </a:rPr>
              <a:t>LeCun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 2016</a:t>
            </a:r>
            <a:endParaRPr lang="en-US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069A6-F246-4BCD-8E1B-D10D1724237F}"/>
              </a:ext>
            </a:extLst>
          </p:cNvPr>
          <p:cNvSpPr txBox="1"/>
          <p:nvPr/>
        </p:nvSpPr>
        <p:spPr>
          <a:xfrm>
            <a:off x="730250" y="5880100"/>
            <a:ext cx="6002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[I. Goodfellow et al., Generative Adversarial Networks, 2014] </a:t>
            </a:r>
          </a:p>
        </p:txBody>
      </p:sp>
    </p:spTree>
    <p:extLst>
      <p:ext uri="{BB962C8B-B14F-4D97-AF65-F5344CB8AC3E}">
        <p14:creationId xmlns:p14="http://schemas.microsoft.com/office/powerpoint/2010/main" val="1042280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D572-3361-40AC-A9CD-B8ED7B5A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Generative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6B138-436C-419D-B181-64F1A8490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393"/>
            <a:ext cx="10515600" cy="612775"/>
          </a:xfrm>
        </p:spPr>
        <p:txBody>
          <a:bodyPr/>
          <a:lstStyle/>
          <a:p>
            <a:r>
              <a:rPr lang="en-US" dirty="0"/>
              <a:t>Ability to generate/</a:t>
            </a:r>
            <a:r>
              <a:rPr lang="en-US" dirty="0" err="1"/>
              <a:t>preduce</a:t>
            </a:r>
            <a:r>
              <a:rPr lang="en-US" dirty="0"/>
              <a:t> new content</a:t>
            </a:r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72A19A9E-B906-4D18-8BAA-D8F85A94A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1168"/>
            <a:ext cx="1219200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3CBBAE-FCE7-4A68-A434-E446B8FD0496}"/>
              </a:ext>
            </a:extLst>
          </p:cNvPr>
          <p:cNvSpPr txBox="1"/>
          <p:nvPr/>
        </p:nvSpPr>
        <p:spPr>
          <a:xfrm>
            <a:off x="552450" y="5934670"/>
            <a:ext cx="104528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rightmost column contains true data that are the nearest from the direct neighboring generated samples. </a:t>
            </a:r>
            <a:br>
              <a:rPr lang="en-US" dirty="0"/>
            </a:br>
            <a:r>
              <a:rPr lang="en-US" dirty="0"/>
              <a:t>This shows us that the produced data are really generated and not only </a:t>
            </a:r>
            <a:r>
              <a:rPr lang="en-US" dirty="0" err="1"/>
              <a:t>memorised</a:t>
            </a:r>
            <a:r>
              <a:rPr lang="en-US" dirty="0"/>
              <a:t> by the network.</a:t>
            </a:r>
            <a:br>
              <a:rPr lang="en-US" dirty="0"/>
            </a:br>
            <a:r>
              <a:rPr lang="en-US" dirty="0"/>
              <a:t> (source: “Generative Adversarial Nets” paper)</a:t>
            </a:r>
          </a:p>
        </p:txBody>
      </p:sp>
    </p:spTree>
    <p:extLst>
      <p:ext uri="{BB962C8B-B14F-4D97-AF65-F5344CB8AC3E}">
        <p14:creationId xmlns:p14="http://schemas.microsoft.com/office/powerpoint/2010/main" val="107510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79DBCC-3FE3-473D-8F6D-61060BF6F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0225"/>
            <a:ext cx="10515600" cy="4351338"/>
          </a:xfrm>
        </p:spPr>
        <p:txBody>
          <a:bodyPr/>
          <a:lstStyle/>
          <a:p>
            <a:r>
              <a:rPr lang="en-US" dirty="0"/>
              <a:t>Generating a new image of (let’s say) a ”dog” is equivalent to the problem of generating a new vector following the “dog probability distribution” over an N dimensional vector space (generating a random variable with respect to a specific probability distribution).</a:t>
            </a:r>
          </a:p>
          <a:p>
            <a:r>
              <a:rPr lang="en-US" b="1" dirty="0"/>
              <a:t>Issue n.1</a:t>
            </a:r>
            <a:r>
              <a:rPr lang="en-US" dirty="0"/>
              <a:t>: the “dog probability distribution” may be a very complex distribution over a very large space;</a:t>
            </a:r>
          </a:p>
          <a:p>
            <a:r>
              <a:rPr lang="en-US" b="1" dirty="0"/>
              <a:t>Issue n.2</a:t>
            </a:r>
            <a:r>
              <a:rPr lang="en-US" dirty="0"/>
              <a:t>:we usually don’t know how to express explicitly this distribution</a:t>
            </a:r>
          </a:p>
        </p:txBody>
      </p:sp>
    </p:spTree>
    <p:extLst>
      <p:ext uri="{BB962C8B-B14F-4D97-AF65-F5344CB8AC3E}">
        <p14:creationId xmlns:p14="http://schemas.microsoft.com/office/powerpoint/2010/main" val="2687777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C0FA-FAF0-4B82-85B3-BDC5CC4B3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50" y="-53975"/>
            <a:ext cx="10515600" cy="1325563"/>
          </a:xfrm>
        </p:spPr>
        <p:txBody>
          <a:bodyPr/>
          <a:lstStyle/>
          <a:p>
            <a:r>
              <a:rPr lang="en-US" dirty="0"/>
              <a:t>Dealing with complex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23608-B4EE-467E-AAB7-64728A337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50" y="1076325"/>
            <a:ext cx="10515600" cy="4351338"/>
          </a:xfrm>
        </p:spPr>
        <p:txBody>
          <a:bodyPr/>
          <a:lstStyle/>
          <a:p>
            <a:r>
              <a:rPr lang="en-US" dirty="0"/>
              <a:t>“Transform method”: generating random variables as function of some simpler random variables (e.g. inverse transform from uniform)</a:t>
            </a:r>
          </a:p>
          <a:p>
            <a:r>
              <a:rPr lang="en-US" dirty="0"/>
              <a:t>Idea: implement the transform through a NN</a:t>
            </a:r>
          </a:p>
          <a:p>
            <a:endParaRPr lang="en-US" dirty="0"/>
          </a:p>
        </p:txBody>
      </p:sp>
      <p:pic>
        <p:nvPicPr>
          <p:cNvPr id="40962" name="Picture 2">
            <a:extLst>
              <a:ext uri="{FF2B5EF4-FFF2-40B4-BE49-F238E27FC236}">
                <a16:creationId xmlns:a16="http://schemas.microsoft.com/office/drawing/2014/main" id="{54C79F5A-A740-49A9-8376-458B37083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2295779"/>
            <a:ext cx="9575800" cy="4562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F80F11-84CB-4FA8-9DD0-E37820488D7F}"/>
              </a:ext>
            </a:extLst>
          </p:cNvPr>
          <p:cNvSpPr txBox="1"/>
          <p:nvPr/>
        </p:nvSpPr>
        <p:spPr>
          <a:xfrm>
            <a:off x="269635" y="2795627"/>
            <a:ext cx="1645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to train it?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DF409D-9637-4AA3-B309-AF7893C93857}"/>
              </a:ext>
            </a:extLst>
          </p:cNvPr>
          <p:cNvCxnSpPr>
            <a:stCxn id="4" idx="2"/>
          </p:cNvCxnSpPr>
          <p:nvPr/>
        </p:nvCxnSpPr>
        <p:spPr>
          <a:xfrm>
            <a:off x="1092200" y="3164959"/>
            <a:ext cx="3162300" cy="5053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385A71-86BF-4173-82CF-B0B5304C6A61}"/>
                  </a:ext>
                </a:extLst>
              </p:cNvPr>
              <p:cNvSpPr txBox="1"/>
              <p:nvPr/>
            </p:nvSpPr>
            <p:spPr>
              <a:xfrm>
                <a:off x="9240072" y="1890571"/>
                <a:ext cx="2475678" cy="810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385A71-86BF-4173-82CF-B0B5304C6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072" y="1890571"/>
                <a:ext cx="2475678" cy="810415"/>
              </a:xfrm>
              <a:prstGeom prst="rect">
                <a:avLst/>
              </a:prstGeom>
              <a:blipFill>
                <a:blip r:embed="rId3"/>
                <a:stretch>
                  <a:fillRect l="-1970" t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19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89E9-0C8F-4473-BEBB-7B2DB152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B711D-2884-46E9-B085-442F56958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training: compare the true and the generated probability distributions and backpropagate the difference (the error) through the network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GMN: Generative Matching Networks</a:t>
            </a:r>
          </a:p>
          <a:p>
            <a:r>
              <a:rPr lang="en-US" dirty="0">
                <a:sym typeface="Wingdings" panose="05000000000000000000" pitchFamily="2" charset="2"/>
              </a:rPr>
              <a:t>Indirect training: make the two distributions go through a downstream task chosen such that the </a:t>
            </a:r>
            <a:r>
              <a:rPr lang="en-US" dirty="0" err="1">
                <a:sym typeface="Wingdings" panose="05000000000000000000" pitchFamily="2" charset="2"/>
              </a:rPr>
              <a:t>optimisation</a:t>
            </a:r>
            <a:r>
              <a:rPr lang="en-US" dirty="0">
                <a:sym typeface="Wingdings" panose="05000000000000000000" pitchFamily="2" charset="2"/>
              </a:rPr>
              <a:t> process of the generative network with respect to the downstream task will enforce the generated distribution to be close to the true distribution  </a:t>
            </a:r>
            <a:r>
              <a:rPr lang="en-US" b="1" dirty="0">
                <a:sym typeface="Wingdings" panose="05000000000000000000" pitchFamily="2" charset="2"/>
              </a:rPr>
              <a:t>GAN: Generative Adversarial Networks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3501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4744-7847-4915-8770-E319222E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0"/>
            <a:ext cx="10515600" cy="1325563"/>
          </a:xfrm>
        </p:spPr>
        <p:txBody>
          <a:bodyPr/>
          <a:lstStyle/>
          <a:p>
            <a:r>
              <a:rPr lang="en-US" dirty="0"/>
              <a:t>Optional: Comparing distributions over 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437432-A1FC-4592-BE7C-93C1EFF629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0174"/>
                <a:ext cx="10515600" cy="533717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you have samples from 2 distributions (e.g., uniform and a complex target one you do not explicitly know)</a:t>
                </a:r>
              </a:p>
              <a:p>
                <a:r>
                  <a:rPr lang="en-US" dirty="0"/>
                  <a:t>There are several methods that compute the distance between the 2 distributions by looking at the samples.</a:t>
                </a:r>
              </a:p>
              <a:p>
                <a:r>
                  <a:rPr lang="en-US" dirty="0"/>
                  <a:t>One is the </a:t>
                </a:r>
                <a:r>
                  <a:rPr lang="en-US" b="1" dirty="0"/>
                  <a:t>MMD: Maximum Mean Discrepancy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dirty="0"/>
                  <a:t> be samples from distributions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𝑀𝑀𝐷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′</m:t>
                                                  </m:r>
                                                </m:sup>
                                              </m:sSup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𝑁𝑀</m:t>
                                          </m:r>
                                        </m:den>
                                      </m:f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3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  <m:e>
                                          <m:nary>
                                            <m:naryPr>
                                              <m:chr m:val="∑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 m:alnAt="23"/>
                                                </m:r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=1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p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nary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kernel functions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≥0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for</m:t>
                            </m:r>
                            <m:r>
                              <m:rPr>
                                <m:nor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={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,…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}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and</m:t>
                            </m:r>
                            <m:r>
                              <m:rPr>
                                <m:nor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Example: RBF kernel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en-US" dirty="0"/>
                  <a:t>  linear kernel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437432-A1FC-4592-BE7C-93C1EFF629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0174"/>
                <a:ext cx="10515600" cy="5337176"/>
              </a:xfrm>
              <a:blipFill>
                <a:blip r:embed="rId2"/>
                <a:stretch>
                  <a:fillRect l="-928" t="-2400" b="-1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810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F010-834A-4662-9C82-D7A086A6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Matching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9B7A5-08C7-45A6-8DF9-B0D1FEF38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Generate some random samples from uniform distribution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them as input for the GMN and collect the output samples (forward propagation)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(using MMD) the generated samples with the true samples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backpropagation to make one step of gradient descent to lower the distance (for example MMD) between true and generated distributions (i.e., loss function is MMD)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Go to 2 and Repeat until stop criterion</a:t>
            </a:r>
          </a:p>
        </p:txBody>
      </p:sp>
    </p:spTree>
    <p:extLst>
      <p:ext uri="{BB962C8B-B14F-4D97-AF65-F5344CB8AC3E}">
        <p14:creationId xmlns:p14="http://schemas.microsoft.com/office/powerpoint/2010/main" val="26417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>
            <a:extLst>
              <a:ext uri="{FF2B5EF4-FFF2-40B4-BE49-F238E27FC236}">
                <a16:creationId xmlns:a16="http://schemas.microsoft.com/office/drawing/2014/main" id="{441784B1-048C-4AA6-95E8-278C25914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"/>
            <a:ext cx="12192000" cy="571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25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5A637-2E24-412B-9B7A-BA0812DB4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Adversarial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2E770-50CE-499A-8C56-DE9F3288D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Training the generative network by optimizing a downstream task over the real and the generated distribution</a:t>
            </a:r>
          </a:p>
          <a:p>
            <a:r>
              <a:rPr lang="en-US" dirty="0"/>
              <a:t>The downstream task of GANs is a </a:t>
            </a:r>
            <a:r>
              <a:rPr lang="en-US" b="1" dirty="0"/>
              <a:t>discrimination</a:t>
            </a:r>
            <a:r>
              <a:rPr lang="en-US" dirty="0"/>
              <a:t> task between true and generated samples</a:t>
            </a:r>
          </a:p>
          <a:p>
            <a:pPr lvl="1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we want the discrimination to fail as much as possible</a:t>
            </a:r>
          </a:p>
          <a:p>
            <a:r>
              <a:rPr lang="en-US" dirty="0">
                <a:solidFill>
                  <a:srgbClr val="292929"/>
                </a:solidFill>
                <a:latin typeface="charter"/>
              </a:rPr>
              <a:t>GAN modules</a:t>
            </a:r>
          </a:p>
          <a:p>
            <a:pPr lvl="1"/>
            <a:r>
              <a:rPr lang="en-US" b="1" dirty="0">
                <a:solidFill>
                  <a:srgbClr val="292929"/>
                </a:solidFill>
                <a:latin typeface="charter"/>
              </a:rPr>
              <a:t>Discriminator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: takes samples of true and generated data and that try to classify them as well as possible;</a:t>
            </a:r>
          </a:p>
          <a:p>
            <a:pPr lvl="1"/>
            <a:r>
              <a:rPr lang="en-US" b="1" dirty="0">
                <a:solidFill>
                  <a:srgbClr val="292929"/>
                </a:solidFill>
                <a:latin typeface="charter"/>
              </a:rPr>
              <a:t>Generator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: generate “fake” samples trying to fool the discriminator as much as possible (generate fake samples increasingly difficult to discriminate from real ones)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04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BDE77C8-3B65-440F-9538-83588DB02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388" y="0"/>
            <a:ext cx="71326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C05F9D-2F6B-4573-9985-E9C24023760F}"/>
              </a:ext>
            </a:extLst>
          </p:cNvPr>
          <p:cNvSpPr txBox="1"/>
          <p:nvPr/>
        </p:nvSpPr>
        <p:spPr>
          <a:xfrm>
            <a:off x="44450" y="2090172"/>
            <a:ext cx="524374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 the direct method we try to</a:t>
            </a:r>
            <a:br>
              <a:rPr lang="en-US" sz="2400" dirty="0"/>
            </a:br>
            <a:r>
              <a:rPr lang="en-US" sz="2400" dirty="0"/>
              <a:t>adapt the generated distribution</a:t>
            </a:r>
            <a:br>
              <a:rPr lang="en-US" sz="2400" dirty="0"/>
            </a:br>
            <a:r>
              <a:rPr lang="en-US" sz="2400" dirty="0"/>
              <a:t>to fit the actual one,</a:t>
            </a:r>
          </a:p>
          <a:p>
            <a:r>
              <a:rPr lang="en-US" sz="2400" dirty="0"/>
              <a:t>by adjusting iteratively the generator </a:t>
            </a:r>
          </a:p>
          <a:p>
            <a:r>
              <a:rPr lang="en-US" sz="2400" dirty="0"/>
              <a:t>(gradient descent iterations) to correct </a:t>
            </a:r>
          </a:p>
          <a:p>
            <a:r>
              <a:rPr lang="en-US" sz="2400" dirty="0"/>
              <a:t>the measured difference/error between </a:t>
            </a:r>
          </a:p>
          <a:p>
            <a:r>
              <a:rPr lang="en-US" sz="2400" dirty="0"/>
              <a:t>true and generated distributions</a:t>
            </a:r>
          </a:p>
        </p:txBody>
      </p:sp>
    </p:spTree>
    <p:extLst>
      <p:ext uri="{BB962C8B-B14F-4D97-AF65-F5344CB8AC3E}">
        <p14:creationId xmlns:p14="http://schemas.microsoft.com/office/powerpoint/2010/main" val="783736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CADFD22-CDFC-44B3-B8C9-1BC81EDED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0" y="0"/>
            <a:ext cx="7340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403D1C-9F9E-4DA6-9460-A96EA1FE7886}"/>
              </a:ext>
            </a:extLst>
          </p:cNvPr>
          <p:cNvSpPr txBox="1"/>
          <p:nvPr/>
        </p:nvSpPr>
        <p:spPr>
          <a:xfrm>
            <a:off x="133350" y="1555750"/>
            <a:ext cx="43815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blue distribution is the true one, the orange is the generated one. </a:t>
            </a:r>
          </a:p>
          <a:p>
            <a:r>
              <a:rPr lang="en-US" dirty="0"/>
              <a:t>In grey, with corresponding y-axis on the right, we displayed the probability to be true for the discriminator </a:t>
            </a:r>
          </a:p>
          <a:p>
            <a:r>
              <a:rPr lang="en-US" dirty="0"/>
              <a:t>if it chooses the class with the higher density in each point (assuming “true” and “generated” data are in equal proportions). </a:t>
            </a:r>
          </a:p>
          <a:p>
            <a:r>
              <a:rPr lang="en-US" dirty="0"/>
              <a:t>The closer the two distributions are, the more often the discriminator is wrong. </a:t>
            </a:r>
          </a:p>
          <a:p>
            <a:r>
              <a:rPr lang="en-US" dirty="0"/>
              <a:t>When training, the goal is to “move the green area” (generated distribution is too high) </a:t>
            </a:r>
          </a:p>
          <a:p>
            <a:r>
              <a:rPr lang="en-US" dirty="0"/>
              <a:t>towards the red area (generated distribution is too low)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D4D879-8894-4BEE-9EC5-CE3E907F04B5}"/>
              </a:ext>
            </a:extLst>
          </p:cNvPr>
          <p:cNvSpPr txBox="1"/>
          <p:nvPr/>
        </p:nvSpPr>
        <p:spPr>
          <a:xfrm>
            <a:off x="965200" y="107950"/>
            <a:ext cx="2231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Adversarial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75192-4E7E-4730-84A0-CDAD3847D9C5}"/>
              </a:ext>
            </a:extLst>
          </p:cNvPr>
          <p:cNvSpPr txBox="1"/>
          <p:nvPr/>
        </p:nvSpPr>
        <p:spPr>
          <a:xfrm>
            <a:off x="247650" y="5975350"/>
            <a:ext cx="3997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distribution overlap, discriminator</a:t>
            </a:r>
            <a:br>
              <a:rPr lang="en-US" dirty="0"/>
            </a:br>
            <a:r>
              <a:rPr lang="en-US" dirty="0"/>
              <a:t>is just “random guessing”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C57D7-D852-486A-A27D-8352037E9BA6}"/>
              </a:ext>
            </a:extLst>
          </p:cNvPr>
          <p:cNvSpPr txBox="1"/>
          <p:nvPr/>
        </p:nvSpPr>
        <p:spPr>
          <a:xfrm>
            <a:off x="134775" y="823277"/>
            <a:ext cx="3765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 discriminator is an oracle</a:t>
            </a:r>
            <a:br>
              <a:rPr lang="en-US" dirty="0"/>
            </a:br>
            <a:r>
              <a:rPr lang="en-US" dirty="0"/>
              <a:t>that knows how both distributions are</a:t>
            </a:r>
          </a:p>
        </p:txBody>
      </p:sp>
    </p:spTree>
    <p:extLst>
      <p:ext uri="{BB962C8B-B14F-4D97-AF65-F5344CB8AC3E}">
        <p14:creationId xmlns:p14="http://schemas.microsoft.com/office/powerpoint/2010/main" val="2349605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75EB-4F28-4924-9370-54DE5A3D8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E5043-19BC-48A6-B645-8A162AB19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generator optimization based on downstream activity worse than direct optimization based on distributions? </a:t>
            </a:r>
            <a:r>
              <a:rPr lang="en-US" u="sng" dirty="0"/>
              <a:t>Usually is not</a:t>
            </a:r>
            <a:r>
              <a:rPr lang="en-US" dirty="0"/>
              <a:t>.</a:t>
            </a:r>
          </a:p>
          <a:p>
            <a:r>
              <a:rPr lang="en-US" dirty="0"/>
              <a:t>How can we use a discriminator if it is not an oracle? </a:t>
            </a:r>
            <a:r>
              <a:rPr lang="en-US" u="sng" dirty="0"/>
              <a:t>It can be learned.</a:t>
            </a:r>
          </a:p>
          <a:p>
            <a:r>
              <a:rPr lang="en-US" u="sng" dirty="0"/>
              <a:t>Generator </a:t>
            </a:r>
            <a:r>
              <a:rPr lang="en-US" b="1" dirty="0"/>
              <a:t>G</a:t>
            </a:r>
            <a:r>
              <a:rPr lang="en-US" dirty="0"/>
              <a:t>: a NN that implements a transform function; it takes a random variable following a simple distribution as input, and return a random variable following the target distribution</a:t>
            </a:r>
          </a:p>
          <a:p>
            <a:r>
              <a:rPr lang="en-US" u="sng" dirty="0"/>
              <a:t>Discriminator </a:t>
            </a:r>
            <a:r>
              <a:rPr lang="en-US" b="1" dirty="0"/>
              <a:t>D</a:t>
            </a:r>
            <a:r>
              <a:rPr lang="en-US" dirty="0"/>
              <a:t>: a NN that implements a discriminative function; it takes as input a point and returns the probability that the point is “true/fake”</a:t>
            </a:r>
          </a:p>
        </p:txBody>
      </p:sp>
    </p:spTree>
    <p:extLst>
      <p:ext uri="{BB962C8B-B14F-4D97-AF65-F5344CB8AC3E}">
        <p14:creationId xmlns:p14="http://schemas.microsoft.com/office/powerpoint/2010/main" val="3058032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F908-712B-4199-A9C5-02A5EB2D9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</a:t>
            </a:r>
            <a:r>
              <a:rPr lang="en-US" dirty="0" err="1"/>
              <a:t>tranining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9D1D-2257-4951-8B8F-06F6404EF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two networks G and D can then be trained jointly (at the same time) with opposite goals:</a:t>
            </a:r>
          </a:p>
          <a:p>
            <a:pPr lvl="1"/>
            <a:r>
              <a:rPr lang="en-US" dirty="0"/>
              <a:t>the goal of G is to fool the discriminator, so the generative neural network is trained to maximize the final classification error (between true and generated data)</a:t>
            </a:r>
          </a:p>
          <a:p>
            <a:pPr lvl="1"/>
            <a:r>
              <a:rPr lang="en-US" dirty="0"/>
              <a:t>the goal of D is to detect fake generated data, so the discriminative neural network is trained to minimize the final classification error.</a:t>
            </a:r>
          </a:p>
          <a:p>
            <a:r>
              <a:rPr lang="en-US" dirty="0"/>
              <a:t>At each iteration, the weights of G are updated in order to increase the classification error (error gradient ascent over the G’s parameters) whereas the weights of the D are updated so that to decrease this error (error gradient descent over the D’s parameters)</a:t>
            </a:r>
          </a:p>
        </p:txBody>
      </p:sp>
    </p:spTree>
    <p:extLst>
      <p:ext uri="{BB962C8B-B14F-4D97-AF65-F5344CB8AC3E}">
        <p14:creationId xmlns:p14="http://schemas.microsoft.com/office/powerpoint/2010/main" val="2840045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337FB5A-9EA3-4F17-B4A7-706CE8523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8763"/>
            <a:ext cx="12192000" cy="478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D19C75-E168-44CF-BDA8-9B5DF7473C0E}"/>
              </a:ext>
            </a:extLst>
          </p:cNvPr>
          <p:cNvSpPr txBox="1"/>
          <p:nvPr/>
        </p:nvSpPr>
        <p:spPr>
          <a:xfrm>
            <a:off x="285750" y="5200650"/>
            <a:ext cx="11335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generator takes simple random variables as inputs and generate new data. </a:t>
            </a:r>
          </a:p>
          <a:p>
            <a:r>
              <a:rPr lang="en-US" dirty="0"/>
              <a:t>The discriminator takes “true” and “generated” data and try to discriminate them, building a classifier. </a:t>
            </a:r>
          </a:p>
          <a:p>
            <a:r>
              <a:rPr lang="en-US" dirty="0"/>
              <a:t>The goal of the generator is to fool the discriminator (increase the classification error by mixing up as much as possible </a:t>
            </a:r>
          </a:p>
          <a:p>
            <a:r>
              <a:rPr lang="en-US" dirty="0"/>
              <a:t>generated data with true data) and the goal of the discriminator is to distinguish between true and generated data.</a:t>
            </a:r>
          </a:p>
        </p:txBody>
      </p:sp>
    </p:spTree>
    <p:extLst>
      <p:ext uri="{BB962C8B-B14F-4D97-AF65-F5344CB8AC3E}">
        <p14:creationId xmlns:p14="http://schemas.microsoft.com/office/powerpoint/2010/main" val="3697938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6653-6EF9-47F6-AA06-951EF65FC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game theoretical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62B3-A3CC-44D1-9D94-9FFBC056D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12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Each network competes with the other trying to “win”.</a:t>
            </a:r>
          </a:p>
          <a:p>
            <a:r>
              <a:rPr lang="en-US" dirty="0"/>
              <a:t>A minimax two-players game where the equilibrium is</a:t>
            </a:r>
          </a:p>
          <a:p>
            <a:pPr lvl="1"/>
            <a:r>
              <a:rPr lang="en-US" dirty="0"/>
              <a:t>G produces data from the exact targeted distribution</a:t>
            </a:r>
          </a:p>
          <a:p>
            <a:pPr lvl="1"/>
            <a:r>
              <a:rPr lang="en-US" dirty="0"/>
              <a:t>D predicts “true” or “generated” with probability 1/2 for any point it receives</a:t>
            </a:r>
          </a:p>
          <a:p>
            <a:r>
              <a:rPr lang="en-US" dirty="0"/>
              <a:t>The target of the generator shifts according to the discriminator’s generated error</a:t>
            </a:r>
          </a:p>
          <a:p>
            <a:r>
              <a:rPr lang="en-US" dirty="0"/>
              <a:t>However, It will be very hard for the generator to do its work if the target or the discriminator error is varying or moving</a:t>
            </a:r>
          </a:p>
          <a:p>
            <a:r>
              <a:rPr lang="en-US" dirty="0"/>
              <a:t>So the discriminator is not trained during the training of the generator and vice versa: first, we train the discriminator and then we move on to train the generator.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060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C0F720F-99BC-4E47-87A4-BBAF36E57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813" y="573088"/>
            <a:ext cx="9058275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D1661D-3C5E-4072-8216-5AB6CF22D6A4}"/>
              </a:ext>
            </a:extLst>
          </p:cNvPr>
          <p:cNvSpPr txBox="1"/>
          <p:nvPr/>
        </p:nvSpPr>
        <p:spPr>
          <a:xfrm>
            <a:off x="406401" y="3886200"/>
            <a:ext cx="10623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discriminator loss is only backpropagated to the Discriminator network.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Generator loss is backpropagated through the Discriminator to reach the Generator.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weights of the discriminator are frozen during the training of the generator so that they do not get updated due to the backpropagation during generator training.</a:t>
            </a:r>
          </a:p>
        </p:txBody>
      </p:sp>
    </p:spTree>
    <p:extLst>
      <p:ext uri="{BB962C8B-B14F-4D97-AF65-F5344CB8AC3E}">
        <p14:creationId xmlns:p14="http://schemas.microsoft.com/office/powerpoint/2010/main" val="2481335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52969-7799-4122-9407-3428534A6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8F273-D074-4F04-AC67-033028B49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procedure for one epoch GAN training: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Both Generator and Discriminator are initialized.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Random noise is passed into the generator, for creating fake or generated instances.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generated instances along with the real instances are passed through to the discriminator.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discriminator tries to classify fake instances as fake and real instances as real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Discriminator and generator losses are obtained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Losses are backpropagated and discriminator and generator are trained one after another.</a:t>
            </a:r>
          </a:p>
        </p:txBody>
      </p:sp>
    </p:spTree>
    <p:extLst>
      <p:ext uri="{BB962C8B-B14F-4D97-AF65-F5344CB8AC3E}">
        <p14:creationId xmlns:p14="http://schemas.microsoft.com/office/powerpoint/2010/main" val="3156783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5C14-6E39-49FC-B694-BF0213742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-110331"/>
            <a:ext cx="10515600" cy="1325563"/>
          </a:xfrm>
        </p:spPr>
        <p:txBody>
          <a:bodyPr/>
          <a:lstStyle/>
          <a:p>
            <a:r>
              <a:rPr lang="en-US" dirty="0"/>
              <a:t>Loss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5E1964-C8B4-4DCA-92AD-145A8BE15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450" y="909446"/>
                <a:ext cx="10756900" cy="578802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Discriminator loss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)}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look for the D that minimizes the cross-entropy loss between real data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and predictions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real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generated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Generator loss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look for the G that, given a specific D, maximizes the loss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in other words a G that has a max loss when sending to D a generated instance with label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marL="0" indent="0">
                  <a:buNone/>
                </a:pPr>
                <a:endParaRPr lang="en-US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5E1964-C8B4-4DCA-92AD-145A8BE15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450" y="909446"/>
                <a:ext cx="10756900" cy="5788026"/>
              </a:xfrm>
              <a:blipFill>
                <a:blip r:embed="rId2"/>
                <a:stretch>
                  <a:fillRect l="-1190" t="-16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110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F333DC7-F3E2-2882-E8AE-E1A89F06B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639E-4F9A-9B86-404A-B0D059C2D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-110331"/>
            <a:ext cx="10515600" cy="1325563"/>
          </a:xfrm>
        </p:spPr>
        <p:txBody>
          <a:bodyPr/>
          <a:lstStyle/>
          <a:p>
            <a:r>
              <a:rPr lang="en-US" dirty="0"/>
              <a:t>Loss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B051A-2DE9-0773-8CB3-37663BE436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750" y="1019174"/>
                <a:ext cx="10756900" cy="5788026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Discriminator loss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)−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)}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look for the D that minimizes the cross-entropy loss between real data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and predictions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real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;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generated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Generator loss</a:t>
                </a:r>
                <a:br>
                  <a:rPr lang="en-US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look for the G that, given a specific D, maximizes the loss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in other words a G that has a max loss when sending to D a generated instance with label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Alternatively we want G having a min loss when sending to D a generated instance with label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y=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br>
                  <a:rPr lang="en-US" dirty="0"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5E1964-C8B4-4DCA-92AD-145A8BE15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750" y="1019174"/>
                <a:ext cx="10756900" cy="5788026"/>
              </a:xfrm>
              <a:blipFill>
                <a:blip r:embed="rId2"/>
                <a:stretch>
                  <a:fillRect l="-1133" t="-1684" r="-181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610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68CB-268D-48F7-B126-D46D3834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Challanges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EE760-90F8-479F-8650-8781B42B0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Initially, D easily differentiates between real and generated instances, so G learns well; after G starts producing generated instances very similar to real instances, the probability of prediction of D for an instance becomes 50%. So, at this point, the generator is trained at an optimal level and learning must stop.</a:t>
            </a:r>
          </a:p>
          <a:p>
            <a:r>
              <a:rPr lang="en-US" dirty="0"/>
              <a:t>Initially, it is very easy for D to classify. If the loss is very close to 0, it is not backpropagated to G due to the </a:t>
            </a:r>
            <a:r>
              <a:rPr lang="en-US" b="1" dirty="0"/>
              <a:t>vanishing gradient problem</a:t>
            </a:r>
            <a:r>
              <a:rPr lang="en-US" dirty="0"/>
              <a:t>.</a:t>
            </a:r>
          </a:p>
          <a:p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Mode Collapse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problem: D works well and fails only on a few instances; G learns which instances are fooling D and starts generating only such instances: both D and G stop learning!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168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Examples of Photorealistic GAN Generated Faces">
            <a:extLst>
              <a:ext uri="{FF2B5EF4-FFF2-40B4-BE49-F238E27FC236}">
                <a16:creationId xmlns:a16="http://schemas.microsoft.com/office/drawing/2014/main" id="{942BB202-4EB2-4861-B92F-BB495EDC1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35" y="266700"/>
            <a:ext cx="7375565" cy="550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0C91F8-E1E8-4976-B6E5-8B224E66FD7E}"/>
              </a:ext>
            </a:extLst>
          </p:cNvPr>
          <p:cNvSpPr txBox="1"/>
          <p:nvPr/>
        </p:nvSpPr>
        <p:spPr>
          <a:xfrm>
            <a:off x="2015444" y="5944969"/>
            <a:ext cx="8481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  <a:t>Examples of Photorealistic GAN-Generated 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Helvetica Neue"/>
              </a:rPr>
              <a:t>Faces.Taken</a:t>
            </a:r>
            <a: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  <a:t> from </a:t>
            </a:r>
            <a:b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</a:br>
            <a: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  <a:t>Progressive Growing of GANs for Improved Quality, Stability, and Variation, 2017.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09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Example of the Progression in the Capabilities of GANs from 2014 to 2017">
            <a:extLst>
              <a:ext uri="{FF2B5EF4-FFF2-40B4-BE49-F238E27FC236}">
                <a16:creationId xmlns:a16="http://schemas.microsoft.com/office/drawing/2014/main" id="{059635C3-BD58-4233-9E76-AAE3CF3AE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03" y="1282700"/>
            <a:ext cx="10833697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1746DD-3EED-4ADB-84F3-63784B18E78D}"/>
              </a:ext>
            </a:extLst>
          </p:cNvPr>
          <p:cNvSpPr txBox="1"/>
          <p:nvPr/>
        </p:nvSpPr>
        <p:spPr>
          <a:xfrm>
            <a:off x="780404" y="5035550"/>
            <a:ext cx="10465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  <a:t>Example of the Progression in the Capabilities of GANs from 2014 to 2017.</a:t>
            </a:r>
            <a:b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</a:br>
            <a: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  <a:t>Taken from The Malicious Use of Artificial Intelligence: Forecasting, Prevention, and Mitigation, 2018.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325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xample of Sketches to Color Photographs with pix2pix">
            <a:extLst>
              <a:ext uri="{FF2B5EF4-FFF2-40B4-BE49-F238E27FC236}">
                <a16:creationId xmlns:a16="http://schemas.microsoft.com/office/drawing/2014/main" id="{602690EE-8579-4735-87D2-ECC570D09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200" y="80982"/>
            <a:ext cx="7067550" cy="580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C4197D-3B49-47D1-8872-99F49696253F}"/>
              </a:ext>
            </a:extLst>
          </p:cNvPr>
          <p:cNvSpPr txBox="1"/>
          <p:nvPr/>
        </p:nvSpPr>
        <p:spPr>
          <a:xfrm>
            <a:off x="1955800" y="5889625"/>
            <a:ext cx="88410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  <a:t>Example of Sketches to Color Photographs With pix2pix.</a:t>
            </a:r>
            <a:b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</a:br>
            <a:r>
              <a:rPr lang="en-US" b="0" i="0" dirty="0">
                <a:solidFill>
                  <a:srgbClr val="555555"/>
                </a:solidFill>
                <a:effectLst/>
                <a:latin typeface="Helvetica Neue"/>
              </a:rPr>
              <a:t>Taken from Image-to-Image Translation with Conditional Adversarial Networks, 2016.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065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an Goodfellow su Amazon.it: libri ed eBook Kindle di Ian Goodfellow">
            <a:extLst>
              <a:ext uri="{FF2B5EF4-FFF2-40B4-BE49-F238E27FC236}">
                <a16:creationId xmlns:a16="http://schemas.microsoft.com/office/drawing/2014/main" id="{5ECFA588-F053-4568-B97B-5C3A8BB5C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0150" y="1668317"/>
            <a:ext cx="3409661" cy="454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Jürgen Schmidhuber - Wikipedia">
            <a:extLst>
              <a:ext uri="{FF2B5EF4-FFF2-40B4-BE49-F238E27FC236}">
                <a16:creationId xmlns:a16="http://schemas.microsoft.com/office/drawing/2014/main" id="{51C40C2F-0A0E-41D1-9F1D-692078319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6865" y="1668318"/>
            <a:ext cx="5291667" cy="352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2C834F-6F7B-47AE-8ADD-792AFCF727D3}"/>
              </a:ext>
            </a:extLst>
          </p:cNvPr>
          <p:cNvSpPr txBox="1"/>
          <p:nvPr/>
        </p:nvSpPr>
        <p:spPr>
          <a:xfrm>
            <a:off x="1835150" y="6419850"/>
            <a:ext cx="2285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Ian Goodfellow  (GAN)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C9EE3-24A5-494A-BF53-3C3C10F7643B}"/>
              </a:ext>
            </a:extLst>
          </p:cNvPr>
          <p:cNvSpPr txBox="1"/>
          <p:nvPr/>
        </p:nvSpPr>
        <p:spPr>
          <a:xfrm>
            <a:off x="6724650" y="5524500"/>
            <a:ext cx="4923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Juergen </a:t>
            </a:r>
            <a:r>
              <a:rPr lang="en-US" dirty="0" err="1"/>
              <a:t>Schimdhuber</a:t>
            </a:r>
            <a:r>
              <a:rPr lang="en-US" dirty="0"/>
              <a:t> (Predictability Minimization)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DF79A-748A-403B-956A-71B69FD33709}"/>
              </a:ext>
            </a:extLst>
          </p:cNvPr>
          <p:cNvSpPr txBox="1"/>
          <p:nvPr/>
        </p:nvSpPr>
        <p:spPr>
          <a:xfrm>
            <a:off x="4098369" y="499920"/>
            <a:ext cx="39952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NIPS 2016 controversy</a:t>
            </a:r>
          </a:p>
        </p:txBody>
      </p:sp>
    </p:spTree>
    <p:extLst>
      <p:ext uri="{BB962C8B-B14F-4D97-AF65-F5344CB8AC3E}">
        <p14:creationId xmlns:p14="http://schemas.microsoft.com/office/powerpoint/2010/main" val="3158891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1737</Words>
  <Application>Microsoft Office PowerPoint</Application>
  <PresentationFormat>Widescreen</PresentationFormat>
  <Paragraphs>106</Paragraphs>
  <Slides>24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charter</vt:lpstr>
      <vt:lpstr>Helvetica Neue</vt:lpstr>
      <vt:lpstr>Times New Roman</vt:lpstr>
      <vt:lpstr>Wingdings</vt:lpstr>
      <vt:lpstr>Office Theme</vt:lpstr>
      <vt:lpstr>Generative Adversarial Networks: GAN</vt:lpstr>
      <vt:lpstr>Generative models</vt:lpstr>
      <vt:lpstr>PowerPoint Presentation</vt:lpstr>
      <vt:lpstr>Dealing with complex distributions</vt:lpstr>
      <vt:lpstr>Training methods</vt:lpstr>
      <vt:lpstr>Optional: Comparing distributions over samples</vt:lpstr>
      <vt:lpstr>Generative Matching Networks</vt:lpstr>
      <vt:lpstr>PowerPoint Presentation</vt:lpstr>
      <vt:lpstr>Generative Adversarial Networks</vt:lpstr>
      <vt:lpstr>PowerPoint Presentation</vt:lpstr>
      <vt:lpstr>PowerPoint Presentation</vt:lpstr>
      <vt:lpstr>Some considerations</vt:lpstr>
      <vt:lpstr>Joint tranining</vt:lpstr>
      <vt:lpstr>PowerPoint Presentation</vt:lpstr>
      <vt:lpstr>A game theoretical framework</vt:lpstr>
      <vt:lpstr>PowerPoint Presentation</vt:lpstr>
      <vt:lpstr>PowerPoint Presentation</vt:lpstr>
      <vt:lpstr>Loss functions</vt:lpstr>
      <vt:lpstr>Loss functions</vt:lpstr>
      <vt:lpstr>Challanges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Learning</dc:title>
  <dc:creator>Luigi Portinale</dc:creator>
  <cp:lastModifiedBy>Luigi Portinale</cp:lastModifiedBy>
  <cp:revision>169</cp:revision>
  <dcterms:created xsi:type="dcterms:W3CDTF">2021-02-24T09:45:16Z</dcterms:created>
  <dcterms:modified xsi:type="dcterms:W3CDTF">2025-05-06T12:19:39Z</dcterms:modified>
</cp:coreProperties>
</file>