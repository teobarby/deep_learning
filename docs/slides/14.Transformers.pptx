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82" r:id="rId11"/>
    <p:sldId id="265" r:id="rId12"/>
    <p:sldId id="266" r:id="rId13"/>
    <p:sldId id="267" r:id="rId14"/>
    <p:sldId id="268" r:id="rId15"/>
    <p:sldId id="274" r:id="rId16"/>
    <p:sldId id="297" r:id="rId17"/>
    <p:sldId id="295" r:id="rId18"/>
    <p:sldId id="298" r:id="rId19"/>
    <p:sldId id="270" r:id="rId20"/>
    <p:sldId id="271" r:id="rId21"/>
    <p:sldId id="272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7" r:id="rId34"/>
    <p:sldId id="286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8D54-E94C-4E4B-85A3-4574DEF337B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1B9A2-7F92-4704-A966-EDE6FB596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layer MLP ma con </a:t>
            </a:r>
            <a:r>
              <a:rPr lang="en-US" dirty="0" err="1"/>
              <a:t>pesi</a:t>
            </a:r>
            <a:r>
              <a:rPr lang="en-US" dirty="0"/>
              <a:t> non </a:t>
            </a:r>
            <a:r>
              <a:rPr lang="en-US" dirty="0" err="1"/>
              <a:t>appresi</a:t>
            </a:r>
            <a:r>
              <a:rPr lang="en-US" dirty="0"/>
              <a:t> ma </a:t>
            </a:r>
            <a:r>
              <a:rPr lang="en-US" dirty="0" err="1"/>
              <a:t>calcolati</a:t>
            </a:r>
            <a:r>
              <a:rPr lang="en-US" dirty="0"/>
              <a:t> </a:t>
            </a:r>
            <a:r>
              <a:rPr lang="en-US" dirty="0" err="1"/>
              <a:t>sugli</a:t>
            </a:r>
            <a:r>
              <a:rPr lang="en-US" dirty="0"/>
              <a:t> input. </a:t>
            </a:r>
            <a:r>
              <a:rPr lang="en-US" dirty="0" err="1"/>
              <a:t>Softmax</a:t>
            </a:r>
            <a:r>
              <a:rPr lang="en-US" dirty="0"/>
              <a:t> per </a:t>
            </a:r>
            <a:r>
              <a:rPr lang="en-US" dirty="0" err="1"/>
              <a:t>normalizzare</a:t>
            </a:r>
            <a:r>
              <a:rPr lang="en-US" dirty="0"/>
              <a:t> (somma a 1 e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positivo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3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97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09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L’ouput</a:t>
            </a:r>
            <a:r>
              <a:rPr lang="en-US" dirty="0"/>
              <a:t> sono </a:t>
            </a:r>
            <a:r>
              <a:rPr lang="en-US" dirty="0" err="1"/>
              <a:t>degli</a:t>
            </a:r>
            <a:r>
              <a:rPr lang="en-US" dirty="0"/>
              <a:t> embedding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catturano</a:t>
            </a:r>
            <a:r>
              <a:rPr lang="en-US" dirty="0"/>
              <a:t> la </a:t>
            </a:r>
            <a:r>
              <a:rPr lang="en-US" dirty="0" err="1"/>
              <a:t>semantica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frase</a:t>
            </a:r>
            <a:r>
              <a:rPr lang="en-US" dirty="0"/>
              <a:t> in input. Es: </a:t>
            </a:r>
            <a:r>
              <a:rPr lang="en-US" dirty="0" err="1"/>
              <a:t>genero</a:t>
            </a:r>
            <a:r>
              <a:rPr lang="en-US" dirty="0"/>
              <a:t> output di una </a:t>
            </a:r>
            <a:r>
              <a:rPr lang="en-US" dirty="0" err="1"/>
              <a:t>frase</a:t>
            </a:r>
            <a:r>
              <a:rPr lang="en-US" dirty="0"/>
              <a:t> ed </a:t>
            </a:r>
            <a:r>
              <a:rPr lang="en-US" dirty="0" err="1"/>
              <a:t>alleno</a:t>
            </a:r>
            <a:r>
              <a:rPr lang="en-US" dirty="0"/>
              <a:t> un </a:t>
            </a:r>
            <a:r>
              <a:rPr lang="en-US" dirty="0" err="1"/>
              <a:t>classificatore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quell’output</a:t>
            </a:r>
            <a:r>
              <a:rPr lang="en-US" dirty="0"/>
              <a:t> </a:t>
            </a:r>
            <a:r>
              <a:rPr lang="en-US" dirty="0" err="1"/>
              <a:t>clasifica</a:t>
            </a:r>
            <a:r>
              <a:rPr lang="en-US" dirty="0"/>
              <a:t> il </a:t>
            </a:r>
            <a:r>
              <a:rPr lang="en-US" dirty="0" err="1"/>
              <a:t>sentimento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85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next token on the sequence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5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1B9A2-7F92-4704-A966-EDE6FB5962E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5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7028-006A-4C6C-B4B1-A20F172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74938-1530-4611-B6BE-1392C572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AFB4-6091-4B4C-AA41-7164FE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2C88-7AA8-4482-9CF1-79161681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8CCD-35B8-4B0B-8EB4-58A98126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1DB7-21B2-43DB-B55F-49B3F7E3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15D4-2893-4111-A9B5-BADBB67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FDF2-49E8-495D-8143-8419F6D5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1CEF5-5FF1-443D-B894-121A4D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9A79-8FF0-48F8-9BC3-D3C9A64D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0D13-AE52-442C-8CE0-D4F47F2C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DB336-98A7-4A6F-A059-D7C54FF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D3F25-B065-4557-939E-578909E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FF89-F335-4B6F-893C-5184553E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7C7E-D604-4816-8204-216B11E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D6D2-C824-4567-8754-8C2D6946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922-BB93-496D-9D42-376F89E0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5CD5-ADF2-4568-8EC4-06FB84B0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5E49B-8E9D-4E6E-AD50-7C55064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4584-34B2-4AF1-8465-EAF252C8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D1DA-DD48-440F-BD3F-80EBB9D5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B3C5-F3F9-466A-83C7-1D27C600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F98F-F8DC-459E-9118-C1270CAF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C8FA0-1F58-410B-9534-6D329D55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09C43-871A-40CA-85FE-233CAD755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FD94E-330C-45DC-B3B0-50A8D386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7D48-A5C2-41DF-9F53-024509C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31C-68FF-4EDF-B53D-CCE849C6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A24E0-7F6B-469C-B1EB-29633334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CD14-8741-4890-BCE1-BB1EE21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19C96-F64D-4EC4-80B5-6AAFBAC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2099-B319-4D8E-A813-8E7744C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1228F-A5B8-4DC7-B85A-69AAC04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C8E7E-3920-4444-A61B-6909202F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B5FE-0094-4BC3-9193-5F89B2CA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D74-6204-4248-94D1-AE4A66B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F48-0D18-408D-A852-CD28069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1340-010A-4AE6-91AF-DD83936C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29F72-6135-4D6B-8969-6B4F1773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4EEAD-57AE-4E52-A2A8-963E983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A5F1-E01B-4719-98FD-7DAD6D28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3F2A9-2748-45A4-9ED9-3E42FA9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208E-AED5-4186-9AE1-E00A3085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E83C-41D6-4792-A50E-A0FAD2F7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4E2D-77E8-4C9F-BD2C-196D0C80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5B51B-3C89-4D0C-BF03-70D87071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4DC4-3AFF-4162-9DA8-D2212744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208A8-139D-4F67-965A-4C732AAB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817-D313-4587-A3EC-3FCA668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6F0E-932D-41A4-AC5A-0F3CE13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EF1F-CCB8-476C-8C07-C154588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851F-E025-4528-9A5D-0C106294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F473-7842-4275-9356-6C0ADFC6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CC8E-64DC-417D-9A5B-183CB60DA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554-6670-4B02-A42D-16C4A1CC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9813-5839-446A-8183-465A7305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F36-FFD3-4E91-8836-DB3A3133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9F81-ECFD-41D0-B88F-FC7D5E6D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1627-2B15-4D9C-891C-17BBDA6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4AA5-B571-4C72-8874-1CB4930B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120C-2861-47AE-B94B-476A58D7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50D-B03A-48F2-9585-F61F5A44680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56E5-9ED8-4569-BF1E-9727A890E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A8D4-B3D7-49A8-B692-1812371AB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148C3-8447-46F5-8F10-0B792701E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4D258-2FFA-4881-984B-19A642710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Attention is all you need</a:t>
            </a:r>
            <a:br>
              <a:rPr lang="en-US" dirty="0"/>
            </a:br>
            <a:r>
              <a:rPr lang="en-US" i="1" dirty="0"/>
              <a:t>A. </a:t>
            </a:r>
            <a:r>
              <a:rPr lang="en-US" i="1" dirty="0" err="1"/>
              <a:t>Vaswami</a:t>
            </a:r>
            <a:r>
              <a:rPr lang="en-US" i="1" dirty="0"/>
              <a:t> et al. 2017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ransformers Studio Series 15th Anniversary Multipack per primo film,  contiene 5 action figure a partire da 8">
            <a:extLst>
              <a:ext uri="{FF2B5EF4-FFF2-40B4-BE49-F238E27FC236}">
                <a16:creationId xmlns:a16="http://schemas.microsoft.com/office/drawing/2014/main" id="{4D318346-90CB-7E2F-84A5-F9BCC9478F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10780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28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FD2C-CBB4-17B7-DF5A-81BAD98C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662E-10CC-FCBC-D528-94AC9AAEC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at </a:t>
            </a:r>
            <a:r>
              <a:rPr lang="en-US" dirty="0" err="1"/>
              <a:t>enconding</a:t>
            </a:r>
            <a:r>
              <a:rPr lang="en-US" dirty="0"/>
              <a:t> history</a:t>
            </a:r>
          </a:p>
          <a:p>
            <a:r>
              <a:rPr lang="en-US" dirty="0"/>
              <a:t>Bad in</a:t>
            </a:r>
          </a:p>
          <a:p>
            <a:pPr lvl="1"/>
            <a:r>
              <a:rPr lang="en-US" dirty="0"/>
              <a:t>Considering very long sequences</a:t>
            </a:r>
          </a:p>
          <a:p>
            <a:pPr lvl="1"/>
            <a:r>
              <a:rPr lang="en-US" dirty="0"/>
              <a:t>Taking into account context</a:t>
            </a:r>
          </a:p>
          <a:p>
            <a:pPr lvl="1"/>
            <a:r>
              <a:rPr lang="en-US" dirty="0"/>
              <a:t>E.g., trying to predict the last word in the following sentence:</a:t>
            </a:r>
            <a:br>
              <a:rPr lang="en-US" dirty="0"/>
            </a:br>
            <a:r>
              <a:rPr lang="en-US" i="1" dirty="0"/>
              <a:t>I grew up in France, </a:t>
            </a:r>
            <a:r>
              <a:rPr lang="en-US" i="1" dirty="0" err="1"/>
              <a:t>bla</a:t>
            </a:r>
            <a:r>
              <a:rPr lang="en-US" i="1" dirty="0"/>
              <a:t> </a:t>
            </a:r>
            <a:r>
              <a:rPr lang="en-US" i="1" dirty="0" err="1"/>
              <a:t>bla</a:t>
            </a:r>
            <a:r>
              <a:rPr lang="en-US" i="1" dirty="0"/>
              <a:t> </a:t>
            </a:r>
            <a:r>
              <a:rPr lang="en-US" i="1" dirty="0" err="1"/>
              <a:t>bla</a:t>
            </a:r>
            <a:r>
              <a:rPr lang="en-US" i="1" dirty="0"/>
              <a:t> ……….</a:t>
            </a:r>
            <a:r>
              <a:rPr lang="en-US" i="1" dirty="0" err="1"/>
              <a:t>bla</a:t>
            </a:r>
            <a:r>
              <a:rPr lang="en-US" i="1" dirty="0"/>
              <a:t> </a:t>
            </a:r>
            <a:r>
              <a:rPr lang="en-US" i="1" dirty="0" err="1"/>
              <a:t>bla</a:t>
            </a:r>
            <a:r>
              <a:rPr lang="en-US" i="1" dirty="0"/>
              <a:t> </a:t>
            </a:r>
            <a:r>
              <a:rPr lang="en-US" i="1" dirty="0" err="1"/>
              <a:t>bla</a:t>
            </a:r>
            <a:r>
              <a:rPr lang="en-US" i="1" dirty="0"/>
              <a:t> …… thus I speak </a:t>
            </a:r>
            <a:r>
              <a:rPr lang="en-US" i="1" dirty="0">
                <a:solidFill>
                  <a:srgbClr val="FF0000"/>
                </a:solidFill>
              </a:rPr>
              <a:t>??</a:t>
            </a:r>
          </a:p>
          <a:p>
            <a:pPr lvl="1"/>
            <a:r>
              <a:rPr lang="en-US" dirty="0"/>
              <a:t>The word should be </a:t>
            </a:r>
            <a:r>
              <a:rPr lang="en-US" dirty="0">
                <a:solidFill>
                  <a:srgbClr val="FF0000"/>
                </a:solidFill>
              </a:rPr>
              <a:t>French</a:t>
            </a:r>
            <a:r>
              <a:rPr lang="en-US" dirty="0"/>
              <a:t> and it depends on a context that is identified by the word </a:t>
            </a:r>
            <a:r>
              <a:rPr lang="en-US" i="1" dirty="0"/>
              <a:t>France</a:t>
            </a:r>
            <a:r>
              <a:rPr lang="en-US" dirty="0"/>
              <a:t>, very far away in  the sequence</a:t>
            </a:r>
          </a:p>
          <a:p>
            <a:r>
              <a:rPr lang="en-US" dirty="0"/>
              <a:t>The answer: </a:t>
            </a:r>
            <a:r>
              <a:rPr lang="en-US" b="1" dirty="0"/>
              <a:t>Attention</a:t>
            </a:r>
            <a:r>
              <a:rPr lang="en-US" dirty="0"/>
              <a:t> mechanism</a:t>
            </a:r>
          </a:p>
        </p:txBody>
      </p:sp>
    </p:spTree>
    <p:extLst>
      <p:ext uri="{BB962C8B-B14F-4D97-AF65-F5344CB8AC3E}">
        <p14:creationId xmlns:p14="http://schemas.microsoft.com/office/powerpoint/2010/main" val="304731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AFE005-F3EA-0E91-A5F7-58DA05C6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927" y="562502"/>
            <a:ext cx="4586073" cy="476246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F1C1C0B-8FFE-D51B-A5A6-B3C69149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500" y="2280950"/>
            <a:ext cx="3105150" cy="2043400"/>
          </a:xfrm>
        </p:spPr>
        <p:txBody>
          <a:bodyPr>
            <a:noAutofit/>
          </a:bodyPr>
          <a:lstStyle/>
          <a:p>
            <a:r>
              <a:rPr lang="en-US" sz="2800" dirty="0"/>
              <a:t>Which other word should the current word </a:t>
            </a:r>
            <a:r>
              <a:rPr lang="en-US" sz="2800" b="1" i="1" dirty="0"/>
              <a:t>it</a:t>
            </a:r>
            <a:r>
              <a:rPr lang="en-US" sz="2800" dirty="0"/>
              <a:t>  refer to (or to take attention)?</a:t>
            </a:r>
          </a:p>
        </p:txBody>
      </p:sp>
    </p:spTree>
    <p:extLst>
      <p:ext uri="{BB962C8B-B14F-4D97-AF65-F5344CB8AC3E}">
        <p14:creationId xmlns:p14="http://schemas.microsoft.com/office/powerpoint/2010/main" val="3746745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B8B7BB-5420-9E40-AAD9-CC982F9AA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Attention timeline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A5CF0-7D94-9487-230B-E5EBA2DF3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15771"/>
            <a:ext cx="5112860" cy="6683479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1AF5A-246E-A29C-2BFA-03A0AAE81988}"/>
              </a:ext>
            </a:extLst>
          </p:cNvPr>
          <p:cNvSpPr txBox="1"/>
          <p:nvPr/>
        </p:nvSpPr>
        <p:spPr>
          <a:xfrm>
            <a:off x="6457113" y="5911850"/>
            <a:ext cx="190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2024: Sora, Vasa-1</a:t>
            </a:r>
          </a:p>
        </p:txBody>
      </p:sp>
    </p:spTree>
    <p:extLst>
      <p:ext uri="{BB962C8B-B14F-4D97-AF65-F5344CB8AC3E}">
        <p14:creationId xmlns:p14="http://schemas.microsoft.com/office/powerpoint/2010/main" val="68103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A7F69-9E7C-620A-9DA3-5FC0E2D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RNN: seq2seq</a:t>
            </a:r>
          </a:p>
        </p:txBody>
      </p:sp>
      <p:pic>
        <p:nvPicPr>
          <p:cNvPr id="5" name="Picture 4" descr="A close-up of a colorful rectangular object&#10;&#10;Description automatically generated">
            <a:extLst>
              <a:ext uri="{FF2B5EF4-FFF2-40B4-BE49-F238E27FC236}">
                <a16:creationId xmlns:a16="http://schemas.microsoft.com/office/drawing/2014/main" id="{277D26AD-4C7B-0C37-F8CE-6D248E09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93" y="1845426"/>
            <a:ext cx="9519360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4331-9A06-EB8D-BC64-B2AE46D2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95FA8-21B0-928C-A07B-1873147A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509" y="838345"/>
            <a:ext cx="7517781" cy="56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7E7B45-5C46-78D7-38C0-BFB6278689E4}"/>
                  </a:ext>
                </a:extLst>
              </p:cNvPr>
              <p:cNvSpPr txBox="1"/>
              <p:nvPr/>
            </p:nvSpPr>
            <p:spPr>
              <a:xfrm>
                <a:off x="749300" y="1825310"/>
                <a:ext cx="2811795" cy="1406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7E7B45-5C46-78D7-38C0-BFB627868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" y="1825310"/>
                <a:ext cx="2811795" cy="14069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1B4A49-4B3F-2B06-53A8-7EFB533A4A62}"/>
                  </a:ext>
                </a:extLst>
              </p:cNvPr>
              <p:cNvSpPr txBox="1"/>
              <p:nvPr/>
            </p:nvSpPr>
            <p:spPr>
              <a:xfrm>
                <a:off x="1454150" y="3763982"/>
                <a:ext cx="1606145" cy="419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1B4A49-4B3F-2B06-53A8-7EFB533A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150" y="3763982"/>
                <a:ext cx="1606145" cy="419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9CA808-8405-D3E6-868C-3F4B61FF9267}"/>
                  </a:ext>
                </a:extLst>
              </p:cNvPr>
              <p:cNvSpPr txBox="1"/>
              <p:nvPr/>
            </p:nvSpPr>
            <p:spPr>
              <a:xfrm>
                <a:off x="1352124" y="4583132"/>
                <a:ext cx="2924839" cy="419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9CA808-8405-D3E6-868C-3F4B61FF9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124" y="4583132"/>
                <a:ext cx="2924839" cy="419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20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6B24EC-4AEB-37D9-A992-C500EA61A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0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3AC83-726D-135F-33C6-7596E06B3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14" y="274277"/>
            <a:ext cx="11652371" cy="58797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D9B77F-417E-D809-2805-CFA425820D42}"/>
              </a:ext>
            </a:extLst>
          </p:cNvPr>
          <p:cNvSpPr txBox="1"/>
          <p:nvPr/>
        </p:nvSpPr>
        <p:spPr>
          <a:xfrm>
            <a:off x="5715000" y="2571750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row_wise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BACFC4-E22D-ADB0-F881-47EF5B274603}"/>
                  </a:ext>
                </a:extLst>
              </p:cNvPr>
              <p:cNvSpPr txBox="1"/>
              <p:nvPr/>
            </p:nvSpPr>
            <p:spPr>
              <a:xfrm>
                <a:off x="4594177" y="6306724"/>
                <a:ext cx="300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usually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largest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value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BACFC4-E22D-ADB0-F881-47EF5B27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177" y="6306724"/>
                <a:ext cx="3003643" cy="276999"/>
              </a:xfrm>
              <a:prstGeom prst="rect">
                <a:avLst/>
              </a:prstGeom>
              <a:blipFill>
                <a:blip r:embed="rId3"/>
                <a:stretch>
                  <a:fillRect l="-610" t="-4444" r="-182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69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5C44-49AA-C02D-5B99-3D7DE0018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1CBA-712F-4547-BFBC-8EDBB38586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A parallel computation of all outputs</a:t>
                </a:r>
              </a:p>
              <a:p>
                <a:r>
                  <a:rPr lang="en-US" sz="3200" dirty="0"/>
                  <a:t>More a set model than a sequence model: later we will discuss how to introduce sequencing (positional encoding)</a:t>
                </a:r>
              </a:p>
              <a:p>
                <a:r>
                  <a:rPr lang="en-US" sz="3200" dirty="0"/>
                  <a:t>Permutation equivariant: if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:r>
                  <a:rPr lang="en-US" sz="3200" dirty="0"/>
                  <a:t> is the self-attention computation of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dirty="0"/>
                  <a:t>, for any permutation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3200" dirty="0"/>
                  <a:t>of the input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dirty="0"/>
                  <a:t> we have</a:t>
                </a:r>
                <a:br>
                  <a:rPr lang="en-US" sz="3200" dirty="0"/>
                </a:b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𝑠𝑎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1CBA-712F-4547-BFBC-8EDBB3858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323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2DF5BF-8892-E38B-F8E1-633F89FC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DD7A43-AEBA-3BA7-EDBD-9CC6E590C48A}"/>
              </a:ext>
            </a:extLst>
          </p:cNvPr>
          <p:cNvSpPr/>
          <p:nvPr/>
        </p:nvSpPr>
        <p:spPr>
          <a:xfrm>
            <a:off x="311150" y="6381750"/>
            <a:ext cx="596900" cy="2984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E6B8C-7751-82F5-E246-A5934A430EC4}"/>
              </a:ext>
            </a:extLst>
          </p:cNvPr>
          <p:cNvSpPr/>
          <p:nvPr/>
        </p:nvSpPr>
        <p:spPr>
          <a:xfrm>
            <a:off x="10706100" y="6019800"/>
            <a:ext cx="1352550" cy="723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2CA3-9533-CDA5-5F8B-277D8B7F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sentiment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AB2CF-C8CC-DC26-0861-24184F3D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0597"/>
            <a:ext cx="7287011" cy="5408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6EC36D-F617-4283-910F-59ECFA239390}"/>
              </a:ext>
            </a:extLst>
          </p:cNvPr>
          <p:cNvSpPr txBox="1"/>
          <p:nvPr/>
        </p:nvSpPr>
        <p:spPr>
          <a:xfrm>
            <a:off x="7804150" y="3394584"/>
            <a:ext cx="4283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can learn that the word terrible</a:t>
            </a:r>
            <a:br>
              <a:rPr lang="en-US" dirty="0"/>
            </a:br>
            <a:r>
              <a:rPr lang="en-US" dirty="0"/>
              <a:t>is actually putting attention to the word not</a:t>
            </a:r>
            <a:br>
              <a:rPr lang="en-US" dirty="0"/>
            </a:br>
            <a:r>
              <a:rPr lang="en-US" dirty="0"/>
              <a:t>which reverse its meaning</a:t>
            </a:r>
            <a:br>
              <a:rPr lang="en-US" dirty="0"/>
            </a:br>
            <a:r>
              <a:rPr lang="en-US" dirty="0"/>
              <a:t>(actual sentiment is positive here)</a:t>
            </a:r>
          </a:p>
        </p:txBody>
      </p:sp>
    </p:spTree>
    <p:extLst>
      <p:ext uri="{BB962C8B-B14F-4D97-AF65-F5344CB8AC3E}">
        <p14:creationId xmlns:p14="http://schemas.microsoft.com/office/powerpoint/2010/main" val="387276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DF7E-44A4-F3A2-BDD0-8D0CFE3F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attention: refinements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17CCA0-18C0-E279-6069-8377F2EF7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Scaled self-attention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=input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Key, Query and Value self-attention</a:t>
                </a:r>
              </a:p>
              <a:p>
                <a:pPr lvl="1"/>
                <a:r>
                  <a:rPr lang="en-US" dirty="0"/>
                  <a:t>Every vector in a self-attention operation occurs with a specific role</a:t>
                </a:r>
              </a:p>
              <a:p>
                <a:pPr lvl="1"/>
                <a:r>
                  <a:rPr lang="en-US" b="1" dirty="0"/>
                  <a:t>Value</a:t>
                </a:r>
                <a:r>
                  <a:rPr lang="en-US" dirty="0"/>
                  <a:t>: the current vector we use in the weighted sum to provide the output</a:t>
                </a:r>
              </a:p>
              <a:p>
                <a:pPr lvl="1"/>
                <a:r>
                  <a:rPr lang="en-US" b="1" dirty="0"/>
                  <a:t>Query</a:t>
                </a:r>
                <a:r>
                  <a:rPr lang="en-US" dirty="0"/>
                  <a:t>: the input vector that is matched against all the others to compute the weights</a:t>
                </a:r>
              </a:p>
              <a:p>
                <a:pPr lvl="1"/>
                <a:r>
                  <a:rPr lang="en-US" b="1" dirty="0"/>
                  <a:t>Key</a:t>
                </a:r>
                <a:r>
                  <a:rPr lang="en-US" dirty="0"/>
                  <a:t>: the vector that is matched against the query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17CCA0-18C0-E279-6069-8377F2EF7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734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154386-5CCB-5905-D2B0-7A1199F0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47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list of words&#10;&#10;Description automatically generated">
            <a:extLst>
              <a:ext uri="{FF2B5EF4-FFF2-40B4-BE49-F238E27FC236}">
                <a16:creationId xmlns:a16="http://schemas.microsoft.com/office/drawing/2014/main" id="{1D36A7A8-55A0-AA18-8120-A279A7B77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6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B03FA2-171F-2831-A2D6-5A87B3D77519}"/>
              </a:ext>
            </a:extLst>
          </p:cNvPr>
          <p:cNvSpPr txBox="1"/>
          <p:nvPr/>
        </p:nvSpPr>
        <p:spPr>
          <a:xfrm>
            <a:off x="5099050" y="4292600"/>
            <a:ext cx="6913367" cy="138499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When Q is from a different set than K and V</a:t>
            </a:r>
            <a:br>
              <a:rPr lang="en-US" sz="2800" dirty="0"/>
            </a:br>
            <a:r>
              <a:rPr lang="en-US" sz="2800" dirty="0"/>
              <a:t>we have Cross-attention</a:t>
            </a:r>
          </a:p>
          <a:p>
            <a:r>
              <a:rPr lang="en-US" sz="2800" i="1" dirty="0"/>
              <a:t>Example in the decoder block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212768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7154-74B0-2B73-5F07-A503B93C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transformation and dimensionality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278DE1-27E3-AECD-582A-78BEA692C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10841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Given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×1]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×1]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we operate a dimensionality reduction</a:t>
                </a:r>
              </a:p>
              <a:p>
                <a:r>
                  <a:rPr lang="en-US" dirty="0"/>
                  <a:t>W is a linear operator projecting the original vectors into a lower dimensionality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278DE1-27E3-AECD-582A-78BEA692C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10841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7AC23AC-5D76-510A-7BF5-5EFC97561B90}"/>
              </a:ext>
            </a:extLst>
          </p:cNvPr>
          <p:cNvGrpSpPr/>
          <p:nvPr/>
        </p:nvGrpSpPr>
        <p:grpSpPr>
          <a:xfrm>
            <a:off x="3219450" y="4395236"/>
            <a:ext cx="4575175" cy="2366943"/>
            <a:chOff x="3219450" y="3810020"/>
            <a:chExt cx="4575175" cy="23669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F6E329-745B-078E-B1AE-701E7A445322}"/>
                </a:ext>
              </a:extLst>
            </p:cNvPr>
            <p:cNvSpPr/>
            <p:nvPr/>
          </p:nvSpPr>
          <p:spPr>
            <a:xfrm>
              <a:off x="3219450" y="5256213"/>
              <a:ext cx="1968500" cy="9207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F84BF2-2B34-6B89-2084-6A834C0C3443}"/>
                </a:ext>
              </a:extLst>
            </p:cNvPr>
            <p:cNvSpPr/>
            <p:nvPr/>
          </p:nvSpPr>
          <p:spPr>
            <a:xfrm>
              <a:off x="5981700" y="4154488"/>
              <a:ext cx="476250" cy="20224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1BAB14-3EDE-1546-F7C6-AD57019AB5F0}"/>
                </a:ext>
              </a:extLst>
            </p:cNvPr>
            <p:cNvSpPr/>
            <p:nvPr/>
          </p:nvSpPr>
          <p:spPr>
            <a:xfrm>
              <a:off x="7318375" y="5256213"/>
              <a:ext cx="476250" cy="9207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5B8DF3-CFDD-400E-4D34-F92A66FF5163}"/>
                    </a:ext>
                  </a:extLst>
                </p:cNvPr>
                <p:cNvSpPr txBox="1"/>
                <p:nvPr/>
              </p:nvSpPr>
              <p:spPr>
                <a:xfrm>
                  <a:off x="3977199" y="4888726"/>
                  <a:ext cx="281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5B8DF3-CFDD-400E-4D34-F92A66FF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199" y="4888726"/>
                  <a:ext cx="28155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9149" r="-14894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71E986D-0EED-A1DF-5326-E61A7F2EE1A1}"/>
                    </a:ext>
                  </a:extLst>
                </p:cNvPr>
                <p:cNvSpPr txBox="1"/>
                <p:nvPr/>
              </p:nvSpPr>
              <p:spPr>
                <a:xfrm>
                  <a:off x="6129849" y="3810020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71E986D-0EED-A1DF-5326-E61A7F2EE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9849" y="3810020"/>
                  <a:ext cx="183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03104C8-E1DB-0DF2-BBBB-1C5985526575}"/>
                    </a:ext>
                  </a:extLst>
                </p:cNvPr>
                <p:cNvSpPr txBox="1"/>
                <p:nvPr/>
              </p:nvSpPr>
              <p:spPr>
                <a:xfrm>
                  <a:off x="7371274" y="471847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03104C8-E1DB-0DF2-BBBB-1C5985526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1274" y="4718475"/>
                  <a:ext cx="18671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2258" r="-25806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867AA0C-0CDC-135C-9CA5-2AFDB5CF6153}"/>
                    </a:ext>
                  </a:extLst>
                </p:cNvPr>
                <p:cNvSpPr txBox="1"/>
                <p:nvPr/>
              </p:nvSpPr>
              <p:spPr>
                <a:xfrm>
                  <a:off x="5400154" y="5530076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867AA0C-0CDC-135C-9CA5-2AFDB5CF6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154" y="5530076"/>
                  <a:ext cx="21800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4FB14BA-762D-6963-0AE4-08B74C3512E0}"/>
                    </a:ext>
                  </a:extLst>
                </p:cNvPr>
                <p:cNvSpPr txBox="1"/>
                <p:nvPr/>
              </p:nvSpPr>
              <p:spPr>
                <a:xfrm>
                  <a:off x="6772270" y="5530075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4FB14BA-762D-6963-0AE4-08B74C351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270" y="5530075"/>
                  <a:ext cx="22602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3514" r="-81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9FE8B-68F5-0BE9-DAC1-EF0195CDCBE0}"/>
                  </a:ext>
                </a:extLst>
              </p:cNvPr>
              <p:cNvSpPr txBox="1"/>
              <p:nvPr/>
            </p:nvSpPr>
            <p:spPr>
              <a:xfrm>
                <a:off x="5276021" y="1475244"/>
                <a:ext cx="53235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𝑾𝒙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learnable</m:t>
                      </m:r>
                      <m:r>
                        <m:rPr>
                          <m:nor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9FE8B-68F5-0BE9-DAC1-EF0195CDC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21" y="1475244"/>
                <a:ext cx="532357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47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4FD5-106E-E68A-9156-6DE1427F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C89FBD3-A219-2518-4199-F6B8719E6799}"/>
              </a:ext>
            </a:extLst>
          </p:cNvPr>
          <p:cNvGrpSpPr/>
          <p:nvPr/>
        </p:nvGrpSpPr>
        <p:grpSpPr>
          <a:xfrm>
            <a:off x="862827" y="1270121"/>
            <a:ext cx="2431628" cy="1197247"/>
            <a:chOff x="2474976" y="2167128"/>
            <a:chExt cx="2431628" cy="1197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2B1DF80-497D-8062-90E9-840C523171E2}"/>
                    </a:ext>
                  </a:extLst>
                </p:cNvPr>
                <p:cNvSpPr txBox="1"/>
                <p:nvPr/>
              </p:nvSpPr>
              <p:spPr>
                <a:xfrm>
                  <a:off x="2474976" y="2167128"/>
                  <a:ext cx="2431628" cy="4655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2B1DF80-497D-8062-90E9-840C52317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976" y="2167128"/>
                  <a:ext cx="2431628" cy="4655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72944D1-45B6-1D29-FE48-A07C64D9F27F}"/>
                    </a:ext>
                  </a:extLst>
                </p:cNvPr>
                <p:cNvSpPr txBox="1"/>
                <p:nvPr/>
              </p:nvSpPr>
              <p:spPr>
                <a:xfrm>
                  <a:off x="2474976" y="2533412"/>
                  <a:ext cx="2387448" cy="4641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72944D1-45B6-1D29-FE48-A07C64D9F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976" y="2533412"/>
                  <a:ext cx="2387448" cy="46410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6900152-FD02-1D6E-FEDB-56F76BF8721B}"/>
                    </a:ext>
                  </a:extLst>
                </p:cNvPr>
                <p:cNvSpPr txBox="1"/>
                <p:nvPr/>
              </p:nvSpPr>
              <p:spPr>
                <a:xfrm>
                  <a:off x="2498893" y="2898798"/>
                  <a:ext cx="2370970" cy="4655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6900152-FD02-1D6E-FEDB-56F76BF87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8893" y="2898798"/>
                  <a:ext cx="2370970" cy="4655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04D9BA-7FE3-67C3-9AA1-311F57CA818B}"/>
              </a:ext>
            </a:extLst>
          </p:cNvPr>
          <p:cNvGrpSpPr/>
          <p:nvPr/>
        </p:nvGrpSpPr>
        <p:grpSpPr>
          <a:xfrm>
            <a:off x="8934288" y="1502909"/>
            <a:ext cx="3263544" cy="3777489"/>
            <a:chOff x="8195422" y="904239"/>
            <a:chExt cx="3263544" cy="37774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3D3187-83D2-966C-CBE8-607198449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5422" y="904239"/>
              <a:ext cx="3263544" cy="377748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8297F6E-C671-3F02-4A11-F3BDB1D91D2F}"/>
                    </a:ext>
                  </a:extLst>
                </p:cNvPr>
                <p:cNvSpPr txBox="1"/>
                <p:nvPr/>
              </p:nvSpPr>
              <p:spPr>
                <a:xfrm>
                  <a:off x="9749673" y="4250841"/>
                  <a:ext cx="15504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8297F6E-C671-3F02-4A11-F3BDB1D91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9673" y="4250841"/>
                  <a:ext cx="155042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56000" r="-56000" b="-34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0948FE-720B-1E2B-C6A0-B685730B3578}"/>
                  </a:ext>
                </a:extLst>
              </p:cNvPr>
              <p:cNvSpPr txBox="1"/>
              <p:nvPr/>
            </p:nvSpPr>
            <p:spPr>
              <a:xfrm>
                <a:off x="886744" y="223893"/>
                <a:ext cx="744126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latin typeface="Times" panose="02020603050405020304" pitchFamily="18" charset="0"/>
                  </a:rPr>
                  <a:t>Consider 3 linear (learnable) operators for key, query and value; </a:t>
                </a:r>
                <a:br>
                  <a:rPr lang="en-GB" sz="2000" dirty="0">
                    <a:latin typeface="Times" panose="02020603050405020304" pitchFamily="18" charset="0"/>
                  </a:rPr>
                </a:br>
                <a:r>
                  <a:rPr lang="en-GB" sz="2000" dirty="0">
                    <a:latin typeface="Times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2000" dirty="0">
                    <a:latin typeface="Times" panose="02020603050405020304" pitchFamily="18" charset="0"/>
                  </a:rPr>
                  <a:t>= original embedding size (of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latin typeface="Times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>
                    <a:latin typeface="Times" panose="02020603050405020304" pitchFamily="18" charset="0"/>
                  </a:rPr>
                  <a:t>= the number of instances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0948FE-720B-1E2B-C6A0-B685730B3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44" y="223893"/>
                <a:ext cx="7441268" cy="707886"/>
              </a:xfrm>
              <a:prstGeom prst="rect">
                <a:avLst/>
              </a:prstGeom>
              <a:blipFill>
                <a:blip r:embed="rId7"/>
                <a:stretch>
                  <a:fillRect l="-819" t="-5172" r="-164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E5C822-1E20-8FE7-6489-09B37B2920BD}"/>
                  </a:ext>
                </a:extLst>
              </p:cNvPr>
              <p:cNvSpPr txBox="1"/>
              <p:nvPr/>
            </p:nvSpPr>
            <p:spPr>
              <a:xfrm>
                <a:off x="3869039" y="1315784"/>
                <a:ext cx="1953693" cy="106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2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E5C822-1E20-8FE7-6489-09B37B292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039" y="1315784"/>
                <a:ext cx="1953693" cy="1061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3738E7-FEF9-41E2-4AA1-01B00E0153F8}"/>
                  </a:ext>
                </a:extLst>
              </p:cNvPr>
              <p:cNvSpPr txBox="1"/>
              <p:nvPr/>
            </p:nvSpPr>
            <p:spPr>
              <a:xfrm>
                <a:off x="6280598" y="1309491"/>
                <a:ext cx="3110019" cy="852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dimensionality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keys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dimensionality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queries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dimensionality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values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3738E7-FEF9-41E2-4AA1-01B00E015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598" y="1309491"/>
                <a:ext cx="3110019" cy="852413"/>
              </a:xfrm>
              <a:prstGeom prst="rect">
                <a:avLst/>
              </a:prstGeom>
              <a:blipFill>
                <a:blip r:embed="rId9"/>
                <a:stretch>
                  <a:fillRect l="-1373" t="-714" r="-784"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6719A-23D3-D222-27CA-C70AD0376BA5}"/>
                  </a:ext>
                </a:extLst>
              </p:cNvPr>
              <p:cNvSpPr txBox="1"/>
              <p:nvPr/>
            </p:nvSpPr>
            <p:spPr>
              <a:xfrm>
                <a:off x="6492715" y="2489352"/>
                <a:ext cx="2229456" cy="596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Usually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6719A-23D3-D222-27CA-C70AD0376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715" y="2489352"/>
                <a:ext cx="2229456" cy="596830"/>
              </a:xfrm>
              <a:prstGeom prst="rect">
                <a:avLst/>
              </a:prstGeom>
              <a:blipFill>
                <a:blip r:embed="rId10"/>
                <a:stretch>
                  <a:fillRect l="-3279" b="-13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29BFF7-1829-BBB9-D8C1-DC2FC389938B}"/>
                  </a:ext>
                </a:extLst>
              </p:cNvPr>
              <p:cNvSpPr txBox="1"/>
              <p:nvPr/>
            </p:nvSpPr>
            <p:spPr>
              <a:xfrm>
                <a:off x="139798" y="4295254"/>
                <a:ext cx="7238712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matrices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rows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respectively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29BFF7-1829-BBB9-D8C1-DC2FC3899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98" y="4295254"/>
                <a:ext cx="7238712" cy="332463"/>
              </a:xfrm>
              <a:prstGeom prst="rect">
                <a:avLst/>
              </a:prstGeom>
              <a:blipFill>
                <a:blip r:embed="rId11"/>
                <a:stretch>
                  <a:fillRect l="-421" r="-758" b="-2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93D88DA-1E3F-3EE5-482E-44BA07E2011B}"/>
                  </a:ext>
                </a:extLst>
              </p:cNvPr>
              <p:cNvSpPr txBox="1"/>
              <p:nvPr/>
            </p:nvSpPr>
            <p:spPr>
              <a:xfrm>
                <a:off x="441226" y="5193156"/>
                <a:ext cx="3116238" cy="1369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93D88DA-1E3F-3EE5-482E-44BA07E20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26" y="5193156"/>
                <a:ext cx="3116238" cy="13694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0663ED-A448-3FA5-3F9F-F385557B4676}"/>
                  </a:ext>
                </a:extLst>
              </p:cNvPr>
              <p:cNvSpPr txBox="1"/>
              <p:nvPr/>
            </p:nvSpPr>
            <p:spPr>
              <a:xfrm>
                <a:off x="3831226" y="5193158"/>
                <a:ext cx="3094693" cy="1369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0663ED-A448-3FA5-3F9F-F385557B4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226" y="5193158"/>
                <a:ext cx="3094693" cy="13694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7D4F61-56BB-21F8-75A3-C97BB494F676}"/>
                  </a:ext>
                </a:extLst>
              </p:cNvPr>
              <p:cNvSpPr txBox="1"/>
              <p:nvPr/>
            </p:nvSpPr>
            <p:spPr>
              <a:xfrm>
                <a:off x="7138036" y="5193157"/>
                <a:ext cx="3054619" cy="1369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7D4F61-56BB-21F8-75A3-C97BB494F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036" y="5193157"/>
                <a:ext cx="3054619" cy="13694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102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DA5D-956F-B34B-BE3A-2911E73C0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Self-attention with Query Key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ED9AC-2318-F0F1-D3A4-76C8613D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85" y="1530082"/>
            <a:ext cx="4299003" cy="522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D6DFF-0682-D070-3F84-8EE186D5EBAD}"/>
                  </a:ext>
                </a:extLst>
              </p:cNvPr>
              <p:cNvSpPr txBox="1"/>
              <p:nvPr/>
            </p:nvSpPr>
            <p:spPr>
              <a:xfrm>
                <a:off x="6194253" y="2542032"/>
                <a:ext cx="454618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This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D6DFF-0682-D070-3F84-8EE186D5E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253" y="2542032"/>
                <a:ext cx="4546181" cy="553998"/>
              </a:xfrm>
              <a:prstGeom prst="rect">
                <a:avLst/>
              </a:prstGeom>
              <a:blipFill>
                <a:blip r:embed="rId3"/>
                <a:stretch>
                  <a:fillRect l="-804" b="-16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94854-4BD3-421E-5798-A561DD2342E8}"/>
                  </a:ext>
                </a:extLst>
              </p:cNvPr>
              <p:cNvSpPr txBox="1"/>
              <p:nvPr/>
            </p:nvSpPr>
            <p:spPr>
              <a:xfrm>
                <a:off x="6359652" y="3945975"/>
                <a:ext cx="3029676" cy="1269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is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94854-4BD3-421E-5798-A561DD234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652" y="3945975"/>
                <a:ext cx="3029676" cy="1269899"/>
              </a:xfrm>
              <a:prstGeom prst="rect">
                <a:avLst/>
              </a:prstGeom>
              <a:blipFill>
                <a:blip r:embed="rId4"/>
                <a:stretch>
                  <a:fillRect l="-1408" t="-478" r="-1610" b="-6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E5D939-4E0C-454E-063F-F71CF7FDF9CB}"/>
                  </a:ext>
                </a:extLst>
              </p:cNvPr>
              <p:cNvSpPr txBox="1"/>
              <p:nvPr/>
            </p:nvSpPr>
            <p:spPr>
              <a:xfrm>
                <a:off x="6359652" y="5916162"/>
                <a:ext cx="4193007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𝐴𝑊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query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key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E5D939-4E0C-454E-063F-F71CF7FDF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652" y="5916162"/>
                <a:ext cx="4193007" cy="299313"/>
              </a:xfrm>
              <a:prstGeom prst="rect">
                <a:avLst/>
              </a:prstGeom>
              <a:blipFill>
                <a:blip r:embed="rId5"/>
                <a:stretch>
                  <a:fillRect l="-727" r="-581" b="-2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13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B3C9D9-883C-7844-0EC4-B84F712E7227}"/>
              </a:ext>
            </a:extLst>
          </p:cNvPr>
          <p:cNvSpPr txBox="1"/>
          <p:nvPr/>
        </p:nvSpPr>
        <p:spPr>
          <a:xfrm>
            <a:off x="382807" y="2351782"/>
            <a:ext cx="18469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latin typeface="Times" panose="02020603050405020304" pitchFamily="18" charset="0"/>
              </a:rPr>
              <a:t>Attention</a:t>
            </a:r>
            <a:br>
              <a:rPr lang="en-GB" sz="3200" b="1" dirty="0">
                <a:latin typeface="Times" panose="02020603050405020304" pitchFamily="18" charset="0"/>
              </a:rPr>
            </a:br>
            <a:r>
              <a:rPr lang="en-GB" sz="3200" b="1" dirty="0">
                <a:latin typeface="Times" panose="02020603050405020304" pitchFamily="18" charset="0"/>
              </a:rPr>
              <a:t>Map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FE8D5-3E91-23DD-3027-06EE94AC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320" y="320515"/>
            <a:ext cx="6985359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30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5EFB-4CC5-57F0-E506-5676CCD2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ADF02-E91D-F6BD-748D-9AB2DC68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08" y="1325071"/>
            <a:ext cx="9030483" cy="4004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19E3D4-FF6E-3D19-8B18-FF2AEF077A7F}"/>
              </a:ext>
            </a:extLst>
          </p:cNvPr>
          <p:cNvSpPr txBox="1"/>
          <p:nvPr/>
        </p:nvSpPr>
        <p:spPr>
          <a:xfrm>
            <a:off x="838200" y="5399579"/>
            <a:ext cx="93831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relationships between different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order to capture the different meaning of the different relationships </a:t>
            </a:r>
            <a:br>
              <a:rPr lang="en-US" sz="2400" dirty="0"/>
            </a:br>
            <a:r>
              <a:rPr lang="en-US" sz="2400" dirty="0"/>
              <a:t>we split SA into heads applied in parallel</a:t>
            </a:r>
          </a:p>
        </p:txBody>
      </p:sp>
    </p:spTree>
    <p:extLst>
      <p:ext uri="{BB962C8B-B14F-4D97-AF65-F5344CB8AC3E}">
        <p14:creationId xmlns:p14="http://schemas.microsoft.com/office/powerpoint/2010/main" val="694575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85424-74C3-19AF-069E-F79E3071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-31684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Multi-head self-attention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07BF6-A987-E83E-8496-5FAF53CD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70" y="1091286"/>
            <a:ext cx="9476028" cy="4738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6D9167-E8CF-E51E-82EE-C88B0661A147}"/>
              </a:ext>
            </a:extLst>
          </p:cNvPr>
          <p:cNvSpPr txBox="1"/>
          <p:nvPr/>
        </p:nvSpPr>
        <p:spPr>
          <a:xfrm>
            <a:off x="8405346" y="5876629"/>
            <a:ext cx="3783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transformations for </a:t>
            </a:r>
            <a:br>
              <a:rPr lang="en-US" dirty="0"/>
            </a:br>
            <a:r>
              <a:rPr lang="en-US" dirty="0"/>
              <a:t>dimensionality reduction (embedding)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906D97-029B-A3C8-B6E9-5217293FDD4D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121150" y="5022850"/>
            <a:ext cx="4284196" cy="117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35039F-D0F3-31BD-B32D-1543C0CF2FB3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082630" y="5555954"/>
            <a:ext cx="4322716" cy="643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67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5424-74C3-19AF-069E-F79E3071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-31684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Multi-head self-attention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40541-B4CD-C627-208A-501E279FF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14" y="711200"/>
            <a:ext cx="10567511" cy="60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01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EBD380-3069-9AF5-7A54-C0E01C989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83720"/>
            <a:ext cx="7074388" cy="6679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E7FF9A-C594-DEB3-079F-FE13B1B3AAE8}"/>
              </a:ext>
            </a:extLst>
          </p:cNvPr>
          <p:cNvSpPr txBox="1"/>
          <p:nvPr/>
        </p:nvSpPr>
        <p:spPr>
          <a:xfrm>
            <a:off x="698500" y="3124200"/>
            <a:ext cx="4532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implement multi-head attention</a:t>
            </a:r>
            <a:br>
              <a:rPr lang="en-US" dirty="0"/>
            </a:br>
            <a:r>
              <a:rPr lang="en-US" dirty="0"/>
              <a:t>by performing 3 matrix multiplications</a:t>
            </a:r>
            <a:br>
              <a:rPr lang="en-US" dirty="0"/>
            </a:br>
            <a:r>
              <a:rPr lang="en-US" dirty="0"/>
              <a:t>for each vector, instead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dirty="0"/>
              <a:t>multiplications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=#heads)</a:t>
            </a:r>
          </a:p>
        </p:txBody>
      </p:sp>
    </p:spTree>
    <p:extLst>
      <p:ext uri="{BB962C8B-B14F-4D97-AF65-F5344CB8AC3E}">
        <p14:creationId xmlns:p14="http://schemas.microsoft.com/office/powerpoint/2010/main" val="3349790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E3F0-57E5-09E4-E13F-498C7EC7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A401-C2F9-EF7D-638E-32A873070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Any model that primarily use self-attention to propagate information between the basic units of considered instances</a:t>
            </a:r>
          </a:p>
          <a:p>
            <a:endParaRPr lang="en-US" dirty="0"/>
          </a:p>
          <a:p>
            <a:pPr lvl="1"/>
            <a:r>
              <a:rPr lang="en-US" i="1" dirty="0"/>
              <a:t>Text tokens</a:t>
            </a:r>
            <a:r>
              <a:rPr lang="en-US" dirty="0"/>
              <a:t>: original transformer (text transformer)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Pixels</a:t>
            </a:r>
            <a:r>
              <a:rPr lang="en-US" dirty="0"/>
              <a:t>: Vi-T: visual/vision transformer </a:t>
            </a:r>
            <a:r>
              <a:rPr lang="en-US" sz="1800" dirty="0"/>
              <a:t>([</a:t>
            </a:r>
            <a:r>
              <a:rPr lang="en-US" sz="1800" dirty="0" err="1"/>
              <a:t>Dosovitskiy</a:t>
            </a:r>
            <a:r>
              <a:rPr lang="en-US" sz="1800" dirty="0"/>
              <a:t> et al. ,"An Image is Worth 16x16 Words: Transformers for Image Recognition at Scale“, 2020]</a:t>
            </a:r>
          </a:p>
          <a:p>
            <a:pPr lvl="1"/>
            <a:endParaRPr lang="en-US" sz="1800" dirty="0"/>
          </a:p>
          <a:p>
            <a:pPr lvl="1"/>
            <a:r>
              <a:rPr lang="en-US" i="1" dirty="0"/>
              <a:t>Graph nodes</a:t>
            </a:r>
            <a:r>
              <a:rPr lang="en-US" dirty="0"/>
              <a:t>: graph transformer </a:t>
            </a:r>
            <a:r>
              <a:rPr lang="en-US" sz="1800" dirty="0"/>
              <a:t>([</a:t>
            </a:r>
            <a:r>
              <a:rPr lang="en-US" sz="1800" dirty="0" err="1"/>
              <a:t>Vijai</a:t>
            </a:r>
            <a:r>
              <a:rPr lang="en-US" sz="1800" dirty="0"/>
              <a:t>, Bresson. “A Generalization of Transformer Networks to Graphs”, 2020])</a:t>
            </a:r>
          </a:p>
        </p:txBody>
      </p:sp>
    </p:spTree>
    <p:extLst>
      <p:ext uri="{BB962C8B-B14F-4D97-AF65-F5344CB8AC3E}">
        <p14:creationId xmlns:p14="http://schemas.microsoft.com/office/powerpoint/2010/main" val="2090917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284BB4-2A20-58BE-DAA4-3DA048B1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70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748D9-8852-156A-2F1F-AF01CE16B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EF55DC-CE90-3E22-800E-E0D2F42356FF}"/>
              </a:ext>
            </a:extLst>
          </p:cNvPr>
          <p:cNvSpPr/>
          <p:nvPr/>
        </p:nvSpPr>
        <p:spPr>
          <a:xfrm>
            <a:off x="311150" y="6165850"/>
            <a:ext cx="11741150" cy="596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Like batch normalization but normalize on input features and not on the batch</a:t>
            </a:r>
          </a:p>
        </p:txBody>
      </p:sp>
    </p:spTree>
    <p:extLst>
      <p:ext uri="{BB962C8B-B14F-4D97-AF65-F5344CB8AC3E}">
        <p14:creationId xmlns:p14="http://schemas.microsoft.com/office/powerpoint/2010/main" val="1999574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ECFA6-3F2C-06AF-CDFD-AD62E612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28014C-89AB-F627-D235-D6F2B1746C6E}"/>
              </a:ext>
            </a:extLst>
          </p:cNvPr>
          <p:cNvSpPr/>
          <p:nvPr/>
        </p:nvSpPr>
        <p:spPr>
          <a:xfrm>
            <a:off x="10509250" y="5899150"/>
            <a:ext cx="1600200" cy="8763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5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FC09D-BE92-76E9-441F-E550DF1D7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877CF0-B222-E4E0-5F66-1AA721A1A6A7}"/>
              </a:ext>
            </a:extLst>
          </p:cNvPr>
          <p:cNvSpPr/>
          <p:nvPr/>
        </p:nvSpPr>
        <p:spPr>
          <a:xfrm>
            <a:off x="10528300" y="5842000"/>
            <a:ext cx="1485900" cy="9017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D7BA0A-73A3-006B-AEFA-5F1B953ACCE2}"/>
              </a:ext>
            </a:extLst>
          </p:cNvPr>
          <p:cNvSpPr/>
          <p:nvPr/>
        </p:nvSpPr>
        <p:spPr>
          <a:xfrm>
            <a:off x="177800" y="6184900"/>
            <a:ext cx="660400" cy="6731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59786-301C-2DAC-11AF-9E3687F97763}"/>
              </a:ext>
            </a:extLst>
          </p:cNvPr>
          <p:cNvSpPr txBox="1"/>
          <p:nvPr/>
        </p:nvSpPr>
        <p:spPr>
          <a:xfrm>
            <a:off x="298450" y="2317750"/>
            <a:ext cx="2831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Task: predict the next token</a:t>
            </a:r>
            <a:br>
              <a:rPr lang="en-US" b="1" dirty="0"/>
            </a:br>
            <a:r>
              <a:rPr lang="en-US" b="1" dirty="0"/>
              <a:t>in the sequence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5EE9D-39BF-B783-896B-420EFC1CA9C2}"/>
              </a:ext>
            </a:extLst>
          </p:cNvPr>
          <p:cNvSpPr txBox="1"/>
          <p:nvPr/>
        </p:nvSpPr>
        <p:spPr>
          <a:xfrm>
            <a:off x="177800" y="4310876"/>
            <a:ext cx="35673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transformer has access to the</a:t>
            </a:r>
            <a:br>
              <a:rPr lang="en-US" dirty="0"/>
            </a:br>
            <a:r>
              <a:rPr lang="en-US" dirty="0"/>
              <a:t>whole sequence/set, thus to predict</a:t>
            </a:r>
            <a:br>
              <a:rPr lang="en-US" dirty="0"/>
            </a:br>
            <a:r>
              <a:rPr lang="en-US" dirty="0"/>
              <a:t>the next token it has to just look-up</a:t>
            </a:r>
            <a:br>
              <a:rPr lang="en-US" dirty="0"/>
            </a:br>
            <a:r>
              <a:rPr lang="en-US" dirty="0"/>
              <a:t>in the sequence</a:t>
            </a:r>
          </a:p>
        </p:txBody>
      </p:sp>
    </p:spTree>
    <p:extLst>
      <p:ext uri="{BB962C8B-B14F-4D97-AF65-F5344CB8AC3E}">
        <p14:creationId xmlns:p14="http://schemas.microsoft.com/office/powerpoint/2010/main" val="2452221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F9AEF-5D19-CA92-A600-FC632933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3D45F2-6FF2-2A44-1A0C-6065FFDE5C7F}"/>
              </a:ext>
            </a:extLst>
          </p:cNvPr>
          <p:cNvSpPr/>
          <p:nvPr/>
        </p:nvSpPr>
        <p:spPr>
          <a:xfrm>
            <a:off x="10585450" y="5937250"/>
            <a:ext cx="1454150" cy="7810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5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BDCAE-3F2E-ED5D-7F41-26127BDC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33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9A208-BDD1-CFE7-A045-14DCFBB3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A922E2-F737-98B8-59BF-102B34F60D12}"/>
              </a:ext>
            </a:extLst>
          </p:cNvPr>
          <p:cNvSpPr txBox="1"/>
          <p:nvPr/>
        </p:nvSpPr>
        <p:spPr>
          <a:xfrm>
            <a:off x="787400" y="4476750"/>
            <a:ext cx="50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Cons: maximum length for a sequence</a:t>
            </a:r>
          </a:p>
        </p:txBody>
      </p:sp>
    </p:spTree>
    <p:extLst>
      <p:ext uri="{BB962C8B-B14F-4D97-AF65-F5344CB8AC3E}">
        <p14:creationId xmlns:p14="http://schemas.microsoft.com/office/powerpoint/2010/main" val="21125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F58B2CA-062A-F863-942C-6E05C75F7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6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9D754-F9DB-4C2D-FA46-1939B82F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D0F0EF-C379-7949-A321-DFE078B30D81}"/>
              </a:ext>
            </a:extLst>
          </p:cNvPr>
          <p:cNvSpPr/>
          <p:nvPr/>
        </p:nvSpPr>
        <p:spPr>
          <a:xfrm>
            <a:off x="10585450" y="5886450"/>
            <a:ext cx="1492250" cy="9715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29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70A6F60A-0913-927D-4543-057D7A29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191" y="0"/>
            <a:ext cx="9026960" cy="684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49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72F2B-80C2-55DB-9F51-BEB5EB6C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97408F-36C4-1AE2-6546-89EF4E3A9198}"/>
              </a:ext>
            </a:extLst>
          </p:cNvPr>
          <p:cNvSpPr/>
          <p:nvPr/>
        </p:nvSpPr>
        <p:spPr>
          <a:xfrm>
            <a:off x="381000" y="2660650"/>
            <a:ext cx="3365500" cy="3619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12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19979-52F5-01F3-181A-252CA4BB6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70F8FA-8D34-42BC-67AA-36E4DA036EDC}"/>
              </a:ext>
            </a:extLst>
          </p:cNvPr>
          <p:cNvSpPr txBox="1"/>
          <p:nvPr/>
        </p:nvSpPr>
        <p:spPr>
          <a:xfrm>
            <a:off x="311150" y="971550"/>
            <a:ext cx="475615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Encoder-only transformer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F1A5D9-CCF8-B808-930E-DF76160FE9FE}"/>
              </a:ext>
            </a:extLst>
          </p:cNvPr>
          <p:cNvSpPr/>
          <p:nvPr/>
        </p:nvSpPr>
        <p:spPr>
          <a:xfrm>
            <a:off x="10744200" y="6051550"/>
            <a:ext cx="1263650" cy="6667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736A5F-D376-EF54-D668-BB8AF14454F2}"/>
              </a:ext>
            </a:extLst>
          </p:cNvPr>
          <p:cNvSpPr/>
          <p:nvPr/>
        </p:nvSpPr>
        <p:spPr>
          <a:xfrm>
            <a:off x="311150" y="6254750"/>
            <a:ext cx="628650" cy="4635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195CB-233A-9E11-F541-264F8A0F6F4F}"/>
              </a:ext>
            </a:extLst>
          </p:cNvPr>
          <p:cNvSpPr txBox="1"/>
          <p:nvPr/>
        </p:nvSpPr>
        <p:spPr>
          <a:xfrm>
            <a:off x="1504950" y="158750"/>
            <a:ext cx="7322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idirectional </a:t>
            </a:r>
            <a:r>
              <a:rPr lang="en-US" sz="24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ncoder </a:t>
            </a:r>
            <a:r>
              <a:rPr lang="en-US" sz="24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epresentations from </a:t>
            </a:r>
            <a:r>
              <a:rPr lang="en-US" sz="24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ransformers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932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44CB-F219-9291-F0C7-A24844C1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pre-training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F24D6-12F0-9F6B-6B69-E5D8D4551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1: masking</a:t>
            </a:r>
          </a:p>
          <a:p>
            <a:pPr lvl="1"/>
            <a:r>
              <a:rPr lang="en-US" dirty="0"/>
              <a:t>Masking some input tokens and learn to predict the correct one</a:t>
            </a:r>
          </a:p>
          <a:p>
            <a:pPr lvl="1"/>
            <a:r>
              <a:rPr lang="en-US" dirty="0"/>
              <a:t>Masking may be done by changing the word or by removing the word</a:t>
            </a:r>
          </a:p>
          <a:p>
            <a:pPr lvl="1"/>
            <a:endParaRPr lang="en-US" dirty="0"/>
          </a:p>
          <a:p>
            <a:r>
              <a:rPr lang="en-US" dirty="0"/>
              <a:t>Task 2: classification</a:t>
            </a:r>
          </a:p>
          <a:p>
            <a:pPr lvl="1"/>
            <a:r>
              <a:rPr lang="en-US" dirty="0"/>
              <a:t>Input a pair of sequences from the corpus</a:t>
            </a:r>
          </a:p>
          <a:p>
            <a:pPr lvl="1"/>
            <a:r>
              <a:rPr lang="en-US" dirty="0"/>
              <a:t>Learn to classify them as consecutive sequences in the corpus or not</a:t>
            </a:r>
          </a:p>
          <a:p>
            <a:r>
              <a:rPr lang="en-US" dirty="0"/>
              <a:t>BERT considerably advanced the state of the art on many NLP tasks</a:t>
            </a:r>
          </a:p>
        </p:txBody>
      </p:sp>
    </p:spTree>
    <p:extLst>
      <p:ext uri="{BB962C8B-B14F-4D97-AF65-F5344CB8AC3E}">
        <p14:creationId xmlns:p14="http://schemas.microsoft.com/office/powerpoint/2010/main" val="3664338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AD7E1B-FDFF-81D8-A6EF-532F593D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021A09-4092-8EC1-56CA-9615BD1CA254}"/>
              </a:ext>
            </a:extLst>
          </p:cNvPr>
          <p:cNvSpPr/>
          <p:nvPr/>
        </p:nvSpPr>
        <p:spPr>
          <a:xfrm>
            <a:off x="10687050" y="5924550"/>
            <a:ext cx="1358900" cy="9334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D36BF-8D21-0C5B-F80E-C0A6A2112AEC}"/>
              </a:ext>
            </a:extLst>
          </p:cNvPr>
          <p:cNvSpPr txBox="1"/>
          <p:nvPr/>
        </p:nvSpPr>
        <p:spPr>
          <a:xfrm>
            <a:off x="1663700" y="6160442"/>
            <a:ext cx="4317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Decoder-Only Generative Model</a:t>
            </a:r>
          </a:p>
        </p:txBody>
      </p:sp>
    </p:spTree>
    <p:extLst>
      <p:ext uri="{BB962C8B-B14F-4D97-AF65-F5344CB8AC3E}">
        <p14:creationId xmlns:p14="http://schemas.microsoft.com/office/powerpoint/2010/main" val="37769914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8D8DD-6FEB-91F3-0444-BC726654F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DE0E3B-E093-034B-B9FE-66C8266EEFD9}"/>
              </a:ext>
            </a:extLst>
          </p:cNvPr>
          <p:cNvSpPr/>
          <p:nvPr/>
        </p:nvSpPr>
        <p:spPr>
          <a:xfrm>
            <a:off x="10718800" y="5981700"/>
            <a:ext cx="1308100" cy="7429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4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F8DE5-E53E-486F-CAB3-E443241E6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C36F3B-490D-FD87-DB98-1C0E006A7E5A}"/>
              </a:ext>
            </a:extLst>
          </p:cNvPr>
          <p:cNvSpPr/>
          <p:nvPr/>
        </p:nvSpPr>
        <p:spPr>
          <a:xfrm>
            <a:off x="10775950" y="6203950"/>
            <a:ext cx="1181100" cy="5207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3A204-EF5D-F30F-F79B-FDA6FCD921F6}"/>
              </a:ext>
            </a:extLst>
          </p:cNvPr>
          <p:cNvSpPr/>
          <p:nvPr/>
        </p:nvSpPr>
        <p:spPr>
          <a:xfrm>
            <a:off x="254000" y="6299200"/>
            <a:ext cx="635000" cy="4254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32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26146-13D5-FA24-F365-020E95E9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93C20A-6CB1-D7C6-0EDE-9C84A37919F5}"/>
              </a:ext>
            </a:extLst>
          </p:cNvPr>
          <p:cNvSpPr/>
          <p:nvPr/>
        </p:nvSpPr>
        <p:spPr>
          <a:xfrm>
            <a:off x="10509250" y="6000750"/>
            <a:ext cx="1504950" cy="8064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411FCA-58D4-34B4-B2DD-5D55E216F5CB}"/>
              </a:ext>
            </a:extLst>
          </p:cNvPr>
          <p:cNvSpPr/>
          <p:nvPr/>
        </p:nvSpPr>
        <p:spPr>
          <a:xfrm>
            <a:off x="374650" y="6330950"/>
            <a:ext cx="55245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1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D1119-B6C8-9ABE-EA3C-7C4A788D5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0CBA47-CB0D-63E8-FA16-8B278CBF9686}"/>
              </a:ext>
            </a:extLst>
          </p:cNvPr>
          <p:cNvSpPr/>
          <p:nvPr/>
        </p:nvSpPr>
        <p:spPr>
          <a:xfrm>
            <a:off x="323850" y="6115050"/>
            <a:ext cx="11715750" cy="7429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52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PresentationFormat>Widescreen</PresentationFormat>
  <Paragraphs>107</Paragraphs>
  <Slides>41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Transformers</vt:lpstr>
      <vt:lpstr>RNN: limitations</vt:lpstr>
      <vt:lpstr>Which other word should the current word it  refer to (or to take attention)?</vt:lpstr>
      <vt:lpstr>Attention timeline</vt:lpstr>
      <vt:lpstr>General RNN: seq2seq</vt:lpstr>
      <vt:lpstr>Self-attention</vt:lpstr>
      <vt:lpstr>PowerPoint Presentation</vt:lpstr>
      <vt:lpstr>PowerPoint Presentation</vt:lpstr>
      <vt:lpstr>Properties</vt:lpstr>
      <vt:lpstr>PowerPoint Presentation</vt:lpstr>
      <vt:lpstr>Example: sentiment classification</vt:lpstr>
      <vt:lpstr>Self attention: refinements</vt:lpstr>
      <vt:lpstr>PowerPoint Presentation</vt:lpstr>
      <vt:lpstr>PowerPoint Presentation</vt:lpstr>
      <vt:lpstr>Linear transformation and dimensionality reduction</vt:lpstr>
      <vt:lpstr>PowerPoint Presentation</vt:lpstr>
      <vt:lpstr>Self-attention with Query Key Value</vt:lpstr>
      <vt:lpstr>PowerPoint Presentation</vt:lpstr>
      <vt:lpstr>Multi-head attention</vt:lpstr>
      <vt:lpstr>Multi-head self-attention</vt:lpstr>
      <vt:lpstr>Multi-head self-attention</vt:lpstr>
      <vt:lpstr>PowerPoint Presentation</vt:lpstr>
      <vt:lpstr>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BERT pre-training procedures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Luigi Portinale</dc:creator>
  <cp:lastModifiedBy>Luigi Portinale</cp:lastModifiedBy>
  <cp:revision>149</cp:revision>
  <dcterms:created xsi:type="dcterms:W3CDTF">2021-02-24T09:45:16Z</dcterms:created>
  <dcterms:modified xsi:type="dcterms:W3CDTF">2026-03-07T10:39:40Z</dcterms:modified>
</cp:coreProperties>
</file>