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5" r:id="rId8"/>
    <p:sldId id="267" r:id="rId9"/>
    <p:sldId id="287" r:id="rId10"/>
    <p:sldId id="288" r:id="rId11"/>
    <p:sldId id="264" r:id="rId12"/>
    <p:sldId id="262" r:id="rId13"/>
    <p:sldId id="266" r:id="rId14"/>
    <p:sldId id="268" r:id="rId15"/>
    <p:sldId id="269" r:id="rId16"/>
    <p:sldId id="270" r:id="rId17"/>
    <p:sldId id="271" r:id="rId18"/>
    <p:sldId id="285" r:id="rId19"/>
    <p:sldId id="272" r:id="rId20"/>
    <p:sldId id="273" r:id="rId21"/>
    <p:sldId id="263" r:id="rId22"/>
    <p:sldId id="274" r:id="rId23"/>
    <p:sldId id="276" r:id="rId24"/>
    <p:sldId id="277" r:id="rId25"/>
    <p:sldId id="278" r:id="rId26"/>
    <p:sldId id="279" r:id="rId27"/>
    <p:sldId id="280" r:id="rId28"/>
    <p:sldId id="283" r:id="rId29"/>
    <p:sldId id="284" r:id="rId30"/>
    <p:sldId id="281"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igi Portinale" initials="LP" lastIdx="1" clrIdx="0">
    <p:extLst>
      <p:ext uri="{19B8F6BF-5375-455C-9EA6-DF929625EA0E}">
        <p15:presenceInfo xmlns:p15="http://schemas.microsoft.com/office/powerpoint/2012/main" userId="b98ea4a34538123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3780" autoAdjust="0"/>
  </p:normalViewPr>
  <p:slideViewPr>
    <p:cSldViewPr snapToGrid="0">
      <p:cViewPr varScale="1">
        <p:scale>
          <a:sx n="69" d="100"/>
          <a:sy n="69" d="100"/>
        </p:scale>
        <p:origin x="564" y="56"/>
      </p:cViewPr>
      <p:guideLst/>
    </p:cSldViewPr>
  </p:slideViewPr>
  <p:outlineViewPr>
    <p:cViewPr>
      <p:scale>
        <a:sx n="33" d="100"/>
        <a:sy n="33" d="100"/>
      </p:scale>
      <p:origin x="0" y="-19162"/>
    </p:cViewPr>
  </p:outlineViewPr>
  <p:notesTextViewPr>
    <p:cViewPr>
      <p:scale>
        <a:sx n="1" d="1"/>
        <a:sy n="1" d="1"/>
      </p:scale>
      <p:origin x="0" y="0"/>
    </p:cViewPr>
  </p:notesTextViewPr>
  <p:notesViewPr>
    <p:cSldViewPr snapToGrid="0">
      <p:cViewPr varScale="1">
        <p:scale>
          <a:sx n="51" d="100"/>
          <a:sy n="51" d="100"/>
        </p:scale>
        <p:origin x="2690" y="29"/>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4T15:28:33.794"/>
    </inkml:context>
    <inkml:brush xml:id="br0">
      <inkml:brushProperty name="width" value="0.05" units="cm"/>
      <inkml:brushProperty name="height" value="0.05" units="cm"/>
      <inkml:brushProperty name="color" value="#FF0000"/>
    </inkml:brush>
  </inkml:definitions>
  <inkml:trace contextRef="#ctx0" brushRef="#br0">2340 4135 4673,'4'5'504,"0"1"0,0 0 0,-1 1 0,0-1 0,0 0 1,-1 1-1,1 0 0,-1 0 0,-1-1 0,2 9 0,-2-6-406,-1 1 0,0-1 1,0 1-1,-1-1 0,-1 1 0,1-1 0,-4 10 1,-2 14 479,-6 58 0,9-54 268,-10 44-1,0-32-320,-2 0-1,-26 56 1,36-92-466,0-1 1,-1 0-1,0 0 1,-1-1-1,0 0 1,-1 0-1,0-1 1,-1 0 0,0 0-1,0-1 1,-1-1-1,0 0 1,-1 0-1,0-1 1,0-1-1,-20 8 1,25-11-55,-191 61 167,175-59-130,0 0 0,-1-2 1,1-1-1,-1-1 1,0-1-1,-45-6 0,-125-9 366,8 1-212,37-15 134,123 22-190,1-1 1,1-1 0,-42-22 0,25 5-25,-69-56 0,32 21-31,72 57-78,-26-19 102,0-2 0,-40-41 1,-2-8 100,32 32 41,-47-59 1,74 79-123,0-2 1,-20-48-1,14 30-55,14 27-54,-10-18 45,2 0-1,-15-45 1,15 25 6,-46-166 58,38 116-82,-63-336 168,18-219-40,64 569-145,9-115 0,0 136-1,5-51 40,56-201 77,-58 293-125,1 1 1,2-1-1,0 1 1,26-41 0,-4 5 12,2-3-28,-3 9 21,36-56-10,-8 26 11,41-48-15,-20 30 2,-16 7-2,58-77 46,-102 148-52,2 1 1,0 1-1,1 1 1,38-28-1,96-83 18,-158 134-25,32-27 28,2 1-1,49-28 0,1 0-29,-72 45-3,21-14 9,42-23-1,-43 32 10,41-14 0,17-6 17,-73 26-23,0 0-1,1 2 1,0 0 0,0 1 0,1 1 0,20-2 0,-26 4-11,-1-1 0,1 1-1,12-6 1,25-5-5,-27 9 18,1 2 0,0 0 0,0 2 0,41 4-1,137 16 3,-169-18-15,1-1 0,49-4 0,69-17 25,-127 16-19,86-10-30,26 6 27,-6 0 23,-22 3-8,-5 1-23,-81 1 10,0 2-1,0 1 0,0 0 0,36 6 1,133 21-14,-141-23 9,92-5-1,-74-4 9,0 4 0,85 8 0,-85-2-3,23 3-14,49 8 11,-99-12 14,142 3 2,1-14-21,104 1-7,-16 1 38,-120 3-44,-39 2 1,19 0 51,-10 4-38,39-1-5,15-3 30,-125 1-17,-21 2-13,42 8-1,8 1-7,44-10 23,-102-2 4,30 6 0,23 0 10,-29-7-8,95 4-25,-97-3 29,-32-1-14,22 2 1,-19 0-5,1-1 0,27-2 0,-5-1 6,-9 1 2,-20 1-3,0 1 0,0-1 0,17 3 0,4 1-2,0-2-1,1-1 0,58-8 1,26-3-4,-6 1-24,-73 4 19,58-5 23,24-2 4,11 4 1,245-3-65,-346 12 54,1-1 0,31-6 0,-40 5-8,11-3 3,-10 2 1,32-1 0,82 13-12,-89-4 2,67-1 0,-58-3-4,0 2 0,69 13 0,-73-9 8,72 8-34,-92-10 42,0 1-1,38 12 1,60 27-62,-109-37 39,-6-3 6,0 1 1,-1 1 0,1 1 0,17 12 0,54 41-2,64 49 12,-121-83-37,50 55-1,-65-64 33,11 19-1,-10-14-16,77 126 52,-82-134-26,1 0 0,0-1 0,1 0 0,1 0 0,19 15 0,15 17-1,-20-17-6,42 46-9,-61-66 17,177 193 5,-160-181 2,1 0 0,40 24 0,63 27-1,-101-59-6,0 0-1,0-3 1,1 0 0,59 11-1,124 2 44,-56-26-67,-1-13 34,91-4-32,6 0 36,-185 11-28,217-15 22,-193 24-35,150 19 0,-66 11 29,80 13-36,-203-36 22,0 3 1,94 30-1,-130-34 4,0 2 0,-1-1 0,1 2 1,-1 0-1,-1 1 0,14 11 0,-7-2-14,-1 1 0,34 41 0,-22-23-38,-20-25 34,-1 1 0,0 0 1,15 27-1,-1 10-12,31 57 23,-50-95 0,-1 0 1,0-1 0,-1 2 0,5 25-1,-5-20-19,10 26 0,-9-29 19,-1 1 1,0-1 0,2 27 0,2 9 17,-6-41-12,0 0 0,-1 1 1,-1-1-1,0 13 0,-8 46-45,1-16 26,6-48 16,0 0 1,0-1 0,-1 1 0,0 0 0,0-1 0,0 0 0,0 1 0,-1-1 0,-5 8 0,6-10 1,-1 1 1,1 0 0,1 0-1,-1 0 1,1 0 0,-2 7-1,-4 10-2,-1 0-1,1-4 3,-15 31 0,-36 59 24,51-92-28,-1-2 0,0 1 1,-1-1-1,-1-1 1,0 1-1,0-1 1,-13 10-1,9-8 11,1 0-1,-22 31 0,-16 36 15,40-62-15,1-4-6,-1 0-1,-17 17 0,16-18 1,0 1 1,-12 18-1,17-22 10,-1 0-1,0 0 0,0 0 1,-15 13-1,18-19-2,-1-1-1,0 0 1,1 0-1,-1 0 1,-1 0-1,1-1 1,0 0-1,-1 0 1,0-1-1,-8 2 1,6-1-8,0 0 0,0 0 0,-15 9 0,-2 0-1,-35 17 4,57-27 6,0 0 0,0 0 0,1 0 0,-1 1 0,-4 4 0,-14 8-13,-3-2-4,-48 21 41,66-31-29,0-2 1,-1 1 0,-12 1-1,-17 3 9,-98 39 2,65-25-20,34-8 17,0-2 0,-59 8-1,37-12 3,-83-2 0,100-3-37,24 0 40,-18-1 0,-139-22 1,147 18 0,15 3-5,1-1 1,-1 1-1,1 1 0,-13 1 1,6 0-9,0 0-1,-25-3 1,28 0-1,1 2-1,0-1 1,-1 2-1,-26 4 1,-73 27-17,108-30 21,0 0 1,0-1-1,-1 0 1,1 0-1,-1 0 1,1-1-1,0 1 0,-1-2 1,1 1-1,-13-3 1,-5-1 2,-1 0 1,-37 0 0,0 0-38,54 3 42,2-1 0,-1 0 0,0 0 0,0 0 0,-9-6 0,-15-4 2,-57-9-26,64 16 19,-1-1-1,1 0 1,-26-12-1,27 8 17,-75-32-15,74 34-13,0 0-1,-31-5 1,40 11 13,0-1 0,0-1 0,0 0 0,1-1 0,0 0 0,0-1 0,0-1 0,-24-16 1,28 15-9,0 1 0,0 1 1,-1-1-1,1 2 0,-1-1 1,-1 1-1,1 1 0,-1 0 0,1 1 1,-15-3-1,-45-7 2,60 11 10,-19-6 0,3 1 0,-16-3-9,14 1 0,-122-42 24,77 23-19,38 14-21,25 9 9,-1 0 0,0 1 0,0 0 0,-1 0 0,1 2 0,-13-2 0,-12 5 22,26 0-10,0-1 0,-18-2 0,13-1-8,-1-1 0,1-1 0,-18-8 0,14 6-3,-27-8 0,5 5 20,-57-21-1,79 24-22,0 0 1,-1 2-1,-36-5 1,-65 2-2,68 5 31,12 2-24,28 2 11,0-1 0,0-1-1,0 0 1,-17-5 0,28 6-8,0-1 0,0 1 0,0-1 1,0 1-1,0 0 0,0 0 0,0 1 0,0-1 0,0 1 0,0-1 0,0 1 0,-4 2 1,1-2-6,1-1 0,-1 1 0,1-1 0,-11 0 0,7 0 2,3 0 1,-1 1 1,0 0-1,0 0 1,1 1-1,-9 3 1,7-3-1,-1 1 0,-11 1 0,-8 0 5,0-2 0,-1-1 0,1-1 0,-1-1 0,1-2 0,-43-9 0,28 3-1,-19-6-12,-55-21 34,96 30-18,-7-3-3,0 0 1,1-2 0,-36-20-1,-104-70 31,142 86-31,-1 2 1,-28-11-1,-57-13 0,82 26 6,1-2 0,-52-29 0,22 9-1,46 27-6,0-1 1,1 0 0,0-1 0,1-1 0,-1 1 0,-16-20 0,16 16 2,-15-13 1,16 17-5,1-1 1,-16-19 0,-18-38 23,-13-18 18,6 18-35,-38-44-34,76 97 32,-1 1 0,0 0 1,-1 1-1,0 0 0,-30-16 1,-47-15-14,59 28 5,-44-26 0,-27-25-19,98 61 21,-19-13 1,17 12 1,-1-1 0,0 1 0,-16-8 0,-29-13 9,-15-5-50,65 30 39,-6-2 2,0-1 0,0 0 0,0 0 0,-9-7 1,3 2-3,-1 1 0,-16-7 1,16 8-1,0-1 0,-17-10 0,15 6 0,-32-14 1,31 17 13,-28-17 0,41 22-15,-1 1-1,1-1 0,-1 2 1,0-1-1,0 1 0,0 0 1,-1 0-1,-8-1 1,-20-4 6,19 3-3,0 1-1,-17-1 1,-1-1-2,32 5-1,0 0-1,1 0 0,-1 0 1,0 1-1,0-1 0,0 1 1,0-1-1,0 1 1,0 0-1,1 0 0,-6 3 1,5-3-1,0 1 0,0-1 0,0 0-1,0 0 1,0 0 0,0-1 0,-7 2 0,-27 0 9,29-2-13,0 0 0,0 1 0,0 0 0,-9 3 0,-19 2 11,29-5 2,0 0 0,-11 3 1,-3 2 14,-26 5-25,-5 1 7,33-9-6,0 1 0,0 0-1,1 2 1,-18 7 0,6-3 2,19-7-8,0 0 1,-10 6 0,-4 4 7,1 1 0,-26 20 0,3 6 4,41-35-3,1 1 1,0 0-1,1 0 1,-1 0-1,1 0 1,-3 8-1,-37 79 18,39-80-16,0-1-1,1 1 1,0 0-1,-3 21 1,3-17 2,-9 30 0,7-30-5,-2 0 0,-15 23 0,18-30 2,0 1 0,0-1 0,1 1 0,1 0 0,-5 20 0,-1 4 7,-58 144 59,62-168-64,-8 24 18,10-24-21,-1-1 0,0 0-1,0 0 1,-1 0 0,-1-1-1,1 0 1,-12 13 0,-8 8-16,14-16 18,-22 21 1,28-31 5,-1-1-1,0 1 1,1-1-1,-13 5 1,-5 2-12,-94 49-18,31-25 23,56-24 14,-42 21-1,-47 22-36,58-27 33,-85 42-62,116-57 67,0 0 0,-1-3 0,-1 0 1,-57 6-1,19-6-26,35-2-12,-27 7 11,1 0 59,60-13-49,-1 0 0,1 1 0,-1-1 0,1 0 0,-1 1 0,1-1-1,-1 1 1,1 0 0,0 0 0,-1-1 0,1 1 0,0 0 0,0 0 0,-1 0 0,1 0 0,0 0 0,0 0 0,-1 2 0,1-2 0,-1 0 0,1 0 0,0 0 0,-1 0 0,1-1 0,0 1 0,-1 0 0,1-1 0,-1 1 0,1-1 1,-1 0-1,0 0 0,1 1 0,-1-1 0,1 0 0,-1 0 0,1 0 0,-1-1 0,1 1 0,-4-1 0,3 1 0,0 0 0,0-1 0,0 1 0,0 0 0,0 0 0,0 0 0,0 0 0,0 1 0,0-1 0,0 0 0,0 1 0,1 0 0,-1-1 0,0 1 0,-2 1 0,1-1 4,1 1-1,0-1 1,0 0 0,-1 0-1,1 0 1,-1-1-1,1 1 1,-1 0 0,-3-1-1,-10 4 25,16-4-28,-1 0-1,0 0 1,0 0 0,0 0 0,0 0-1,0 0 1,1 0 0,-1-1 0,0 1-1,0 0 1,0 0 0,0-1-1,0 1 1,-1-1 0,1 1 1,0-1-1,-1 1 0,1 0 1,0-1-1,-1 1 0,1 0 0,-2 0 1,-4 0 4,4 0-5,0 1 0,0-1 0,-1 0 0,1 1 0,-5 2 0,3-3 1,1 1 0,0-1 0,-1 1-1,1-1 1,-1 0 0,1-1 0,-5 0 0,4 1 1,-43-9-18,37 7 12,1 1-1,-13-5 0,13 3 12,0 1 1,-15-2-1,25 4-7,-10-1 0,0 0-1,-1 1 0,1 1 1,0-1-1,-18 5 0,15-2-1,0-1-1,0 0 1,0-1-1,0-1 1,-22-1 0,26 1 4,-1 0-1,1 0 1,0 1 0,0 0 0,0 0 0,-12 4 0,-51 22 12,44-16-37,21-8 27,1 1 1,-1-1-1,1 1 1,0 1 0,-9 7-1,9-6 0,0-1 0,-1-1 0,1 1-1,-9 4 1,-9 3 0,18-8-5,0 0 0,0-1 0,-1 0 0,1-1 0,-1 1-1,-12 2 1,-7 2-13,24-7 13,1 0 0,0 1 1,-1-1-1,1 0 1,0 1-1,0 0 1,0-1-1,0 1 0,-1 0 1,1-1-1,0 1 1,-1 1-1,-11 6-1,-2-1 17,12-5-12,0-1 0,0 1-1,0-1 1,-1 0-1,1 0 1,-6 1 0,-12-2-2,-6 1-42,8 6 52,17-6-9,0 0 0,0 0 0,0-1 0,-1 1 0,1 0 0,0-1 0,-1 1 0,1-1 0,0 0 0,-3 1 0,-13-4-5,13 2 3,0 1-1,0-1 0,1 1 0,-1 0 0,0 0 0,0 0 0,0 1 1,1-1-1,-1 1 0,-8 3 0,-7 5 30,-1-1-23,-28 17 0,44-23-8,0-1 0,0 1-1,-1-1 1,1 0 0,0 0-1,0 0 1,-1-1 0,1 0 0,-10-1-1,-4 1 0,16 0 1,0 0 4,0 0-1,-1 1 0,1-1 1,0 1-1,-1-1 0,1 1 1,0 0-1,0 0 0,-6 3 1,-57 36-5,63-39 3,-1 1-1,1-1 1,-1 1 0,-7 1 0,-8 3 0,5 1 11,1 2 1,0-1-1,-18 16 0,15-11-7,10-8 5,1 0-1,0 0 1,0 1 0,0 0-1,-6 10 1,9-13 5,1-1 0,0 0 0,0 1 0,0 0 0,0-1 0,0 1 0,0 0 0,1-1 1,-1 1-1,1 5 0,-2-4-17,2-2 37,4 2 29,-3-4-58,-1 1 0,1-1 0,0 0 0,-1 1 0,1-1 0,0 1 0,-1-1 0,1 1 0,-1-1 0,1 1 0,-1 0 0,0-1 0,1 1 0,-1 0 0,1-1 0,-1 1 0,0 0 0,0-1 0,1 1 0,-1 0 0,0 0 0,0-1 0,0 1 0,0 0 0,0 0 0,0-1 0,0 2 0,1 6-5,1 7-18,-1-10 12,0 1-1,-1 0 1,0 0-1,0 7 1,0-4-1,0-8 6,0 0 0,0-1-1,0 1 1,0 0 0,0 0 0,0 0 0,0-1-1,-1 1 1,1 0 0,0 0 0,0 0 0,-1-1 0,1 1-1,-1 0 1,1-1 0,0 1 0,-1 0 0,0 0-1,-2 2-1,1-1-1,0 1 0,0 0 0,0-1 0,1 1 1,-1 0-1,1 0 0,-1 0 0,1 0 0,0 0 1,0 0-1,0 5 0,0-8 5,1 1 1,0 0-1,0-1 1,-1 1-1,1 0 1,0-1-1,-1 1 0,1-1 1,0 1-1,-1 0 1,1-1-1,-1 1 0,1-1 1,-2 1-1,2 0 2,-1-1 0,1 0 0,0 1 0,-1-1 0,1 1 0,0-1-1,-1 0 1,1 1 0,0-1 0,-1 1 0,1-1 0,0 1 0,0-1 0,-1 1 0,1-1-1,0 1 1,0 0 0,0 0 0,0 1-4,-1-1-1,1 0 1,0 1-1,-1-1 1,1 0 0,-1 1-1,1-1 1,-1 0 0,0 0-1,1 1 1,-1-1-1,-2 2 1,2-2-1,0 0 0,0 0 1,0 1-1,1-1 0,-1 0 0,0 1 0,1-1 1,-1 1-1,0 2 0,0 1 7,0-1-4,1 1 0,0-1 0,0 1-1,0 5 1,0-8 0,0 0 0,0 1 0,-1-1 0,1 0 0,-1 0 0,0 1 0,1-1 0,-1 0 0,0 0 0,0 0 0,0 0 0,-1 0-1,-2 3 1,2-1-3,0-1-1,0 1 0,0 0 0,-1 4 0,0 2 3,1-3-1,0 0 0,0 0 0,-1-1 0,0 1 0,0-1 0,-1 1 0,1-1 0,-9 10 0,6-9 3,0 1 0,0 0-1,1 0 1,0 0 0,0 1 0,-5 14 0,10-22-2,-1 1-1,1-1 1,-1 0 0,0 0 0,1 0-1,-1 0 1,0 0 0,0 0 0,1-1-1,-1 1 1,0 0 0,0 0-1,0 0 1,0-1 0,0 1 0,0 0-1,0-1 1,-3 1 0,4 0 2,-1-1 0,1 0 0,-1 0 0,1 1 0,0-1 0,-1 1-1,1-1 1,-1 0 0,1 1 0,-1-1 0,1 1 0,0-1 0,0 1 0,-1-1 0,1 1 0,0-1 0,0 1 0,-1-1 0,1 1 0,0-1 0,0 1 0,0 0 0,0-1 0,0 1 0,0 0 0,-1 17 19,13 57 15,-9-60-16,-2-12-16,-1-1 0,0 1 0,1-1 0,0 1 0,-1-1-1,1 1 1,0-1 0,0 0 0,0 0 0,0 1 0,1-1 0,2 4-1,-3-4-5,0 0-1,0 0 1,0 0-1,-1 1 1,1-1-1,-1 0 0,1 0 1,-1 1-1,0-1 1,0 1-1,0-1 1,0 0-1,-1 5 0,1-7-17,0 1 0,0-1 0,-1 0 0,1 1 0,0-1 0,0 1 0,-1-1 0,1 0 0,0 1 0,0-1 0,-1 0 0,1 0 0,0 1 0,-1-1 0,1 0 0,-1 0 0,1 1 0,0-1 0,-1 0 0,1 0 0,-1 0 0,1 0 0,0 0 0,-1 0 0,1 0 0,-1 0 0,1 0 0,-1 0 0,1 0 0,0 0 0,-1 0 0,1 0 0,-1 0 0,1 0 0,-1 0 0,1 0-1,0 0 1,-1-1 0,-19-8-2336,20 9 2321,-29-19-4097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2-04T15:29:13.94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2-04T15:29:15.6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4T15:46:04.179"/>
    </inkml:context>
    <inkml:brush xml:id="br0">
      <inkml:brushProperty name="width" value="0.05" units="cm"/>
      <inkml:brushProperty name="height" value="0.05" units="cm"/>
      <inkml:brushProperty name="color" value="#E71224"/>
    </inkml:brush>
  </inkml:definitions>
  <inkml:trace contextRef="#ctx0" brushRef="#br0">0 1 7938,'2'2'159,"0"0"0,0 1-1,0-1 1,0 1 0,0-1 0,-1 1 0,1-1 0,-1 1 0,0 0 0,0 0 0,0 0 0,1 4-1,1 2 43,1 0 0,0-1 0,0 0 0,1 0 0,7 11 0,-8-13-66,8 10 207,-6-6-25,11 16 1,-16-22-272,1-1-1,-1 1 0,1 0 1,-1 0-1,0 0 0,-1-1 1,1 1-1,0 7 0,-1-2 39,1 0-1,0 0 1,5 16-1,-3-17 14,-1 0 0,-1 0 0,1 0 0,-2 0 1,1 8-1,-2 16 160,4 55 0,10 25 39,-11-98-247,0 8 100,6 23 0,-3-28-87,-3-10-26,0 1-1,0 0 1,-1 0 0,0 0 0,0 0 0,-1 0-1,0 14 1,-8 47 366,5-16-206,3-37-164,-1-1 1,-3 16-1,-2 4 12,-3 46 1,8-62-13,1 0 1,1 0-1,6 36 1,10 50 125,-14-83-114,-1-8-4,0 0-1,-1 25 1,-2 10 46,3 0-1,8 56 0,-6-76 5,16 52 0,14 6 29,-15-43-77,-12-30-22,5 18 1,37 98 128,63 191-58,-53-129-81,-13-33 40,41 73-26,-10-61 86,-17-43 0,-51-106-89,8 18-14,14 50-1,-21-59 9,2 0 0,1-1 0,31 53 0,2 3-19,-24-44 19,1 0-1,46 61 0,-62-94-11,29 39 60,47 84 0,-39-41-12,-21-40-22,40 64 1,62 50 26,-22-32-47,-43-51 8,19 27 21,-47-65-43,2-3 1,45 44-1,12 13 8,62 57 30,-57-61-7,-29-32 5,79 59 0,0-2 66,-85-64-93,104 69 0,-55-39 25,-78-58-14,67 43 1,-55-45-27,94 59-5,-92-54 33,90 42 1,-48-28-20,-34-16 0,112 65 26,97 53 25,-142-83 34,-39-21 15,-33-19 11,60 41 0,-42-19-121,96 49 0,-105-65 23,9 5 13,92 32 1,-114-51-22,-7-3-8,60 27 0,44 35-14,23 13 9,-30-25 30,-30-21-12,-94-37-14,171 45 3,-143-41-8,-14-2 7,-1 1 0,25 11 0,-10-3 5,25 11 11,-45-17 2,27 7 1,-9-3-19,-4-2 7,1-2-1,0-1 1,1-1-1,51 3 0,-40-4-7,-2 2 1,65 19-1,121 40 2,-158-48 17,77 10 1,-33-8-36,-98-17 19,22 4 6,44 16-1,64 35 11,17 6-8,-51-29-16,-34-11-9,128 24 0,-6 0 7,-117-28 34,38 5-10,-49-14-7,-14-2-21,-59-10 15,20 5-8,1-2 0,34 2 0,53 0-15,-18 1 35,-72-5-6,0 1 0,30 8 0,39 15 20,3 1-11,5-4-26,139 12-1,-155-27 4,159 17-37,-49 18 92,-36-7-10,-69-22-57,96 1 0,205 14 51,-338-24-27,64-5 1,52-11-4,-27 1 15,176-3 1,-25 14-3,-255 0-18,183 20 0,-46-2 6,36-2 1,171 4-4,130-4-26,-145 6 56,-354-21-28,208 13-7,-146-12 5,80-10-1,11-3 18,-43 4-8,107-10-51,-56 12 92,-161 5-50,30-1-2,49-9 0,2-1 10,-73 10 2,1 1 0,0 0 1,22 4-1,116 18 79,-128-20-102,1-1 1,0-1 0,42-7-1,-50 4-501,33-1-1,-50 5 163,-1-1-1,1 0 1,-1 1 0,1 0 0,-1-1-1,1 1 1,-1 0 0,1 0 0,-1 0 0,0 1-1,0-1 1,1 1 0,-1-1 0,3 3-1,-5-3 301,24 17-3936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4T15:46:48.433"/>
    </inkml:context>
    <inkml:brush xml:id="br0">
      <inkml:brushProperty name="width" value="0.05" units="cm"/>
      <inkml:brushProperty name="height" value="0.05" units="cm"/>
      <inkml:brushProperty name="color" value="#00B050"/>
    </inkml:brush>
  </inkml:definitions>
  <inkml:trace contextRef="#ctx0" brushRef="#br0">23 1 256,'2'0'888,"-2"0"-861,0 0 0,0 0 1,0 0-1,0 0 0,1 0 0,-1 0 1,0 0-1,0 0 0,0 0 0,0 0 1,0 0-1,0 0 0,0 0 0,0 0 1,0 0-1,0 0 0,0 0 0,0 0 1,0 0-1,0 0 0,0 0 0,0 0 1,0 0-1,0 0 0,0 0 0,1 0 1,-1 0-1,0 0 0,0 0 0,0 0 1,0 0-1,0 0 0,0 1 0,0-1 1,0 0-1,0 0 0,0 0 0,0 0 1,0 0-1,0 0 0,0 0 0,0 0 1,0 0-1,0 0 0,0 0 0,0 0 1,0 0-1,0 0 0,0 0 1,0 0-1,0 0 0,0 0 0,0 1 1,0-1-1,0 0 0,0 0 0,0 0 1,0 0-1,0 0 0,-1 0 0,1 0 1,0 0-1,0 0 0,0 0 0,0 0 1,0 0-1,0 6 402,-1 0-200,1-1 0,-1 1 0,-1 0-1,1-1 1,-1 0 0,-2 7-1,1-5-7,0 0 0,1 1 0,-2 9 0,4-13-138,-1 2 103,0 0 0,0 0 0,1 0 0,0 0 0,1 0-1,1 10 1,1 2 331,3 7 246,-5-22-646,0 1-1,0 0 0,0 0 0,0 5 0,-1-6-55,1 1 0,-1 0 1,1-1-1,0 0 0,0 1 1,2 5-1,18 44 284,-17-44-238,0 1 0,-1 0 0,3 11 0,-3-6 165,8 19 1,29 68 11,-26-74-156,-11-22-88,1 0 1,-1 1-1,0-1 0,-1 1 1,1 0-1,-1-1 0,1 13 0,-2-9-29,-1 0-1,-4 21 1,1 6-24,3-7 50,1 0 1,6 31-1,0-3 186,-5 5 85,3-34-179,-3-19-73,0-1-1,-1 1 1,0 0-1,-1 0 1,-1 11 0,-1 10 99,0-1 0,5 51 0,0-3 117,-2-69-246,0 0-1,3 15 0,1 8-2,-3-19-14,0 0 1,1-1-1,1 1 1,0-1-1,6 14 1,-5-15 13,-1 0 0,0 1 0,0 0 0,-1-1 0,2 25 0,-4-18 15,0-2 1,-1 0 1,0 0-1,-4 24 1,1-26-6,1 0 1,1 0 0,0 0-1,0 0 1,2 0 0,0 0-1,1 0 1,0 0 0,1 0-1,5 16 1,0-9 25,16 40 39,11 22 28,-10-24 71,-18-38-134,9 32 0,2 7-46,-12-44-21,8 24 44,2-1 0,21 38 0,-25-53-27,0 2 0,-2 0 0,0 0 1,-2 1-1,-1 0 0,4 36 1,-5-36 44,0 0 1,14 33 0,25 50 281,-14-38-212,-30-70-127,16 42 96,44 77 1,-53-106-73,0 1 1,10 29-1,-12-28 14,1 0 0,11 19-1,5 12 4,-6-10-26,-1-8 1,18 38-6,-28-55-4,1-1 0,1 0-1,0-1 1,0 1 0,1-1 0,16 14 0,13 18-11,-17-14 5,-1 1 0,17 36 0,4 7 61,-3-10 81,118 187 267,-145-232-408,-1 0 0,13 30 0,9 41 11,0-2-6,29 48 29,-47-108-32,4 7-1,2-2-1,40 50 1,1 2 29,-38-52-29,53 56 0,-28-34-2,-13-7 11,-17-21-9,-17-24-4,16 23 4,2-1-1,0-1 1,34 32 0,-35-39-1,-10-9 3,-1 0 0,13 9 0,-5-6 7,17 16-1,-9-8-17,77 76 16,-26-23 6,-58-57-15,0-1 1,36 21 0,144 81-20,-154-85 26,-6-4 4,1 2-20,51 47-1,-27-20 3,38 43 28,9 6-14,-100-97-13,66 50-15,-60-47 23,1-1 0,0-1 0,22 10-1,33 8-5,-34-14-3,-1 2-1,61 33 1,9 22 31,19 12-30,-79-55 4,1-1-1,83 30 1,-38-26-1,86 33-5,9 21-16,-117-58 16,-7-4 5,-58-20 3,20 9 12,44 11 1,148 24 6,-137-27-36,81 31-1,-13-3 34,368 70-33,-505-113 15,149 27 16,-60-9-10,44 6-8,-4-15 11,23 2 5,-48 1-10,236 26 46,2-26-12,-106-25 7,-183 5-30,89-4 39,-89 10-25,200-7 14,-179-5 24,116-29-1,-40 6-35,-139 31-26,120-25 10,23-23-7,-4-14 93,-87 34-13,-3-3-44,-24 11-36,-5 3-9,65-30 56,-98 47-50,106-47 50,-86 37-38,-2-2 1,28-21-1,-34 22 5,138-105 83,-21 6-80,-112 92-6,51-30 0,-35 24-11,25-16-1,65-45 6,-102 67-22,67-54-12,22-30 16,-29 27 28,-60 54-31,224-158 10,-160 120 14,-5-4-20,97-93 0,-158 131-6,-1 0 0,37-54 0,-21 26-1,137-167 18,-139 178 1,51-43 1,-71 68-24,32-42 0,-39 45 8,24-34 0,44-83 0,29-74 13,-60 117-9,58-95-4,-52 88-31,-31 52 44,14-32 1,5-7 4,-25 52-14,140-255-24,-121 216 42,93-209-4,-63 120-13,14 10 18,-7 15-4,-23 23-31,-26 53 5,47-78-1,-8 39 36,33-56 20,-82 125-49,-2 0 0,17-53 1,-21 55 3,-8 23-34,-1 0 0,0 1 0,0-1 0,0 0 1,-1 0-1,1 0 0,-1 0 0,-1-10 0,-2 3-1524,-7-26 0,6 25-32,-2-16-1781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5514B9-70FE-4E53-A8F0-94F5FB84042C}" type="datetimeFigureOut">
              <a:rPr lang="en-US" smtClean="0"/>
              <a:t>4/7/2025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0F8585-2CC2-4522-AB9D-3271A0A5EE11}" type="slidenum">
              <a:rPr lang="en-US" smtClean="0"/>
              <a:t>‹#›</a:t>
            </a:fld>
            <a:endParaRPr lang="en-US"/>
          </a:p>
        </p:txBody>
      </p:sp>
    </p:spTree>
    <p:extLst>
      <p:ext uri="{BB962C8B-B14F-4D97-AF65-F5344CB8AC3E}">
        <p14:creationId xmlns:p14="http://schemas.microsoft.com/office/powerpoint/2010/main" val="520230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a:t>
            </a:r>
            <a:r>
              <a:rPr lang="en-US" baseline="0" dirty="0"/>
              <a:t> </a:t>
            </a:r>
            <a:r>
              <a:rPr lang="en-US" baseline="0" dirty="0" err="1"/>
              <a:t>rand.norm</a:t>
            </a:r>
            <a:r>
              <a:rPr lang="en-US" baseline="0" dirty="0"/>
              <a:t>(0,1) </a:t>
            </a:r>
            <a:r>
              <a:rPr lang="en-US" baseline="0" dirty="0" err="1"/>
              <a:t>restituisce</a:t>
            </a:r>
            <a:r>
              <a:rPr lang="en-US" baseline="0" dirty="0"/>
              <a:t> </a:t>
            </a:r>
            <a:r>
              <a:rPr lang="en-US" baseline="0" dirty="0" err="1"/>
              <a:t>tipicamente</a:t>
            </a:r>
            <a:r>
              <a:rPr lang="en-US" baseline="0" dirty="0"/>
              <a:t> </a:t>
            </a:r>
            <a:r>
              <a:rPr lang="en-US" baseline="0" dirty="0" err="1"/>
              <a:t>valori</a:t>
            </a:r>
            <a:r>
              <a:rPr lang="en-US" baseline="0" dirty="0"/>
              <a:t> in [-1,1]; </a:t>
            </a:r>
            <a:r>
              <a:rPr lang="en-US" baseline="0" dirty="0" err="1"/>
              <a:t>molti</a:t>
            </a:r>
            <a:r>
              <a:rPr lang="en-US" baseline="0" dirty="0"/>
              <a:t> </a:t>
            </a:r>
            <a:r>
              <a:rPr lang="en-US" baseline="0" dirty="0" err="1"/>
              <a:t>sostituiscono</a:t>
            </a:r>
            <a:r>
              <a:rPr lang="en-US" baseline="0" dirty="0"/>
              <a:t> con Uniform(-1,1)</a:t>
            </a:r>
            <a:endParaRPr lang="en-US" dirty="0"/>
          </a:p>
        </p:txBody>
      </p:sp>
      <p:sp>
        <p:nvSpPr>
          <p:cNvPr id="4" name="Slide Number Placeholder 3"/>
          <p:cNvSpPr>
            <a:spLocks noGrp="1"/>
          </p:cNvSpPr>
          <p:nvPr>
            <p:ph type="sldNum" sz="quarter" idx="5"/>
          </p:nvPr>
        </p:nvSpPr>
        <p:spPr/>
        <p:txBody>
          <a:bodyPr/>
          <a:lstStyle/>
          <a:p>
            <a:fld id="{420F8585-2CC2-4522-AB9D-3271A0A5EE11}" type="slidenum">
              <a:rPr lang="en-US" smtClean="0"/>
              <a:t>30</a:t>
            </a:fld>
            <a:endParaRPr lang="en-US"/>
          </a:p>
        </p:txBody>
      </p:sp>
    </p:spTree>
    <p:extLst>
      <p:ext uri="{BB962C8B-B14F-4D97-AF65-F5344CB8AC3E}">
        <p14:creationId xmlns:p14="http://schemas.microsoft.com/office/powerpoint/2010/main" val="4280474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4F3A0-6863-406D-A692-824A616867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20C2A6E-DAF9-4B60-9C6C-AFFBDCD848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7A5A28-8D82-4EF4-BC54-82DC9E28AF87}"/>
              </a:ext>
            </a:extLst>
          </p:cNvPr>
          <p:cNvSpPr>
            <a:spLocks noGrp="1"/>
          </p:cNvSpPr>
          <p:nvPr>
            <p:ph type="dt" sz="half" idx="10"/>
          </p:nvPr>
        </p:nvSpPr>
        <p:spPr/>
        <p:txBody>
          <a:bodyPr/>
          <a:lstStyle/>
          <a:p>
            <a:fld id="{DD12ED4E-AD8D-40F8-94E6-B3858A76F594}" type="datetimeFigureOut">
              <a:rPr lang="en-US" smtClean="0"/>
              <a:t>4/7/2025</a:t>
            </a:fld>
            <a:endParaRPr lang="en-US"/>
          </a:p>
        </p:txBody>
      </p:sp>
      <p:sp>
        <p:nvSpPr>
          <p:cNvPr id="5" name="Footer Placeholder 4">
            <a:extLst>
              <a:ext uri="{FF2B5EF4-FFF2-40B4-BE49-F238E27FC236}">
                <a16:creationId xmlns:a16="http://schemas.microsoft.com/office/drawing/2014/main" id="{243A14C4-80E2-47D1-BE0A-3238C3296C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3EFCD1-27D3-4E11-BD46-749967DD490C}"/>
              </a:ext>
            </a:extLst>
          </p:cNvPr>
          <p:cNvSpPr>
            <a:spLocks noGrp="1"/>
          </p:cNvSpPr>
          <p:nvPr>
            <p:ph type="sldNum" sz="quarter" idx="12"/>
          </p:nvPr>
        </p:nvSpPr>
        <p:spPr/>
        <p:txBody>
          <a:bodyPr/>
          <a:lstStyle/>
          <a:p>
            <a:fld id="{4F79D53A-BF32-4FA6-912B-AC1D1369F351}" type="slidenum">
              <a:rPr lang="en-US" smtClean="0"/>
              <a:t>‹#›</a:t>
            </a:fld>
            <a:endParaRPr lang="en-US"/>
          </a:p>
        </p:txBody>
      </p:sp>
    </p:spTree>
    <p:extLst>
      <p:ext uri="{BB962C8B-B14F-4D97-AF65-F5344CB8AC3E}">
        <p14:creationId xmlns:p14="http://schemas.microsoft.com/office/powerpoint/2010/main" val="58655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4AF83-11E9-4D19-94AE-E41BE45D1D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F1441D-6EE9-42D7-8C3F-016F53DE39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060460-66FB-4B5E-9453-DEEA6EFB4A67}"/>
              </a:ext>
            </a:extLst>
          </p:cNvPr>
          <p:cNvSpPr>
            <a:spLocks noGrp="1"/>
          </p:cNvSpPr>
          <p:nvPr>
            <p:ph type="dt" sz="half" idx="10"/>
          </p:nvPr>
        </p:nvSpPr>
        <p:spPr/>
        <p:txBody>
          <a:bodyPr/>
          <a:lstStyle/>
          <a:p>
            <a:fld id="{DD12ED4E-AD8D-40F8-94E6-B3858A76F594}" type="datetimeFigureOut">
              <a:rPr lang="en-US" smtClean="0"/>
              <a:t>4/7/2025</a:t>
            </a:fld>
            <a:endParaRPr lang="en-US"/>
          </a:p>
        </p:txBody>
      </p:sp>
      <p:sp>
        <p:nvSpPr>
          <p:cNvPr id="5" name="Footer Placeholder 4">
            <a:extLst>
              <a:ext uri="{FF2B5EF4-FFF2-40B4-BE49-F238E27FC236}">
                <a16:creationId xmlns:a16="http://schemas.microsoft.com/office/drawing/2014/main" id="{F326961C-3868-4ECC-97D0-A9D692BE23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6AC6E1-4046-4C42-8F80-41D6BEA5B03C}"/>
              </a:ext>
            </a:extLst>
          </p:cNvPr>
          <p:cNvSpPr>
            <a:spLocks noGrp="1"/>
          </p:cNvSpPr>
          <p:nvPr>
            <p:ph type="sldNum" sz="quarter" idx="12"/>
          </p:nvPr>
        </p:nvSpPr>
        <p:spPr/>
        <p:txBody>
          <a:bodyPr/>
          <a:lstStyle/>
          <a:p>
            <a:fld id="{4F79D53A-BF32-4FA6-912B-AC1D1369F351}" type="slidenum">
              <a:rPr lang="en-US" smtClean="0"/>
              <a:t>‹#›</a:t>
            </a:fld>
            <a:endParaRPr lang="en-US"/>
          </a:p>
        </p:txBody>
      </p:sp>
    </p:spTree>
    <p:extLst>
      <p:ext uri="{BB962C8B-B14F-4D97-AF65-F5344CB8AC3E}">
        <p14:creationId xmlns:p14="http://schemas.microsoft.com/office/powerpoint/2010/main" val="384683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92466-168A-44C9-A547-809BEF1EBD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CAE69D-624B-4545-8961-AC73F01231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D79038-80A0-46D2-A230-E8308604D558}"/>
              </a:ext>
            </a:extLst>
          </p:cNvPr>
          <p:cNvSpPr>
            <a:spLocks noGrp="1"/>
          </p:cNvSpPr>
          <p:nvPr>
            <p:ph type="dt" sz="half" idx="10"/>
          </p:nvPr>
        </p:nvSpPr>
        <p:spPr/>
        <p:txBody>
          <a:bodyPr/>
          <a:lstStyle/>
          <a:p>
            <a:fld id="{DD12ED4E-AD8D-40F8-94E6-B3858A76F594}" type="datetimeFigureOut">
              <a:rPr lang="en-US" smtClean="0"/>
              <a:t>4/7/2025</a:t>
            </a:fld>
            <a:endParaRPr lang="en-US"/>
          </a:p>
        </p:txBody>
      </p:sp>
      <p:sp>
        <p:nvSpPr>
          <p:cNvPr id="5" name="Footer Placeholder 4">
            <a:extLst>
              <a:ext uri="{FF2B5EF4-FFF2-40B4-BE49-F238E27FC236}">
                <a16:creationId xmlns:a16="http://schemas.microsoft.com/office/drawing/2014/main" id="{33AC2A79-2D99-4600-8678-32BB757064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8202E1-92E4-4569-A7F5-E09037F3A553}"/>
              </a:ext>
            </a:extLst>
          </p:cNvPr>
          <p:cNvSpPr>
            <a:spLocks noGrp="1"/>
          </p:cNvSpPr>
          <p:nvPr>
            <p:ph type="sldNum" sz="quarter" idx="12"/>
          </p:nvPr>
        </p:nvSpPr>
        <p:spPr/>
        <p:txBody>
          <a:bodyPr/>
          <a:lstStyle/>
          <a:p>
            <a:fld id="{4F79D53A-BF32-4FA6-912B-AC1D1369F351}" type="slidenum">
              <a:rPr lang="en-US" smtClean="0"/>
              <a:t>‹#›</a:t>
            </a:fld>
            <a:endParaRPr lang="en-US"/>
          </a:p>
        </p:txBody>
      </p:sp>
    </p:spTree>
    <p:extLst>
      <p:ext uri="{BB962C8B-B14F-4D97-AF65-F5344CB8AC3E}">
        <p14:creationId xmlns:p14="http://schemas.microsoft.com/office/powerpoint/2010/main" val="1738217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94F99-4603-46E8-A10B-C7D876B204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661266F-26CE-4A4F-953D-2E38D012E1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B92CE4-CC86-40B1-85DF-E650174CF8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C4F8D1-87FB-4ABA-A91C-79FAB23F79D9}"/>
              </a:ext>
            </a:extLst>
          </p:cNvPr>
          <p:cNvSpPr>
            <a:spLocks noGrp="1"/>
          </p:cNvSpPr>
          <p:nvPr>
            <p:ph type="dt" sz="half" idx="10"/>
          </p:nvPr>
        </p:nvSpPr>
        <p:spPr/>
        <p:txBody>
          <a:bodyPr/>
          <a:lstStyle/>
          <a:p>
            <a:fld id="{DD12ED4E-AD8D-40F8-94E6-B3858A76F594}" type="datetimeFigureOut">
              <a:rPr lang="en-US" smtClean="0"/>
              <a:t>4/7/2025</a:t>
            </a:fld>
            <a:endParaRPr lang="en-US"/>
          </a:p>
        </p:txBody>
      </p:sp>
      <p:sp>
        <p:nvSpPr>
          <p:cNvPr id="6" name="Footer Placeholder 5">
            <a:extLst>
              <a:ext uri="{FF2B5EF4-FFF2-40B4-BE49-F238E27FC236}">
                <a16:creationId xmlns:a16="http://schemas.microsoft.com/office/drawing/2014/main" id="{E4EA4584-0B37-4E7E-BDA5-0C6585FF2D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01504B-E392-4322-9595-7F392AEBC719}"/>
              </a:ext>
            </a:extLst>
          </p:cNvPr>
          <p:cNvSpPr>
            <a:spLocks noGrp="1"/>
          </p:cNvSpPr>
          <p:nvPr>
            <p:ph type="sldNum" sz="quarter" idx="12"/>
          </p:nvPr>
        </p:nvSpPr>
        <p:spPr/>
        <p:txBody>
          <a:bodyPr/>
          <a:lstStyle/>
          <a:p>
            <a:fld id="{4F79D53A-BF32-4FA6-912B-AC1D1369F351}" type="slidenum">
              <a:rPr lang="en-US" smtClean="0"/>
              <a:t>‹#›</a:t>
            </a:fld>
            <a:endParaRPr lang="en-US"/>
          </a:p>
        </p:txBody>
      </p:sp>
    </p:spTree>
    <p:extLst>
      <p:ext uri="{BB962C8B-B14F-4D97-AF65-F5344CB8AC3E}">
        <p14:creationId xmlns:p14="http://schemas.microsoft.com/office/powerpoint/2010/main" val="4206269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39B9-91BC-4F18-B55C-C6225062CD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ABC340-D2C0-4C85-AAF0-10A0C94CBF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9D3582-FBDB-4BB2-93EF-99A23FFA08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04F2A43-2BD8-44FE-A508-CF97D5EF02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45ACAF-6652-4B1D-80F6-2DAB589681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B12CC09-F143-404D-BC56-B50118369FF6}"/>
              </a:ext>
            </a:extLst>
          </p:cNvPr>
          <p:cNvSpPr>
            <a:spLocks noGrp="1"/>
          </p:cNvSpPr>
          <p:nvPr>
            <p:ph type="dt" sz="half" idx="10"/>
          </p:nvPr>
        </p:nvSpPr>
        <p:spPr/>
        <p:txBody>
          <a:bodyPr/>
          <a:lstStyle/>
          <a:p>
            <a:fld id="{DD12ED4E-AD8D-40F8-94E6-B3858A76F594}" type="datetimeFigureOut">
              <a:rPr lang="en-US" smtClean="0"/>
              <a:t>4/7/2025</a:t>
            </a:fld>
            <a:endParaRPr lang="en-US"/>
          </a:p>
        </p:txBody>
      </p:sp>
      <p:sp>
        <p:nvSpPr>
          <p:cNvPr id="8" name="Footer Placeholder 7">
            <a:extLst>
              <a:ext uri="{FF2B5EF4-FFF2-40B4-BE49-F238E27FC236}">
                <a16:creationId xmlns:a16="http://schemas.microsoft.com/office/drawing/2014/main" id="{E84A144F-7459-4535-A94F-F2E73258B6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80CB9B-7C0E-49B8-8DFE-11F10278ED09}"/>
              </a:ext>
            </a:extLst>
          </p:cNvPr>
          <p:cNvSpPr>
            <a:spLocks noGrp="1"/>
          </p:cNvSpPr>
          <p:nvPr>
            <p:ph type="sldNum" sz="quarter" idx="12"/>
          </p:nvPr>
        </p:nvSpPr>
        <p:spPr/>
        <p:txBody>
          <a:bodyPr/>
          <a:lstStyle/>
          <a:p>
            <a:fld id="{4F79D53A-BF32-4FA6-912B-AC1D1369F351}" type="slidenum">
              <a:rPr lang="en-US" smtClean="0"/>
              <a:t>‹#›</a:t>
            </a:fld>
            <a:endParaRPr lang="en-US"/>
          </a:p>
        </p:txBody>
      </p:sp>
    </p:spTree>
    <p:extLst>
      <p:ext uri="{BB962C8B-B14F-4D97-AF65-F5344CB8AC3E}">
        <p14:creationId xmlns:p14="http://schemas.microsoft.com/office/powerpoint/2010/main" val="2618169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985D7-323C-43D2-8AB1-18A84CC68E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3CB0725-CC22-49AD-8E92-3CB55D3BC8A0}"/>
              </a:ext>
            </a:extLst>
          </p:cNvPr>
          <p:cNvSpPr>
            <a:spLocks noGrp="1"/>
          </p:cNvSpPr>
          <p:nvPr>
            <p:ph type="dt" sz="half" idx="10"/>
          </p:nvPr>
        </p:nvSpPr>
        <p:spPr/>
        <p:txBody>
          <a:bodyPr/>
          <a:lstStyle/>
          <a:p>
            <a:fld id="{DD12ED4E-AD8D-40F8-94E6-B3858A76F594}" type="datetimeFigureOut">
              <a:rPr lang="en-US" smtClean="0"/>
              <a:t>4/7/2025</a:t>
            </a:fld>
            <a:endParaRPr lang="en-US"/>
          </a:p>
        </p:txBody>
      </p:sp>
      <p:sp>
        <p:nvSpPr>
          <p:cNvPr id="4" name="Footer Placeholder 3">
            <a:extLst>
              <a:ext uri="{FF2B5EF4-FFF2-40B4-BE49-F238E27FC236}">
                <a16:creationId xmlns:a16="http://schemas.microsoft.com/office/drawing/2014/main" id="{CC07F1CE-D9CF-43AB-918E-8C87045625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CC6DB9-1735-4A6C-98B3-628FE86618C7}"/>
              </a:ext>
            </a:extLst>
          </p:cNvPr>
          <p:cNvSpPr>
            <a:spLocks noGrp="1"/>
          </p:cNvSpPr>
          <p:nvPr>
            <p:ph type="sldNum" sz="quarter" idx="12"/>
          </p:nvPr>
        </p:nvSpPr>
        <p:spPr/>
        <p:txBody>
          <a:bodyPr/>
          <a:lstStyle/>
          <a:p>
            <a:fld id="{4F79D53A-BF32-4FA6-912B-AC1D1369F351}" type="slidenum">
              <a:rPr lang="en-US" smtClean="0"/>
              <a:t>‹#›</a:t>
            </a:fld>
            <a:endParaRPr lang="en-US"/>
          </a:p>
        </p:txBody>
      </p:sp>
    </p:spTree>
    <p:extLst>
      <p:ext uri="{BB962C8B-B14F-4D97-AF65-F5344CB8AC3E}">
        <p14:creationId xmlns:p14="http://schemas.microsoft.com/office/powerpoint/2010/main" val="1445605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89DDF3-818E-470D-8D7F-86E0C5882E8D}"/>
              </a:ext>
            </a:extLst>
          </p:cNvPr>
          <p:cNvSpPr>
            <a:spLocks noGrp="1"/>
          </p:cNvSpPr>
          <p:nvPr>
            <p:ph type="dt" sz="half" idx="10"/>
          </p:nvPr>
        </p:nvSpPr>
        <p:spPr/>
        <p:txBody>
          <a:bodyPr/>
          <a:lstStyle/>
          <a:p>
            <a:fld id="{DD12ED4E-AD8D-40F8-94E6-B3858A76F594}" type="datetimeFigureOut">
              <a:rPr lang="en-US" smtClean="0"/>
              <a:t>4/7/2025</a:t>
            </a:fld>
            <a:endParaRPr lang="en-US"/>
          </a:p>
        </p:txBody>
      </p:sp>
      <p:sp>
        <p:nvSpPr>
          <p:cNvPr id="3" name="Footer Placeholder 2">
            <a:extLst>
              <a:ext uri="{FF2B5EF4-FFF2-40B4-BE49-F238E27FC236}">
                <a16:creationId xmlns:a16="http://schemas.microsoft.com/office/drawing/2014/main" id="{328B9681-CB33-4F57-BCF0-93C57B1C0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CFCB200-3C2A-42DE-8691-C611A9554414}"/>
              </a:ext>
            </a:extLst>
          </p:cNvPr>
          <p:cNvSpPr>
            <a:spLocks noGrp="1"/>
          </p:cNvSpPr>
          <p:nvPr>
            <p:ph type="sldNum" sz="quarter" idx="12"/>
          </p:nvPr>
        </p:nvSpPr>
        <p:spPr/>
        <p:txBody>
          <a:bodyPr/>
          <a:lstStyle/>
          <a:p>
            <a:fld id="{4F79D53A-BF32-4FA6-912B-AC1D1369F351}" type="slidenum">
              <a:rPr lang="en-US" smtClean="0"/>
              <a:t>‹#›</a:t>
            </a:fld>
            <a:endParaRPr lang="en-US"/>
          </a:p>
        </p:txBody>
      </p:sp>
    </p:spTree>
    <p:extLst>
      <p:ext uri="{BB962C8B-B14F-4D97-AF65-F5344CB8AC3E}">
        <p14:creationId xmlns:p14="http://schemas.microsoft.com/office/powerpoint/2010/main" val="2290237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076E9-1F63-44B2-A6FF-5594BDD4C2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0F5980-1168-4439-92C8-4DDD9B120F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9706C5-7524-4C50-888C-0D1A22B72A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510193-E271-441F-BEBE-0E919FB75B42}"/>
              </a:ext>
            </a:extLst>
          </p:cNvPr>
          <p:cNvSpPr>
            <a:spLocks noGrp="1"/>
          </p:cNvSpPr>
          <p:nvPr>
            <p:ph type="dt" sz="half" idx="10"/>
          </p:nvPr>
        </p:nvSpPr>
        <p:spPr/>
        <p:txBody>
          <a:bodyPr/>
          <a:lstStyle/>
          <a:p>
            <a:fld id="{DD12ED4E-AD8D-40F8-94E6-B3858A76F594}" type="datetimeFigureOut">
              <a:rPr lang="en-US" smtClean="0"/>
              <a:t>4/7/2025</a:t>
            </a:fld>
            <a:endParaRPr lang="en-US"/>
          </a:p>
        </p:txBody>
      </p:sp>
      <p:sp>
        <p:nvSpPr>
          <p:cNvPr id="6" name="Footer Placeholder 5">
            <a:extLst>
              <a:ext uri="{FF2B5EF4-FFF2-40B4-BE49-F238E27FC236}">
                <a16:creationId xmlns:a16="http://schemas.microsoft.com/office/drawing/2014/main" id="{2BFCA54E-7402-4BC9-BCEC-C0A91159CC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86935E-4167-423A-B754-D97EE7868F31}"/>
              </a:ext>
            </a:extLst>
          </p:cNvPr>
          <p:cNvSpPr>
            <a:spLocks noGrp="1"/>
          </p:cNvSpPr>
          <p:nvPr>
            <p:ph type="sldNum" sz="quarter" idx="12"/>
          </p:nvPr>
        </p:nvSpPr>
        <p:spPr/>
        <p:txBody>
          <a:bodyPr/>
          <a:lstStyle/>
          <a:p>
            <a:fld id="{4F79D53A-BF32-4FA6-912B-AC1D1369F351}" type="slidenum">
              <a:rPr lang="en-US" smtClean="0"/>
              <a:t>‹#›</a:t>
            </a:fld>
            <a:endParaRPr lang="en-US"/>
          </a:p>
        </p:txBody>
      </p:sp>
    </p:spTree>
    <p:extLst>
      <p:ext uri="{BB962C8B-B14F-4D97-AF65-F5344CB8AC3E}">
        <p14:creationId xmlns:p14="http://schemas.microsoft.com/office/powerpoint/2010/main" val="775720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E5A22-03FD-4E56-8117-AE12502CD2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8F01BA-ACC9-45AF-B9D6-6EE023EBBC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E05E681-B49B-4169-8611-161653B86B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FE1BA8-AC37-4AC0-9EEB-7E98485EB96C}"/>
              </a:ext>
            </a:extLst>
          </p:cNvPr>
          <p:cNvSpPr>
            <a:spLocks noGrp="1"/>
          </p:cNvSpPr>
          <p:nvPr>
            <p:ph type="dt" sz="half" idx="10"/>
          </p:nvPr>
        </p:nvSpPr>
        <p:spPr/>
        <p:txBody>
          <a:bodyPr/>
          <a:lstStyle/>
          <a:p>
            <a:fld id="{DD12ED4E-AD8D-40F8-94E6-B3858A76F594}" type="datetimeFigureOut">
              <a:rPr lang="en-US" smtClean="0"/>
              <a:t>4/7/2025</a:t>
            </a:fld>
            <a:endParaRPr lang="en-US"/>
          </a:p>
        </p:txBody>
      </p:sp>
      <p:sp>
        <p:nvSpPr>
          <p:cNvPr id="6" name="Footer Placeholder 5">
            <a:extLst>
              <a:ext uri="{FF2B5EF4-FFF2-40B4-BE49-F238E27FC236}">
                <a16:creationId xmlns:a16="http://schemas.microsoft.com/office/drawing/2014/main" id="{CEE67AF9-4E44-497F-937F-465213D0B3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FFCB18-73C1-493B-84FC-D7D014415995}"/>
              </a:ext>
            </a:extLst>
          </p:cNvPr>
          <p:cNvSpPr>
            <a:spLocks noGrp="1"/>
          </p:cNvSpPr>
          <p:nvPr>
            <p:ph type="sldNum" sz="quarter" idx="12"/>
          </p:nvPr>
        </p:nvSpPr>
        <p:spPr/>
        <p:txBody>
          <a:bodyPr/>
          <a:lstStyle/>
          <a:p>
            <a:fld id="{4F79D53A-BF32-4FA6-912B-AC1D1369F351}" type="slidenum">
              <a:rPr lang="en-US" smtClean="0"/>
              <a:t>‹#›</a:t>
            </a:fld>
            <a:endParaRPr lang="en-US"/>
          </a:p>
        </p:txBody>
      </p:sp>
    </p:spTree>
    <p:extLst>
      <p:ext uri="{BB962C8B-B14F-4D97-AF65-F5344CB8AC3E}">
        <p14:creationId xmlns:p14="http://schemas.microsoft.com/office/powerpoint/2010/main" val="1076098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2E37C-004F-4222-92B6-92452DF59D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2DC165-293A-4282-8E89-2A81D26E0C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81CD5D-DD4E-48D0-A7EE-4597DB55F332}"/>
              </a:ext>
            </a:extLst>
          </p:cNvPr>
          <p:cNvSpPr>
            <a:spLocks noGrp="1"/>
          </p:cNvSpPr>
          <p:nvPr>
            <p:ph type="dt" sz="half" idx="10"/>
          </p:nvPr>
        </p:nvSpPr>
        <p:spPr/>
        <p:txBody>
          <a:bodyPr/>
          <a:lstStyle/>
          <a:p>
            <a:fld id="{DD12ED4E-AD8D-40F8-94E6-B3858A76F594}" type="datetimeFigureOut">
              <a:rPr lang="en-US" smtClean="0"/>
              <a:t>4/7/2025</a:t>
            </a:fld>
            <a:endParaRPr lang="en-US"/>
          </a:p>
        </p:txBody>
      </p:sp>
      <p:sp>
        <p:nvSpPr>
          <p:cNvPr id="5" name="Footer Placeholder 4">
            <a:extLst>
              <a:ext uri="{FF2B5EF4-FFF2-40B4-BE49-F238E27FC236}">
                <a16:creationId xmlns:a16="http://schemas.microsoft.com/office/drawing/2014/main" id="{12106E9A-1245-4C16-B8BD-3FD0303FC0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C32BC1-E31E-4797-A55F-5F78EC364FD7}"/>
              </a:ext>
            </a:extLst>
          </p:cNvPr>
          <p:cNvSpPr>
            <a:spLocks noGrp="1"/>
          </p:cNvSpPr>
          <p:nvPr>
            <p:ph type="sldNum" sz="quarter" idx="12"/>
          </p:nvPr>
        </p:nvSpPr>
        <p:spPr/>
        <p:txBody>
          <a:bodyPr/>
          <a:lstStyle/>
          <a:p>
            <a:fld id="{4F79D53A-BF32-4FA6-912B-AC1D1369F351}" type="slidenum">
              <a:rPr lang="en-US" smtClean="0"/>
              <a:t>‹#›</a:t>
            </a:fld>
            <a:endParaRPr lang="en-US"/>
          </a:p>
        </p:txBody>
      </p:sp>
    </p:spTree>
    <p:extLst>
      <p:ext uri="{BB962C8B-B14F-4D97-AF65-F5344CB8AC3E}">
        <p14:creationId xmlns:p14="http://schemas.microsoft.com/office/powerpoint/2010/main" val="1756117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B842DB-00E7-45FF-8E45-1DD67CBAE8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6BA93E-78D7-4E11-AA14-57BFCF3E81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EAE568-BE06-4157-BB8A-E1D66D16D301}"/>
              </a:ext>
            </a:extLst>
          </p:cNvPr>
          <p:cNvSpPr>
            <a:spLocks noGrp="1"/>
          </p:cNvSpPr>
          <p:nvPr>
            <p:ph type="dt" sz="half" idx="10"/>
          </p:nvPr>
        </p:nvSpPr>
        <p:spPr/>
        <p:txBody>
          <a:bodyPr/>
          <a:lstStyle/>
          <a:p>
            <a:fld id="{DD12ED4E-AD8D-40F8-94E6-B3858A76F594}" type="datetimeFigureOut">
              <a:rPr lang="en-US" smtClean="0"/>
              <a:t>4/7/2025</a:t>
            </a:fld>
            <a:endParaRPr lang="en-US"/>
          </a:p>
        </p:txBody>
      </p:sp>
      <p:sp>
        <p:nvSpPr>
          <p:cNvPr id="5" name="Footer Placeholder 4">
            <a:extLst>
              <a:ext uri="{FF2B5EF4-FFF2-40B4-BE49-F238E27FC236}">
                <a16:creationId xmlns:a16="http://schemas.microsoft.com/office/drawing/2014/main" id="{8FCBA62F-9D3C-434D-AB1F-562A1B4997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7EE438-479B-4057-8AC6-02D0785DC636}"/>
              </a:ext>
            </a:extLst>
          </p:cNvPr>
          <p:cNvSpPr>
            <a:spLocks noGrp="1"/>
          </p:cNvSpPr>
          <p:nvPr>
            <p:ph type="sldNum" sz="quarter" idx="12"/>
          </p:nvPr>
        </p:nvSpPr>
        <p:spPr/>
        <p:txBody>
          <a:bodyPr/>
          <a:lstStyle/>
          <a:p>
            <a:fld id="{4F79D53A-BF32-4FA6-912B-AC1D1369F351}" type="slidenum">
              <a:rPr lang="en-US" smtClean="0"/>
              <a:t>‹#›</a:t>
            </a:fld>
            <a:endParaRPr lang="en-US"/>
          </a:p>
        </p:txBody>
      </p:sp>
    </p:spTree>
    <p:extLst>
      <p:ext uri="{BB962C8B-B14F-4D97-AF65-F5344CB8AC3E}">
        <p14:creationId xmlns:p14="http://schemas.microsoft.com/office/powerpoint/2010/main" val="952336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8D52D9-B956-4BF9-94D4-C6D37F6E9B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C56911-A941-48A2-9604-378BD62E0C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628DD6-C3B9-47E7-948E-9785276EFD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12ED4E-AD8D-40F8-94E6-B3858A76F594}" type="datetimeFigureOut">
              <a:rPr lang="en-US" smtClean="0"/>
              <a:t>4/7/2025</a:t>
            </a:fld>
            <a:endParaRPr lang="en-US"/>
          </a:p>
        </p:txBody>
      </p:sp>
      <p:sp>
        <p:nvSpPr>
          <p:cNvPr id="5" name="Footer Placeholder 4">
            <a:extLst>
              <a:ext uri="{FF2B5EF4-FFF2-40B4-BE49-F238E27FC236}">
                <a16:creationId xmlns:a16="http://schemas.microsoft.com/office/drawing/2014/main" id="{466ED501-26C5-40F6-9E51-82E0A590EC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46ADE4-EC5B-4433-BAE0-9DED021FF1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79D53A-BF32-4FA6-912B-AC1D1369F351}" type="slidenum">
              <a:rPr lang="en-US" smtClean="0"/>
              <a:t>‹#›</a:t>
            </a:fld>
            <a:endParaRPr lang="en-US"/>
          </a:p>
        </p:txBody>
      </p:sp>
    </p:spTree>
    <p:extLst>
      <p:ext uri="{BB962C8B-B14F-4D97-AF65-F5344CB8AC3E}">
        <p14:creationId xmlns:p14="http://schemas.microsoft.com/office/powerpoint/2010/main" val="2556100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26" Type="http://schemas.openxmlformats.org/officeDocument/2006/relationships/image" Target="../media/image22.png"/><Relationship Id="rId3" Type="http://schemas.openxmlformats.org/officeDocument/2006/relationships/tags" Target="../tags/tag3.xml"/><Relationship Id="rId7" Type="http://schemas.openxmlformats.org/officeDocument/2006/relationships/image" Target="../media/image6.png"/><Relationship Id="rId12" Type="http://schemas.openxmlformats.org/officeDocument/2006/relationships/image" Target="../media/image11.png"/><Relationship Id="rId25" Type="http://schemas.openxmlformats.org/officeDocument/2006/relationships/image" Target="../media/image21.png"/><Relationship Id="rId2" Type="http://schemas.openxmlformats.org/officeDocument/2006/relationships/tags" Target="../tags/tag2.xml"/><Relationship Id="rId16" Type="http://schemas.openxmlformats.org/officeDocument/2006/relationships/image" Target="../media/image15.png"/><Relationship Id="rId29" Type="http://schemas.openxmlformats.org/officeDocument/2006/relationships/image" Target="../media/image16.png"/><Relationship Id="rId1" Type="http://schemas.openxmlformats.org/officeDocument/2006/relationships/tags" Target="../tags/tag1.xml"/><Relationship Id="rId6" Type="http://schemas.openxmlformats.org/officeDocument/2006/relationships/image" Target="../media/image5.png"/><Relationship Id="rId11" Type="http://schemas.openxmlformats.org/officeDocument/2006/relationships/image" Target="../media/image10.png"/><Relationship Id="rId32" Type="http://schemas.openxmlformats.org/officeDocument/2006/relationships/image" Target="../media/image160.png"/><Relationship Id="rId5" Type="http://schemas.openxmlformats.org/officeDocument/2006/relationships/slideLayout" Target="../slideLayouts/slideLayout2.xml"/><Relationship Id="rId15" Type="http://schemas.openxmlformats.org/officeDocument/2006/relationships/image" Target="../media/image14.png"/><Relationship Id="rId28" Type="http://schemas.openxmlformats.org/officeDocument/2006/relationships/image" Target="../media/image24.png"/><Relationship Id="rId10" Type="http://schemas.openxmlformats.org/officeDocument/2006/relationships/image" Target="../media/image9.png"/><Relationship Id="rId31" Type="http://schemas.openxmlformats.org/officeDocument/2006/relationships/image" Target="../media/image27.png"/><Relationship Id="rId4" Type="http://schemas.openxmlformats.org/officeDocument/2006/relationships/tags" Target="../tags/tag4.xml"/><Relationship Id="rId9" Type="http://schemas.openxmlformats.org/officeDocument/2006/relationships/image" Target="../media/image8.png"/><Relationship Id="rId14" Type="http://schemas.openxmlformats.org/officeDocument/2006/relationships/image" Target="../media/image13.png"/><Relationship Id="rId27"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10.emf"/><Relationship Id="rId13" Type="http://schemas.openxmlformats.org/officeDocument/2006/relationships/image" Target="../media/image29.png"/><Relationship Id="rId18" Type="http://schemas.openxmlformats.org/officeDocument/2006/relationships/image" Target="../media/image39.png"/><Relationship Id="rId3" Type="http://schemas.openxmlformats.org/officeDocument/2006/relationships/image" Target="../media/image18.png"/><Relationship Id="rId21" Type="http://schemas.openxmlformats.org/officeDocument/2006/relationships/image" Target="../media/image42.png"/><Relationship Id="rId7" Type="http://schemas.openxmlformats.org/officeDocument/2006/relationships/image" Target="../media/image28.png"/><Relationship Id="rId12" Type="http://schemas.openxmlformats.org/officeDocument/2006/relationships/image" Target="../media/image17.png"/><Relationship Id="rId17" Type="http://schemas.openxmlformats.org/officeDocument/2006/relationships/image" Target="../media/image38.png"/><Relationship Id="rId2" Type="http://schemas.openxmlformats.org/officeDocument/2006/relationships/image" Target="../media/image9.emf"/><Relationship Id="rId16" Type="http://schemas.openxmlformats.org/officeDocument/2006/relationships/image" Target="../media/image37.png"/><Relationship Id="rId20" Type="http://schemas.openxmlformats.org/officeDocument/2006/relationships/image" Target="../media/image170.png"/><Relationship Id="rId1" Type="http://schemas.openxmlformats.org/officeDocument/2006/relationships/slideLayout" Target="../slideLayouts/slideLayout4.xml"/><Relationship Id="rId6" Type="http://schemas.openxmlformats.org/officeDocument/2006/relationships/image" Target="../media/image25.png"/><Relationship Id="rId11" Type="http://schemas.openxmlformats.org/officeDocument/2006/relationships/image" Target="../media/image13.emf"/><Relationship Id="rId5" Type="http://schemas.openxmlformats.org/officeDocument/2006/relationships/image" Target="../media/image20.png"/><Relationship Id="rId15" Type="http://schemas.openxmlformats.org/officeDocument/2006/relationships/image" Target="../media/image36.png"/><Relationship Id="rId23" Type="http://schemas.openxmlformats.org/officeDocument/2006/relationships/image" Target="../media/image44.png"/><Relationship Id="rId10" Type="http://schemas.openxmlformats.org/officeDocument/2006/relationships/image" Target="../media/image12.emf"/><Relationship Id="rId19" Type="http://schemas.openxmlformats.org/officeDocument/2006/relationships/image" Target="../media/image40.png"/><Relationship Id="rId4" Type="http://schemas.openxmlformats.org/officeDocument/2006/relationships/image" Target="../media/image19.png"/><Relationship Id="rId9" Type="http://schemas.openxmlformats.org/officeDocument/2006/relationships/image" Target="../media/image11.emf"/><Relationship Id="rId14" Type="http://schemas.openxmlformats.org/officeDocument/2006/relationships/image" Target="../media/image30.png"/><Relationship Id="rId22" Type="http://schemas.openxmlformats.org/officeDocument/2006/relationships/image" Target="../media/image43.png"/></Relationships>
</file>

<file path=ppt/slides/_rels/slide8.xml.rels><?xml version="1.0" encoding="UTF-8" standalone="yes"?>
<Relationships xmlns="http://schemas.openxmlformats.org/package/2006/relationships"><Relationship Id="rId8" Type="http://schemas.openxmlformats.org/officeDocument/2006/relationships/image" Target="../media/image11.emf"/><Relationship Id="rId18" Type="http://schemas.openxmlformats.org/officeDocument/2006/relationships/image" Target="../media/image39.png"/><Relationship Id="rId3" Type="http://schemas.openxmlformats.org/officeDocument/2006/relationships/image" Target="../media/image26.png"/><Relationship Id="rId21" Type="http://schemas.openxmlformats.org/officeDocument/2006/relationships/image" Target="../media/image42.png"/><Relationship Id="rId7" Type="http://schemas.openxmlformats.org/officeDocument/2006/relationships/image" Target="../media/image10.emf"/><Relationship Id="rId17" Type="http://schemas.openxmlformats.org/officeDocument/2006/relationships/image" Target="../media/image38.png"/><Relationship Id="rId25" Type="http://schemas.openxmlformats.org/officeDocument/2006/relationships/image" Target="../media/image450.png"/><Relationship Id="rId2" Type="http://schemas.openxmlformats.org/officeDocument/2006/relationships/image" Target="../media/image9.emf"/><Relationship Id="rId16" Type="http://schemas.openxmlformats.org/officeDocument/2006/relationships/image" Target="../media/image45.png"/><Relationship Id="rId20" Type="http://schemas.openxmlformats.org/officeDocument/2006/relationships/image" Target="../media/image170.png"/><Relationship Id="rId1" Type="http://schemas.openxmlformats.org/officeDocument/2006/relationships/slideLayout" Target="../slideLayouts/slideLayout4.xml"/><Relationship Id="rId6" Type="http://schemas.openxmlformats.org/officeDocument/2006/relationships/image" Target="../media/image32.png"/><Relationship Id="rId11" Type="http://schemas.openxmlformats.org/officeDocument/2006/relationships/image" Target="../media/image34.png"/><Relationship Id="rId24" Type="http://schemas.openxmlformats.org/officeDocument/2006/relationships/image" Target="../media/image46.png"/><Relationship Id="rId5" Type="http://schemas.openxmlformats.org/officeDocument/2006/relationships/image" Target="../media/image31.png"/><Relationship Id="rId15" Type="http://schemas.openxmlformats.org/officeDocument/2006/relationships/image" Target="../media/image41.png"/><Relationship Id="rId23" Type="http://schemas.openxmlformats.org/officeDocument/2006/relationships/image" Target="../media/image44.png"/><Relationship Id="rId10" Type="http://schemas.openxmlformats.org/officeDocument/2006/relationships/image" Target="../media/image33.png"/><Relationship Id="rId19" Type="http://schemas.openxmlformats.org/officeDocument/2006/relationships/image" Target="../media/image40.png"/><Relationship Id="rId4" Type="http://schemas.openxmlformats.org/officeDocument/2006/relationships/image" Target="../media/image301.png"/><Relationship Id="rId9" Type="http://schemas.openxmlformats.org/officeDocument/2006/relationships/image" Target="../media/image12.emf"/><Relationship Id="rId14" Type="http://schemas.openxmlformats.org/officeDocument/2006/relationships/image" Target="../media/image35.png"/><Relationship Id="rId22" Type="http://schemas.openxmlformats.org/officeDocument/2006/relationships/image" Target="../media/image43.png"/></Relationships>
</file>

<file path=ppt/slides/_rels/slide9.xml.rels><?xml version="1.0" encoding="UTF-8" standalone="yes"?>
<Relationships xmlns="http://schemas.openxmlformats.org/package/2006/relationships"><Relationship Id="rId8" Type="http://schemas.openxmlformats.org/officeDocument/2006/relationships/image" Target="../media/image11.emf"/><Relationship Id="rId18" Type="http://schemas.openxmlformats.org/officeDocument/2006/relationships/image" Target="../media/image47.png"/><Relationship Id="rId26" Type="http://schemas.openxmlformats.org/officeDocument/2006/relationships/image" Target="../media/image49.png"/><Relationship Id="rId3" Type="http://schemas.openxmlformats.org/officeDocument/2006/relationships/image" Target="../media/image26.png"/><Relationship Id="rId7" Type="http://schemas.openxmlformats.org/officeDocument/2006/relationships/image" Target="../media/image10.emf"/><Relationship Id="rId17" Type="http://schemas.openxmlformats.org/officeDocument/2006/relationships/image" Target="../media/image38.png"/><Relationship Id="rId25" Type="http://schemas.openxmlformats.org/officeDocument/2006/relationships/image" Target="../media/image450.png"/><Relationship Id="rId2" Type="http://schemas.openxmlformats.org/officeDocument/2006/relationships/image" Target="../media/image9.emf"/><Relationship Id="rId20" Type="http://schemas.openxmlformats.org/officeDocument/2006/relationships/image" Target="../media/image46.png"/><Relationship Id="rId29" Type="http://schemas.openxmlformats.org/officeDocument/2006/relationships/image" Target="../media/image52.png"/><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png"/><Relationship Id="rId28" Type="http://schemas.openxmlformats.org/officeDocument/2006/relationships/image" Target="../media/image51.png"/><Relationship Id="rId10" Type="http://schemas.openxmlformats.org/officeDocument/2006/relationships/image" Target="../media/image33.png"/><Relationship Id="rId19" Type="http://schemas.openxmlformats.org/officeDocument/2006/relationships/image" Target="../media/image48.png"/><Relationship Id="rId4" Type="http://schemas.openxmlformats.org/officeDocument/2006/relationships/image" Target="../media/image301.png"/><Relationship Id="rId9" Type="http://schemas.openxmlformats.org/officeDocument/2006/relationships/image" Target="../media/image12.emf"/><Relationship Id="rId14" Type="http://schemas.openxmlformats.org/officeDocument/2006/relationships/image" Target="../media/image35.png"/><Relationship Id="rId27" Type="http://schemas.openxmlformats.org/officeDocument/2006/relationships/image" Target="../media/image50.png"/></Relationships>
</file>

<file path=ppt/slides/_rels/slide1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500.png"/><Relationship Id="rId26" Type="http://schemas.openxmlformats.org/officeDocument/2006/relationships/image" Target="../media/image22.png"/><Relationship Id="rId7" Type="http://schemas.openxmlformats.org/officeDocument/2006/relationships/image" Target="../media/image490.png"/><Relationship Id="rId25" Type="http://schemas.openxmlformats.org/officeDocument/2006/relationships/image" Target="../media/image21.png"/><Relationship Id="rId33" Type="http://schemas.openxmlformats.org/officeDocument/2006/relationships/image" Target="../media/image410.png"/><Relationship Id="rId29" Type="http://schemas.openxmlformats.org/officeDocument/2006/relationships/image" Target="../media/image311.png"/><Relationship Id="rId1" Type="http://schemas.openxmlformats.org/officeDocument/2006/relationships/slideLayout" Target="../slideLayouts/slideLayout2.xml"/><Relationship Id="rId6" Type="http://schemas.openxmlformats.org/officeDocument/2006/relationships/image" Target="../media/image480.png"/><Relationship Id="rId32" Type="http://schemas.openxmlformats.org/officeDocument/2006/relationships/image" Target="../media/image320.png"/><Relationship Id="rId28" Type="http://schemas.openxmlformats.org/officeDocument/2006/relationships/image" Target="../media/image24.png"/><Relationship Id="rId10" Type="http://schemas.openxmlformats.org/officeDocument/2006/relationships/image" Target="../media/image300.png"/><Relationship Id="rId31" Type="http://schemas.openxmlformats.org/officeDocument/2006/relationships/image" Target="../media/image310.png"/><Relationship Id="rId9" Type="http://schemas.openxmlformats.org/officeDocument/2006/relationships/image" Target="../media/image290.png"/><Relationship Id="rId27" Type="http://schemas.openxmlformats.org/officeDocument/2006/relationships/image" Target="../media/image23.png"/><Relationship Id="rId30" Type="http://schemas.openxmlformats.org/officeDocument/2006/relationships/image" Target="../media/image3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machinelearningmastery.com/rectified-linear-activation-function-for-deep-learning-neural-networks/" TargetMode="External"/><Relationship Id="rId2" Type="http://schemas.openxmlformats.org/officeDocument/2006/relationships/hyperlink" Target="https://towardsdatascience.com/analyzing-different-types-of-activation-functions-in-neural-networks-which-one-to-prefer-e11649256209"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460.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15.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01.png"/><Relationship Id="rId7" Type="http://schemas.openxmlformats.org/officeDocument/2006/relationships/image" Target="../media/image540.png"/><Relationship Id="rId2" Type="http://schemas.openxmlformats.org/officeDocument/2006/relationships/image" Target="../media/image552.png"/><Relationship Id="rId1" Type="http://schemas.openxmlformats.org/officeDocument/2006/relationships/slideLayout" Target="../slideLayouts/slideLayout2.xml"/><Relationship Id="rId6" Type="http://schemas.openxmlformats.org/officeDocument/2006/relationships/image" Target="../media/image530.png"/><Relationship Id="rId5" Type="http://schemas.openxmlformats.org/officeDocument/2006/relationships/image" Target="../media/image56.png"/><Relationship Id="rId4" Type="http://schemas.openxmlformats.org/officeDocument/2006/relationships/image" Target="../media/image510.png"/><Relationship Id="rId9" Type="http://schemas.openxmlformats.org/officeDocument/2006/relationships/image" Target="../media/image55.png"/></Relationships>
</file>

<file path=ppt/slides/_rels/slide16.xml.rels><?xml version="1.0" encoding="UTF-8" standalone="yes"?>
<Relationships xmlns="http://schemas.openxmlformats.org/package/2006/relationships"><Relationship Id="rId8" Type="http://schemas.openxmlformats.org/officeDocument/2006/relationships/image" Target="../media/image610.png"/><Relationship Id="rId3" Type="http://schemas.openxmlformats.org/officeDocument/2006/relationships/image" Target="../media/image560.png"/><Relationship Id="rId7" Type="http://schemas.openxmlformats.org/officeDocument/2006/relationships/image" Target="../media/image600.png"/><Relationship Id="rId2" Type="http://schemas.openxmlformats.org/officeDocument/2006/relationships/image" Target="../media/image550.png"/><Relationship Id="rId1" Type="http://schemas.openxmlformats.org/officeDocument/2006/relationships/slideLayout" Target="../slideLayouts/slideLayout2.xml"/><Relationship Id="rId6" Type="http://schemas.openxmlformats.org/officeDocument/2006/relationships/image" Target="../media/image590.png"/><Relationship Id="rId5" Type="http://schemas.openxmlformats.org/officeDocument/2006/relationships/image" Target="../media/image580.png"/><Relationship Id="rId10" Type="http://schemas.openxmlformats.org/officeDocument/2006/relationships/image" Target="../media/image630.png"/><Relationship Id="rId4" Type="http://schemas.openxmlformats.org/officeDocument/2006/relationships/image" Target="../media/image570.png"/><Relationship Id="rId9" Type="http://schemas.openxmlformats.org/officeDocument/2006/relationships/image" Target="../media/image6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1.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65.emf"/><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22.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67.png"/><Relationship Id="rId7" Type="http://schemas.openxmlformats.org/officeDocument/2006/relationships/customXml" Target="../ink/ink2.xml"/><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customXml" Target="../ink/ink1.xml"/><Relationship Id="rId4" Type="http://schemas.openxmlformats.org/officeDocument/2006/relationships/image" Target="../media/image76.png"/><Relationship Id="rId9" Type="http://schemas.openxmlformats.org/officeDocument/2006/relationships/customXml" Target="../ink/ink3.xml"/></Relationships>
</file>

<file path=ppt/slides/_rels/slide2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27.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customXml" Target="../ink/ink5.xml"/><Relationship Id="rId4" Type="http://schemas.openxmlformats.org/officeDocument/2006/relationships/image" Target="../media/image86.png"/></Relationships>
</file>

<file path=ppt/slides/_rels/slide28.xml.rels><?xml version="1.0" encoding="UTF-8" standalone="yes"?>
<Relationships xmlns="http://schemas.openxmlformats.org/package/2006/relationships"><Relationship Id="rId8" Type="http://schemas.openxmlformats.org/officeDocument/2006/relationships/image" Target="../media/image611.png"/><Relationship Id="rId3" Type="http://schemas.openxmlformats.org/officeDocument/2006/relationships/image" Target="../media/image561.png"/><Relationship Id="rId7" Type="http://schemas.openxmlformats.org/officeDocument/2006/relationships/image" Target="../media/image601.png"/><Relationship Id="rId2" Type="http://schemas.openxmlformats.org/officeDocument/2006/relationships/image" Target="../media/image551.png"/><Relationship Id="rId1" Type="http://schemas.openxmlformats.org/officeDocument/2006/relationships/slideLayout" Target="../slideLayouts/slideLayout2.xml"/><Relationship Id="rId6" Type="http://schemas.openxmlformats.org/officeDocument/2006/relationships/image" Target="../media/image591.png"/><Relationship Id="rId5" Type="http://schemas.openxmlformats.org/officeDocument/2006/relationships/image" Target="../media/image581.png"/><Relationship Id="rId10" Type="http://schemas.openxmlformats.org/officeDocument/2006/relationships/image" Target="../media/image631.png"/><Relationship Id="rId4" Type="http://schemas.openxmlformats.org/officeDocument/2006/relationships/image" Target="../media/image571.png"/><Relationship Id="rId9" Type="http://schemas.openxmlformats.org/officeDocument/2006/relationships/image" Target="../media/image621.png"/></Relationships>
</file>

<file path=ppt/slides/_rels/slide2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20.png"/><Relationship Id="rId1" Type="http://schemas.openxmlformats.org/officeDocument/2006/relationships/slideLayout" Target="../slideLayouts/slideLayout2.xml"/><Relationship Id="rId5" Type="http://schemas.openxmlformats.org/officeDocument/2006/relationships/image" Target="../media/image81.png"/><Relationship Id="rId4" Type="http://schemas.openxmlformats.org/officeDocument/2006/relationships/image" Target="../media/image790.png"/></Relationships>
</file>

<file path=ppt/slides/_rels/slide3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proceedings.mlr.press/v9/glorot10a/glorot10a.pdf" TargetMode="External"/><Relationship Id="rId5" Type="http://schemas.openxmlformats.org/officeDocument/2006/relationships/image" Target="../media/image810.png"/><Relationship Id="rId4" Type="http://schemas.openxmlformats.org/officeDocument/2006/relationships/image" Target="../media/image9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059A7-935B-4C0A-830B-9E386B2E2BCD}"/>
              </a:ext>
            </a:extLst>
          </p:cNvPr>
          <p:cNvSpPr>
            <a:spLocks noGrp="1"/>
          </p:cNvSpPr>
          <p:nvPr>
            <p:ph type="ctrTitle"/>
          </p:nvPr>
        </p:nvSpPr>
        <p:spPr/>
        <p:txBody>
          <a:bodyPr/>
          <a:lstStyle/>
          <a:p>
            <a:r>
              <a:rPr lang="en-US" dirty="0"/>
              <a:t>Feedforward Multilayer Neural Network</a:t>
            </a:r>
          </a:p>
        </p:txBody>
      </p:sp>
      <p:sp>
        <p:nvSpPr>
          <p:cNvPr id="3" name="Subtitle 2">
            <a:extLst>
              <a:ext uri="{FF2B5EF4-FFF2-40B4-BE49-F238E27FC236}">
                <a16:creationId xmlns:a16="http://schemas.microsoft.com/office/drawing/2014/main" id="{CCF03EF6-02F1-4E9F-B439-7F94FDB0D04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01849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9">
            <a:extLst>
              <a:ext uri="{FF2B5EF4-FFF2-40B4-BE49-F238E27FC236}">
                <a16:creationId xmlns:a16="http://schemas.microsoft.com/office/drawing/2014/main" id="{5C55F0BA-7D8B-4753-AB68-D54E59A24A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44C009-21C1-4DD4-95D7-94AE968A9033}"/>
              </a:ext>
            </a:extLst>
          </p:cNvPr>
          <p:cNvSpPr>
            <a:spLocks noGrp="1"/>
          </p:cNvSpPr>
          <p:nvPr>
            <p:ph type="title"/>
          </p:nvPr>
        </p:nvSpPr>
        <p:spPr>
          <a:xfrm>
            <a:off x="699159" y="268594"/>
            <a:ext cx="10464734" cy="1314159"/>
          </a:xfrm>
          <a:noFill/>
        </p:spPr>
        <p:txBody>
          <a:bodyPr vert="horz" lIns="91440" tIns="45720" rIns="91440" bIns="45720" rtlCol="0" anchor="b">
            <a:normAutofit/>
          </a:bodyPr>
          <a:lstStyle/>
          <a:p>
            <a:pPr algn="ctr"/>
            <a:r>
              <a:rPr lang="en-US" sz="5200" dirty="0"/>
              <a:t>Example: predicting house price</a:t>
            </a:r>
          </a:p>
        </p:txBody>
      </p:sp>
      <p:pic>
        <p:nvPicPr>
          <p:cNvPr id="5" name="Picture 4">
            <a:extLst>
              <a:ext uri="{FF2B5EF4-FFF2-40B4-BE49-F238E27FC236}">
                <a16:creationId xmlns:a16="http://schemas.microsoft.com/office/drawing/2014/main" id="{75127A6A-7F57-4EE7-8828-4EE89614E070}"/>
              </a:ext>
            </a:extLst>
          </p:cNvPr>
          <p:cNvPicPr>
            <a:picLocks noChangeAspect="1"/>
          </p:cNvPicPr>
          <p:nvPr/>
        </p:nvPicPr>
        <p:blipFill rotWithShape="1">
          <a:blip r:embed="rId2">
            <a:extLst>
              <a:ext uri="{28A0092B-C50C-407E-A947-70E740481C1C}">
                <a14:useLocalDpi xmlns:a14="http://schemas.microsoft.com/office/drawing/2010/main" val="0"/>
              </a:ext>
            </a:extLst>
          </a:blip>
          <a:srcRect r="4038" b="-2"/>
          <a:stretch/>
        </p:blipFill>
        <p:spPr>
          <a:xfrm>
            <a:off x="1138060" y="1690651"/>
            <a:ext cx="6777732" cy="3733675"/>
          </a:xfrm>
          <a:prstGeom prst="rect">
            <a:avLst/>
          </a:prstGeom>
          <a:effectLst/>
        </p:spPr>
      </p:pic>
      <p:sp>
        <p:nvSpPr>
          <p:cNvPr id="6" name="TextBox 5">
            <a:extLst>
              <a:ext uri="{FF2B5EF4-FFF2-40B4-BE49-F238E27FC236}">
                <a16:creationId xmlns:a16="http://schemas.microsoft.com/office/drawing/2014/main" id="{7D4ED0BB-8198-4405-B60C-A2FB94497B22}"/>
              </a:ext>
            </a:extLst>
          </p:cNvPr>
          <p:cNvSpPr txBox="1"/>
          <p:nvPr/>
        </p:nvSpPr>
        <p:spPr>
          <a:xfrm>
            <a:off x="5328509" y="2436383"/>
            <a:ext cx="327334" cy="461665"/>
          </a:xfrm>
          <a:prstGeom prst="rect">
            <a:avLst/>
          </a:prstGeom>
          <a:noFill/>
        </p:spPr>
        <p:txBody>
          <a:bodyPr wrap="none" rtlCol="0">
            <a:spAutoFit/>
          </a:bodyPr>
          <a:lstStyle/>
          <a:p>
            <a:r>
              <a:rPr lang="en-US" sz="2400" b="1" dirty="0">
                <a:solidFill>
                  <a:srgbClr val="FF0000"/>
                </a:solidFill>
              </a:rPr>
              <a:t>?</a:t>
            </a:r>
          </a:p>
        </p:txBody>
      </p:sp>
      <p:sp>
        <p:nvSpPr>
          <p:cNvPr id="7" name="TextBox 6">
            <a:extLst>
              <a:ext uri="{FF2B5EF4-FFF2-40B4-BE49-F238E27FC236}">
                <a16:creationId xmlns:a16="http://schemas.microsoft.com/office/drawing/2014/main" id="{73F0184E-A665-43CA-A11D-134BC65542FE}"/>
              </a:ext>
            </a:extLst>
          </p:cNvPr>
          <p:cNvSpPr txBox="1"/>
          <p:nvPr/>
        </p:nvSpPr>
        <p:spPr>
          <a:xfrm>
            <a:off x="5328509" y="3438040"/>
            <a:ext cx="327334" cy="461665"/>
          </a:xfrm>
          <a:prstGeom prst="rect">
            <a:avLst/>
          </a:prstGeom>
          <a:noFill/>
        </p:spPr>
        <p:txBody>
          <a:bodyPr wrap="none" rtlCol="0">
            <a:spAutoFit/>
          </a:bodyPr>
          <a:lstStyle/>
          <a:p>
            <a:r>
              <a:rPr lang="en-US" sz="2400" b="1" dirty="0">
                <a:solidFill>
                  <a:srgbClr val="FF0000"/>
                </a:solidFill>
              </a:rPr>
              <a:t>?</a:t>
            </a:r>
          </a:p>
        </p:txBody>
      </p:sp>
      <p:sp>
        <p:nvSpPr>
          <p:cNvPr id="8" name="TextBox 7">
            <a:extLst>
              <a:ext uri="{FF2B5EF4-FFF2-40B4-BE49-F238E27FC236}">
                <a16:creationId xmlns:a16="http://schemas.microsoft.com/office/drawing/2014/main" id="{FAA54F13-28D3-462B-970C-B16438EC071A}"/>
              </a:ext>
            </a:extLst>
          </p:cNvPr>
          <p:cNvSpPr txBox="1"/>
          <p:nvPr/>
        </p:nvSpPr>
        <p:spPr>
          <a:xfrm>
            <a:off x="5328509" y="4385709"/>
            <a:ext cx="327334" cy="461665"/>
          </a:xfrm>
          <a:prstGeom prst="rect">
            <a:avLst/>
          </a:prstGeom>
          <a:noFill/>
        </p:spPr>
        <p:txBody>
          <a:bodyPr wrap="none" rtlCol="0">
            <a:spAutoFit/>
          </a:bodyPr>
          <a:lstStyle/>
          <a:p>
            <a:r>
              <a:rPr lang="en-US" sz="2400" b="1" dirty="0">
                <a:solidFill>
                  <a:srgbClr val="FF0000"/>
                </a:solidFill>
              </a:rPr>
              <a:t>?</a:t>
            </a:r>
          </a:p>
        </p:txBody>
      </p:sp>
      <p:sp>
        <p:nvSpPr>
          <p:cNvPr id="9" name="TextBox 8">
            <a:extLst>
              <a:ext uri="{FF2B5EF4-FFF2-40B4-BE49-F238E27FC236}">
                <a16:creationId xmlns:a16="http://schemas.microsoft.com/office/drawing/2014/main" id="{BE1E6AC5-9F25-4FDC-AD99-834685399B49}"/>
              </a:ext>
            </a:extLst>
          </p:cNvPr>
          <p:cNvSpPr txBox="1"/>
          <p:nvPr/>
        </p:nvSpPr>
        <p:spPr>
          <a:xfrm>
            <a:off x="7770897" y="3419645"/>
            <a:ext cx="849913" cy="461665"/>
          </a:xfrm>
          <a:prstGeom prst="rect">
            <a:avLst/>
          </a:prstGeom>
          <a:noFill/>
        </p:spPr>
        <p:txBody>
          <a:bodyPr wrap="none" rtlCol="0">
            <a:spAutoFit/>
          </a:bodyPr>
          <a:lstStyle/>
          <a:p>
            <a:r>
              <a:rPr lang="en-US" sz="2400" b="1" dirty="0">
                <a:latin typeface="Times" panose="02020603050405020304" pitchFamily="18" charset="0"/>
              </a:rPr>
              <a:t>price</a:t>
            </a:r>
          </a:p>
        </p:txBody>
      </p:sp>
      <p:sp>
        <p:nvSpPr>
          <p:cNvPr id="11" name="TextBox 10">
            <a:extLst>
              <a:ext uri="{FF2B5EF4-FFF2-40B4-BE49-F238E27FC236}">
                <a16:creationId xmlns:a16="http://schemas.microsoft.com/office/drawing/2014/main" id="{009677C5-692C-4300-9620-490455BEF156}"/>
              </a:ext>
            </a:extLst>
          </p:cNvPr>
          <p:cNvSpPr txBox="1"/>
          <p:nvPr/>
        </p:nvSpPr>
        <p:spPr>
          <a:xfrm>
            <a:off x="5240655" y="2067051"/>
            <a:ext cx="1263808" cy="369332"/>
          </a:xfrm>
          <a:prstGeom prst="rect">
            <a:avLst/>
          </a:prstGeom>
          <a:noFill/>
        </p:spPr>
        <p:txBody>
          <a:bodyPr wrap="none" rtlCol="0">
            <a:spAutoFit/>
          </a:bodyPr>
          <a:lstStyle/>
          <a:p>
            <a:r>
              <a:rPr lang="en-US" i="1" dirty="0"/>
              <a:t>family size?</a:t>
            </a:r>
          </a:p>
        </p:txBody>
      </p:sp>
      <p:sp>
        <p:nvSpPr>
          <p:cNvPr id="17" name="TextBox 16">
            <a:extLst>
              <a:ext uri="{FF2B5EF4-FFF2-40B4-BE49-F238E27FC236}">
                <a16:creationId xmlns:a16="http://schemas.microsoft.com/office/drawing/2014/main" id="{E61B6C1D-BE40-4DC0-9E55-21965D4926F9}"/>
              </a:ext>
            </a:extLst>
          </p:cNvPr>
          <p:cNvSpPr txBox="1"/>
          <p:nvPr/>
        </p:nvSpPr>
        <p:spPr>
          <a:xfrm>
            <a:off x="5210262" y="3082714"/>
            <a:ext cx="1331903" cy="369332"/>
          </a:xfrm>
          <a:prstGeom prst="rect">
            <a:avLst/>
          </a:prstGeom>
          <a:noFill/>
        </p:spPr>
        <p:txBody>
          <a:bodyPr wrap="none" rtlCol="0">
            <a:spAutoFit/>
          </a:bodyPr>
          <a:lstStyle/>
          <a:p>
            <a:r>
              <a:rPr lang="en-US" i="1" dirty="0"/>
              <a:t>Walkability?</a:t>
            </a:r>
          </a:p>
        </p:txBody>
      </p:sp>
      <p:sp>
        <p:nvSpPr>
          <p:cNvPr id="19" name="TextBox 18">
            <a:extLst>
              <a:ext uri="{FF2B5EF4-FFF2-40B4-BE49-F238E27FC236}">
                <a16:creationId xmlns:a16="http://schemas.microsoft.com/office/drawing/2014/main" id="{B78093A4-CE04-4A79-92A4-4F8A65D54DAE}"/>
              </a:ext>
            </a:extLst>
          </p:cNvPr>
          <p:cNvSpPr txBox="1"/>
          <p:nvPr/>
        </p:nvSpPr>
        <p:spPr>
          <a:xfrm>
            <a:off x="5600305" y="4616541"/>
            <a:ext cx="1580882" cy="369332"/>
          </a:xfrm>
          <a:prstGeom prst="rect">
            <a:avLst/>
          </a:prstGeom>
          <a:noFill/>
        </p:spPr>
        <p:txBody>
          <a:bodyPr wrap="none" rtlCol="0">
            <a:spAutoFit/>
          </a:bodyPr>
          <a:lstStyle/>
          <a:p>
            <a:r>
              <a:rPr lang="en-US" i="1" dirty="0"/>
              <a:t>school quality?</a:t>
            </a:r>
          </a:p>
        </p:txBody>
      </p:sp>
      <p:sp>
        <p:nvSpPr>
          <p:cNvPr id="21" name="TextBox 20">
            <a:extLst>
              <a:ext uri="{FF2B5EF4-FFF2-40B4-BE49-F238E27FC236}">
                <a16:creationId xmlns:a16="http://schemas.microsoft.com/office/drawing/2014/main" id="{75A1BDD5-A134-4B80-BF85-2A3E904D2EC8}"/>
              </a:ext>
            </a:extLst>
          </p:cNvPr>
          <p:cNvSpPr txBox="1"/>
          <p:nvPr/>
        </p:nvSpPr>
        <p:spPr>
          <a:xfrm>
            <a:off x="78116" y="5731605"/>
            <a:ext cx="12032718" cy="646331"/>
          </a:xfrm>
          <a:prstGeom prst="rect">
            <a:avLst/>
          </a:prstGeom>
          <a:noFill/>
        </p:spPr>
        <p:txBody>
          <a:bodyPr wrap="none" rtlCol="0">
            <a:spAutoFit/>
          </a:bodyPr>
          <a:lstStyle/>
          <a:p>
            <a:r>
              <a:rPr lang="en-US" dirty="0"/>
              <a:t>NN automatically detect hidden features (the semantics is left to us!)</a:t>
            </a:r>
          </a:p>
          <a:p>
            <a:r>
              <a:rPr lang="en-US" dirty="0"/>
              <a:t>e.g., if first hidden unit has input weight from zip code and wealth close to 0, then the interpretation as family size is reasonable</a:t>
            </a:r>
          </a:p>
        </p:txBody>
      </p:sp>
    </p:spTree>
    <p:extLst>
      <p:ext uri="{BB962C8B-B14F-4D97-AF65-F5344CB8AC3E}">
        <p14:creationId xmlns:p14="http://schemas.microsoft.com/office/powerpoint/2010/main" val="1261952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1" grpId="0"/>
      <p:bldP spid="17" grpId="0"/>
      <p:bldP spid="19" grpId="0"/>
      <p:bldP spid="2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screenshot of a cell phone&#10;&#10;Description automatically generated">
            <a:extLst>
              <a:ext uri="{FF2B5EF4-FFF2-40B4-BE49-F238E27FC236}">
                <a16:creationId xmlns:a16="http://schemas.microsoft.com/office/drawing/2014/main" id="{675518FE-E3C9-4E3A-A293-E9CD8F7DD917}"/>
              </a:ext>
            </a:extLst>
          </p:cNvPr>
          <p:cNvPicPr>
            <a:picLocks noChangeAspect="1"/>
          </p:cNvPicPr>
          <p:nvPr/>
        </p:nvPicPr>
        <p:blipFill>
          <a:blip r:embed="rId2"/>
          <a:stretch>
            <a:fillRect/>
          </a:stretch>
        </p:blipFill>
        <p:spPr>
          <a:xfrm>
            <a:off x="643467" y="920834"/>
            <a:ext cx="10905066" cy="5016331"/>
          </a:xfrm>
          <a:prstGeom prst="rect">
            <a:avLst/>
          </a:prstGeom>
        </p:spPr>
      </p:pic>
    </p:spTree>
    <p:extLst>
      <p:ext uri="{BB962C8B-B14F-4D97-AF65-F5344CB8AC3E}">
        <p14:creationId xmlns:p14="http://schemas.microsoft.com/office/powerpoint/2010/main" val="3432947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52D6A5B-57FF-42B0-9E47-A47492975A79}"/>
              </a:ext>
            </a:extLst>
          </p:cNvPr>
          <p:cNvPicPr>
            <a:picLocks noChangeAspect="1"/>
          </p:cNvPicPr>
          <p:nvPr/>
        </p:nvPicPr>
        <p:blipFill>
          <a:blip r:embed="rId2"/>
          <a:stretch>
            <a:fillRect/>
          </a:stretch>
        </p:blipFill>
        <p:spPr>
          <a:xfrm>
            <a:off x="643467" y="798152"/>
            <a:ext cx="10905066" cy="5261695"/>
          </a:xfrm>
          <a:prstGeom prst="rect">
            <a:avLst/>
          </a:prstGeom>
        </p:spPr>
      </p:pic>
      <p:sp>
        <p:nvSpPr>
          <p:cNvPr id="3" name="TextBox 2">
            <a:extLst>
              <a:ext uri="{FF2B5EF4-FFF2-40B4-BE49-F238E27FC236}">
                <a16:creationId xmlns:a16="http://schemas.microsoft.com/office/drawing/2014/main" id="{DA5A3699-3C04-4674-8357-BE96031570AF}"/>
              </a:ext>
            </a:extLst>
          </p:cNvPr>
          <p:cNvSpPr txBox="1"/>
          <p:nvPr/>
        </p:nvSpPr>
        <p:spPr>
          <a:xfrm>
            <a:off x="5756574" y="6412767"/>
            <a:ext cx="875561" cy="369332"/>
          </a:xfrm>
          <a:prstGeom prst="rect">
            <a:avLst/>
          </a:prstGeom>
          <a:noFill/>
        </p:spPr>
        <p:txBody>
          <a:bodyPr wrap="none" rtlCol="0">
            <a:spAutoFit/>
          </a:bodyPr>
          <a:lstStyle/>
          <a:p>
            <a:r>
              <a:rPr lang="en-US" dirty="0"/>
              <a:t>labeled</a:t>
            </a:r>
          </a:p>
        </p:txBody>
      </p:sp>
      <p:sp>
        <p:nvSpPr>
          <p:cNvPr id="5" name="TextBox 4">
            <a:extLst>
              <a:ext uri="{FF2B5EF4-FFF2-40B4-BE49-F238E27FC236}">
                <a16:creationId xmlns:a16="http://schemas.microsoft.com/office/drawing/2014/main" id="{BE4EE71A-8694-4AF2-ADFD-BF4AEECCA095}"/>
              </a:ext>
            </a:extLst>
          </p:cNvPr>
          <p:cNvSpPr txBox="1"/>
          <p:nvPr/>
        </p:nvSpPr>
        <p:spPr>
          <a:xfrm rot="10800000">
            <a:off x="5903594" y="5766435"/>
            <a:ext cx="851535" cy="1015663"/>
          </a:xfrm>
          <a:prstGeom prst="rect">
            <a:avLst/>
          </a:prstGeom>
          <a:noFill/>
        </p:spPr>
        <p:txBody>
          <a:bodyPr wrap="square" rtlCol="0">
            <a:spAutoFit/>
          </a:bodyPr>
          <a:lstStyle/>
          <a:p>
            <a:r>
              <a:rPr lang="en-US" sz="6000" dirty="0"/>
              <a:t>Ꝩ</a:t>
            </a:r>
          </a:p>
        </p:txBody>
      </p:sp>
    </p:spTree>
    <p:extLst>
      <p:ext uri="{BB962C8B-B14F-4D97-AF65-F5344CB8AC3E}">
        <p14:creationId xmlns:p14="http://schemas.microsoft.com/office/powerpoint/2010/main" val="2909762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B8152-81D7-4CA9-A675-D2A2B1FDDEAC}"/>
              </a:ext>
            </a:extLst>
          </p:cNvPr>
          <p:cNvSpPr>
            <a:spLocks noGrp="1"/>
          </p:cNvSpPr>
          <p:nvPr>
            <p:ph type="title"/>
          </p:nvPr>
        </p:nvSpPr>
        <p:spPr/>
        <p:txBody>
          <a:bodyPr/>
          <a:lstStyle/>
          <a:p>
            <a:r>
              <a:rPr lang="en-US" dirty="0"/>
              <a:t>Scale drives Deep Learning</a:t>
            </a:r>
          </a:p>
        </p:txBody>
      </p:sp>
      <p:sp>
        <p:nvSpPr>
          <p:cNvPr id="3" name="Content Placeholder 2">
            <a:extLst>
              <a:ext uri="{FF2B5EF4-FFF2-40B4-BE49-F238E27FC236}">
                <a16:creationId xmlns:a16="http://schemas.microsoft.com/office/drawing/2014/main" id="{8E370206-75E8-4614-95F8-F3A39F03134E}"/>
              </a:ext>
            </a:extLst>
          </p:cNvPr>
          <p:cNvSpPr>
            <a:spLocks noGrp="1"/>
          </p:cNvSpPr>
          <p:nvPr>
            <p:ph sz="half" idx="1"/>
          </p:nvPr>
        </p:nvSpPr>
        <p:spPr/>
        <p:txBody>
          <a:bodyPr/>
          <a:lstStyle/>
          <a:p>
            <a:r>
              <a:rPr lang="en-US"/>
              <a:t>Data</a:t>
            </a:r>
          </a:p>
          <a:p>
            <a:pPr lvl="1"/>
            <a:r>
              <a:rPr lang="en-US"/>
              <a:t>More data and deeper models</a:t>
            </a:r>
          </a:p>
          <a:p>
            <a:r>
              <a:rPr lang="en-US"/>
              <a:t>Computation</a:t>
            </a:r>
          </a:p>
          <a:p>
            <a:pPr lvl="1"/>
            <a:r>
              <a:rPr lang="en-US"/>
              <a:t>Speed-up in computation</a:t>
            </a:r>
          </a:p>
          <a:p>
            <a:r>
              <a:rPr lang="en-US"/>
              <a:t>Algorithms</a:t>
            </a:r>
          </a:p>
          <a:p>
            <a:pPr lvl="1"/>
            <a:r>
              <a:rPr lang="en-US"/>
              <a:t>New methods (e.g. switching from sigmoid to ReLU)</a:t>
            </a:r>
            <a:endParaRPr lang="en-US" dirty="0"/>
          </a:p>
        </p:txBody>
      </p:sp>
      <p:pic>
        <p:nvPicPr>
          <p:cNvPr id="8" name="Content Placeholder 7">
            <a:extLst>
              <a:ext uri="{FF2B5EF4-FFF2-40B4-BE49-F238E27FC236}">
                <a16:creationId xmlns:a16="http://schemas.microsoft.com/office/drawing/2014/main" id="{25D46112-E365-4DF6-BCC4-D4597E98827D}"/>
              </a:ext>
            </a:extLst>
          </p:cNvPr>
          <p:cNvPicPr>
            <a:picLocks noGrp="1" noChangeAspect="1"/>
          </p:cNvPicPr>
          <p:nvPr>
            <p:ph sz="half" idx="2"/>
          </p:nvPr>
        </p:nvPicPr>
        <p:blipFill>
          <a:blip r:embed="rId2"/>
          <a:stretch>
            <a:fillRect/>
          </a:stretch>
        </p:blipFill>
        <p:spPr>
          <a:xfrm>
            <a:off x="6932799" y="1875654"/>
            <a:ext cx="4363489" cy="3106691"/>
          </a:xfrm>
          <a:prstGeom prst="rect">
            <a:avLst/>
          </a:prstGeom>
        </p:spPr>
      </p:pic>
      <p:sp>
        <p:nvSpPr>
          <p:cNvPr id="9" name="TextBox 8">
            <a:extLst>
              <a:ext uri="{FF2B5EF4-FFF2-40B4-BE49-F238E27FC236}">
                <a16:creationId xmlns:a16="http://schemas.microsoft.com/office/drawing/2014/main" id="{8B2397E0-7ABE-4043-937D-B96EB431CBBF}"/>
              </a:ext>
            </a:extLst>
          </p:cNvPr>
          <p:cNvSpPr txBox="1"/>
          <p:nvPr/>
        </p:nvSpPr>
        <p:spPr>
          <a:xfrm>
            <a:off x="6336962" y="5036133"/>
            <a:ext cx="5910144" cy="830997"/>
          </a:xfrm>
          <a:prstGeom prst="rect">
            <a:avLst/>
          </a:prstGeom>
          <a:noFill/>
        </p:spPr>
        <p:txBody>
          <a:bodyPr wrap="none" rtlCol="0">
            <a:spAutoFit/>
          </a:bodyPr>
          <a:lstStyle/>
          <a:p>
            <a:r>
              <a:rPr lang="en-US" sz="2400" dirty="0"/>
              <a:t>Fast computation allows testing more models </a:t>
            </a:r>
            <a:br>
              <a:rPr lang="en-US" sz="2400" dirty="0"/>
            </a:br>
            <a:r>
              <a:rPr lang="en-US" sz="2400" dirty="0"/>
              <a:t>and architectures</a:t>
            </a:r>
          </a:p>
        </p:txBody>
      </p:sp>
    </p:spTree>
    <p:extLst>
      <p:ext uri="{BB962C8B-B14F-4D97-AF65-F5344CB8AC3E}">
        <p14:creationId xmlns:p14="http://schemas.microsoft.com/office/powerpoint/2010/main" val="3485770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0C16E81-01FB-4E29-8E58-E04B1006C130}"/>
              </a:ext>
            </a:extLst>
          </p:cNvPr>
          <p:cNvSpPr>
            <a:spLocks noGrp="1"/>
          </p:cNvSpPr>
          <p:nvPr>
            <p:ph type="title"/>
          </p:nvPr>
        </p:nvSpPr>
        <p:spPr>
          <a:xfrm>
            <a:off x="340355" y="60820"/>
            <a:ext cx="10515600" cy="1325563"/>
          </a:xfrm>
        </p:spPr>
        <p:txBody>
          <a:bodyPr/>
          <a:lstStyle/>
          <a:p>
            <a:r>
              <a:rPr lang="en-US" dirty="0"/>
              <a:t>NN Recap</a:t>
            </a:r>
          </a:p>
        </p:txBody>
      </p:sp>
      <p:grpSp>
        <p:nvGrpSpPr>
          <p:cNvPr id="213" name="Group 212">
            <a:extLst>
              <a:ext uri="{FF2B5EF4-FFF2-40B4-BE49-F238E27FC236}">
                <a16:creationId xmlns:a16="http://schemas.microsoft.com/office/drawing/2014/main" id="{33D94F99-CCFE-47EC-BF8F-621387B398E5}"/>
              </a:ext>
            </a:extLst>
          </p:cNvPr>
          <p:cNvGrpSpPr/>
          <p:nvPr/>
        </p:nvGrpSpPr>
        <p:grpSpPr>
          <a:xfrm>
            <a:off x="476510" y="2308589"/>
            <a:ext cx="6400800" cy="3619939"/>
            <a:chOff x="476510" y="2308589"/>
            <a:chExt cx="6400800" cy="3619939"/>
          </a:xfrm>
        </p:grpSpPr>
        <p:sp>
          <p:nvSpPr>
            <p:cNvPr id="16" name="TextBox 15">
              <a:extLst>
                <a:ext uri="{FF2B5EF4-FFF2-40B4-BE49-F238E27FC236}">
                  <a16:creationId xmlns:a16="http://schemas.microsoft.com/office/drawing/2014/main" id="{3E36627F-896C-491A-B3C4-1AE2DC14A600}"/>
                </a:ext>
              </a:extLst>
            </p:cNvPr>
            <p:cNvSpPr txBox="1"/>
            <p:nvPr/>
          </p:nvSpPr>
          <p:spPr>
            <a:xfrm>
              <a:off x="476510" y="5223252"/>
              <a:ext cx="6400800" cy="461665"/>
            </a:xfrm>
            <a:prstGeom prst="rect">
              <a:avLst/>
            </a:prstGeom>
            <a:noFill/>
          </p:spPr>
          <p:txBody>
            <a:bodyPr wrap="square" rtlCol="0">
              <a:spAutoFit/>
            </a:bodyPr>
            <a:lstStyle/>
            <a:p>
              <a:r>
                <a:rPr lang="en-US" sz="2400" dirty="0"/>
                <a:t>Activation function</a:t>
              </a:r>
            </a:p>
          </p:txBody>
        </p:sp>
        <p:grpSp>
          <p:nvGrpSpPr>
            <p:cNvPr id="3" name="Group 2">
              <a:extLst>
                <a:ext uri="{FF2B5EF4-FFF2-40B4-BE49-F238E27FC236}">
                  <a16:creationId xmlns:a16="http://schemas.microsoft.com/office/drawing/2014/main" id="{CDDC0065-A559-4CD4-8255-6C7470606687}"/>
                </a:ext>
              </a:extLst>
            </p:cNvPr>
            <p:cNvGrpSpPr/>
            <p:nvPr/>
          </p:nvGrpSpPr>
          <p:grpSpPr>
            <a:xfrm>
              <a:off x="975360" y="2308589"/>
              <a:ext cx="4156789" cy="3619939"/>
              <a:chOff x="975360" y="2308589"/>
              <a:chExt cx="4156789" cy="3619939"/>
            </a:xfrm>
          </p:grpSpPr>
          <p:grpSp>
            <p:nvGrpSpPr>
              <p:cNvPr id="4" name="Group 3">
                <a:extLst>
                  <a:ext uri="{FF2B5EF4-FFF2-40B4-BE49-F238E27FC236}">
                    <a16:creationId xmlns:a16="http://schemas.microsoft.com/office/drawing/2014/main" id="{2EE8C79C-F6F7-44F1-A9A7-3E01F48BA58E}"/>
                  </a:ext>
                </a:extLst>
              </p:cNvPr>
              <p:cNvGrpSpPr/>
              <p:nvPr/>
            </p:nvGrpSpPr>
            <p:grpSpPr>
              <a:xfrm>
                <a:off x="975360" y="2887870"/>
                <a:ext cx="3733800" cy="1880437"/>
                <a:chOff x="867068" y="1227847"/>
                <a:chExt cx="5050946" cy="2543785"/>
              </a:xfrm>
            </p:grpSpPr>
            <p:sp>
              <p:nvSpPr>
                <p:cNvPr id="7" name="Oval 6">
                  <a:extLst>
                    <a:ext uri="{FF2B5EF4-FFF2-40B4-BE49-F238E27FC236}">
                      <a16:creationId xmlns:a16="http://schemas.microsoft.com/office/drawing/2014/main" id="{F27694AA-0E3C-4D98-8BD2-319A218AEC7D}"/>
                    </a:ext>
                  </a:extLst>
                </p:cNvPr>
                <p:cNvSpPr/>
                <p:nvPr/>
              </p:nvSpPr>
              <p:spPr>
                <a:xfrm>
                  <a:off x="867068" y="3065025"/>
                  <a:ext cx="712906" cy="70660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7D3D0AF6-2348-4BF5-91DB-B367B27022B5}"/>
                    </a:ext>
                  </a:extLst>
                </p:cNvPr>
                <p:cNvSpPr/>
                <p:nvPr/>
              </p:nvSpPr>
              <p:spPr>
                <a:xfrm>
                  <a:off x="867068" y="2146436"/>
                  <a:ext cx="712906" cy="70660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E6D09BC-982D-4B09-A429-BDA74152C3AA}"/>
                    </a:ext>
                  </a:extLst>
                </p:cNvPr>
                <p:cNvSpPr/>
                <p:nvPr/>
              </p:nvSpPr>
              <p:spPr>
                <a:xfrm>
                  <a:off x="867068" y="1227847"/>
                  <a:ext cx="712906" cy="70660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FD95C123-A5E4-4C6A-BD00-F40DBCF020AA}"/>
                    </a:ext>
                  </a:extLst>
                </p:cNvPr>
                <p:cNvCxnSpPr>
                  <a:stCxn id="14" idx="6"/>
                </p:cNvCxnSpPr>
                <p:nvPr/>
              </p:nvCxnSpPr>
              <p:spPr>
                <a:xfrm>
                  <a:off x="3808718" y="2488798"/>
                  <a:ext cx="712906" cy="147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F90B30F-D352-411C-AB51-EE47950935C5}"/>
                    </a:ext>
                  </a:extLst>
                </p:cNvPr>
                <p:cNvCxnSpPr>
                  <a:stCxn id="9" idx="6"/>
                  <a:endCxn id="14" idx="2"/>
                </p:cNvCxnSpPr>
                <p:nvPr/>
              </p:nvCxnSpPr>
              <p:spPr>
                <a:xfrm>
                  <a:off x="1579974" y="1581151"/>
                  <a:ext cx="1515838" cy="907645"/>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B356625-6C19-4495-B599-FD3661753099}"/>
                    </a:ext>
                  </a:extLst>
                </p:cNvPr>
                <p:cNvCxnSpPr>
                  <a:endCxn id="14" idx="2"/>
                </p:cNvCxnSpPr>
                <p:nvPr/>
              </p:nvCxnSpPr>
              <p:spPr>
                <a:xfrm flipV="1">
                  <a:off x="1579974" y="2488796"/>
                  <a:ext cx="1515838" cy="1094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9F337EE-AC00-4996-B79C-573FDBD34559}"/>
                    </a:ext>
                  </a:extLst>
                </p:cNvPr>
                <p:cNvCxnSpPr>
                  <a:stCxn id="7" idx="6"/>
                  <a:endCxn id="14" idx="2"/>
                </p:cNvCxnSpPr>
                <p:nvPr/>
              </p:nvCxnSpPr>
              <p:spPr>
                <a:xfrm flipV="1">
                  <a:off x="1579974" y="2488796"/>
                  <a:ext cx="1515838" cy="92953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09286018-5350-4187-96A5-CF9AD60F714C}"/>
                    </a:ext>
                  </a:extLst>
                </p:cNvPr>
                <p:cNvSpPr/>
                <p:nvPr/>
              </p:nvSpPr>
              <p:spPr>
                <a:xfrm>
                  <a:off x="3095812" y="2135492"/>
                  <a:ext cx="712906" cy="706607"/>
                </a:xfrm>
                <a:prstGeom prst="ellipse">
                  <a:avLst/>
                </a:prstGeom>
                <a:solidFill>
                  <a:schemeClr val="bg1"/>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B56F67FF-1E94-46D5-B6A9-8D283469627D}"/>
                    </a:ext>
                  </a:extLst>
                </p:cNvPr>
                <p:cNvPicPr>
                  <a:picLocks noChangeAspect="1"/>
                </p:cNvPicPr>
                <p:nvPr>
                  <p:custDataLst>
                    <p:tags r:id="rId4"/>
                  </p:custDataLst>
                </p:nvPr>
              </p:nvPicPr>
              <p:blipFill>
                <a:blip r:embed="rId6" cstate="print">
                  <a:extLst>
                    <a:ext uri="{28A0092B-C50C-407E-A947-70E740481C1C}">
                      <a14:useLocalDpi xmlns:a14="http://schemas.microsoft.com/office/drawing/2010/main" val="0"/>
                    </a:ext>
                  </a:extLst>
                </a:blip>
                <a:stretch>
                  <a:fillRect/>
                </a:stretch>
              </p:blipFill>
              <p:spPr>
                <a:xfrm>
                  <a:off x="4738600" y="2192053"/>
                  <a:ext cx="1179414" cy="532127"/>
                </a:xfrm>
                <a:prstGeom prst="rect">
                  <a:avLst/>
                </a:prstGeom>
              </p:spPr>
            </p:pic>
          </p:grpSp>
          <p:pic>
            <p:nvPicPr>
              <p:cNvPr id="17" name="Picture 16">
                <a:extLst>
                  <a:ext uri="{FF2B5EF4-FFF2-40B4-BE49-F238E27FC236}">
                    <a16:creationId xmlns:a16="http://schemas.microsoft.com/office/drawing/2014/main" id="{79E5103F-F80D-4792-986E-FC229ABCF3A9}"/>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127417" y="3093085"/>
                <a:ext cx="222885" cy="150495"/>
              </a:xfrm>
              <a:prstGeom prst="rect">
                <a:avLst/>
              </a:prstGeom>
            </p:spPr>
          </p:pic>
          <p:pic>
            <p:nvPicPr>
              <p:cNvPr id="18" name="Picture 17">
                <a:extLst>
                  <a:ext uri="{FF2B5EF4-FFF2-40B4-BE49-F238E27FC236}">
                    <a16:creationId xmlns:a16="http://schemas.microsoft.com/office/drawing/2014/main" id="{0F220128-CD05-4907-A651-D280859E44F1}"/>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127760" y="3766185"/>
                <a:ext cx="228600" cy="150495"/>
              </a:xfrm>
              <a:prstGeom prst="rect">
                <a:avLst/>
              </a:prstGeom>
            </p:spPr>
          </p:pic>
          <p:pic>
            <p:nvPicPr>
              <p:cNvPr id="19" name="Picture 18">
                <a:extLst>
                  <a:ext uri="{FF2B5EF4-FFF2-40B4-BE49-F238E27FC236}">
                    <a16:creationId xmlns:a16="http://schemas.microsoft.com/office/drawing/2014/main" id="{2325C212-9AC3-4C94-9EED-A7DC04CEF953}"/>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1127760" y="4448175"/>
                <a:ext cx="230505" cy="154305"/>
              </a:xfrm>
              <a:prstGeom prst="rect">
                <a:avLst/>
              </a:prstGeom>
            </p:spPr>
          </p:pic>
          <p:grpSp>
            <p:nvGrpSpPr>
              <p:cNvPr id="20" name="Group 19">
                <a:extLst>
                  <a:ext uri="{FF2B5EF4-FFF2-40B4-BE49-F238E27FC236}">
                    <a16:creationId xmlns:a16="http://schemas.microsoft.com/office/drawing/2014/main" id="{61E2FBED-7D34-483A-B05A-A041B55626CA}"/>
                  </a:ext>
                </a:extLst>
              </p:cNvPr>
              <p:cNvGrpSpPr/>
              <p:nvPr/>
            </p:nvGrpSpPr>
            <p:grpSpPr>
              <a:xfrm>
                <a:off x="1502360" y="2308589"/>
                <a:ext cx="486050" cy="457200"/>
                <a:chOff x="2485750" y="1276350"/>
                <a:chExt cx="486050" cy="457200"/>
              </a:xfrm>
            </p:grpSpPr>
            <p:sp>
              <p:nvSpPr>
                <p:cNvPr id="21" name="Oval 20">
                  <a:extLst>
                    <a:ext uri="{FF2B5EF4-FFF2-40B4-BE49-F238E27FC236}">
                      <a16:creationId xmlns:a16="http://schemas.microsoft.com/office/drawing/2014/main" id="{FB9D360D-AC1B-4173-9272-29A2582C7BB2}"/>
                    </a:ext>
                  </a:extLst>
                </p:cNvPr>
                <p:cNvSpPr/>
                <p:nvPr/>
              </p:nvSpPr>
              <p:spPr>
                <a:xfrm>
                  <a:off x="2485750" y="1276350"/>
                  <a:ext cx="486050" cy="457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TextBox 21">
                  <a:extLst>
                    <a:ext uri="{FF2B5EF4-FFF2-40B4-BE49-F238E27FC236}">
                      <a16:creationId xmlns:a16="http://schemas.microsoft.com/office/drawing/2014/main" id="{EBF7E4BF-D0C6-4D2E-84EB-9393490EE670}"/>
                    </a:ext>
                  </a:extLst>
                </p:cNvPr>
                <p:cNvSpPr txBox="1"/>
                <p:nvPr/>
              </p:nvSpPr>
              <p:spPr>
                <a:xfrm>
                  <a:off x="2556250" y="1287780"/>
                  <a:ext cx="415550" cy="369332"/>
                </a:xfrm>
                <a:prstGeom prst="rect">
                  <a:avLst/>
                </a:prstGeom>
                <a:noFill/>
              </p:spPr>
              <p:txBody>
                <a:bodyPr wrap="square" rtlCol="0">
                  <a:spAutoFit/>
                </a:bodyPr>
                <a:lstStyle/>
                <a:p>
                  <a:r>
                    <a:rPr lang="en-GB" i="1" dirty="0">
                      <a:latin typeface="Times New Roman" panose="02020603050405020304" pitchFamily="18" charset="0"/>
                      <a:cs typeface="Times New Roman" panose="02020603050405020304" pitchFamily="18" charset="0"/>
                    </a:rPr>
                    <a:t>x</a:t>
                  </a:r>
                  <a:r>
                    <a:rPr lang="en-GB" i="1" baseline="-25000" dirty="0">
                      <a:latin typeface="Times New Roman" panose="02020603050405020304" pitchFamily="18" charset="0"/>
                      <a:cs typeface="Times New Roman" panose="02020603050405020304" pitchFamily="18" charset="0"/>
                    </a:rPr>
                    <a:t>0</a:t>
                  </a:r>
                  <a:endParaRPr lang="it-IT" i="1" baseline="-25000" dirty="0">
                    <a:latin typeface="Times New Roman" panose="02020603050405020304" pitchFamily="18" charset="0"/>
                    <a:cs typeface="Times New Roman" panose="02020603050405020304" pitchFamily="18" charset="0"/>
                  </a:endParaRPr>
                </a:p>
              </p:txBody>
            </p:sp>
          </p:grpSp>
          <p:cxnSp>
            <p:nvCxnSpPr>
              <p:cNvPr id="23" name="Straight Arrow Connector 22">
                <a:extLst>
                  <a:ext uri="{FF2B5EF4-FFF2-40B4-BE49-F238E27FC236}">
                    <a16:creationId xmlns:a16="http://schemas.microsoft.com/office/drawing/2014/main" id="{41945640-9242-480F-A410-FDC40E709C6F}"/>
                  </a:ext>
                </a:extLst>
              </p:cNvPr>
              <p:cNvCxnSpPr>
                <a:stCxn id="21" idx="5"/>
                <a:endCxn id="14" idx="2"/>
              </p:cNvCxnSpPr>
              <p:nvPr/>
            </p:nvCxnSpPr>
            <p:spPr>
              <a:xfrm>
                <a:off x="1917230" y="2698834"/>
                <a:ext cx="705680" cy="1121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4" name="TextBox 23">
                <a:extLst>
                  <a:ext uri="{FF2B5EF4-FFF2-40B4-BE49-F238E27FC236}">
                    <a16:creationId xmlns:a16="http://schemas.microsoft.com/office/drawing/2014/main" id="{CFAE7772-793B-47FF-A375-F7DC9E6380B9}"/>
                  </a:ext>
                </a:extLst>
              </p:cNvPr>
              <p:cNvSpPr txBox="1"/>
              <p:nvPr/>
            </p:nvSpPr>
            <p:spPr>
              <a:xfrm>
                <a:off x="2270070" y="2308589"/>
                <a:ext cx="1567234" cy="369332"/>
              </a:xfrm>
              <a:prstGeom prst="rect">
                <a:avLst/>
              </a:prstGeom>
              <a:noFill/>
            </p:spPr>
            <p:txBody>
              <a:bodyPr wrap="square" rtlCol="0">
                <a:spAutoFit/>
              </a:bodyPr>
              <a:lstStyle/>
              <a:p>
                <a:r>
                  <a:rPr lang="en-GB" dirty="0"/>
                  <a:t>Bias unit (=1)</a:t>
                </a:r>
                <a:endParaRPr lang="it-IT" dirty="0"/>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11E67AC-5135-460D-84C0-97875AF678AF}"/>
                      </a:ext>
                    </a:extLst>
                  </p:cNvPr>
                  <p:cNvSpPr txBox="1"/>
                  <p:nvPr/>
                </p:nvSpPr>
                <p:spPr>
                  <a:xfrm>
                    <a:off x="3202518" y="4937679"/>
                    <a:ext cx="1929631" cy="9908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𝑦</m:t>
                          </m:r>
                          <m:r>
                            <a:rPr lang="en-GB" sz="2000" b="0" i="1" smtClean="0">
                              <a:latin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𝜑</m:t>
                          </m:r>
                          <m:d>
                            <m:dPr>
                              <m:ctrlPr>
                                <a:rPr lang="en-GB" sz="2000" b="0" i="1" smtClean="0">
                                  <a:latin typeface="Cambria Math" panose="02040503050406030204" pitchFamily="18" charset="0"/>
                                </a:rPr>
                              </m:ctrlPr>
                            </m:dPr>
                            <m:e>
                              <m:nary>
                                <m:naryPr>
                                  <m:chr m:val="∑"/>
                                  <m:ctrlPr>
                                    <a:rPr lang="en-GB" sz="2000" b="0" i="1" smtClean="0">
                                      <a:latin typeface="Cambria Math" panose="02040503050406030204" pitchFamily="18" charset="0"/>
                                    </a:rPr>
                                  </m:ctrlPr>
                                </m:naryPr>
                                <m:sub>
                                  <m:r>
                                    <m:rPr>
                                      <m:brk m:alnAt="23"/>
                                    </m:rPr>
                                    <a:rPr lang="en-GB" sz="2000" b="0" i="1" smtClean="0">
                                      <a:latin typeface="Cambria Math" panose="02040503050406030204" pitchFamily="18" charset="0"/>
                                    </a:rPr>
                                    <m:t>𝑖</m:t>
                                  </m:r>
                                </m:sub>
                                <m:sup/>
                                <m:e>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ea typeface="Cambria Math" panose="02040503050406030204" pitchFamily="18" charset="0"/>
                                        </a:rPr>
                                        <m:t>𝜃</m:t>
                                      </m:r>
                                    </m:e>
                                    <m:sub>
                                      <m:r>
                                        <a:rPr lang="en-GB" sz="2000" b="0" i="1" smtClean="0">
                                          <a:latin typeface="Cambria Math" panose="02040503050406030204" pitchFamily="18" charset="0"/>
                                        </a:rPr>
                                        <m:t>𝑖</m:t>
                                      </m:r>
                                    </m:sub>
                                  </m:sSub>
                                  <m:sSub>
                                    <m:sSubPr>
                                      <m:ctrlPr>
                                        <a:rPr lang="en-GB" sz="2000" b="0" i="1" smtClean="0">
                                          <a:latin typeface="Cambria Math" panose="02040503050406030204" pitchFamily="18" charset="0"/>
                                        </a:rPr>
                                      </m:ctrlPr>
                                    </m:sSubPr>
                                    <m:e>
                                      <m:r>
                                        <a:rPr lang="en-GB" sz="2000" b="0" i="1" smtClean="0">
                                          <a:latin typeface="Cambria Math" panose="02040503050406030204" pitchFamily="18" charset="0"/>
                                        </a:rPr>
                                        <m:t>𝑥</m:t>
                                      </m:r>
                                    </m:e>
                                    <m:sub>
                                      <m:r>
                                        <a:rPr lang="en-GB" sz="2000" b="0" i="1" smtClean="0">
                                          <a:latin typeface="Cambria Math" panose="02040503050406030204" pitchFamily="18" charset="0"/>
                                        </a:rPr>
                                        <m:t>𝑖</m:t>
                                      </m:r>
                                    </m:sub>
                                  </m:sSub>
                                </m:e>
                              </m:nary>
                            </m:e>
                          </m:d>
                        </m:oMath>
                      </m:oMathPara>
                    </a14:m>
                    <a:endParaRPr lang="it-IT" sz="2000" dirty="0"/>
                  </a:p>
                </p:txBody>
              </p:sp>
            </mc:Choice>
            <mc:Fallback xmlns="">
              <p:sp>
                <p:nvSpPr>
                  <p:cNvPr id="25" name="TextBox 24">
                    <a:extLst>
                      <a:ext uri="{FF2B5EF4-FFF2-40B4-BE49-F238E27FC236}">
                        <a16:creationId xmlns:a16="http://schemas.microsoft.com/office/drawing/2014/main" id="{B11E67AC-5135-460D-84C0-97875AF678AF}"/>
                      </a:ext>
                    </a:extLst>
                  </p:cNvPr>
                  <p:cNvSpPr txBox="1">
                    <a:spLocks noRot="1" noChangeAspect="1" noMove="1" noResize="1" noEditPoints="1" noAdjustHandles="1" noChangeArrowheads="1" noChangeShapeType="1" noTextEdit="1"/>
                  </p:cNvSpPr>
                  <p:nvPr/>
                </p:nvSpPr>
                <p:spPr>
                  <a:xfrm>
                    <a:off x="3202518" y="4937679"/>
                    <a:ext cx="1929631" cy="99084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B05C8E3D-0B10-4111-9DF5-D41E6242F9B6}"/>
                      </a:ext>
                    </a:extLst>
                  </p:cNvPr>
                  <p:cNvSpPr txBox="1"/>
                  <p:nvPr/>
                </p:nvSpPr>
                <p:spPr>
                  <a:xfrm>
                    <a:off x="2062635" y="2720131"/>
                    <a:ext cx="2819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rPr>
                                <m:t>0</m:t>
                              </m:r>
                            </m:sub>
                          </m:sSub>
                        </m:oMath>
                      </m:oMathPara>
                    </a14:m>
                    <a:endParaRPr lang="it-IT" dirty="0"/>
                  </a:p>
                </p:txBody>
              </p:sp>
            </mc:Choice>
            <mc:Fallback xmlns="">
              <p:sp>
                <p:nvSpPr>
                  <p:cNvPr id="26" name="TextBox 25">
                    <a:extLst>
                      <a:ext uri="{FF2B5EF4-FFF2-40B4-BE49-F238E27FC236}">
                        <a16:creationId xmlns:a16="http://schemas.microsoft.com/office/drawing/2014/main" id="{B05C8E3D-0B10-4111-9DF5-D41E6242F9B6}"/>
                      </a:ext>
                    </a:extLst>
                  </p:cNvPr>
                  <p:cNvSpPr txBox="1">
                    <a:spLocks noRot="1" noChangeAspect="1" noMove="1" noResize="1" noEditPoints="1" noAdjustHandles="1" noChangeArrowheads="1" noChangeShapeType="1" noTextEdit="1"/>
                  </p:cNvSpPr>
                  <p:nvPr/>
                </p:nvSpPr>
                <p:spPr>
                  <a:xfrm>
                    <a:off x="2062635" y="2720131"/>
                    <a:ext cx="281936" cy="276999"/>
                  </a:xfrm>
                  <a:prstGeom prst="rect">
                    <a:avLst/>
                  </a:prstGeom>
                  <a:blipFill>
                    <a:blip r:embed="rId11"/>
                    <a:stretch>
                      <a:fillRect l="-19149" r="-6383"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B8FC26D-96B6-46F8-B925-B2B8AE854DC3}"/>
                      </a:ext>
                    </a:extLst>
                  </p:cNvPr>
                  <p:cNvSpPr txBox="1"/>
                  <p:nvPr/>
                </p:nvSpPr>
                <p:spPr>
                  <a:xfrm>
                    <a:off x="1624892" y="3026337"/>
                    <a:ext cx="27661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rPr>
                                <m:t>1</m:t>
                              </m:r>
                            </m:sub>
                          </m:sSub>
                        </m:oMath>
                      </m:oMathPara>
                    </a14:m>
                    <a:endParaRPr lang="it-IT" dirty="0"/>
                  </a:p>
                </p:txBody>
              </p:sp>
            </mc:Choice>
            <mc:Fallback xmlns="">
              <p:sp>
                <p:nvSpPr>
                  <p:cNvPr id="27" name="TextBox 26">
                    <a:extLst>
                      <a:ext uri="{FF2B5EF4-FFF2-40B4-BE49-F238E27FC236}">
                        <a16:creationId xmlns:a16="http://schemas.microsoft.com/office/drawing/2014/main" id="{DB8FC26D-96B6-46F8-B925-B2B8AE854DC3}"/>
                      </a:ext>
                    </a:extLst>
                  </p:cNvPr>
                  <p:cNvSpPr txBox="1">
                    <a:spLocks noRot="1" noChangeAspect="1" noMove="1" noResize="1" noEditPoints="1" noAdjustHandles="1" noChangeArrowheads="1" noChangeShapeType="1" noTextEdit="1"/>
                  </p:cNvSpPr>
                  <p:nvPr/>
                </p:nvSpPr>
                <p:spPr>
                  <a:xfrm>
                    <a:off x="1624892" y="3026337"/>
                    <a:ext cx="276614" cy="276999"/>
                  </a:xfrm>
                  <a:prstGeom prst="rect">
                    <a:avLst/>
                  </a:prstGeom>
                  <a:blipFill>
                    <a:blip r:embed="rId12"/>
                    <a:stretch>
                      <a:fillRect l="-22222" r="-6667"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1B84C8B-B7BF-4B8A-B0F9-83EF4B3A4983}"/>
                      </a:ext>
                    </a:extLst>
                  </p:cNvPr>
                  <p:cNvSpPr txBox="1"/>
                  <p:nvPr/>
                </p:nvSpPr>
                <p:spPr>
                  <a:xfrm>
                    <a:off x="1568827" y="3564433"/>
                    <a:ext cx="2819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rPr>
                                <m:t>2</m:t>
                              </m:r>
                            </m:sub>
                          </m:sSub>
                        </m:oMath>
                      </m:oMathPara>
                    </a14:m>
                    <a:endParaRPr lang="it-IT" dirty="0"/>
                  </a:p>
                </p:txBody>
              </p:sp>
            </mc:Choice>
            <mc:Fallback xmlns="">
              <p:sp>
                <p:nvSpPr>
                  <p:cNvPr id="28" name="TextBox 27">
                    <a:extLst>
                      <a:ext uri="{FF2B5EF4-FFF2-40B4-BE49-F238E27FC236}">
                        <a16:creationId xmlns:a16="http://schemas.microsoft.com/office/drawing/2014/main" id="{A1B84C8B-B7BF-4B8A-B0F9-83EF4B3A4983}"/>
                      </a:ext>
                    </a:extLst>
                  </p:cNvPr>
                  <p:cNvSpPr txBox="1">
                    <a:spLocks noRot="1" noChangeAspect="1" noMove="1" noResize="1" noEditPoints="1" noAdjustHandles="1" noChangeArrowheads="1" noChangeShapeType="1" noTextEdit="1"/>
                  </p:cNvSpPr>
                  <p:nvPr/>
                </p:nvSpPr>
                <p:spPr>
                  <a:xfrm>
                    <a:off x="1568827" y="3564433"/>
                    <a:ext cx="281936" cy="276999"/>
                  </a:xfrm>
                  <a:prstGeom prst="rect">
                    <a:avLst/>
                  </a:prstGeom>
                  <a:blipFill>
                    <a:blip r:embed="rId13"/>
                    <a:stretch>
                      <a:fillRect l="-19149" r="-6383" b="-1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395D81E-C2A9-4BF0-8F62-FACCB0DDA102}"/>
                      </a:ext>
                    </a:extLst>
                  </p:cNvPr>
                  <p:cNvSpPr txBox="1"/>
                  <p:nvPr/>
                </p:nvSpPr>
                <p:spPr>
                  <a:xfrm>
                    <a:off x="1568827" y="4052697"/>
                    <a:ext cx="2819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smtClean="0">
                                  <a:latin typeface="Cambria Math" panose="02040503050406030204" pitchFamily="18" charset="0"/>
                                  <a:ea typeface="Cambria Math" panose="02040503050406030204" pitchFamily="18" charset="0"/>
                                </a:rPr>
                                <m:t>𝜃</m:t>
                              </m:r>
                            </m:e>
                            <m:sub>
                              <m:r>
                                <a:rPr lang="en-GB" b="0" i="1" smtClean="0">
                                  <a:latin typeface="Cambria Math" panose="02040503050406030204" pitchFamily="18" charset="0"/>
                                </a:rPr>
                                <m:t>3</m:t>
                              </m:r>
                            </m:sub>
                          </m:sSub>
                        </m:oMath>
                      </m:oMathPara>
                    </a14:m>
                    <a:endParaRPr lang="it-IT" dirty="0"/>
                  </a:p>
                </p:txBody>
              </p:sp>
            </mc:Choice>
            <mc:Fallback xmlns="">
              <p:sp>
                <p:nvSpPr>
                  <p:cNvPr id="29" name="TextBox 28">
                    <a:extLst>
                      <a:ext uri="{FF2B5EF4-FFF2-40B4-BE49-F238E27FC236}">
                        <a16:creationId xmlns:a16="http://schemas.microsoft.com/office/drawing/2014/main" id="{4395D81E-C2A9-4BF0-8F62-FACCB0DDA102}"/>
                      </a:ext>
                    </a:extLst>
                  </p:cNvPr>
                  <p:cNvSpPr txBox="1">
                    <a:spLocks noRot="1" noChangeAspect="1" noMove="1" noResize="1" noEditPoints="1" noAdjustHandles="1" noChangeArrowheads="1" noChangeShapeType="1" noTextEdit="1"/>
                  </p:cNvSpPr>
                  <p:nvPr/>
                </p:nvSpPr>
                <p:spPr>
                  <a:xfrm>
                    <a:off x="1568827" y="4052697"/>
                    <a:ext cx="281936" cy="276999"/>
                  </a:xfrm>
                  <a:prstGeom prst="rect">
                    <a:avLst/>
                  </a:prstGeom>
                  <a:blipFill>
                    <a:blip r:embed="rId14"/>
                    <a:stretch>
                      <a:fillRect l="-19149" r="-6383" b="-15556"/>
                    </a:stretch>
                  </a:blipFill>
                </p:spPr>
                <p:txBody>
                  <a:bodyPr/>
                  <a:lstStyle/>
                  <a:p>
                    <a:r>
                      <a:rPr lang="en-US">
                        <a:noFill/>
                      </a:rPr>
                      <a:t> </a:t>
                    </a:r>
                  </a:p>
                </p:txBody>
              </p:sp>
            </mc:Fallback>
          </mc:AlternateContent>
          <p:sp>
            <p:nvSpPr>
              <p:cNvPr id="30" name="Rectangle 29">
                <a:extLst>
                  <a:ext uri="{FF2B5EF4-FFF2-40B4-BE49-F238E27FC236}">
                    <a16:creationId xmlns:a16="http://schemas.microsoft.com/office/drawing/2014/main" id="{7FAC825F-1166-4B31-B6E5-D14732DC921A}"/>
                  </a:ext>
                </a:extLst>
              </p:cNvPr>
              <p:cNvSpPr/>
              <p:nvPr/>
            </p:nvSpPr>
            <p:spPr>
              <a:xfrm>
                <a:off x="3718560" y="3484520"/>
                <a:ext cx="1066800" cy="5681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191E6AB-8DFA-4645-A7A0-43844C54FCEE}"/>
                      </a:ext>
                    </a:extLst>
                  </p:cNvPr>
                  <p:cNvSpPr txBox="1"/>
                  <p:nvPr/>
                </p:nvSpPr>
                <p:spPr>
                  <a:xfrm>
                    <a:off x="3921626" y="3568346"/>
                    <a:ext cx="24570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𝑦</m:t>
                          </m:r>
                        </m:oMath>
                      </m:oMathPara>
                    </a14:m>
                    <a:endParaRPr lang="it-IT" sz="2400" dirty="0"/>
                  </a:p>
                </p:txBody>
              </p:sp>
            </mc:Choice>
            <mc:Fallback xmlns="">
              <p:sp>
                <p:nvSpPr>
                  <p:cNvPr id="31" name="TextBox 30">
                    <a:extLst>
                      <a:ext uri="{FF2B5EF4-FFF2-40B4-BE49-F238E27FC236}">
                        <a16:creationId xmlns:a16="http://schemas.microsoft.com/office/drawing/2014/main" id="{9191E6AB-8DFA-4645-A7A0-43844C54FCEE}"/>
                      </a:ext>
                    </a:extLst>
                  </p:cNvPr>
                  <p:cNvSpPr txBox="1">
                    <a:spLocks noRot="1" noChangeAspect="1" noMove="1" noResize="1" noEditPoints="1" noAdjustHandles="1" noChangeArrowheads="1" noChangeShapeType="1" noTextEdit="1"/>
                  </p:cNvSpPr>
                  <p:nvPr/>
                </p:nvSpPr>
                <p:spPr>
                  <a:xfrm>
                    <a:off x="3921626" y="3568346"/>
                    <a:ext cx="245708" cy="369332"/>
                  </a:xfrm>
                  <a:prstGeom prst="rect">
                    <a:avLst/>
                  </a:prstGeom>
                  <a:blipFill>
                    <a:blip r:embed="rId15"/>
                    <a:stretch>
                      <a:fillRect l="-29268" r="-26829"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3A6DDA5-1E44-4F6A-B6C6-A16C9199A405}"/>
                      </a:ext>
                    </a:extLst>
                  </p:cNvPr>
                  <p:cNvSpPr txBox="1"/>
                  <p:nvPr/>
                </p:nvSpPr>
                <p:spPr>
                  <a:xfrm>
                    <a:off x="2631803" y="3655767"/>
                    <a:ext cx="52007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ea typeface="Cambria Math" panose="02040503050406030204" pitchFamily="18" charset="0"/>
                            </a:rPr>
                            <m:t>𝜑</m:t>
                          </m:r>
                          <m:r>
                            <a:rPr lang="en-GB" sz="2000" b="0" i="1" smtClean="0">
                              <a:latin typeface="Cambria Math" panose="02040503050406030204" pitchFamily="18" charset="0"/>
                              <a:ea typeface="Cambria Math" panose="02040503050406030204" pitchFamily="18" charset="0"/>
                            </a:rPr>
                            <m:t>(∙)</m:t>
                          </m:r>
                        </m:oMath>
                      </m:oMathPara>
                    </a14:m>
                    <a:endParaRPr lang="it-IT" sz="2000" dirty="0"/>
                  </a:p>
                </p:txBody>
              </p:sp>
            </mc:Choice>
            <mc:Fallback xmlns="">
              <p:sp>
                <p:nvSpPr>
                  <p:cNvPr id="32" name="TextBox 31">
                    <a:extLst>
                      <a:ext uri="{FF2B5EF4-FFF2-40B4-BE49-F238E27FC236}">
                        <a16:creationId xmlns:a16="http://schemas.microsoft.com/office/drawing/2014/main" id="{63A6DDA5-1E44-4F6A-B6C6-A16C9199A405}"/>
                      </a:ext>
                    </a:extLst>
                  </p:cNvPr>
                  <p:cNvSpPr txBox="1">
                    <a:spLocks noRot="1" noChangeAspect="1" noMove="1" noResize="1" noEditPoints="1" noAdjustHandles="1" noChangeArrowheads="1" noChangeShapeType="1" noTextEdit="1"/>
                  </p:cNvSpPr>
                  <p:nvPr/>
                </p:nvSpPr>
                <p:spPr>
                  <a:xfrm>
                    <a:off x="2631803" y="3655767"/>
                    <a:ext cx="520079" cy="307777"/>
                  </a:xfrm>
                  <a:prstGeom prst="rect">
                    <a:avLst/>
                  </a:prstGeom>
                  <a:blipFill>
                    <a:blip r:embed="rId16"/>
                    <a:stretch>
                      <a:fillRect l="-11765" t="-4000" r="-17647" b="-36000"/>
                    </a:stretch>
                  </a:blipFill>
                </p:spPr>
                <p:txBody>
                  <a:bodyPr/>
                  <a:lstStyle/>
                  <a:p>
                    <a:r>
                      <a:rPr lang="en-US">
                        <a:noFill/>
                      </a:rPr>
                      <a:t> </a:t>
                    </a:r>
                  </a:p>
                </p:txBody>
              </p:sp>
            </mc:Fallback>
          </mc:AlternateContent>
        </p:grpSp>
      </p:grpSp>
      <p:grpSp>
        <p:nvGrpSpPr>
          <p:cNvPr id="215" name="Group 214">
            <a:extLst>
              <a:ext uri="{FF2B5EF4-FFF2-40B4-BE49-F238E27FC236}">
                <a16:creationId xmlns:a16="http://schemas.microsoft.com/office/drawing/2014/main" id="{38637E41-88EA-49FF-B023-34FE4D12E3D5}"/>
              </a:ext>
            </a:extLst>
          </p:cNvPr>
          <p:cNvGrpSpPr/>
          <p:nvPr/>
        </p:nvGrpSpPr>
        <p:grpSpPr>
          <a:xfrm>
            <a:off x="7475220" y="2159787"/>
            <a:ext cx="3971202" cy="2597090"/>
            <a:chOff x="7962769" y="524702"/>
            <a:chExt cx="3055882" cy="2294466"/>
          </a:xfrm>
        </p:grpSpPr>
        <p:grpSp>
          <p:nvGrpSpPr>
            <p:cNvPr id="2" name="Group 1">
              <a:extLst>
                <a:ext uri="{FF2B5EF4-FFF2-40B4-BE49-F238E27FC236}">
                  <a16:creationId xmlns:a16="http://schemas.microsoft.com/office/drawing/2014/main" id="{E218FD06-71F5-494E-BC92-CDF0E7FF2904}"/>
                </a:ext>
              </a:extLst>
            </p:cNvPr>
            <p:cNvGrpSpPr/>
            <p:nvPr/>
          </p:nvGrpSpPr>
          <p:grpSpPr>
            <a:xfrm>
              <a:off x="7962769" y="524702"/>
              <a:ext cx="3055882" cy="2294466"/>
              <a:chOff x="7962769" y="524702"/>
              <a:chExt cx="3055882" cy="2294466"/>
            </a:xfrm>
          </p:grpSpPr>
          <p:grpSp>
            <p:nvGrpSpPr>
              <p:cNvPr id="33" name="Group 32">
                <a:extLst>
                  <a:ext uri="{FF2B5EF4-FFF2-40B4-BE49-F238E27FC236}">
                    <a16:creationId xmlns:a16="http://schemas.microsoft.com/office/drawing/2014/main" id="{10465842-3EB1-459B-A8C4-2612B6524C39}"/>
                  </a:ext>
                </a:extLst>
              </p:cNvPr>
              <p:cNvGrpSpPr/>
              <p:nvPr/>
            </p:nvGrpSpPr>
            <p:grpSpPr>
              <a:xfrm>
                <a:off x="7962769" y="1231111"/>
                <a:ext cx="3055882" cy="1588057"/>
                <a:chOff x="990599" y="738216"/>
                <a:chExt cx="3381620" cy="1757334"/>
              </a:xfrm>
            </p:grpSpPr>
            <p:grpSp>
              <p:nvGrpSpPr>
                <p:cNvPr id="34" name="Group 33">
                  <a:extLst>
                    <a:ext uri="{FF2B5EF4-FFF2-40B4-BE49-F238E27FC236}">
                      <a16:creationId xmlns:a16="http://schemas.microsoft.com/office/drawing/2014/main" id="{B627AC25-F8A4-4DDF-B4B7-6FFD8ABBABA4}"/>
                    </a:ext>
                  </a:extLst>
                </p:cNvPr>
                <p:cNvGrpSpPr/>
                <p:nvPr/>
              </p:nvGrpSpPr>
              <p:grpSpPr>
                <a:xfrm>
                  <a:off x="1239873" y="738216"/>
                  <a:ext cx="2862230" cy="1432793"/>
                  <a:chOff x="1905000" y="2190750"/>
                  <a:chExt cx="3483917" cy="1744001"/>
                </a:xfrm>
              </p:grpSpPr>
              <p:sp>
                <p:nvSpPr>
                  <p:cNvPr id="39" name="Oval 38">
                    <a:extLst>
                      <a:ext uri="{FF2B5EF4-FFF2-40B4-BE49-F238E27FC236}">
                        <a16:creationId xmlns:a16="http://schemas.microsoft.com/office/drawing/2014/main" id="{34400665-0EBF-4D32-8628-7BDA5E31415C}"/>
                      </a:ext>
                    </a:extLst>
                  </p:cNvPr>
                  <p:cNvSpPr/>
                  <p:nvPr/>
                </p:nvSpPr>
                <p:spPr>
                  <a:xfrm>
                    <a:off x="1905000" y="3183496"/>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CC8F32BA-B137-4276-B102-7A2AFEBC58A4}"/>
                      </a:ext>
                    </a:extLst>
                  </p:cNvPr>
                  <p:cNvSpPr/>
                  <p:nvPr/>
                </p:nvSpPr>
                <p:spPr>
                  <a:xfrm>
                    <a:off x="1905000" y="2848532"/>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B56D4F76-57F5-4C8E-8214-BBD9D682305D}"/>
                      </a:ext>
                    </a:extLst>
                  </p:cNvPr>
                  <p:cNvSpPr/>
                  <p:nvPr/>
                </p:nvSpPr>
                <p:spPr>
                  <a:xfrm>
                    <a:off x="1905000" y="2513568"/>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57691FE3-E8F7-40A0-A855-0D427B2A2263}"/>
                      </a:ext>
                    </a:extLst>
                  </p:cNvPr>
                  <p:cNvSpPr/>
                  <p:nvPr/>
                </p:nvSpPr>
                <p:spPr>
                  <a:xfrm>
                    <a:off x="2899779" y="2190751"/>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AC675FF9-614F-4109-9BA2-B77BA60605B9}"/>
                      </a:ext>
                    </a:extLst>
                  </p:cNvPr>
                  <p:cNvSpPr/>
                  <p:nvPr/>
                </p:nvSpPr>
                <p:spPr>
                  <a:xfrm>
                    <a:off x="5102454" y="236976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EAB26EB5-96DA-485B-8560-E381E2C01ABF}"/>
                      </a:ext>
                    </a:extLst>
                  </p:cNvPr>
                  <p:cNvCxnSpPr>
                    <a:stCxn id="41" idx="6"/>
                    <a:endCxn id="42" idx="2"/>
                  </p:cNvCxnSpPr>
                  <p:nvPr/>
                </p:nvCxnSpPr>
                <p:spPr>
                  <a:xfrm flipV="1">
                    <a:off x="2191463" y="2334552"/>
                    <a:ext cx="708316" cy="3228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6FF6D05-E909-4B42-8E02-307D7D6E3D0E}"/>
                      </a:ext>
                    </a:extLst>
                  </p:cNvPr>
                  <p:cNvCxnSpPr>
                    <a:stCxn id="40" idx="6"/>
                    <a:endCxn id="42" idx="2"/>
                  </p:cNvCxnSpPr>
                  <p:nvPr/>
                </p:nvCxnSpPr>
                <p:spPr>
                  <a:xfrm flipV="1">
                    <a:off x="2191463" y="2334552"/>
                    <a:ext cx="708316" cy="6577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D24DD94-C3C5-4375-A87C-88E638AC02BA}"/>
                      </a:ext>
                    </a:extLst>
                  </p:cNvPr>
                  <p:cNvCxnSpPr>
                    <a:stCxn id="39" idx="6"/>
                    <a:endCxn id="42" idx="2"/>
                  </p:cNvCxnSpPr>
                  <p:nvPr/>
                </p:nvCxnSpPr>
                <p:spPr>
                  <a:xfrm flipV="1">
                    <a:off x="2191463" y="2334552"/>
                    <a:ext cx="708316" cy="9927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8D873C59-431D-4AA0-9524-C13E256C343E}"/>
                      </a:ext>
                    </a:extLst>
                  </p:cNvPr>
                  <p:cNvSpPr/>
                  <p:nvPr/>
                </p:nvSpPr>
                <p:spPr>
                  <a:xfrm>
                    <a:off x="2899778" y="2564055"/>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a:extLst>
                      <a:ext uri="{FF2B5EF4-FFF2-40B4-BE49-F238E27FC236}">
                        <a16:creationId xmlns:a16="http://schemas.microsoft.com/office/drawing/2014/main" id="{46AB48A6-6357-4FB7-ACAD-77FFBA6CD859}"/>
                      </a:ext>
                    </a:extLst>
                  </p:cNvPr>
                  <p:cNvCxnSpPr>
                    <a:stCxn id="41" idx="6"/>
                    <a:endCxn id="47" idx="2"/>
                  </p:cNvCxnSpPr>
                  <p:nvPr/>
                </p:nvCxnSpPr>
                <p:spPr>
                  <a:xfrm>
                    <a:off x="2191463" y="2657369"/>
                    <a:ext cx="708315" cy="5048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54E191C0-71BB-49C9-BF8E-78DB59A8113C}"/>
                      </a:ext>
                    </a:extLst>
                  </p:cNvPr>
                  <p:cNvCxnSpPr>
                    <a:stCxn id="40" idx="6"/>
                    <a:endCxn id="47" idx="2"/>
                  </p:cNvCxnSpPr>
                  <p:nvPr/>
                </p:nvCxnSpPr>
                <p:spPr>
                  <a:xfrm flipV="1">
                    <a:off x="2191463" y="2707856"/>
                    <a:ext cx="708315" cy="2844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6CB3409-AB2E-48A6-A85F-BD2952476C3A}"/>
                      </a:ext>
                    </a:extLst>
                  </p:cNvPr>
                  <p:cNvCxnSpPr>
                    <a:stCxn id="39" idx="6"/>
                    <a:endCxn id="47" idx="2"/>
                  </p:cNvCxnSpPr>
                  <p:nvPr/>
                </p:nvCxnSpPr>
                <p:spPr>
                  <a:xfrm flipV="1">
                    <a:off x="2191463" y="2707856"/>
                    <a:ext cx="708315" cy="61944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160FE6DA-68F1-41CA-95CA-D54A097E5287}"/>
                      </a:ext>
                    </a:extLst>
                  </p:cNvPr>
                  <p:cNvSpPr/>
                  <p:nvPr/>
                </p:nvSpPr>
                <p:spPr>
                  <a:xfrm>
                    <a:off x="2899777" y="292277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Arrow Connector 51">
                    <a:extLst>
                      <a:ext uri="{FF2B5EF4-FFF2-40B4-BE49-F238E27FC236}">
                        <a16:creationId xmlns:a16="http://schemas.microsoft.com/office/drawing/2014/main" id="{40519278-4FB7-49E9-8C29-E5CB2EEF361B}"/>
                      </a:ext>
                    </a:extLst>
                  </p:cNvPr>
                  <p:cNvCxnSpPr>
                    <a:stCxn id="41" idx="6"/>
                    <a:endCxn id="51" idx="2"/>
                  </p:cNvCxnSpPr>
                  <p:nvPr/>
                </p:nvCxnSpPr>
                <p:spPr>
                  <a:xfrm>
                    <a:off x="2191463" y="2657369"/>
                    <a:ext cx="708314" cy="40920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307C3191-8872-4C84-BF34-C9CA00F2E533}"/>
                      </a:ext>
                    </a:extLst>
                  </p:cNvPr>
                  <p:cNvCxnSpPr>
                    <a:stCxn id="40" idx="6"/>
                    <a:endCxn id="51" idx="2"/>
                  </p:cNvCxnSpPr>
                  <p:nvPr/>
                </p:nvCxnSpPr>
                <p:spPr>
                  <a:xfrm>
                    <a:off x="2191463" y="2992333"/>
                    <a:ext cx="708314" cy="742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9A2D2750-48FD-418C-AB7E-8A039CE9A0F1}"/>
                      </a:ext>
                    </a:extLst>
                  </p:cNvPr>
                  <p:cNvCxnSpPr>
                    <a:stCxn id="39" idx="6"/>
                    <a:endCxn id="51" idx="2"/>
                  </p:cNvCxnSpPr>
                  <p:nvPr/>
                </p:nvCxnSpPr>
                <p:spPr>
                  <a:xfrm flipV="1">
                    <a:off x="2191463" y="3066578"/>
                    <a:ext cx="708314" cy="2607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F30014A1-A39F-4CF9-B26A-0B4C7ADE3859}"/>
                      </a:ext>
                    </a:extLst>
                  </p:cNvPr>
                  <p:cNvSpPr/>
                  <p:nvPr/>
                </p:nvSpPr>
                <p:spPr>
                  <a:xfrm>
                    <a:off x="2899776" y="3273713"/>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A71E8647-7F15-4912-8AD5-45FFEE85294A}"/>
                      </a:ext>
                    </a:extLst>
                  </p:cNvPr>
                  <p:cNvCxnSpPr>
                    <a:stCxn id="41" idx="6"/>
                    <a:endCxn id="55" idx="2"/>
                  </p:cNvCxnSpPr>
                  <p:nvPr/>
                </p:nvCxnSpPr>
                <p:spPr>
                  <a:xfrm>
                    <a:off x="2191463" y="2657369"/>
                    <a:ext cx="708313" cy="7601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4FF838E3-4B36-4EDA-8813-4D4946ADAC6F}"/>
                      </a:ext>
                    </a:extLst>
                  </p:cNvPr>
                  <p:cNvCxnSpPr>
                    <a:stCxn id="40" idx="6"/>
                    <a:endCxn id="55" idx="2"/>
                  </p:cNvCxnSpPr>
                  <p:nvPr/>
                </p:nvCxnSpPr>
                <p:spPr>
                  <a:xfrm>
                    <a:off x="2191463" y="2992333"/>
                    <a:ext cx="708313" cy="4251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AAF5C53D-A7C1-4734-86F0-1FD07D7D2B9B}"/>
                      </a:ext>
                    </a:extLst>
                  </p:cNvPr>
                  <p:cNvCxnSpPr>
                    <a:stCxn id="39" idx="6"/>
                    <a:endCxn id="55" idx="2"/>
                  </p:cNvCxnSpPr>
                  <p:nvPr/>
                </p:nvCxnSpPr>
                <p:spPr>
                  <a:xfrm>
                    <a:off x="2191463" y="3327297"/>
                    <a:ext cx="708313" cy="902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B89376A5-CC1D-4902-A7DD-577D285F820B}"/>
                      </a:ext>
                    </a:extLst>
                  </p:cNvPr>
                  <p:cNvSpPr/>
                  <p:nvPr/>
                </p:nvSpPr>
                <p:spPr>
                  <a:xfrm>
                    <a:off x="2899779" y="36385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0" name="Straight Arrow Connector 59">
                    <a:extLst>
                      <a:ext uri="{FF2B5EF4-FFF2-40B4-BE49-F238E27FC236}">
                        <a16:creationId xmlns:a16="http://schemas.microsoft.com/office/drawing/2014/main" id="{FD03A603-601F-4C88-A50B-B1E2FBD4935B}"/>
                      </a:ext>
                    </a:extLst>
                  </p:cNvPr>
                  <p:cNvCxnSpPr>
                    <a:stCxn id="41" idx="6"/>
                    <a:endCxn id="59" idx="2"/>
                  </p:cNvCxnSpPr>
                  <p:nvPr/>
                </p:nvCxnSpPr>
                <p:spPr>
                  <a:xfrm>
                    <a:off x="2191463" y="2657369"/>
                    <a:ext cx="708316" cy="112498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FCF561F-03FB-4A1E-AD18-0067FB471B47}"/>
                      </a:ext>
                    </a:extLst>
                  </p:cNvPr>
                  <p:cNvCxnSpPr>
                    <a:stCxn id="40" idx="6"/>
                    <a:endCxn id="59" idx="2"/>
                  </p:cNvCxnSpPr>
                  <p:nvPr/>
                </p:nvCxnSpPr>
                <p:spPr>
                  <a:xfrm>
                    <a:off x="2191463" y="2992333"/>
                    <a:ext cx="708316" cy="79001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B8B19D4-59A8-4C24-9DDE-B84A71231092}"/>
                      </a:ext>
                    </a:extLst>
                  </p:cNvPr>
                  <p:cNvCxnSpPr>
                    <a:stCxn id="39" idx="6"/>
                    <a:endCxn id="59" idx="2"/>
                  </p:cNvCxnSpPr>
                  <p:nvPr/>
                </p:nvCxnSpPr>
                <p:spPr>
                  <a:xfrm>
                    <a:off x="2191463" y="3327297"/>
                    <a:ext cx="708316" cy="45505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78C08496-EA1D-4831-9F0A-BB0BFC9AE1C8}"/>
                      </a:ext>
                    </a:extLst>
                  </p:cNvPr>
                  <p:cNvSpPr/>
                  <p:nvPr/>
                </p:nvSpPr>
                <p:spPr>
                  <a:xfrm>
                    <a:off x="4028197" y="21907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Arrow Connector 63">
                    <a:extLst>
                      <a:ext uri="{FF2B5EF4-FFF2-40B4-BE49-F238E27FC236}">
                        <a16:creationId xmlns:a16="http://schemas.microsoft.com/office/drawing/2014/main" id="{9A6325ED-F2C6-44DD-B852-54CA32D5229D}"/>
                      </a:ext>
                    </a:extLst>
                  </p:cNvPr>
                  <p:cNvCxnSpPr>
                    <a:stCxn id="42" idx="6"/>
                    <a:endCxn id="63" idx="2"/>
                  </p:cNvCxnSpPr>
                  <p:nvPr/>
                </p:nvCxnSpPr>
                <p:spPr>
                  <a:xfrm flipV="1">
                    <a:off x="3186242" y="23345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5086EF23-F79E-443B-89F3-0111F4700796}"/>
                      </a:ext>
                    </a:extLst>
                  </p:cNvPr>
                  <p:cNvCxnSpPr>
                    <a:stCxn id="47" idx="6"/>
                    <a:endCxn id="63" idx="2"/>
                  </p:cNvCxnSpPr>
                  <p:nvPr/>
                </p:nvCxnSpPr>
                <p:spPr>
                  <a:xfrm flipV="1">
                    <a:off x="3186241" y="233455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8A5F228B-5FD3-442B-B099-0019F414FA40}"/>
                      </a:ext>
                    </a:extLst>
                  </p:cNvPr>
                  <p:cNvCxnSpPr>
                    <a:stCxn id="51" idx="6"/>
                    <a:endCxn id="63" idx="2"/>
                  </p:cNvCxnSpPr>
                  <p:nvPr/>
                </p:nvCxnSpPr>
                <p:spPr>
                  <a:xfrm flipV="1">
                    <a:off x="3186240" y="2334551"/>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E36D0584-C5EF-40D8-BC28-CA59E481995E}"/>
                      </a:ext>
                    </a:extLst>
                  </p:cNvPr>
                  <p:cNvCxnSpPr>
                    <a:stCxn id="55" idx="6"/>
                    <a:endCxn id="63" idx="2"/>
                  </p:cNvCxnSpPr>
                  <p:nvPr/>
                </p:nvCxnSpPr>
                <p:spPr>
                  <a:xfrm flipV="1">
                    <a:off x="3186239" y="2334551"/>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6E812386-E7B5-463F-9089-025154EBFB05}"/>
                      </a:ext>
                    </a:extLst>
                  </p:cNvPr>
                  <p:cNvCxnSpPr>
                    <a:stCxn id="59" idx="6"/>
                    <a:endCxn id="63" idx="2"/>
                  </p:cNvCxnSpPr>
                  <p:nvPr/>
                </p:nvCxnSpPr>
                <p:spPr>
                  <a:xfrm flipV="1">
                    <a:off x="3186242" y="2334551"/>
                    <a:ext cx="841955" cy="144780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FEDC8F62-BCCB-4FA3-A627-2409AC041DCB}"/>
                      </a:ext>
                    </a:extLst>
                  </p:cNvPr>
                  <p:cNvSpPr/>
                  <p:nvPr/>
                </p:nvSpPr>
                <p:spPr>
                  <a:xfrm>
                    <a:off x="4028196" y="2568528"/>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0" name="Straight Arrow Connector 69">
                    <a:extLst>
                      <a:ext uri="{FF2B5EF4-FFF2-40B4-BE49-F238E27FC236}">
                        <a16:creationId xmlns:a16="http://schemas.microsoft.com/office/drawing/2014/main" id="{50246B39-0E50-450A-B44A-0A4BA5267575}"/>
                      </a:ext>
                    </a:extLst>
                  </p:cNvPr>
                  <p:cNvCxnSpPr>
                    <a:endCxn id="69" idx="2"/>
                  </p:cNvCxnSpPr>
                  <p:nvPr/>
                </p:nvCxnSpPr>
                <p:spPr>
                  <a:xfrm flipV="1">
                    <a:off x="3186241" y="2712329"/>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7C9188B2-D940-4E56-96BB-3FC38F2C80B3}"/>
                      </a:ext>
                    </a:extLst>
                  </p:cNvPr>
                  <p:cNvCxnSpPr>
                    <a:stCxn id="51" idx="6"/>
                    <a:endCxn id="69" idx="2"/>
                  </p:cNvCxnSpPr>
                  <p:nvPr/>
                </p:nvCxnSpPr>
                <p:spPr>
                  <a:xfrm flipV="1">
                    <a:off x="3186240" y="2712329"/>
                    <a:ext cx="841956" cy="3542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4AF8FF0F-4FE0-48B9-9489-6484F8D081DA}"/>
                      </a:ext>
                    </a:extLst>
                  </p:cNvPr>
                  <p:cNvCxnSpPr>
                    <a:endCxn id="69" idx="2"/>
                  </p:cNvCxnSpPr>
                  <p:nvPr/>
                </p:nvCxnSpPr>
                <p:spPr>
                  <a:xfrm flipV="1">
                    <a:off x="3186239" y="2712329"/>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5795FB57-A4C7-424B-89B1-AE58EBCC0A10}"/>
                      </a:ext>
                    </a:extLst>
                  </p:cNvPr>
                  <p:cNvCxnSpPr>
                    <a:endCxn id="69" idx="2"/>
                  </p:cNvCxnSpPr>
                  <p:nvPr/>
                </p:nvCxnSpPr>
                <p:spPr>
                  <a:xfrm flipV="1">
                    <a:off x="3186238" y="2712329"/>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E602FDDD-399B-4B29-A1EE-75ED662E2F7E}"/>
                      </a:ext>
                    </a:extLst>
                  </p:cNvPr>
                  <p:cNvCxnSpPr>
                    <a:stCxn id="42" idx="6"/>
                    <a:endCxn id="69" idx="2"/>
                  </p:cNvCxnSpPr>
                  <p:nvPr/>
                </p:nvCxnSpPr>
                <p:spPr>
                  <a:xfrm>
                    <a:off x="3186242" y="2334552"/>
                    <a:ext cx="841954" cy="377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5D502E6F-1EA0-4440-8F00-E70FB8B9DC15}"/>
                      </a:ext>
                    </a:extLst>
                  </p:cNvPr>
                  <p:cNvSpPr/>
                  <p:nvPr/>
                </p:nvSpPr>
                <p:spPr>
                  <a:xfrm>
                    <a:off x="4030044" y="2915686"/>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01850651-AF44-4AA0-95BA-181A88712D80}"/>
                      </a:ext>
                    </a:extLst>
                  </p:cNvPr>
                  <p:cNvCxnSpPr>
                    <a:endCxn id="75" idx="2"/>
                  </p:cNvCxnSpPr>
                  <p:nvPr/>
                </p:nvCxnSpPr>
                <p:spPr>
                  <a:xfrm flipV="1">
                    <a:off x="3188089" y="3059487"/>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F2701F1F-886C-4BCA-A4BA-7A807FDDE0E2}"/>
                      </a:ext>
                    </a:extLst>
                  </p:cNvPr>
                  <p:cNvCxnSpPr>
                    <a:endCxn id="75" idx="2"/>
                  </p:cNvCxnSpPr>
                  <p:nvPr/>
                </p:nvCxnSpPr>
                <p:spPr>
                  <a:xfrm flipV="1">
                    <a:off x="3188088" y="3059487"/>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B7BD8F09-0F2D-4C31-8EDE-4FEFA7A0EC71}"/>
                      </a:ext>
                    </a:extLst>
                  </p:cNvPr>
                  <p:cNvCxnSpPr>
                    <a:endCxn id="75" idx="2"/>
                  </p:cNvCxnSpPr>
                  <p:nvPr/>
                </p:nvCxnSpPr>
                <p:spPr>
                  <a:xfrm flipV="1">
                    <a:off x="3188087" y="3059487"/>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03AF6C72-395E-4A9A-9AE4-E7287CD9CB9F}"/>
                      </a:ext>
                    </a:extLst>
                  </p:cNvPr>
                  <p:cNvCxnSpPr>
                    <a:stCxn id="47" idx="6"/>
                    <a:endCxn id="75" idx="2"/>
                  </p:cNvCxnSpPr>
                  <p:nvPr/>
                </p:nvCxnSpPr>
                <p:spPr>
                  <a:xfrm>
                    <a:off x="3186241" y="2707856"/>
                    <a:ext cx="843803" cy="35163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430AB1AC-4C6C-41E1-BF90-BB39EC35C789}"/>
                      </a:ext>
                    </a:extLst>
                  </p:cNvPr>
                  <p:cNvCxnSpPr>
                    <a:stCxn id="42" idx="6"/>
                    <a:endCxn id="75" idx="2"/>
                  </p:cNvCxnSpPr>
                  <p:nvPr/>
                </p:nvCxnSpPr>
                <p:spPr>
                  <a:xfrm>
                    <a:off x="3186242" y="2334552"/>
                    <a:ext cx="843802" cy="72493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81C8935E-6508-4BF7-A11D-786410C22F48}"/>
                      </a:ext>
                    </a:extLst>
                  </p:cNvPr>
                  <p:cNvSpPr/>
                  <p:nvPr/>
                </p:nvSpPr>
                <p:spPr>
                  <a:xfrm>
                    <a:off x="4028195" y="326390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Arrow Connector 81">
                    <a:extLst>
                      <a:ext uri="{FF2B5EF4-FFF2-40B4-BE49-F238E27FC236}">
                        <a16:creationId xmlns:a16="http://schemas.microsoft.com/office/drawing/2014/main" id="{206FC601-36B4-46FE-8A71-9AD319903D55}"/>
                      </a:ext>
                    </a:extLst>
                  </p:cNvPr>
                  <p:cNvCxnSpPr>
                    <a:stCxn id="55" idx="6"/>
                    <a:endCxn id="81" idx="2"/>
                  </p:cNvCxnSpPr>
                  <p:nvPr/>
                </p:nvCxnSpPr>
                <p:spPr>
                  <a:xfrm flipV="1">
                    <a:off x="3186239" y="3407701"/>
                    <a:ext cx="841956" cy="981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5C92B810-9490-43DE-8540-3E1CEFAADFDE}"/>
                      </a:ext>
                    </a:extLst>
                  </p:cNvPr>
                  <p:cNvCxnSpPr>
                    <a:endCxn id="81" idx="2"/>
                  </p:cNvCxnSpPr>
                  <p:nvPr/>
                </p:nvCxnSpPr>
                <p:spPr>
                  <a:xfrm flipV="1">
                    <a:off x="3186239" y="340770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F2B9A934-5A44-4F0A-A2A0-FC98AAEC4307}"/>
                      </a:ext>
                    </a:extLst>
                  </p:cNvPr>
                  <p:cNvCxnSpPr>
                    <a:stCxn id="51" idx="6"/>
                    <a:endCxn id="81" idx="2"/>
                  </p:cNvCxnSpPr>
                  <p:nvPr/>
                </p:nvCxnSpPr>
                <p:spPr>
                  <a:xfrm>
                    <a:off x="3186240" y="3066578"/>
                    <a:ext cx="841955" cy="34112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E47DE23F-037A-4171-8DDE-B4470D7CC752}"/>
                      </a:ext>
                    </a:extLst>
                  </p:cNvPr>
                  <p:cNvCxnSpPr>
                    <a:stCxn id="47" idx="6"/>
                    <a:endCxn id="81" idx="2"/>
                  </p:cNvCxnSpPr>
                  <p:nvPr/>
                </p:nvCxnSpPr>
                <p:spPr>
                  <a:xfrm>
                    <a:off x="3186241" y="2707856"/>
                    <a:ext cx="841954" cy="6998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4D3E9549-8BA5-42F1-9AE4-635D438F3C54}"/>
                      </a:ext>
                    </a:extLst>
                  </p:cNvPr>
                  <p:cNvCxnSpPr>
                    <a:stCxn id="42" idx="6"/>
                    <a:endCxn id="81" idx="2"/>
                  </p:cNvCxnSpPr>
                  <p:nvPr/>
                </p:nvCxnSpPr>
                <p:spPr>
                  <a:xfrm>
                    <a:off x="3186242" y="2334552"/>
                    <a:ext cx="841953" cy="10731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085E4D18-C49F-43B4-8136-D17F0C428481}"/>
                      </a:ext>
                    </a:extLst>
                  </p:cNvPr>
                  <p:cNvSpPr/>
                  <p:nvPr/>
                </p:nvSpPr>
                <p:spPr>
                  <a:xfrm>
                    <a:off x="4028194" y="36471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Arrow Connector 87">
                    <a:extLst>
                      <a:ext uri="{FF2B5EF4-FFF2-40B4-BE49-F238E27FC236}">
                        <a16:creationId xmlns:a16="http://schemas.microsoft.com/office/drawing/2014/main" id="{89A3A87D-785D-417A-9545-0C290A79A14C}"/>
                      </a:ext>
                    </a:extLst>
                  </p:cNvPr>
                  <p:cNvCxnSpPr>
                    <a:endCxn id="87" idx="2"/>
                  </p:cNvCxnSpPr>
                  <p:nvPr/>
                </p:nvCxnSpPr>
                <p:spPr>
                  <a:xfrm flipV="1">
                    <a:off x="3186239" y="37909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2E8037AA-8B44-4BD4-9EC1-2D9A94B48796}"/>
                      </a:ext>
                    </a:extLst>
                  </p:cNvPr>
                  <p:cNvCxnSpPr>
                    <a:stCxn id="55" idx="6"/>
                    <a:endCxn id="87" idx="2"/>
                  </p:cNvCxnSpPr>
                  <p:nvPr/>
                </p:nvCxnSpPr>
                <p:spPr>
                  <a:xfrm>
                    <a:off x="3186239" y="3417514"/>
                    <a:ext cx="841955" cy="37343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27B5A2EB-7D9C-4A68-BE95-04C80A587E59}"/>
                      </a:ext>
                    </a:extLst>
                  </p:cNvPr>
                  <p:cNvCxnSpPr>
                    <a:stCxn id="51" idx="6"/>
                    <a:endCxn id="87" idx="2"/>
                  </p:cNvCxnSpPr>
                  <p:nvPr/>
                </p:nvCxnSpPr>
                <p:spPr>
                  <a:xfrm>
                    <a:off x="3186240" y="3066578"/>
                    <a:ext cx="841954" cy="72437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61D881F2-447D-487D-8774-3647FE1BAB3F}"/>
                      </a:ext>
                    </a:extLst>
                  </p:cNvPr>
                  <p:cNvCxnSpPr>
                    <a:stCxn id="47" idx="6"/>
                    <a:endCxn id="87" idx="2"/>
                  </p:cNvCxnSpPr>
                  <p:nvPr/>
                </p:nvCxnSpPr>
                <p:spPr>
                  <a:xfrm>
                    <a:off x="3186241" y="2707856"/>
                    <a:ext cx="841953" cy="108309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44D01DEA-36AD-4E41-80FD-C0D6476E59BE}"/>
                      </a:ext>
                    </a:extLst>
                  </p:cNvPr>
                  <p:cNvCxnSpPr>
                    <a:stCxn id="42" idx="6"/>
                    <a:endCxn id="87" idx="2"/>
                  </p:cNvCxnSpPr>
                  <p:nvPr/>
                </p:nvCxnSpPr>
                <p:spPr>
                  <a:xfrm>
                    <a:off x="3186242" y="2334552"/>
                    <a:ext cx="841952" cy="145639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4FFF505B-7137-4D55-96D2-354C1044938D}"/>
                      </a:ext>
                    </a:extLst>
                  </p:cNvPr>
                  <p:cNvCxnSpPr>
                    <a:stCxn id="63" idx="6"/>
                    <a:endCxn id="43" idx="2"/>
                  </p:cNvCxnSpPr>
                  <p:nvPr/>
                </p:nvCxnSpPr>
                <p:spPr>
                  <a:xfrm>
                    <a:off x="4314660" y="2334551"/>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758AE26F-967B-4C10-800E-244B2BAAA60D}"/>
                      </a:ext>
                    </a:extLst>
                  </p:cNvPr>
                  <p:cNvCxnSpPr>
                    <a:stCxn id="69" idx="6"/>
                    <a:endCxn id="43" idx="2"/>
                  </p:cNvCxnSpPr>
                  <p:nvPr/>
                </p:nvCxnSpPr>
                <p:spPr>
                  <a:xfrm flipV="1">
                    <a:off x="4314659" y="2513568"/>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5F24D61A-C83E-4359-9AF4-61BB5EF7E351}"/>
                      </a:ext>
                    </a:extLst>
                  </p:cNvPr>
                  <p:cNvCxnSpPr>
                    <a:stCxn id="75" idx="6"/>
                    <a:endCxn id="43" idx="2"/>
                  </p:cNvCxnSpPr>
                  <p:nvPr/>
                </p:nvCxnSpPr>
                <p:spPr>
                  <a:xfrm flipV="1">
                    <a:off x="4316507" y="2513568"/>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C88AA0B9-7444-4740-A718-3714F169F1F4}"/>
                      </a:ext>
                    </a:extLst>
                  </p:cNvPr>
                  <p:cNvCxnSpPr>
                    <a:stCxn id="81" idx="6"/>
                    <a:endCxn id="43" idx="2"/>
                  </p:cNvCxnSpPr>
                  <p:nvPr/>
                </p:nvCxnSpPr>
                <p:spPr>
                  <a:xfrm flipV="1">
                    <a:off x="4314658" y="2513568"/>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3F2F97F9-44A1-40C9-B4D8-CF10207BC153}"/>
                      </a:ext>
                    </a:extLst>
                  </p:cNvPr>
                  <p:cNvCxnSpPr>
                    <a:stCxn id="87" idx="6"/>
                    <a:endCxn id="43" idx="2"/>
                  </p:cNvCxnSpPr>
                  <p:nvPr/>
                </p:nvCxnSpPr>
                <p:spPr>
                  <a:xfrm flipV="1">
                    <a:off x="4314657" y="2513568"/>
                    <a:ext cx="787797" cy="127738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8" name="Oval 97">
                    <a:extLst>
                      <a:ext uri="{FF2B5EF4-FFF2-40B4-BE49-F238E27FC236}">
                        <a16:creationId xmlns:a16="http://schemas.microsoft.com/office/drawing/2014/main" id="{8C1EAE7B-0FD5-466D-B172-3BD114544B4A}"/>
                      </a:ext>
                    </a:extLst>
                  </p:cNvPr>
                  <p:cNvSpPr/>
                  <p:nvPr/>
                </p:nvSpPr>
                <p:spPr>
                  <a:xfrm>
                    <a:off x="5102453" y="27456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Arrow Connector 98">
                    <a:extLst>
                      <a:ext uri="{FF2B5EF4-FFF2-40B4-BE49-F238E27FC236}">
                        <a16:creationId xmlns:a16="http://schemas.microsoft.com/office/drawing/2014/main" id="{449BB332-C847-4F40-9B7E-8163AC3CCD96}"/>
                      </a:ext>
                    </a:extLst>
                  </p:cNvPr>
                  <p:cNvCxnSpPr>
                    <a:endCxn id="98" idx="2"/>
                  </p:cNvCxnSpPr>
                  <p:nvPr/>
                </p:nvCxnSpPr>
                <p:spPr>
                  <a:xfrm>
                    <a:off x="4314659" y="27104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EE327669-FFCF-43E6-B3D9-C700EFE328E2}"/>
                      </a:ext>
                    </a:extLst>
                  </p:cNvPr>
                  <p:cNvCxnSpPr>
                    <a:endCxn id="98" idx="2"/>
                  </p:cNvCxnSpPr>
                  <p:nvPr/>
                </p:nvCxnSpPr>
                <p:spPr>
                  <a:xfrm flipV="1">
                    <a:off x="4314658" y="28894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88182FDF-63EC-4A6F-B0C2-186439ACC4B0}"/>
                      </a:ext>
                    </a:extLst>
                  </p:cNvPr>
                  <p:cNvCxnSpPr>
                    <a:endCxn id="98" idx="2"/>
                  </p:cNvCxnSpPr>
                  <p:nvPr/>
                </p:nvCxnSpPr>
                <p:spPr>
                  <a:xfrm flipV="1">
                    <a:off x="4316506" y="2889453"/>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6CB6674A-1E89-4A5B-AB28-AD287C16FE7F}"/>
                      </a:ext>
                    </a:extLst>
                  </p:cNvPr>
                  <p:cNvCxnSpPr>
                    <a:endCxn id="98" idx="2"/>
                  </p:cNvCxnSpPr>
                  <p:nvPr/>
                </p:nvCxnSpPr>
                <p:spPr>
                  <a:xfrm flipV="1">
                    <a:off x="4314657" y="2889453"/>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BF82B84A-177E-4F40-9C72-BFEC2A25D421}"/>
                      </a:ext>
                    </a:extLst>
                  </p:cNvPr>
                  <p:cNvCxnSpPr>
                    <a:stCxn id="63" idx="6"/>
                    <a:endCxn id="98" idx="2"/>
                  </p:cNvCxnSpPr>
                  <p:nvPr/>
                </p:nvCxnSpPr>
                <p:spPr>
                  <a:xfrm>
                    <a:off x="4314660" y="2334551"/>
                    <a:ext cx="787793" cy="5549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BE426294-380D-4596-9136-935D28A8A96F}"/>
                      </a:ext>
                    </a:extLst>
                  </p:cNvPr>
                  <p:cNvSpPr/>
                  <p:nvPr/>
                </p:nvSpPr>
                <p:spPr>
                  <a:xfrm>
                    <a:off x="5102452" y="3088214"/>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Arrow Connector 104">
                    <a:extLst>
                      <a:ext uri="{FF2B5EF4-FFF2-40B4-BE49-F238E27FC236}">
                        <a16:creationId xmlns:a16="http://schemas.microsoft.com/office/drawing/2014/main" id="{A4FA9342-589B-4FA9-BA1F-F0A7629A26F7}"/>
                      </a:ext>
                    </a:extLst>
                  </p:cNvPr>
                  <p:cNvCxnSpPr>
                    <a:endCxn id="104" idx="2"/>
                  </p:cNvCxnSpPr>
                  <p:nvPr/>
                </p:nvCxnSpPr>
                <p:spPr>
                  <a:xfrm>
                    <a:off x="4314658" y="3052998"/>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013ADE29-5EC4-4BDD-9570-7039B582B2E8}"/>
                      </a:ext>
                    </a:extLst>
                  </p:cNvPr>
                  <p:cNvCxnSpPr>
                    <a:endCxn id="104" idx="2"/>
                  </p:cNvCxnSpPr>
                  <p:nvPr/>
                </p:nvCxnSpPr>
                <p:spPr>
                  <a:xfrm flipV="1">
                    <a:off x="4314657" y="3232015"/>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F13B0F5D-E261-4BAA-862B-47D4DC62B495}"/>
                      </a:ext>
                    </a:extLst>
                  </p:cNvPr>
                  <p:cNvCxnSpPr>
                    <a:endCxn id="104" idx="2"/>
                  </p:cNvCxnSpPr>
                  <p:nvPr/>
                </p:nvCxnSpPr>
                <p:spPr>
                  <a:xfrm flipV="1">
                    <a:off x="4316505" y="3232015"/>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DC3DB5EC-7A68-42C2-9DF9-B60CE7D1EE65}"/>
                      </a:ext>
                    </a:extLst>
                  </p:cNvPr>
                  <p:cNvCxnSpPr>
                    <a:stCxn id="69" idx="6"/>
                    <a:endCxn id="104" idx="2"/>
                  </p:cNvCxnSpPr>
                  <p:nvPr/>
                </p:nvCxnSpPr>
                <p:spPr>
                  <a:xfrm>
                    <a:off x="4314659" y="2712329"/>
                    <a:ext cx="787793" cy="51968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29CAE36B-2EC1-4B33-B4AC-4995AF71AC1C}"/>
                      </a:ext>
                    </a:extLst>
                  </p:cNvPr>
                  <p:cNvCxnSpPr>
                    <a:stCxn id="63" idx="6"/>
                    <a:endCxn id="104" idx="2"/>
                  </p:cNvCxnSpPr>
                  <p:nvPr/>
                </p:nvCxnSpPr>
                <p:spPr>
                  <a:xfrm>
                    <a:off x="4314660" y="2334551"/>
                    <a:ext cx="787792" cy="8974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0" name="Oval 109">
                    <a:extLst>
                      <a:ext uri="{FF2B5EF4-FFF2-40B4-BE49-F238E27FC236}">
                        <a16:creationId xmlns:a16="http://schemas.microsoft.com/office/drawing/2014/main" id="{DDDA4B5B-38BA-4FCA-A836-CB55DC2B983D}"/>
                      </a:ext>
                    </a:extLst>
                  </p:cNvPr>
                  <p:cNvSpPr/>
                  <p:nvPr/>
                </p:nvSpPr>
                <p:spPr>
                  <a:xfrm>
                    <a:off x="5102454" y="34505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1" name="Straight Arrow Connector 110">
                    <a:extLst>
                      <a:ext uri="{FF2B5EF4-FFF2-40B4-BE49-F238E27FC236}">
                        <a16:creationId xmlns:a16="http://schemas.microsoft.com/office/drawing/2014/main" id="{A3429BF8-DAE5-4952-B698-87FED139E3D1}"/>
                      </a:ext>
                    </a:extLst>
                  </p:cNvPr>
                  <p:cNvCxnSpPr>
                    <a:endCxn id="110" idx="2"/>
                  </p:cNvCxnSpPr>
                  <p:nvPr/>
                </p:nvCxnSpPr>
                <p:spPr>
                  <a:xfrm>
                    <a:off x="4314660" y="34153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19184F03-AC14-4D6E-B87F-F7B09E554848}"/>
                      </a:ext>
                    </a:extLst>
                  </p:cNvPr>
                  <p:cNvCxnSpPr>
                    <a:endCxn id="110" idx="2"/>
                  </p:cNvCxnSpPr>
                  <p:nvPr/>
                </p:nvCxnSpPr>
                <p:spPr>
                  <a:xfrm flipV="1">
                    <a:off x="4314659" y="35943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5A16591A-725C-4E2B-B57E-A8E63D16D041}"/>
                      </a:ext>
                    </a:extLst>
                  </p:cNvPr>
                  <p:cNvCxnSpPr>
                    <a:stCxn id="75" idx="6"/>
                    <a:endCxn id="110" idx="2"/>
                  </p:cNvCxnSpPr>
                  <p:nvPr/>
                </p:nvCxnSpPr>
                <p:spPr>
                  <a:xfrm>
                    <a:off x="4316507" y="3059487"/>
                    <a:ext cx="785947" cy="53486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CFDC90EE-8362-4AA3-88F3-FA3855EE4D2F}"/>
                      </a:ext>
                    </a:extLst>
                  </p:cNvPr>
                  <p:cNvCxnSpPr>
                    <a:stCxn id="69" idx="6"/>
                    <a:endCxn id="110" idx="2"/>
                  </p:cNvCxnSpPr>
                  <p:nvPr/>
                </p:nvCxnSpPr>
                <p:spPr>
                  <a:xfrm>
                    <a:off x="4314659" y="2712329"/>
                    <a:ext cx="787795" cy="88202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813E35C6-B73A-46C5-89A3-4773557207F5}"/>
                      </a:ext>
                    </a:extLst>
                  </p:cNvPr>
                  <p:cNvCxnSpPr>
                    <a:stCxn id="63" idx="6"/>
                    <a:endCxn id="110" idx="2"/>
                  </p:cNvCxnSpPr>
                  <p:nvPr/>
                </p:nvCxnSpPr>
                <p:spPr>
                  <a:xfrm>
                    <a:off x="4314660" y="2334551"/>
                    <a:ext cx="787794" cy="12598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8CC751E1-D9AF-48C1-849C-1902DE78FB9A}"/>
                    </a:ext>
                  </a:extLst>
                </p:cNvPr>
                <p:cNvSpPr txBox="1"/>
                <p:nvPr/>
              </p:nvSpPr>
              <p:spPr>
                <a:xfrm>
                  <a:off x="990599" y="2156996"/>
                  <a:ext cx="775578" cy="338554"/>
                </a:xfrm>
                <a:prstGeom prst="rect">
                  <a:avLst/>
                </a:prstGeom>
                <a:noFill/>
              </p:spPr>
              <p:txBody>
                <a:bodyPr wrap="square" rtlCol="0">
                  <a:spAutoFit/>
                </a:bodyPr>
                <a:lstStyle/>
                <a:p>
                  <a:r>
                    <a:rPr lang="en-US" sz="1400" dirty="0"/>
                    <a:t>Layer 1</a:t>
                  </a:r>
                </a:p>
              </p:txBody>
            </p:sp>
            <p:sp>
              <p:nvSpPr>
                <p:cNvPr id="36" name="TextBox 35">
                  <a:extLst>
                    <a:ext uri="{FF2B5EF4-FFF2-40B4-BE49-F238E27FC236}">
                      <a16:creationId xmlns:a16="http://schemas.microsoft.com/office/drawing/2014/main" id="{CD585CA6-E43F-4CFF-BE28-510F99374141}"/>
                    </a:ext>
                  </a:extLst>
                </p:cNvPr>
                <p:cNvSpPr txBox="1"/>
                <p:nvPr/>
              </p:nvSpPr>
              <p:spPr>
                <a:xfrm>
                  <a:off x="1787019" y="2156996"/>
                  <a:ext cx="775578" cy="338554"/>
                </a:xfrm>
                <a:prstGeom prst="rect">
                  <a:avLst/>
                </a:prstGeom>
                <a:noFill/>
              </p:spPr>
              <p:txBody>
                <a:bodyPr wrap="square" rtlCol="0">
                  <a:spAutoFit/>
                </a:bodyPr>
                <a:lstStyle/>
                <a:p>
                  <a:r>
                    <a:rPr lang="en-US" sz="1400" dirty="0"/>
                    <a:t>Layer 2</a:t>
                  </a:r>
                </a:p>
              </p:txBody>
            </p:sp>
            <p:sp>
              <p:nvSpPr>
                <p:cNvPr id="37" name="TextBox 36">
                  <a:extLst>
                    <a:ext uri="{FF2B5EF4-FFF2-40B4-BE49-F238E27FC236}">
                      <a16:creationId xmlns:a16="http://schemas.microsoft.com/office/drawing/2014/main" id="{3A770CFF-B084-4622-9CDC-734D309587BD}"/>
                    </a:ext>
                  </a:extLst>
                </p:cNvPr>
                <p:cNvSpPr txBox="1"/>
                <p:nvPr/>
              </p:nvSpPr>
              <p:spPr>
                <a:xfrm>
                  <a:off x="2715597" y="2156996"/>
                  <a:ext cx="775578" cy="338554"/>
                </a:xfrm>
                <a:prstGeom prst="rect">
                  <a:avLst/>
                </a:prstGeom>
                <a:noFill/>
              </p:spPr>
              <p:txBody>
                <a:bodyPr wrap="square" rtlCol="0">
                  <a:spAutoFit/>
                </a:bodyPr>
                <a:lstStyle/>
                <a:p>
                  <a:r>
                    <a:rPr lang="en-US" sz="1400" dirty="0"/>
                    <a:t>Layer 3</a:t>
                  </a:r>
                </a:p>
              </p:txBody>
            </p:sp>
            <p:sp>
              <p:nvSpPr>
                <p:cNvPr id="38" name="TextBox 37">
                  <a:extLst>
                    <a:ext uri="{FF2B5EF4-FFF2-40B4-BE49-F238E27FC236}">
                      <a16:creationId xmlns:a16="http://schemas.microsoft.com/office/drawing/2014/main" id="{E5A129E3-4CCE-42E2-9C3D-055FDC1903AC}"/>
                    </a:ext>
                  </a:extLst>
                </p:cNvPr>
                <p:cNvSpPr txBox="1"/>
                <p:nvPr/>
              </p:nvSpPr>
              <p:spPr>
                <a:xfrm>
                  <a:off x="3596641" y="2156996"/>
                  <a:ext cx="775578" cy="338554"/>
                </a:xfrm>
                <a:prstGeom prst="rect">
                  <a:avLst/>
                </a:prstGeom>
                <a:noFill/>
              </p:spPr>
              <p:txBody>
                <a:bodyPr wrap="square" rtlCol="0">
                  <a:spAutoFit/>
                </a:bodyPr>
                <a:lstStyle/>
                <a:p>
                  <a:r>
                    <a:rPr lang="en-US" sz="1400" dirty="0"/>
                    <a:t>Layer 4</a:t>
                  </a:r>
                </a:p>
              </p:txBody>
            </p:sp>
          </p:grpSp>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2C76F31B-8CA7-46D1-9667-7CB543521FDD}"/>
                      </a:ext>
                    </a:extLst>
                  </p:cNvPr>
                  <p:cNvSpPr txBox="1"/>
                  <p:nvPr/>
                </p:nvSpPr>
                <p:spPr>
                  <a:xfrm>
                    <a:off x="8120316" y="533636"/>
                    <a:ext cx="435184"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i="1" smtClean="0">
                                  <a:solidFill>
                                    <a:srgbClr val="0070C0"/>
                                  </a:solidFill>
                                  <a:latin typeface="Cambria Math" panose="02040503050406030204" pitchFamily="18" charset="0"/>
                                </a:rPr>
                              </m:ctrlPr>
                            </m:sSupPr>
                            <m:e>
                              <m:r>
                                <a:rPr lang="en-GB" b="0" i="1" smtClean="0">
                                  <a:solidFill>
                                    <a:srgbClr val="0070C0"/>
                                  </a:solidFill>
                                  <a:latin typeface="Cambria Math" panose="02040503050406030204" pitchFamily="18" charset="0"/>
                                </a:rPr>
                                <m:t>𝑎</m:t>
                              </m:r>
                            </m:e>
                            <m:sup>
                              <m:r>
                                <a:rPr lang="en-GB" b="0" i="1" smtClean="0">
                                  <a:solidFill>
                                    <a:srgbClr val="0070C0"/>
                                  </a:solidFill>
                                  <a:latin typeface="Cambria Math" panose="02040503050406030204" pitchFamily="18" charset="0"/>
                                </a:rPr>
                                <m:t>(1)</m:t>
                              </m:r>
                            </m:sup>
                          </m:sSup>
                        </m:oMath>
                      </m:oMathPara>
                    </a14:m>
                    <a:endParaRPr lang="it-IT" dirty="0"/>
                  </a:p>
                </p:txBody>
              </p:sp>
            </mc:Choice>
            <mc:Fallback xmlns="">
              <p:sp>
                <p:nvSpPr>
                  <p:cNvPr id="116" name="TextBox 115">
                    <a:extLst>
                      <a:ext uri="{FF2B5EF4-FFF2-40B4-BE49-F238E27FC236}">
                        <a16:creationId xmlns:a16="http://schemas.microsoft.com/office/drawing/2014/main" id="{2C76F31B-8CA7-46D1-9667-7CB543521FDD}"/>
                      </a:ext>
                    </a:extLst>
                  </p:cNvPr>
                  <p:cNvSpPr txBox="1">
                    <a:spLocks noRot="1" noChangeAspect="1" noMove="1" noResize="1" noEditPoints="1" noAdjustHandles="1" noChangeArrowheads="1" noChangeShapeType="1" noTextEdit="1"/>
                  </p:cNvSpPr>
                  <p:nvPr/>
                </p:nvSpPr>
                <p:spPr>
                  <a:xfrm>
                    <a:off x="8120316" y="533636"/>
                    <a:ext cx="435184" cy="288477"/>
                  </a:xfrm>
                  <a:prstGeom prst="rect">
                    <a:avLst/>
                  </a:prstGeom>
                  <a:blipFill>
                    <a:blip r:embed="rId25"/>
                    <a:stretch>
                      <a:fillRect t="-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E179D4D6-C093-4B24-860D-2866750EB624}"/>
                      </a:ext>
                    </a:extLst>
                  </p:cNvPr>
                  <p:cNvSpPr txBox="1"/>
                  <p:nvPr/>
                </p:nvSpPr>
                <p:spPr>
                  <a:xfrm>
                    <a:off x="8809518" y="527487"/>
                    <a:ext cx="435184"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i="1">
                                  <a:solidFill>
                                    <a:srgbClr val="0070C0"/>
                                  </a:solidFill>
                                  <a:latin typeface="Cambria Math" panose="02040503050406030204" pitchFamily="18" charset="0"/>
                                </a:rPr>
                              </m:ctrlPr>
                            </m:sSupPr>
                            <m:e>
                              <m:r>
                                <a:rPr lang="en-GB" i="1">
                                  <a:solidFill>
                                    <a:srgbClr val="0070C0"/>
                                  </a:solidFill>
                                  <a:latin typeface="Cambria Math" panose="02040503050406030204" pitchFamily="18" charset="0"/>
                                </a:rPr>
                                <m:t>𝑎</m:t>
                              </m:r>
                            </m:e>
                            <m:sup>
                              <m:r>
                                <a:rPr lang="en-GB" i="1">
                                  <a:solidFill>
                                    <a:srgbClr val="0070C0"/>
                                  </a:solidFill>
                                  <a:latin typeface="Cambria Math" panose="02040503050406030204" pitchFamily="18" charset="0"/>
                                </a:rPr>
                                <m:t>(2)</m:t>
                              </m:r>
                            </m:sup>
                          </m:sSup>
                        </m:oMath>
                      </m:oMathPara>
                    </a14:m>
                    <a:endParaRPr lang="it-IT" i="1" dirty="0">
                      <a:solidFill>
                        <a:srgbClr val="0070C0"/>
                      </a:solidFill>
                      <a:latin typeface="Cambria Math" panose="02040503050406030204" pitchFamily="18" charset="0"/>
                    </a:endParaRPr>
                  </a:p>
                </p:txBody>
              </p:sp>
            </mc:Choice>
            <mc:Fallback xmlns="">
              <p:sp>
                <p:nvSpPr>
                  <p:cNvPr id="117" name="TextBox 116">
                    <a:extLst>
                      <a:ext uri="{FF2B5EF4-FFF2-40B4-BE49-F238E27FC236}">
                        <a16:creationId xmlns:a16="http://schemas.microsoft.com/office/drawing/2014/main" id="{E179D4D6-C093-4B24-860D-2866750EB624}"/>
                      </a:ext>
                    </a:extLst>
                  </p:cNvPr>
                  <p:cNvSpPr txBox="1">
                    <a:spLocks noRot="1" noChangeAspect="1" noMove="1" noResize="1" noEditPoints="1" noAdjustHandles="1" noChangeArrowheads="1" noChangeShapeType="1" noTextEdit="1"/>
                  </p:cNvSpPr>
                  <p:nvPr/>
                </p:nvSpPr>
                <p:spPr>
                  <a:xfrm>
                    <a:off x="8809518" y="527487"/>
                    <a:ext cx="435184" cy="288477"/>
                  </a:xfrm>
                  <a:prstGeom prst="rect">
                    <a:avLst/>
                  </a:prstGeom>
                  <a:blipFill>
                    <a:blip r:embed="rId26"/>
                    <a:stretch>
                      <a:fillRect t="-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0CE03949-7CB9-46FE-AA80-CCF44C12B6F2}"/>
                      </a:ext>
                    </a:extLst>
                  </p:cNvPr>
                  <p:cNvSpPr txBox="1"/>
                  <p:nvPr/>
                </p:nvSpPr>
                <p:spPr>
                  <a:xfrm>
                    <a:off x="9653074" y="530545"/>
                    <a:ext cx="435184"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i="1" smtClean="0">
                                  <a:solidFill>
                                    <a:srgbClr val="0070C0"/>
                                  </a:solidFill>
                                  <a:latin typeface="Cambria Math" panose="02040503050406030204" pitchFamily="18" charset="0"/>
                                </a:rPr>
                              </m:ctrlPr>
                            </m:sSupPr>
                            <m:e>
                              <m:r>
                                <a:rPr lang="en-GB" b="0" i="1" smtClean="0">
                                  <a:solidFill>
                                    <a:srgbClr val="0070C0"/>
                                  </a:solidFill>
                                  <a:latin typeface="Cambria Math" panose="02040503050406030204" pitchFamily="18" charset="0"/>
                                </a:rPr>
                                <m:t>𝑎</m:t>
                              </m:r>
                            </m:e>
                            <m:sup>
                              <m:r>
                                <a:rPr lang="en-GB" b="0" i="1" smtClean="0">
                                  <a:solidFill>
                                    <a:srgbClr val="0070C0"/>
                                  </a:solidFill>
                                  <a:latin typeface="Cambria Math" panose="02040503050406030204" pitchFamily="18" charset="0"/>
                                </a:rPr>
                                <m:t>(3)</m:t>
                              </m:r>
                            </m:sup>
                          </m:sSup>
                        </m:oMath>
                      </m:oMathPara>
                    </a14:m>
                    <a:endParaRPr lang="it-IT" dirty="0">
                      <a:solidFill>
                        <a:srgbClr val="0070C0"/>
                      </a:solidFill>
                    </a:endParaRPr>
                  </a:p>
                </p:txBody>
              </p:sp>
            </mc:Choice>
            <mc:Fallback xmlns="">
              <p:sp>
                <p:nvSpPr>
                  <p:cNvPr id="118" name="TextBox 117">
                    <a:extLst>
                      <a:ext uri="{FF2B5EF4-FFF2-40B4-BE49-F238E27FC236}">
                        <a16:creationId xmlns:a16="http://schemas.microsoft.com/office/drawing/2014/main" id="{0CE03949-7CB9-46FE-AA80-CCF44C12B6F2}"/>
                      </a:ext>
                    </a:extLst>
                  </p:cNvPr>
                  <p:cNvSpPr txBox="1">
                    <a:spLocks noRot="1" noChangeAspect="1" noMove="1" noResize="1" noEditPoints="1" noAdjustHandles="1" noChangeArrowheads="1" noChangeShapeType="1" noTextEdit="1"/>
                  </p:cNvSpPr>
                  <p:nvPr/>
                </p:nvSpPr>
                <p:spPr>
                  <a:xfrm>
                    <a:off x="9653074" y="530545"/>
                    <a:ext cx="435184" cy="288477"/>
                  </a:xfrm>
                  <a:prstGeom prst="rect">
                    <a:avLst/>
                  </a:prstGeom>
                  <a:blipFill>
                    <a:blip r:embed="rId27"/>
                    <a:stretch>
                      <a:fillRect t="-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79129FFC-9423-45C0-AE95-2493FA0379A6}"/>
                      </a:ext>
                    </a:extLst>
                  </p:cNvPr>
                  <p:cNvSpPr txBox="1"/>
                  <p:nvPr/>
                </p:nvSpPr>
                <p:spPr>
                  <a:xfrm>
                    <a:off x="10450622" y="524702"/>
                    <a:ext cx="435184"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i="1" smtClean="0">
                                  <a:solidFill>
                                    <a:srgbClr val="0070C0"/>
                                  </a:solidFill>
                                  <a:latin typeface="Cambria Math" panose="02040503050406030204" pitchFamily="18" charset="0"/>
                                </a:rPr>
                              </m:ctrlPr>
                            </m:sSupPr>
                            <m:e>
                              <m:r>
                                <a:rPr lang="en-GB" b="0" i="1" smtClean="0">
                                  <a:solidFill>
                                    <a:srgbClr val="0070C0"/>
                                  </a:solidFill>
                                  <a:latin typeface="Cambria Math" panose="02040503050406030204" pitchFamily="18" charset="0"/>
                                </a:rPr>
                                <m:t>𝑎</m:t>
                              </m:r>
                            </m:e>
                            <m:sup>
                              <m:r>
                                <a:rPr lang="en-GB" b="0" i="1" smtClean="0">
                                  <a:solidFill>
                                    <a:srgbClr val="0070C0"/>
                                  </a:solidFill>
                                  <a:latin typeface="Cambria Math" panose="02040503050406030204" pitchFamily="18" charset="0"/>
                                </a:rPr>
                                <m:t>(4)</m:t>
                              </m:r>
                            </m:sup>
                          </m:sSup>
                        </m:oMath>
                      </m:oMathPara>
                    </a14:m>
                    <a:endParaRPr lang="it-IT" dirty="0"/>
                  </a:p>
                </p:txBody>
              </p:sp>
            </mc:Choice>
            <mc:Fallback xmlns="">
              <p:sp>
                <p:nvSpPr>
                  <p:cNvPr id="119" name="TextBox 118">
                    <a:extLst>
                      <a:ext uri="{FF2B5EF4-FFF2-40B4-BE49-F238E27FC236}">
                        <a16:creationId xmlns:a16="http://schemas.microsoft.com/office/drawing/2014/main" id="{79129FFC-9423-45C0-AE95-2493FA0379A6}"/>
                      </a:ext>
                    </a:extLst>
                  </p:cNvPr>
                  <p:cNvSpPr txBox="1">
                    <a:spLocks noRot="1" noChangeAspect="1" noMove="1" noResize="1" noEditPoints="1" noAdjustHandles="1" noChangeArrowheads="1" noChangeShapeType="1" noTextEdit="1"/>
                  </p:cNvSpPr>
                  <p:nvPr/>
                </p:nvSpPr>
                <p:spPr>
                  <a:xfrm>
                    <a:off x="10450622" y="524702"/>
                    <a:ext cx="435184" cy="288477"/>
                  </a:xfrm>
                  <a:prstGeom prst="rect">
                    <a:avLst/>
                  </a:prstGeom>
                  <a:blipFill>
                    <a:blip r:embed="rId28"/>
                    <a:stretch>
                      <a:fillRect t="-7407"/>
                    </a:stretch>
                  </a:blipFill>
                </p:spPr>
                <p:txBody>
                  <a:bodyPr/>
                  <a:lstStyle/>
                  <a:p>
                    <a:r>
                      <a:rPr lang="en-US">
                        <a:noFill/>
                      </a:rPr>
                      <a:t> </a:t>
                    </a:r>
                  </a:p>
                </p:txBody>
              </p:sp>
            </mc:Fallback>
          </mc:AlternateContent>
        </p:grpSp>
        <p:cxnSp>
          <p:nvCxnSpPr>
            <p:cNvPr id="120" name="Straight Arrow Connector 119">
              <a:extLst>
                <a:ext uri="{FF2B5EF4-FFF2-40B4-BE49-F238E27FC236}">
                  <a16:creationId xmlns:a16="http://schemas.microsoft.com/office/drawing/2014/main" id="{0F9A93F5-887B-4D66-A506-4EB3BC365D93}"/>
                </a:ext>
              </a:extLst>
            </p:cNvPr>
            <p:cNvCxnSpPr/>
            <p:nvPr/>
          </p:nvCxnSpPr>
          <p:spPr>
            <a:xfrm>
              <a:off x="8301481" y="784747"/>
              <a:ext cx="0" cy="440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5841E7DB-18E4-41EB-BE09-C2716A6944B7}"/>
                </a:ext>
              </a:extLst>
            </p:cNvPr>
            <p:cNvCxnSpPr/>
            <p:nvPr/>
          </p:nvCxnSpPr>
          <p:spPr>
            <a:xfrm>
              <a:off x="10671808" y="739980"/>
              <a:ext cx="0" cy="440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CAA0AFB5-B413-4A7F-A0DA-6BF5D333DA5D}"/>
                </a:ext>
              </a:extLst>
            </p:cNvPr>
            <p:cNvCxnSpPr/>
            <p:nvPr/>
          </p:nvCxnSpPr>
          <p:spPr>
            <a:xfrm>
              <a:off x="9027110" y="739980"/>
              <a:ext cx="0" cy="440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CB125BD2-798C-4C1E-8C27-4897BC51CD01}"/>
                </a:ext>
              </a:extLst>
            </p:cNvPr>
            <p:cNvCxnSpPr/>
            <p:nvPr/>
          </p:nvCxnSpPr>
          <p:spPr>
            <a:xfrm>
              <a:off x="9870666" y="754562"/>
              <a:ext cx="0" cy="440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16" name="TextBox 215">
            <a:extLst>
              <a:ext uri="{FF2B5EF4-FFF2-40B4-BE49-F238E27FC236}">
                <a16:creationId xmlns:a16="http://schemas.microsoft.com/office/drawing/2014/main" id="{E1CF2A74-8E81-49DA-ACFA-A22B55AEDFEB}"/>
              </a:ext>
            </a:extLst>
          </p:cNvPr>
          <p:cNvSpPr txBox="1"/>
          <p:nvPr/>
        </p:nvSpPr>
        <p:spPr>
          <a:xfrm>
            <a:off x="1578826" y="1250690"/>
            <a:ext cx="2551008" cy="461665"/>
          </a:xfrm>
          <a:prstGeom prst="rect">
            <a:avLst/>
          </a:prstGeom>
          <a:noFill/>
        </p:spPr>
        <p:txBody>
          <a:bodyPr wrap="square" rtlCol="0">
            <a:spAutoFit/>
          </a:bodyPr>
          <a:lstStyle/>
          <a:p>
            <a:r>
              <a:rPr lang="en-US" sz="2400" dirty="0"/>
              <a:t>Neuron model</a:t>
            </a:r>
          </a:p>
        </p:txBody>
      </p:sp>
      <p:sp>
        <p:nvSpPr>
          <p:cNvPr id="218" name="TextBox 217">
            <a:extLst>
              <a:ext uri="{FF2B5EF4-FFF2-40B4-BE49-F238E27FC236}">
                <a16:creationId xmlns:a16="http://schemas.microsoft.com/office/drawing/2014/main" id="{D3E48771-0573-4016-84E5-08B19E2971FC}"/>
              </a:ext>
            </a:extLst>
          </p:cNvPr>
          <p:cNvSpPr txBox="1"/>
          <p:nvPr/>
        </p:nvSpPr>
        <p:spPr>
          <a:xfrm>
            <a:off x="7812549" y="1250690"/>
            <a:ext cx="3376842" cy="461665"/>
          </a:xfrm>
          <a:prstGeom prst="rect">
            <a:avLst/>
          </a:prstGeom>
          <a:noFill/>
        </p:spPr>
        <p:txBody>
          <a:bodyPr wrap="square" rtlCol="0">
            <a:spAutoFit/>
          </a:bodyPr>
          <a:lstStyle/>
          <a:p>
            <a:r>
              <a:rPr lang="en-US" sz="2400" dirty="0"/>
              <a:t>Forward propagation</a:t>
            </a:r>
          </a:p>
        </p:txBody>
      </p:sp>
      <p:cxnSp>
        <p:nvCxnSpPr>
          <p:cNvPr id="220" name="Straight Connector 219">
            <a:extLst>
              <a:ext uri="{FF2B5EF4-FFF2-40B4-BE49-F238E27FC236}">
                <a16:creationId xmlns:a16="http://schemas.microsoft.com/office/drawing/2014/main" id="{3407E382-5C26-4F5A-82FB-D131BE105C34}"/>
              </a:ext>
            </a:extLst>
          </p:cNvPr>
          <p:cNvCxnSpPr>
            <a:cxnSpLocks/>
          </p:cNvCxnSpPr>
          <p:nvPr/>
        </p:nvCxnSpPr>
        <p:spPr>
          <a:xfrm>
            <a:off x="6206490" y="1188360"/>
            <a:ext cx="0" cy="4772311"/>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224" name="Group 223">
            <a:extLst>
              <a:ext uri="{FF2B5EF4-FFF2-40B4-BE49-F238E27FC236}">
                <a16:creationId xmlns:a16="http://schemas.microsoft.com/office/drawing/2014/main" id="{EE5DC42B-45CC-421A-8BDF-40234C3E82DD}"/>
              </a:ext>
            </a:extLst>
          </p:cNvPr>
          <p:cNvGrpSpPr/>
          <p:nvPr/>
        </p:nvGrpSpPr>
        <p:grpSpPr>
          <a:xfrm>
            <a:off x="7501335" y="5520624"/>
            <a:ext cx="4189839" cy="990849"/>
            <a:chOff x="7821142" y="5142385"/>
            <a:chExt cx="4189839" cy="990849"/>
          </a:xfrm>
        </p:grpSpPr>
        <mc:AlternateContent xmlns:mc="http://schemas.openxmlformats.org/markup-compatibility/2006" xmlns:a14="http://schemas.microsoft.com/office/drawing/2010/main">
          <mc:Choice Requires="a14">
            <p:sp>
              <p:nvSpPr>
                <p:cNvPr id="214" name="TextBox 213">
                  <a:extLst>
                    <a:ext uri="{FF2B5EF4-FFF2-40B4-BE49-F238E27FC236}">
                      <a16:creationId xmlns:a16="http://schemas.microsoft.com/office/drawing/2014/main" id="{EBF769ED-63F5-45E9-856C-791E95F73181}"/>
                    </a:ext>
                  </a:extLst>
                </p:cNvPr>
                <p:cNvSpPr txBox="1"/>
                <p:nvPr/>
              </p:nvSpPr>
              <p:spPr>
                <a:xfrm>
                  <a:off x="7821142" y="5142385"/>
                  <a:ext cx="3081356" cy="9908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𝑎</m:t>
                            </m:r>
                          </m:e>
                          <m:sub>
                            <m:r>
                              <a:rPr lang="en-US" sz="2000" b="0" i="1" smtClean="0">
                                <a:latin typeface="Cambria Math" panose="02040503050406030204" pitchFamily="18" charset="0"/>
                              </a:rPr>
                              <m:t>𝑖</m:t>
                            </m:r>
                          </m:sub>
                          <m:sup>
                            <m:r>
                              <a:rPr lang="en-US" sz="2000" b="0" i="1" smtClean="0">
                                <a:latin typeface="Cambria Math" panose="02040503050406030204" pitchFamily="18" charset="0"/>
                              </a:rPr>
                              <m:t>(</m:t>
                            </m:r>
                            <m:r>
                              <a:rPr lang="en-US" sz="2000" b="0" i="1" smtClean="0">
                                <a:latin typeface="Cambria Math" panose="02040503050406030204" pitchFamily="18" charset="0"/>
                              </a:rPr>
                              <m:t>𝑙</m:t>
                            </m:r>
                            <m:r>
                              <a:rPr lang="en-US" sz="2000" b="0" i="1" smtClean="0">
                                <a:latin typeface="Cambria Math" panose="02040503050406030204" pitchFamily="18" charset="0"/>
                              </a:rPr>
                              <m:t>)</m:t>
                            </m:r>
                          </m:sup>
                        </m:sSubSup>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𝜑</m:t>
                        </m:r>
                        <m:d>
                          <m:dPr>
                            <m:ctrlPr>
                              <a:rPr lang="en-US" sz="2000" b="0" i="1" smtClean="0">
                                <a:latin typeface="Cambria Math" panose="02040503050406030204" pitchFamily="18" charset="0"/>
                                <a:ea typeface="Cambria Math" panose="02040503050406030204" pitchFamily="18" charset="0"/>
                              </a:rPr>
                            </m:ctrlPr>
                          </m:dPr>
                          <m:e>
                            <m:nary>
                              <m:naryPr>
                                <m:chr m:val="∑"/>
                                <m:supHide m:val="on"/>
                                <m:ctrlPr>
                                  <a:rPr lang="en-US" sz="2000" b="0" i="1" smtClean="0">
                                    <a:latin typeface="Cambria Math" panose="02040503050406030204" pitchFamily="18" charset="0"/>
                                    <a:ea typeface="Cambria Math" panose="02040503050406030204" pitchFamily="18" charset="0"/>
                                  </a:rPr>
                                </m:ctrlPr>
                              </m:naryPr>
                              <m:sub>
                                <m:r>
                                  <m:rPr>
                                    <m:brk m:alnAt="7"/>
                                  </m:rPr>
                                  <a:rPr lang="en-US" sz="2000" b="0" i="1" smtClean="0">
                                    <a:latin typeface="Cambria Math" panose="02040503050406030204" pitchFamily="18" charset="0"/>
                                    <a:ea typeface="Cambria Math" panose="02040503050406030204" pitchFamily="18" charset="0"/>
                                  </a:rPr>
                                  <m:t>𝑘</m:t>
                                </m:r>
                              </m:sub>
                              <m:sup/>
                              <m:e>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𝜃</m:t>
                                    </m:r>
                                  </m:e>
                                  <m:sub>
                                    <m:r>
                                      <a:rPr lang="en-US" sz="2000" i="1">
                                        <a:latin typeface="Cambria Math" panose="02040503050406030204" pitchFamily="18" charset="0"/>
                                        <a:ea typeface="Cambria Math" panose="02040503050406030204" pitchFamily="18" charset="0"/>
                                      </a:rPr>
                                      <m:t>𝑖𝑘</m:t>
                                    </m:r>
                                  </m:sub>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𝑙</m:t>
                                    </m:r>
                                    <m:r>
                                      <a:rPr lang="en-US" sz="2000" i="1">
                                        <a:latin typeface="Cambria Math" panose="02040503050406030204" pitchFamily="18" charset="0"/>
                                        <a:ea typeface="Cambria Math" panose="02040503050406030204" pitchFamily="18" charset="0"/>
                                      </a:rPr>
                                      <m:t>−1)</m:t>
                                    </m:r>
                                  </m:sup>
                                </m:sSubSup>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𝑎</m:t>
                                    </m:r>
                                  </m:e>
                                  <m:sub>
                                    <m:r>
                                      <a:rPr lang="en-US" sz="2000" i="1">
                                        <a:latin typeface="Cambria Math" panose="02040503050406030204" pitchFamily="18" charset="0"/>
                                        <a:ea typeface="Cambria Math" panose="02040503050406030204" pitchFamily="18" charset="0"/>
                                      </a:rPr>
                                      <m:t>𝑘</m:t>
                                    </m:r>
                                  </m:sub>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𝑙</m:t>
                                    </m:r>
                                    <m:r>
                                      <a:rPr lang="en-US" sz="2000" i="1">
                                        <a:latin typeface="Cambria Math" panose="02040503050406030204" pitchFamily="18" charset="0"/>
                                        <a:ea typeface="Cambria Math" panose="02040503050406030204" pitchFamily="18" charset="0"/>
                                      </a:rPr>
                                      <m:t>−1)</m:t>
                                    </m:r>
                                  </m:sup>
                                </m:sSubSup>
                              </m:e>
                            </m:nary>
                          </m:e>
                        </m:d>
                      </m:oMath>
                    </m:oMathPara>
                  </a14:m>
                  <a:endParaRPr lang="en-US" sz="2000" dirty="0"/>
                </a:p>
              </p:txBody>
            </p:sp>
          </mc:Choice>
          <mc:Fallback xmlns="">
            <p:sp>
              <p:nvSpPr>
                <p:cNvPr id="214" name="TextBox 213">
                  <a:extLst>
                    <a:ext uri="{FF2B5EF4-FFF2-40B4-BE49-F238E27FC236}">
                      <a16:creationId xmlns:a16="http://schemas.microsoft.com/office/drawing/2014/main" id="{EBF769ED-63F5-45E9-856C-791E95F73181}"/>
                    </a:ext>
                  </a:extLst>
                </p:cNvPr>
                <p:cNvSpPr txBox="1">
                  <a:spLocks noRot="1" noChangeAspect="1" noMove="1" noResize="1" noEditPoints="1" noAdjustHandles="1" noChangeArrowheads="1" noChangeShapeType="1" noTextEdit="1"/>
                </p:cNvSpPr>
                <p:nvPr/>
              </p:nvSpPr>
              <p:spPr>
                <a:xfrm>
                  <a:off x="7821142" y="5142385"/>
                  <a:ext cx="3081356" cy="990849"/>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2" name="TextBox 221">
                  <a:extLst>
                    <a:ext uri="{FF2B5EF4-FFF2-40B4-BE49-F238E27FC236}">
                      <a16:creationId xmlns:a16="http://schemas.microsoft.com/office/drawing/2014/main" id="{4D6CAA0E-BB40-4584-91D9-5DF7BEEFA6E7}"/>
                    </a:ext>
                  </a:extLst>
                </p:cNvPr>
                <p:cNvSpPr txBox="1"/>
                <p:nvPr/>
              </p:nvSpPr>
              <p:spPr>
                <a:xfrm>
                  <a:off x="11019491" y="5453124"/>
                  <a:ext cx="99149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1&lt;</m:t>
                        </m:r>
                        <m:r>
                          <a:rPr lang="en-US" b="0" i="1" smtClean="0">
                            <a:latin typeface="Cambria Math" panose="02040503050406030204" pitchFamily="18" charset="0"/>
                          </a:rPr>
                          <m:t>𝑙</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𝐿</m:t>
                        </m:r>
                      </m:oMath>
                    </m:oMathPara>
                  </a14:m>
                  <a:endParaRPr lang="en-US" dirty="0"/>
                </a:p>
              </p:txBody>
            </p:sp>
          </mc:Choice>
          <mc:Fallback xmlns="">
            <p:sp>
              <p:nvSpPr>
                <p:cNvPr id="222" name="TextBox 221">
                  <a:extLst>
                    <a:ext uri="{FF2B5EF4-FFF2-40B4-BE49-F238E27FC236}">
                      <a16:creationId xmlns:a16="http://schemas.microsoft.com/office/drawing/2014/main" id="{4D6CAA0E-BB40-4584-91D9-5DF7BEEFA6E7}"/>
                    </a:ext>
                  </a:extLst>
                </p:cNvPr>
                <p:cNvSpPr txBox="1">
                  <a:spLocks noRot="1" noChangeAspect="1" noMove="1" noResize="1" noEditPoints="1" noAdjustHandles="1" noChangeArrowheads="1" noChangeShapeType="1" noTextEdit="1"/>
                </p:cNvSpPr>
                <p:nvPr/>
              </p:nvSpPr>
              <p:spPr>
                <a:xfrm>
                  <a:off x="11019491" y="5453124"/>
                  <a:ext cx="991490" cy="276999"/>
                </a:xfrm>
                <a:prstGeom prst="rect">
                  <a:avLst/>
                </a:prstGeom>
                <a:blipFill>
                  <a:blip r:embed="rId31"/>
                  <a:stretch>
                    <a:fillRect l="-4908" r="-4908" b="-11111"/>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83342409-433B-4320-BF48-27DC28E1009F}"/>
                  </a:ext>
                </a:extLst>
              </p:cNvPr>
              <p:cNvSpPr txBox="1"/>
              <p:nvPr/>
            </p:nvSpPr>
            <p:spPr>
              <a:xfrm>
                <a:off x="7472968" y="5223252"/>
                <a:ext cx="932371" cy="352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𝑖</m:t>
                          </m:r>
                        </m:sub>
                        <m:sup>
                          <m:r>
                            <a:rPr lang="en-US" b="0" i="1" smtClean="0">
                              <a:latin typeface="Cambria Math" panose="02040503050406030204" pitchFamily="18" charset="0"/>
                            </a:rPr>
                            <m:t>(1)</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m:oMathPara>
                </a14:m>
                <a:endParaRPr lang="en-US" dirty="0"/>
              </a:p>
            </p:txBody>
          </p:sp>
        </mc:Choice>
        <mc:Fallback xmlns="">
          <p:sp>
            <p:nvSpPr>
              <p:cNvPr id="223" name="TextBox 222">
                <a:extLst>
                  <a:ext uri="{FF2B5EF4-FFF2-40B4-BE49-F238E27FC236}">
                    <a16:creationId xmlns:a16="http://schemas.microsoft.com/office/drawing/2014/main" id="{83342409-433B-4320-BF48-27DC28E1009F}"/>
                  </a:ext>
                </a:extLst>
              </p:cNvPr>
              <p:cNvSpPr txBox="1">
                <a:spLocks noRot="1" noChangeAspect="1" noMove="1" noResize="1" noEditPoints="1" noAdjustHandles="1" noChangeArrowheads="1" noChangeShapeType="1" noTextEdit="1"/>
              </p:cNvSpPr>
              <p:nvPr/>
            </p:nvSpPr>
            <p:spPr>
              <a:xfrm>
                <a:off x="7472968" y="5223252"/>
                <a:ext cx="932371" cy="352597"/>
              </a:xfrm>
              <a:prstGeom prst="rect">
                <a:avLst/>
              </a:prstGeom>
              <a:blipFill>
                <a:blip r:embed="rId32"/>
                <a:stretch>
                  <a:fillRect l="-3268" t="-3448" r="-1961" b="-17241"/>
                </a:stretch>
              </a:blipFill>
            </p:spPr>
            <p:txBody>
              <a:bodyPr/>
              <a:lstStyle/>
              <a:p>
                <a:r>
                  <a:rPr lang="en-US">
                    <a:noFill/>
                  </a:rPr>
                  <a:t> </a:t>
                </a:r>
              </a:p>
            </p:txBody>
          </p:sp>
        </mc:Fallback>
      </mc:AlternateContent>
    </p:spTree>
    <p:extLst>
      <p:ext uri="{BB962C8B-B14F-4D97-AF65-F5344CB8AC3E}">
        <p14:creationId xmlns:p14="http://schemas.microsoft.com/office/powerpoint/2010/main" val="3804141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3D118-3DD3-448C-988A-E8B3C47E10D3}"/>
              </a:ext>
            </a:extLst>
          </p:cNvPr>
          <p:cNvSpPr>
            <a:spLocks noGrp="1"/>
          </p:cNvSpPr>
          <p:nvPr>
            <p:ph type="title"/>
          </p:nvPr>
        </p:nvSpPr>
        <p:spPr>
          <a:xfrm>
            <a:off x="321148" y="-198444"/>
            <a:ext cx="10515600" cy="1325563"/>
          </a:xfrm>
        </p:spPr>
        <p:txBody>
          <a:bodyPr/>
          <a:lstStyle/>
          <a:p>
            <a:r>
              <a:rPr lang="en-US" dirty="0"/>
              <a:t>NN Recap</a:t>
            </a:r>
          </a:p>
        </p:txBody>
      </p:sp>
      <p:sp>
        <p:nvSpPr>
          <p:cNvPr id="95" name="Text Placeholder 94">
            <a:extLst>
              <a:ext uri="{FF2B5EF4-FFF2-40B4-BE49-F238E27FC236}">
                <a16:creationId xmlns:a16="http://schemas.microsoft.com/office/drawing/2014/main" id="{1D289687-CB8C-422B-A57E-D16914B04230}"/>
              </a:ext>
            </a:extLst>
          </p:cNvPr>
          <p:cNvSpPr>
            <a:spLocks noGrp="1"/>
          </p:cNvSpPr>
          <p:nvPr>
            <p:ph sz="half" idx="1"/>
          </p:nvPr>
        </p:nvSpPr>
        <p:spPr>
          <a:xfrm>
            <a:off x="822957" y="831876"/>
            <a:ext cx="5181600" cy="4351338"/>
          </a:xfrm>
        </p:spPr>
        <p:txBody>
          <a:bodyPr/>
          <a:lstStyle/>
          <a:p>
            <a:r>
              <a:rPr lang="en-US" dirty="0"/>
              <a:t>Activation Functions</a:t>
            </a:r>
          </a:p>
          <a:p>
            <a:pPr marL="0" indent="0">
              <a:buNone/>
            </a:pPr>
            <a:endParaRPr lang="en-US" dirty="0"/>
          </a:p>
        </p:txBody>
      </p:sp>
      <p:sp>
        <p:nvSpPr>
          <p:cNvPr id="93" name="Text Placeholder 92">
            <a:extLst>
              <a:ext uri="{FF2B5EF4-FFF2-40B4-BE49-F238E27FC236}">
                <a16:creationId xmlns:a16="http://schemas.microsoft.com/office/drawing/2014/main" id="{38CD5705-F030-4C05-9591-5F2BE2537F22}"/>
              </a:ext>
            </a:extLst>
          </p:cNvPr>
          <p:cNvSpPr>
            <a:spLocks noGrp="1"/>
          </p:cNvSpPr>
          <p:nvPr>
            <p:ph sz="half" idx="2"/>
          </p:nvPr>
        </p:nvSpPr>
        <p:spPr>
          <a:xfrm>
            <a:off x="6187445" y="831876"/>
            <a:ext cx="5181600" cy="4351338"/>
          </a:xfrm>
        </p:spPr>
        <p:txBody>
          <a:bodyPr/>
          <a:lstStyle/>
          <a:p>
            <a:r>
              <a:rPr lang="en-US" dirty="0"/>
              <a:t>Loss functions</a:t>
            </a:r>
          </a:p>
        </p:txBody>
      </p:sp>
      <p:pic>
        <p:nvPicPr>
          <p:cNvPr id="3" name="Picture 2">
            <a:extLst>
              <a:ext uri="{FF2B5EF4-FFF2-40B4-BE49-F238E27FC236}">
                <a16:creationId xmlns:a16="http://schemas.microsoft.com/office/drawing/2014/main" id="{CD29D03B-16E8-4872-B04F-1FA76FBCF13E}"/>
              </a:ext>
            </a:extLst>
          </p:cNvPr>
          <p:cNvPicPr>
            <a:picLocks noChangeAspect="1"/>
          </p:cNvPicPr>
          <p:nvPr/>
        </p:nvPicPr>
        <p:blipFill>
          <a:blip r:embed="rId2"/>
          <a:stretch>
            <a:fillRect/>
          </a:stretch>
        </p:blipFill>
        <p:spPr>
          <a:xfrm>
            <a:off x="259685" y="1402829"/>
            <a:ext cx="1186415" cy="1097693"/>
          </a:xfrm>
          <a:prstGeom prst="rect">
            <a:avLst/>
          </a:prstGeom>
        </p:spPr>
      </p:pic>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59E9FF66-4358-4874-86B2-329F9684B2EA}"/>
                  </a:ext>
                </a:extLst>
              </p:cNvPr>
              <p:cNvSpPr txBox="1"/>
              <p:nvPr/>
            </p:nvSpPr>
            <p:spPr>
              <a:xfrm>
                <a:off x="1538621" y="1483532"/>
                <a:ext cx="4055020"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1+</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sup>
                          </m:sSup>
                        </m:den>
                      </m:f>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𝜑</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94" name="TextBox 93">
                <a:extLst>
                  <a:ext uri="{FF2B5EF4-FFF2-40B4-BE49-F238E27FC236}">
                    <a16:creationId xmlns:a16="http://schemas.microsoft.com/office/drawing/2014/main" id="{59E9FF66-4358-4874-86B2-329F9684B2EA}"/>
                  </a:ext>
                </a:extLst>
              </p:cNvPr>
              <p:cNvSpPr txBox="1">
                <a:spLocks noRot="1" noChangeAspect="1" noMove="1" noResize="1" noEditPoints="1" noAdjustHandles="1" noChangeArrowheads="1" noChangeShapeType="1" noTextEdit="1"/>
              </p:cNvSpPr>
              <p:nvPr/>
            </p:nvSpPr>
            <p:spPr>
              <a:xfrm>
                <a:off x="1538621" y="1483532"/>
                <a:ext cx="4055020" cy="52501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BBBA9675-C1F1-4DAC-91CB-5D9FDF8CDC6E}"/>
                  </a:ext>
                </a:extLst>
              </p:cNvPr>
              <p:cNvSpPr txBox="1"/>
              <p:nvPr/>
            </p:nvSpPr>
            <p:spPr>
              <a:xfrm>
                <a:off x="1592128" y="2674941"/>
                <a:ext cx="3703130" cy="5361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𝑧</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𝑧</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sup>
                          </m:sSup>
                        </m:den>
                      </m:f>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𝜑</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=1−</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97" name="TextBox 96">
                <a:extLst>
                  <a:ext uri="{FF2B5EF4-FFF2-40B4-BE49-F238E27FC236}">
                    <a16:creationId xmlns:a16="http://schemas.microsoft.com/office/drawing/2014/main" id="{BBBA9675-C1F1-4DAC-91CB-5D9FDF8CDC6E}"/>
                  </a:ext>
                </a:extLst>
              </p:cNvPr>
              <p:cNvSpPr txBox="1">
                <a:spLocks noRot="1" noChangeAspect="1" noMove="1" noResize="1" noEditPoints="1" noAdjustHandles="1" noChangeArrowheads="1" noChangeShapeType="1" noTextEdit="1"/>
              </p:cNvSpPr>
              <p:nvPr/>
            </p:nvSpPr>
            <p:spPr>
              <a:xfrm>
                <a:off x="1592128" y="2674941"/>
                <a:ext cx="3703130" cy="53610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B27E139E-7F78-4977-906D-35E63225BB5C}"/>
                  </a:ext>
                </a:extLst>
              </p:cNvPr>
              <p:cNvSpPr txBox="1"/>
              <p:nvPr/>
            </p:nvSpPr>
            <p:spPr>
              <a:xfrm>
                <a:off x="1538621" y="3817873"/>
                <a:ext cx="4061945"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max</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𝑧</m:t>
                              </m:r>
                            </m:e>
                          </m:d>
                        </m:e>
                      </m:func>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𝜑</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&lt;0</m:t>
                              </m:r>
                            </m:e>
                            <m:e>
                              <m:r>
                                <a:rPr lang="en-US" b="0" i="1" smtClean="0">
                                  <a:latin typeface="Cambria Math" panose="02040503050406030204" pitchFamily="18" charset="0"/>
                                  <a:ea typeface="Cambria Math" panose="02040503050406030204" pitchFamily="18" charset="0"/>
                                </a:rPr>
                                <m:t>&amp;1,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≥0</m:t>
                              </m:r>
                            </m:e>
                          </m:eqArr>
                        </m:e>
                      </m:d>
                    </m:oMath>
                  </m:oMathPara>
                </a14:m>
                <a:endParaRPr lang="en-US" dirty="0"/>
              </a:p>
            </p:txBody>
          </p:sp>
        </mc:Choice>
        <mc:Fallback xmlns="">
          <p:sp>
            <p:nvSpPr>
              <p:cNvPr id="98" name="TextBox 97">
                <a:extLst>
                  <a:ext uri="{FF2B5EF4-FFF2-40B4-BE49-F238E27FC236}">
                    <a16:creationId xmlns:a16="http://schemas.microsoft.com/office/drawing/2014/main" id="{B27E139E-7F78-4977-906D-35E63225BB5C}"/>
                  </a:ext>
                </a:extLst>
              </p:cNvPr>
              <p:cNvSpPr txBox="1">
                <a:spLocks noRot="1" noChangeAspect="1" noMove="1" noResize="1" noEditPoints="1" noAdjustHandles="1" noChangeArrowheads="1" noChangeShapeType="1" noTextEdit="1"/>
              </p:cNvSpPr>
              <p:nvPr/>
            </p:nvSpPr>
            <p:spPr>
              <a:xfrm>
                <a:off x="1538621" y="3817873"/>
                <a:ext cx="4061945" cy="61786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EDB59808-DEBF-41F6-BF36-E01236E5A964}"/>
                  </a:ext>
                </a:extLst>
              </p:cNvPr>
              <p:cNvSpPr txBox="1"/>
              <p:nvPr/>
            </p:nvSpPr>
            <p:spPr>
              <a:xfrm>
                <a:off x="1538621" y="5107376"/>
                <a:ext cx="4171335"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max</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e>
                          </m:d>
                        </m:e>
                      </m:func>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𝜑</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r>
                                <a:rPr lang="en-US" i="1">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&lt;0</m:t>
                              </m:r>
                            </m:e>
                            <m:e>
                              <m:r>
                                <a:rPr lang="en-US" b="0" i="1" smtClean="0">
                                  <a:latin typeface="Cambria Math" panose="02040503050406030204" pitchFamily="18" charset="0"/>
                                  <a:ea typeface="Cambria Math" panose="02040503050406030204" pitchFamily="18" charset="0"/>
                                </a:rPr>
                                <m:t>&amp;1,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≥0</m:t>
                              </m:r>
                            </m:e>
                          </m:eqArr>
                        </m:e>
                      </m:d>
                    </m:oMath>
                  </m:oMathPara>
                </a14:m>
                <a:endParaRPr lang="en-US" dirty="0"/>
              </a:p>
            </p:txBody>
          </p:sp>
        </mc:Choice>
        <mc:Fallback xmlns="">
          <p:sp>
            <p:nvSpPr>
              <p:cNvPr id="100" name="TextBox 99">
                <a:extLst>
                  <a:ext uri="{FF2B5EF4-FFF2-40B4-BE49-F238E27FC236}">
                    <a16:creationId xmlns:a16="http://schemas.microsoft.com/office/drawing/2014/main" id="{EDB59808-DEBF-41F6-BF36-E01236E5A964}"/>
                  </a:ext>
                </a:extLst>
              </p:cNvPr>
              <p:cNvSpPr txBox="1">
                <a:spLocks noRot="1" noChangeAspect="1" noMove="1" noResize="1" noEditPoints="1" noAdjustHandles="1" noChangeArrowheads="1" noChangeShapeType="1" noTextEdit="1"/>
              </p:cNvSpPr>
              <p:nvPr/>
            </p:nvSpPr>
            <p:spPr>
              <a:xfrm>
                <a:off x="1538621" y="5107376"/>
                <a:ext cx="4171335" cy="617861"/>
              </a:xfrm>
              <a:prstGeom prst="rect">
                <a:avLst/>
              </a:prstGeom>
              <a:blipFill>
                <a:blip r:embed="rId6"/>
                <a:stretch>
                  <a:fillRect b="-9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ECD325C0-8FA5-405A-9521-4706FA45AE44}"/>
                  </a:ext>
                </a:extLst>
              </p:cNvPr>
              <p:cNvSpPr txBox="1"/>
              <p:nvPr/>
            </p:nvSpPr>
            <p:spPr>
              <a:xfrm>
                <a:off x="3101971" y="5957509"/>
                <a:ext cx="5437129"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−&amp;</m:t>
                              </m:r>
                              <m:r>
                                <a:rPr lang="en-US" b="0" i="1" smtClean="0">
                                  <a:latin typeface="Cambria Math" panose="02040503050406030204" pitchFamily="18" charset="0"/>
                                  <a:ea typeface="Cambria Math" panose="02040503050406030204" pitchFamily="18" charset="0"/>
                                </a:rPr>
                                <m:t>𝛼</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𝑧</m:t>
                                  </m:r>
                                </m:sup>
                              </m:sSup>
                              <m:r>
                                <a:rPr lang="en-US" b="0" i="1" smtClean="0">
                                  <a:latin typeface="Cambria Math" panose="02040503050406030204" pitchFamily="18" charset="0"/>
                                  <a:ea typeface="Cambria Math" panose="02040503050406030204" pitchFamily="18" charset="0"/>
                                </a:rPr>
                                <m:t>−1)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&lt;0</m:t>
                              </m:r>
                            </m:e>
                            <m:e>
                              <m:r>
                                <a:rPr lang="en-US" b="0" i="1" smtClean="0">
                                  <a:latin typeface="Cambria Math" panose="02040503050406030204" pitchFamily="18" charset="0"/>
                                  <a:ea typeface="Cambria Math" panose="02040503050406030204" pitchFamily="18" charset="0"/>
                                </a:rPr>
                                <m:t>&amp;</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≥0</m:t>
                              </m:r>
                            </m:e>
                          </m:eqArr>
                        </m:e>
                      </m:d>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𝜑</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r>
                                <a:rPr lang="en-US" i="1">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&lt;0</m:t>
                              </m:r>
                            </m:e>
                            <m:e>
                              <m:r>
                                <a:rPr lang="en-US" b="0" i="1" smtClean="0">
                                  <a:latin typeface="Cambria Math" panose="02040503050406030204" pitchFamily="18" charset="0"/>
                                  <a:ea typeface="Cambria Math" panose="02040503050406030204" pitchFamily="18" charset="0"/>
                                </a:rPr>
                                <m:t>&amp;1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≥0</m:t>
                              </m:r>
                            </m:e>
                          </m:eqArr>
                        </m:e>
                      </m:d>
                    </m:oMath>
                  </m:oMathPara>
                </a14:m>
                <a:endParaRPr lang="en-US" dirty="0"/>
              </a:p>
            </p:txBody>
          </p:sp>
        </mc:Choice>
        <mc:Fallback xmlns="">
          <p:sp>
            <p:nvSpPr>
              <p:cNvPr id="102" name="TextBox 101">
                <a:extLst>
                  <a:ext uri="{FF2B5EF4-FFF2-40B4-BE49-F238E27FC236}">
                    <a16:creationId xmlns:a16="http://schemas.microsoft.com/office/drawing/2014/main" id="{ECD325C0-8FA5-405A-9521-4706FA45AE44}"/>
                  </a:ext>
                </a:extLst>
              </p:cNvPr>
              <p:cNvSpPr txBox="1">
                <a:spLocks noRot="1" noChangeAspect="1" noMove="1" noResize="1" noEditPoints="1" noAdjustHandles="1" noChangeArrowheads="1" noChangeShapeType="1" noTextEdit="1"/>
              </p:cNvSpPr>
              <p:nvPr/>
            </p:nvSpPr>
            <p:spPr>
              <a:xfrm>
                <a:off x="3101971" y="5957509"/>
                <a:ext cx="5437129" cy="617861"/>
              </a:xfrm>
              <a:prstGeom prst="rect">
                <a:avLst/>
              </a:prstGeom>
              <a:blipFill>
                <a:blip r:embed="rId7"/>
                <a:stretch>
                  <a:fillRect/>
                </a:stretch>
              </a:blipFill>
            </p:spPr>
            <p:txBody>
              <a:bodyPr/>
              <a:lstStyle/>
              <a:p>
                <a:r>
                  <a:rPr lang="en-US">
                    <a:noFill/>
                  </a:rPr>
                  <a:t> </a:t>
                </a:r>
              </a:p>
            </p:txBody>
          </p:sp>
        </mc:Fallback>
      </mc:AlternateContent>
      <p:pic>
        <p:nvPicPr>
          <p:cNvPr id="103" name="Picture 102">
            <a:extLst>
              <a:ext uri="{FF2B5EF4-FFF2-40B4-BE49-F238E27FC236}">
                <a16:creationId xmlns:a16="http://schemas.microsoft.com/office/drawing/2014/main" id="{EE2F2A93-FB7D-472D-BDE2-C3296D95CCFB}"/>
              </a:ext>
            </a:extLst>
          </p:cNvPr>
          <p:cNvPicPr>
            <a:picLocks noChangeAspect="1"/>
          </p:cNvPicPr>
          <p:nvPr/>
        </p:nvPicPr>
        <p:blipFill>
          <a:blip r:embed="rId8"/>
          <a:stretch>
            <a:fillRect/>
          </a:stretch>
        </p:blipFill>
        <p:spPr>
          <a:xfrm>
            <a:off x="299362" y="2571023"/>
            <a:ext cx="1146738" cy="1030378"/>
          </a:xfrm>
          <a:prstGeom prst="rect">
            <a:avLst/>
          </a:prstGeom>
        </p:spPr>
      </p:pic>
      <p:pic>
        <p:nvPicPr>
          <p:cNvPr id="104" name="Picture 103">
            <a:extLst>
              <a:ext uri="{FF2B5EF4-FFF2-40B4-BE49-F238E27FC236}">
                <a16:creationId xmlns:a16="http://schemas.microsoft.com/office/drawing/2014/main" id="{B96C037F-E994-42C2-8C3E-C817F26CAEA3}"/>
              </a:ext>
            </a:extLst>
          </p:cNvPr>
          <p:cNvPicPr>
            <a:picLocks noChangeAspect="1"/>
          </p:cNvPicPr>
          <p:nvPr/>
        </p:nvPicPr>
        <p:blipFill>
          <a:blip r:embed="rId9"/>
          <a:stretch>
            <a:fillRect/>
          </a:stretch>
        </p:blipFill>
        <p:spPr>
          <a:xfrm>
            <a:off x="259685" y="3671902"/>
            <a:ext cx="1238001" cy="1320071"/>
          </a:xfrm>
          <a:prstGeom prst="rect">
            <a:avLst/>
          </a:prstGeom>
        </p:spPr>
      </p:pic>
      <p:pic>
        <p:nvPicPr>
          <p:cNvPr id="105" name="Picture 104">
            <a:extLst>
              <a:ext uri="{FF2B5EF4-FFF2-40B4-BE49-F238E27FC236}">
                <a16:creationId xmlns:a16="http://schemas.microsoft.com/office/drawing/2014/main" id="{B84E18EB-7B89-4537-82BB-387AB4E14D16}"/>
              </a:ext>
            </a:extLst>
          </p:cNvPr>
          <p:cNvPicPr>
            <a:picLocks noChangeAspect="1"/>
          </p:cNvPicPr>
          <p:nvPr/>
        </p:nvPicPr>
        <p:blipFill>
          <a:blip r:embed="rId10"/>
          <a:stretch>
            <a:fillRect/>
          </a:stretch>
        </p:blipFill>
        <p:spPr>
          <a:xfrm>
            <a:off x="354437" y="4967584"/>
            <a:ext cx="1036588" cy="1298856"/>
          </a:xfrm>
          <a:prstGeom prst="rect">
            <a:avLst/>
          </a:prstGeom>
        </p:spPr>
      </p:pic>
      <p:pic>
        <p:nvPicPr>
          <p:cNvPr id="106" name="Picture 105">
            <a:extLst>
              <a:ext uri="{FF2B5EF4-FFF2-40B4-BE49-F238E27FC236}">
                <a16:creationId xmlns:a16="http://schemas.microsoft.com/office/drawing/2014/main" id="{0D5772BB-738F-489F-AEB6-97BA41406F85}"/>
              </a:ext>
            </a:extLst>
          </p:cNvPr>
          <p:cNvPicPr>
            <a:picLocks noChangeAspect="1"/>
          </p:cNvPicPr>
          <p:nvPr/>
        </p:nvPicPr>
        <p:blipFill>
          <a:blip r:embed="rId11"/>
          <a:stretch>
            <a:fillRect/>
          </a:stretch>
        </p:blipFill>
        <p:spPr>
          <a:xfrm>
            <a:off x="2065383" y="5673251"/>
            <a:ext cx="1036588" cy="1143615"/>
          </a:xfrm>
          <a:prstGeom prst="rect">
            <a:avLst/>
          </a:prstGeom>
        </p:spPr>
      </p:pic>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4DF8398D-7989-40CA-A0EE-9536D2EEBAF9}"/>
                  </a:ext>
                </a:extLst>
              </p:cNvPr>
              <p:cNvSpPr txBox="1"/>
              <p:nvPr/>
            </p:nvSpPr>
            <p:spPr>
              <a:xfrm>
                <a:off x="6320213" y="1965616"/>
                <a:ext cx="3289234"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ea typeface="Cambria Math" panose="02040503050406030204" pitchFamily="18" charset="0"/>
                        </a:rPr>
                        <m:t>square</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loss</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ℓ</m:t>
                      </m:r>
                      <m:d>
                        <m:dPr>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e>
                        <m:sup>
                          <m:r>
                            <a:rPr lang="en-US" b="0" i="1" smtClean="0">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107" name="TextBox 106">
                <a:extLst>
                  <a:ext uri="{FF2B5EF4-FFF2-40B4-BE49-F238E27FC236}">
                    <a16:creationId xmlns:a16="http://schemas.microsoft.com/office/drawing/2014/main" id="{4DF8398D-7989-40CA-A0EE-9536D2EEBAF9}"/>
                  </a:ext>
                </a:extLst>
              </p:cNvPr>
              <p:cNvSpPr txBox="1">
                <a:spLocks noRot="1" noChangeAspect="1" noMove="1" noResize="1" noEditPoints="1" noAdjustHandles="1" noChangeArrowheads="1" noChangeShapeType="1" noTextEdit="1"/>
              </p:cNvSpPr>
              <p:nvPr/>
            </p:nvSpPr>
            <p:spPr>
              <a:xfrm>
                <a:off x="6320213" y="1965616"/>
                <a:ext cx="3289234" cy="51860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E4BA8F33-6217-453C-BA47-0379DF0158AC}"/>
                  </a:ext>
                </a:extLst>
              </p:cNvPr>
              <p:cNvSpPr txBox="1"/>
              <p:nvPr/>
            </p:nvSpPr>
            <p:spPr>
              <a:xfrm>
                <a:off x="6014533" y="3085528"/>
                <a:ext cx="6219267" cy="276999"/>
              </a:xfrm>
              <a:prstGeom prst="rect">
                <a:avLst/>
              </a:prstGeom>
              <a:noFill/>
            </p:spPr>
            <p:txBody>
              <a:bodyPr wrap="none" lIns="0" tIns="0" rIns="0" bIns="0" rtlCol="0">
                <a:spAutoFit/>
              </a:bodyPr>
              <a:lstStyle/>
              <a:p>
                <a:r>
                  <a:rPr lang="en-US" dirty="0"/>
                  <a:t>log (cross entropy) loss:</a:t>
                </a:r>
                <a14:m>
                  <m:oMath xmlns:m="http://schemas.openxmlformats.org/officeDocument/2006/math">
                    <m:r>
                      <a:rPr lang="en-US" b="0" i="1" smtClean="0">
                        <a:latin typeface="Cambria Math" panose="02040503050406030204" pitchFamily="18" charset="0"/>
                        <a:ea typeface="Cambria Math" panose="02040503050406030204" pitchFamily="18" charset="0"/>
                      </a:rPr>
                      <m:t>ℓ</m:t>
                    </m:r>
                    <m:d>
                      <m:dPr>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𝑦</m:t>
                            </m:r>
                          </m:e>
                        </m:d>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i="1">
                                <a:latin typeface="Cambria Math" panose="02040503050406030204" pitchFamily="18" charset="0"/>
                                <a:ea typeface="Cambria Math" panose="02040503050406030204" pitchFamily="18" charset="0"/>
                              </a:rPr>
                              <m:t>(1−</m:t>
                            </m:r>
                            <m:acc>
                              <m:accPr>
                                <m:chr m:val="̂"/>
                                <m:ctrlPr>
                                  <a:rPr lang="en-US" i="1">
                                    <a:latin typeface="Cambria Math" panose="02040503050406030204" pitchFamily="18" charset="0"/>
                                  </a:rPr>
                                </m:ctrlPr>
                              </m:accPr>
                              <m:e>
                                <m:r>
                                  <a:rPr lang="en-US" i="1">
                                    <a:latin typeface="Cambria Math" panose="02040503050406030204" pitchFamily="18" charset="0"/>
                                  </a:rPr>
                                  <m:t>𝑦</m:t>
                                </m:r>
                              </m:e>
                            </m:acc>
                          </m:e>
                        </m:func>
                        <m:r>
                          <a:rPr lang="en-US" b="0" i="1" smtClean="0">
                            <a:latin typeface="Cambria Math" panose="02040503050406030204" pitchFamily="18" charset="0"/>
                            <a:ea typeface="Cambria Math" panose="02040503050406030204" pitchFamily="18" charset="0"/>
                          </a:rPr>
                          <m:t>)</m:t>
                        </m:r>
                      </m:e>
                    </m:func>
                  </m:oMath>
                </a14:m>
                <a:endParaRPr lang="en-US" dirty="0"/>
              </a:p>
            </p:txBody>
          </p:sp>
        </mc:Choice>
        <mc:Fallback xmlns="">
          <p:sp>
            <p:nvSpPr>
              <p:cNvPr id="111" name="TextBox 110">
                <a:extLst>
                  <a:ext uri="{FF2B5EF4-FFF2-40B4-BE49-F238E27FC236}">
                    <a16:creationId xmlns:a16="http://schemas.microsoft.com/office/drawing/2014/main" id="{E4BA8F33-6217-453C-BA47-0379DF0158AC}"/>
                  </a:ext>
                </a:extLst>
              </p:cNvPr>
              <p:cNvSpPr txBox="1">
                <a:spLocks noRot="1" noChangeAspect="1" noMove="1" noResize="1" noEditPoints="1" noAdjustHandles="1" noChangeArrowheads="1" noChangeShapeType="1" noTextEdit="1"/>
              </p:cNvSpPr>
              <p:nvPr/>
            </p:nvSpPr>
            <p:spPr>
              <a:xfrm>
                <a:off x="6014533" y="3085528"/>
                <a:ext cx="6219267" cy="276999"/>
              </a:xfrm>
              <a:prstGeom prst="rect">
                <a:avLst/>
              </a:prstGeom>
              <a:blipFill>
                <a:blip r:embed="rId13"/>
                <a:stretch>
                  <a:fillRect l="-2353" t="-28261" r="-3725"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D842B2B8-83F9-4454-ABDA-556CEBE27AFB}"/>
                  </a:ext>
                </a:extLst>
              </p:cNvPr>
              <p:cNvSpPr txBox="1"/>
              <p:nvPr/>
            </p:nvSpPr>
            <p:spPr>
              <a:xfrm>
                <a:off x="6316369" y="1264329"/>
                <a:ext cx="373493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 </m:t>
                      </m:r>
                      <m:r>
                        <m:rPr>
                          <m:nor/>
                        </m:rPr>
                        <a:rPr lang="en-US" b="0" i="0" smtClean="0">
                          <a:latin typeface="Cambria Math" panose="02040503050406030204" pitchFamily="18" charset="0"/>
                        </a:rPr>
                        <m:t>expected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value</m:t>
                      </m:r>
                      <m:r>
                        <m:rPr>
                          <m:nor/>
                        </m:rPr>
                        <a:rPr lang="en-US" b="0" i="0"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r>
                        <a:rPr lang="en-US" b="0" i="1" smtClean="0">
                          <a:latin typeface="Cambria Math" panose="02040503050406030204" pitchFamily="18" charset="0"/>
                        </a:rPr>
                        <m:t>: </m:t>
                      </m:r>
                      <m:r>
                        <m:rPr>
                          <m:nor/>
                        </m:rPr>
                        <a:rPr lang="en-US" b="0" i="0" smtClean="0">
                          <a:latin typeface="Cambria Math" panose="02040503050406030204" pitchFamily="18" charset="0"/>
                        </a:rPr>
                        <m:t>predicted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value</m:t>
                      </m:r>
                    </m:oMath>
                  </m:oMathPara>
                </a14:m>
                <a:endParaRPr lang="en-US" dirty="0"/>
              </a:p>
            </p:txBody>
          </p:sp>
        </mc:Choice>
        <mc:Fallback xmlns="">
          <p:sp>
            <p:nvSpPr>
              <p:cNvPr id="112" name="TextBox 111">
                <a:extLst>
                  <a:ext uri="{FF2B5EF4-FFF2-40B4-BE49-F238E27FC236}">
                    <a16:creationId xmlns:a16="http://schemas.microsoft.com/office/drawing/2014/main" id="{D842B2B8-83F9-4454-ABDA-556CEBE27AFB}"/>
                  </a:ext>
                </a:extLst>
              </p:cNvPr>
              <p:cNvSpPr txBox="1">
                <a:spLocks noRot="1" noChangeAspect="1" noMove="1" noResize="1" noEditPoints="1" noAdjustHandles="1" noChangeArrowheads="1" noChangeShapeType="1" noTextEdit="1"/>
              </p:cNvSpPr>
              <p:nvPr/>
            </p:nvSpPr>
            <p:spPr>
              <a:xfrm>
                <a:off x="6316369" y="1264329"/>
                <a:ext cx="3734933" cy="276999"/>
              </a:xfrm>
              <a:prstGeom prst="rect">
                <a:avLst/>
              </a:prstGeom>
              <a:blipFill>
                <a:blip r:embed="rId14"/>
                <a:stretch>
                  <a:fillRect l="-1142" t="-23913" r="-1142"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5D450B88-3F93-4DAD-93B9-E3BA974E9787}"/>
                  </a:ext>
                </a:extLst>
              </p:cNvPr>
              <p:cNvSpPr txBox="1"/>
              <p:nvPr/>
            </p:nvSpPr>
            <p:spPr>
              <a:xfrm>
                <a:off x="6316369" y="4357324"/>
                <a:ext cx="338714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b="0" i="0" smtClean="0">
                          <a:latin typeface="Cambria Math" panose="02040503050406030204" pitchFamily="18" charset="0"/>
                        </a:rPr>
                        <m:t>logistic</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loss</m:t>
                      </m:r>
                      <m:r>
                        <m:rPr>
                          <m:nor/>
                        </m:rPr>
                        <a:rPr lang="en-US" b="0" i="0"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(1+</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𝑦𝑧</m:t>
                              </m:r>
                            </m:sup>
                          </m:sSup>
                          <m:r>
                            <a:rPr lang="en-US" b="0" i="1" smtClean="0">
                              <a:latin typeface="Cambria Math" panose="02040503050406030204" pitchFamily="18" charset="0"/>
                              <a:ea typeface="Cambria Math" panose="02040503050406030204" pitchFamily="18" charset="0"/>
                            </a:rPr>
                            <m:t>)</m:t>
                          </m:r>
                        </m:e>
                      </m:func>
                    </m:oMath>
                  </m:oMathPara>
                </a14:m>
                <a:endParaRPr lang="en-US" dirty="0"/>
              </a:p>
            </p:txBody>
          </p:sp>
        </mc:Choice>
        <mc:Fallback xmlns="">
          <p:sp>
            <p:nvSpPr>
              <p:cNvPr id="113" name="TextBox 112">
                <a:extLst>
                  <a:ext uri="{FF2B5EF4-FFF2-40B4-BE49-F238E27FC236}">
                    <a16:creationId xmlns:a16="http://schemas.microsoft.com/office/drawing/2014/main" id="{5D450B88-3F93-4DAD-93B9-E3BA974E9787}"/>
                  </a:ext>
                </a:extLst>
              </p:cNvPr>
              <p:cNvSpPr txBox="1">
                <a:spLocks noRot="1" noChangeAspect="1" noMove="1" noResize="1" noEditPoints="1" noAdjustHandles="1" noChangeArrowheads="1" noChangeShapeType="1" noTextEdit="1"/>
              </p:cNvSpPr>
              <p:nvPr/>
            </p:nvSpPr>
            <p:spPr>
              <a:xfrm>
                <a:off x="6316369" y="4357324"/>
                <a:ext cx="3387146" cy="276999"/>
              </a:xfrm>
              <a:prstGeom prst="rect">
                <a:avLst/>
              </a:prstGeom>
              <a:blipFill>
                <a:blip r:embed="rId15"/>
                <a:stretch>
                  <a:fillRect l="-1978" t="-2222" r="-2158"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296174BA-8ADA-4135-A684-BE5AF16D78CD}"/>
                  </a:ext>
                </a:extLst>
              </p:cNvPr>
              <p:cNvSpPr txBox="1"/>
              <p:nvPr/>
            </p:nvSpPr>
            <p:spPr>
              <a:xfrm>
                <a:off x="6316369" y="4744199"/>
                <a:ext cx="33101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b="0" i="0" smtClean="0">
                          <a:latin typeface="Cambria Math" panose="02040503050406030204" pitchFamily="18" charset="0"/>
                        </a:rPr>
                        <m:t>hinge</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loss</m:t>
                      </m:r>
                      <m:r>
                        <m:rPr>
                          <m:nor/>
                        </m:rPr>
                        <a:rPr lang="en-US" b="0" i="0"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max</m:t>
                          </m:r>
                        </m:fName>
                        <m:e>
                          <m:r>
                            <a:rPr lang="en-US" b="0" i="1" smtClean="0">
                              <a:latin typeface="Cambria Math" panose="02040503050406030204" pitchFamily="18" charset="0"/>
                              <a:ea typeface="Cambria Math" panose="02040503050406030204" pitchFamily="18" charset="0"/>
                            </a:rPr>
                            <m:t>(0,1−</m:t>
                          </m:r>
                          <m:r>
                            <a:rPr lang="en-US" b="0" i="1" smtClean="0">
                              <a:latin typeface="Cambria Math" panose="02040503050406030204" pitchFamily="18" charset="0"/>
                              <a:ea typeface="Cambria Math" panose="02040503050406030204" pitchFamily="18" charset="0"/>
                            </a:rPr>
                            <m:t>𝑦𝑧</m:t>
                          </m:r>
                          <m:r>
                            <a:rPr lang="en-US" b="0" i="1" smtClean="0">
                              <a:latin typeface="Cambria Math" panose="02040503050406030204" pitchFamily="18" charset="0"/>
                              <a:ea typeface="Cambria Math" panose="02040503050406030204" pitchFamily="18" charset="0"/>
                            </a:rPr>
                            <m:t>)</m:t>
                          </m:r>
                        </m:e>
                      </m:func>
                    </m:oMath>
                  </m:oMathPara>
                </a14:m>
                <a:endParaRPr lang="en-US" dirty="0"/>
              </a:p>
            </p:txBody>
          </p:sp>
        </mc:Choice>
        <mc:Fallback xmlns="">
          <p:sp>
            <p:nvSpPr>
              <p:cNvPr id="114" name="TextBox 113">
                <a:extLst>
                  <a:ext uri="{FF2B5EF4-FFF2-40B4-BE49-F238E27FC236}">
                    <a16:creationId xmlns:a16="http://schemas.microsoft.com/office/drawing/2014/main" id="{296174BA-8ADA-4135-A684-BE5AF16D78CD}"/>
                  </a:ext>
                </a:extLst>
              </p:cNvPr>
              <p:cNvSpPr txBox="1">
                <a:spLocks noRot="1" noChangeAspect="1" noMove="1" noResize="1" noEditPoints="1" noAdjustHandles="1" noChangeArrowheads="1" noChangeShapeType="1" noTextEdit="1"/>
              </p:cNvSpPr>
              <p:nvPr/>
            </p:nvSpPr>
            <p:spPr>
              <a:xfrm>
                <a:off x="6316369" y="4744199"/>
                <a:ext cx="3310137" cy="276999"/>
              </a:xfrm>
              <a:prstGeom prst="rect">
                <a:avLst/>
              </a:prstGeom>
              <a:blipFill>
                <a:blip r:embed="rId16"/>
                <a:stretch>
                  <a:fillRect l="-2026" t="-2174" r="-2026"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E44F0400-09E7-4125-8DE6-C99F1B33A3F3}"/>
                  </a:ext>
                </a:extLst>
              </p:cNvPr>
              <p:cNvSpPr txBox="1"/>
              <p:nvPr/>
            </p:nvSpPr>
            <p:spPr>
              <a:xfrm>
                <a:off x="9764240" y="2086418"/>
                <a:ext cx="13768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ℓ</m:t>
                          </m:r>
                        </m:e>
                        <m:sup>
                          <m:r>
                            <a:rPr lang="en-US" b="0" i="1" smtClean="0">
                              <a:solidFill>
                                <a:srgbClr val="FF0000"/>
                              </a:solidFill>
                              <a:latin typeface="Cambria Math" panose="02040503050406030204" pitchFamily="18" charset="0"/>
                              <a:ea typeface="Cambria Math" panose="02040503050406030204" pitchFamily="18" charset="0"/>
                            </a:rPr>
                            <m:t>′</m:t>
                          </m:r>
                        </m:sup>
                      </m:sSup>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𝑧</m:t>
                          </m:r>
                        </m:e>
                      </m:d>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𝑧</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𝑦</m:t>
                      </m:r>
                    </m:oMath>
                  </m:oMathPara>
                </a14:m>
                <a:endParaRPr lang="en-US" dirty="0"/>
              </a:p>
            </p:txBody>
          </p:sp>
        </mc:Choice>
        <mc:Fallback xmlns="">
          <p:sp>
            <p:nvSpPr>
              <p:cNvPr id="115" name="TextBox 114">
                <a:extLst>
                  <a:ext uri="{FF2B5EF4-FFF2-40B4-BE49-F238E27FC236}">
                    <a16:creationId xmlns:a16="http://schemas.microsoft.com/office/drawing/2014/main" id="{E44F0400-09E7-4125-8DE6-C99F1B33A3F3}"/>
                  </a:ext>
                </a:extLst>
              </p:cNvPr>
              <p:cNvSpPr txBox="1">
                <a:spLocks noRot="1" noChangeAspect="1" noMove="1" noResize="1" noEditPoints="1" noAdjustHandles="1" noChangeArrowheads="1" noChangeShapeType="1" noTextEdit="1"/>
              </p:cNvSpPr>
              <p:nvPr/>
            </p:nvSpPr>
            <p:spPr>
              <a:xfrm>
                <a:off x="9764240" y="2086418"/>
                <a:ext cx="1376852" cy="276999"/>
              </a:xfrm>
              <a:prstGeom prst="rect">
                <a:avLst/>
              </a:prstGeom>
              <a:blipFill>
                <a:blip r:embed="rId17"/>
                <a:stretch>
                  <a:fillRect l="-3982" r="-3540"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A5D6AFA8-EF7A-418B-868C-49CABC61DA2E}"/>
                  </a:ext>
                </a:extLst>
              </p:cNvPr>
              <p:cNvSpPr txBox="1"/>
              <p:nvPr/>
            </p:nvSpPr>
            <p:spPr>
              <a:xfrm>
                <a:off x="8411547" y="3346076"/>
                <a:ext cx="1679819" cy="523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ℓ</m:t>
                          </m:r>
                        </m:e>
                        <m:sup>
                          <m:r>
                            <a:rPr lang="en-US" b="0" i="1" smtClean="0">
                              <a:solidFill>
                                <a:srgbClr val="FF0000"/>
                              </a:solidFill>
                              <a:latin typeface="Cambria Math" panose="02040503050406030204" pitchFamily="18" charset="0"/>
                              <a:ea typeface="Cambria Math" panose="02040503050406030204" pitchFamily="18" charset="0"/>
                            </a:rPr>
                            <m:t>′</m:t>
                          </m:r>
                        </m:sup>
                      </m:sSup>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𝑧</m:t>
                          </m:r>
                        </m:e>
                      </m:d>
                      <m:r>
                        <a:rPr lang="en-US" b="0" i="1" smtClean="0">
                          <a:solidFill>
                            <a:srgbClr val="FF0000"/>
                          </a:solidFill>
                          <a:latin typeface="Cambria Math" panose="02040503050406030204" pitchFamily="18" charset="0"/>
                          <a:ea typeface="Cambria Math" panose="02040503050406030204" pitchFamily="18" charset="0"/>
                        </a:rPr>
                        <m:t>=</m:t>
                      </m:r>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𝑧</m:t>
                          </m:r>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𝑦</m:t>
                          </m:r>
                        </m:num>
                        <m:den>
                          <m:r>
                            <a:rPr lang="en-US" b="0" i="1" smtClean="0">
                              <a:solidFill>
                                <a:srgbClr val="FF0000"/>
                              </a:solidFill>
                              <a:latin typeface="Cambria Math" panose="02040503050406030204" pitchFamily="18" charset="0"/>
                              <a:ea typeface="Cambria Math" panose="02040503050406030204" pitchFamily="18" charset="0"/>
                            </a:rPr>
                            <m:t>𝑧</m:t>
                          </m:r>
                          <m:r>
                            <a:rPr lang="en-US" b="0" i="1" smtClean="0">
                              <a:solidFill>
                                <a:srgbClr val="FF0000"/>
                              </a:solidFill>
                              <a:latin typeface="Cambria Math" panose="02040503050406030204" pitchFamily="18" charset="0"/>
                              <a:ea typeface="Cambria Math" panose="02040503050406030204" pitchFamily="18" charset="0"/>
                            </a:rPr>
                            <m:t>(1−</m:t>
                          </m:r>
                          <m:r>
                            <a:rPr lang="en-US" b="0" i="1" smtClean="0">
                              <a:solidFill>
                                <a:srgbClr val="FF0000"/>
                              </a:solidFill>
                              <a:latin typeface="Cambria Math" panose="02040503050406030204" pitchFamily="18" charset="0"/>
                              <a:ea typeface="Cambria Math" panose="02040503050406030204" pitchFamily="18" charset="0"/>
                            </a:rPr>
                            <m:t>𝑧</m:t>
                          </m:r>
                          <m:r>
                            <a:rPr lang="en-US" b="0" i="1" smtClean="0">
                              <a:solidFill>
                                <a:srgbClr val="FF0000"/>
                              </a:solidFill>
                              <a:latin typeface="Cambria Math" panose="02040503050406030204" pitchFamily="18" charset="0"/>
                              <a:ea typeface="Cambria Math" panose="02040503050406030204" pitchFamily="18" charset="0"/>
                            </a:rPr>
                            <m:t>)</m:t>
                          </m:r>
                        </m:den>
                      </m:f>
                    </m:oMath>
                  </m:oMathPara>
                </a14:m>
                <a:endParaRPr lang="en-US" dirty="0"/>
              </a:p>
            </p:txBody>
          </p:sp>
        </mc:Choice>
        <mc:Fallback xmlns="">
          <p:sp>
            <p:nvSpPr>
              <p:cNvPr id="117" name="TextBox 116">
                <a:extLst>
                  <a:ext uri="{FF2B5EF4-FFF2-40B4-BE49-F238E27FC236}">
                    <a16:creationId xmlns:a16="http://schemas.microsoft.com/office/drawing/2014/main" id="{A5D6AFA8-EF7A-418B-868C-49CABC61DA2E}"/>
                  </a:ext>
                </a:extLst>
              </p:cNvPr>
              <p:cNvSpPr txBox="1">
                <a:spLocks noRot="1" noChangeAspect="1" noMove="1" noResize="1" noEditPoints="1" noAdjustHandles="1" noChangeArrowheads="1" noChangeShapeType="1" noTextEdit="1"/>
              </p:cNvSpPr>
              <p:nvPr/>
            </p:nvSpPr>
            <p:spPr>
              <a:xfrm>
                <a:off x="8411547" y="3346076"/>
                <a:ext cx="1679819" cy="523477"/>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FD111B1F-CBFE-4327-A273-9ACDC49F9DA9}"/>
                  </a:ext>
                </a:extLst>
              </p:cNvPr>
              <p:cNvSpPr txBox="1"/>
              <p:nvPr/>
            </p:nvSpPr>
            <p:spPr>
              <a:xfrm>
                <a:off x="9832439" y="4202766"/>
                <a:ext cx="1925142" cy="5378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ℓ</m:t>
                          </m:r>
                        </m:e>
                        <m:sup>
                          <m:r>
                            <a:rPr lang="en-US" b="0" i="1" smtClean="0">
                              <a:solidFill>
                                <a:srgbClr val="FF0000"/>
                              </a:solidFill>
                              <a:latin typeface="Cambria Math" panose="02040503050406030204" pitchFamily="18" charset="0"/>
                              <a:ea typeface="Cambria Math" panose="02040503050406030204" pitchFamily="18" charset="0"/>
                            </a:rPr>
                            <m:t>′</m:t>
                          </m:r>
                        </m:sup>
                      </m:sSup>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𝑧</m:t>
                          </m:r>
                        </m:e>
                      </m:d>
                      <m:r>
                        <a:rPr lang="en-US" b="0" i="1" smtClean="0">
                          <a:solidFill>
                            <a:srgbClr val="FF0000"/>
                          </a:solidFill>
                          <a:latin typeface="Cambria Math" panose="02040503050406030204" pitchFamily="18" charset="0"/>
                          <a:ea typeface="Cambria Math" panose="02040503050406030204" pitchFamily="18" charset="0"/>
                        </a:rPr>
                        <m:t>=−</m:t>
                      </m:r>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𝑦</m:t>
                          </m:r>
                          <m:sSup>
                            <m:sSupPr>
                              <m:ctrlPr>
                                <a:rPr lang="en-US"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𝑦𝑧</m:t>
                              </m:r>
                            </m:sup>
                          </m:sSup>
                        </m:num>
                        <m:den>
                          <m:r>
                            <a:rPr lang="en-US" b="0" i="1" smtClean="0">
                              <a:solidFill>
                                <a:srgbClr val="FF0000"/>
                              </a:solidFill>
                              <a:latin typeface="Cambria Math" panose="02040503050406030204" pitchFamily="18" charset="0"/>
                              <a:ea typeface="Cambria Math" panose="02040503050406030204" pitchFamily="18" charset="0"/>
                            </a:rPr>
                            <m:t>1+</m:t>
                          </m:r>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𝑦𝑧</m:t>
                              </m:r>
                            </m:sup>
                          </m:sSup>
                        </m:den>
                      </m:f>
                    </m:oMath>
                  </m:oMathPara>
                </a14:m>
                <a:endParaRPr lang="en-US" dirty="0"/>
              </a:p>
            </p:txBody>
          </p:sp>
        </mc:Choice>
        <mc:Fallback xmlns="">
          <p:sp>
            <p:nvSpPr>
              <p:cNvPr id="119" name="TextBox 118">
                <a:extLst>
                  <a:ext uri="{FF2B5EF4-FFF2-40B4-BE49-F238E27FC236}">
                    <a16:creationId xmlns:a16="http://schemas.microsoft.com/office/drawing/2014/main" id="{FD111B1F-CBFE-4327-A273-9ACDC49F9DA9}"/>
                  </a:ext>
                </a:extLst>
              </p:cNvPr>
              <p:cNvSpPr txBox="1">
                <a:spLocks noRot="1" noChangeAspect="1" noMove="1" noResize="1" noEditPoints="1" noAdjustHandles="1" noChangeArrowheads="1" noChangeShapeType="1" noTextEdit="1"/>
              </p:cNvSpPr>
              <p:nvPr/>
            </p:nvSpPr>
            <p:spPr>
              <a:xfrm>
                <a:off x="9832439" y="4202766"/>
                <a:ext cx="1925142" cy="537840"/>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C1EAF825-7CFB-47CE-85EF-4B2993E70CC8}"/>
                  </a:ext>
                </a:extLst>
              </p:cNvPr>
              <p:cNvSpPr txBox="1"/>
              <p:nvPr/>
            </p:nvSpPr>
            <p:spPr>
              <a:xfrm>
                <a:off x="7386961" y="5037296"/>
                <a:ext cx="2445478"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ℓ</m:t>
                      </m:r>
                      <m:r>
                        <a:rPr lang="en-US" b="0" i="1" smtClean="0">
                          <a:solidFill>
                            <a:srgbClr val="FF0000"/>
                          </a:solidFill>
                          <a:latin typeface="Cambria Math" panose="02040503050406030204" pitchFamily="18" charset="0"/>
                          <a:ea typeface="Cambria Math" panose="02040503050406030204" pitchFamily="18" charset="0"/>
                        </a:rPr>
                        <m:t>′</m:t>
                      </m:r>
                      <m:d>
                        <m:dPr>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𝑧</m:t>
                          </m:r>
                        </m:e>
                      </m:d>
                      <m:r>
                        <a:rPr lang="en-US" i="1" smtClean="0">
                          <a:solidFill>
                            <a:srgbClr val="FF0000"/>
                          </a:solidFill>
                          <a:latin typeface="Cambria Math" panose="02040503050406030204" pitchFamily="18" charset="0"/>
                        </a:rPr>
                        <m:t>=</m:t>
                      </m:r>
                      <m:d>
                        <m:dPr>
                          <m:begChr m:val="{"/>
                          <m:endChr m:val=""/>
                          <m:ctrlPr>
                            <a:rPr lang="en-US" i="1" smtClean="0">
                              <a:solidFill>
                                <a:srgbClr val="FF0000"/>
                              </a:solidFill>
                              <a:latin typeface="Cambria Math" panose="02040503050406030204" pitchFamily="18" charset="0"/>
                            </a:rPr>
                          </m:ctrlPr>
                        </m:dPr>
                        <m:e>
                          <m:eqArr>
                            <m:eqArrPr>
                              <m:ctrlPr>
                                <a:rPr lang="en-US" i="1" smtClean="0">
                                  <a:solidFill>
                                    <a:srgbClr val="FF0000"/>
                                  </a:solidFill>
                                  <a:latin typeface="Cambria Math" panose="02040503050406030204" pitchFamily="18" charset="0"/>
                                </a:rPr>
                              </m:ctrlPr>
                            </m:eqArrPr>
                            <m:e>
                              <m:r>
                                <a:rPr lang="en-US" i="1" smtClean="0">
                                  <a:solidFill>
                                    <a:srgbClr val="FF0000"/>
                                  </a:solidFill>
                                  <a:latin typeface="Cambria Math" panose="02040503050406030204" pitchFamily="18" charset="0"/>
                                </a:rPr>
                                <m:t>−&amp;</m:t>
                              </m:r>
                              <m:r>
                                <a:rPr lang="en-US" b="0" i="1" smtClean="0">
                                  <a:solidFill>
                                    <a:srgbClr val="FF0000"/>
                                  </a:solidFill>
                                  <a:latin typeface="Cambria Math" panose="02040503050406030204" pitchFamily="18" charset="0"/>
                                </a:rPr>
                                <m:t>𝑦</m:t>
                              </m:r>
                              <m:r>
                                <a:rPr lang="en-US"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𝑦𝑧</m:t>
                              </m:r>
                              <m:r>
                                <a:rPr lang="en-US" i="1" smtClean="0">
                                  <a:solidFill>
                                    <a:srgbClr val="FF0000"/>
                                  </a:solidFill>
                                  <a:latin typeface="Cambria Math" panose="02040503050406030204" pitchFamily="18" charset="0"/>
                                </a:rPr>
                                <m:t>&lt;</m:t>
                              </m:r>
                              <m:r>
                                <a:rPr lang="en-US" b="0" i="1" smtClean="0">
                                  <a:solidFill>
                                    <a:srgbClr val="FF0000"/>
                                  </a:solidFill>
                                  <a:latin typeface="Cambria Math" panose="02040503050406030204" pitchFamily="18" charset="0"/>
                                </a:rPr>
                                <m:t>1</m:t>
                              </m:r>
                            </m:e>
                            <m:e>
                              <m:r>
                                <a:rPr lang="en-US" i="1" smtClean="0">
                                  <a:solidFill>
                                    <a:srgbClr val="FF0000"/>
                                  </a:solidFill>
                                  <a:latin typeface="Cambria Math" panose="02040503050406030204" pitchFamily="18" charset="0"/>
                                </a:rPr>
                                <m:t>&amp;</m:t>
                              </m:r>
                              <m:r>
                                <a:rPr lang="en-US" b="0" i="1" smtClean="0">
                                  <a:solidFill>
                                    <a:srgbClr val="FF0000"/>
                                  </a:solidFill>
                                  <a:latin typeface="Cambria Math" panose="02040503050406030204" pitchFamily="18" charset="0"/>
                                </a:rPr>
                                <m:t>0</m:t>
                              </m:r>
                              <m:r>
                                <a:rPr lang="en-US"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𝑦𝑧</m:t>
                              </m:r>
                              <m:r>
                                <a:rPr lang="en-US"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1</m:t>
                              </m:r>
                            </m:e>
                          </m:eqArr>
                        </m:e>
                      </m:d>
                    </m:oMath>
                  </m:oMathPara>
                </a14:m>
                <a:endParaRPr lang="en-US" dirty="0"/>
              </a:p>
            </p:txBody>
          </p:sp>
        </mc:Choice>
        <mc:Fallback xmlns="">
          <p:sp>
            <p:nvSpPr>
              <p:cNvPr id="120" name="TextBox 119">
                <a:extLst>
                  <a:ext uri="{FF2B5EF4-FFF2-40B4-BE49-F238E27FC236}">
                    <a16:creationId xmlns:a16="http://schemas.microsoft.com/office/drawing/2014/main" id="{C1EAF825-7CFB-47CE-85EF-4B2993E70CC8}"/>
                  </a:ext>
                </a:extLst>
              </p:cNvPr>
              <p:cNvSpPr txBox="1">
                <a:spLocks noRot="1" noChangeAspect="1" noMove="1" noResize="1" noEditPoints="1" noAdjustHandles="1" noChangeArrowheads="1" noChangeShapeType="1" noTextEdit="1"/>
              </p:cNvSpPr>
              <p:nvPr/>
            </p:nvSpPr>
            <p:spPr>
              <a:xfrm>
                <a:off x="7386961" y="5037296"/>
                <a:ext cx="2445478" cy="617861"/>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853E90D7-D26A-4B33-A2C6-351EBCE16E1E}"/>
                  </a:ext>
                </a:extLst>
              </p:cNvPr>
              <p:cNvSpPr txBox="1"/>
              <p:nvPr/>
            </p:nvSpPr>
            <p:spPr>
              <a:xfrm>
                <a:off x="6313163" y="1813733"/>
                <a:ext cx="19692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𝑦</m:t>
                      </m:r>
                      <m:r>
                        <a:rPr lang="en-US" b="0" i="1" smtClean="0">
                          <a:solidFill>
                            <a:schemeClr val="accent1"/>
                          </a:solidFill>
                          <a:latin typeface="Cambria Math" panose="02040503050406030204" pitchFamily="18" charset="0"/>
                          <a:ea typeface="Cambria Math" panose="02040503050406030204" pitchFamily="18" charset="0"/>
                        </a:rPr>
                        <m:t>∈</m:t>
                      </m:r>
                      <m:r>
                        <a:rPr lang="en-US" b="0" i="1" smtClean="0">
                          <a:solidFill>
                            <a:schemeClr val="accent1"/>
                          </a:solidFill>
                          <a:latin typeface="Cambria Math" panose="02040503050406030204" pitchFamily="18" charset="0"/>
                          <a:ea typeface="Cambria Math" panose="02040503050406030204" pitchFamily="18" charset="0"/>
                        </a:rPr>
                        <m:t>ℝ</m:t>
                      </m:r>
                      <m:r>
                        <m:rPr>
                          <m:nor/>
                        </m:rPr>
                        <a:rPr lang="en-US" b="0" i="0" smtClean="0">
                          <a:solidFill>
                            <a:schemeClr val="accent1"/>
                          </a:solidFill>
                          <a:latin typeface="Cambria Math" panose="02040503050406030204" pitchFamily="18" charset="0"/>
                          <a:ea typeface="Cambria Math" panose="02040503050406030204" pitchFamily="18" charset="0"/>
                        </a:rPr>
                        <m:t>  (</m:t>
                      </m:r>
                      <m:r>
                        <m:rPr>
                          <m:nor/>
                        </m:rPr>
                        <a:rPr lang="en-US" b="0" i="0" smtClean="0">
                          <a:solidFill>
                            <a:schemeClr val="accent1"/>
                          </a:solidFill>
                          <a:latin typeface="Cambria Math" panose="02040503050406030204" pitchFamily="18" charset="0"/>
                          <a:ea typeface="Cambria Math" panose="02040503050406030204" pitchFamily="18" charset="0"/>
                        </a:rPr>
                        <m:t>regression</m:t>
                      </m:r>
                      <m:r>
                        <m:rPr>
                          <m:nor/>
                        </m:rPr>
                        <a:rPr lang="en-US" b="0" i="0" smtClean="0">
                          <a:solidFill>
                            <a:schemeClr val="accent1"/>
                          </a:solidFill>
                          <a:latin typeface="Cambria Math" panose="02040503050406030204" pitchFamily="18" charset="0"/>
                          <a:ea typeface="Cambria Math" panose="02040503050406030204" pitchFamily="18" charset="0"/>
                        </a:rPr>
                        <m:t>)</m:t>
                      </m:r>
                    </m:oMath>
                  </m:oMathPara>
                </a14:m>
                <a:endParaRPr lang="en-US" dirty="0">
                  <a:solidFill>
                    <a:schemeClr val="accent1"/>
                  </a:solidFill>
                </a:endParaRPr>
              </a:p>
            </p:txBody>
          </p:sp>
        </mc:Choice>
        <mc:Fallback xmlns="">
          <p:sp>
            <p:nvSpPr>
              <p:cNvPr id="124" name="TextBox 123">
                <a:extLst>
                  <a:ext uri="{FF2B5EF4-FFF2-40B4-BE49-F238E27FC236}">
                    <a16:creationId xmlns:a16="http://schemas.microsoft.com/office/drawing/2014/main" id="{853E90D7-D26A-4B33-A2C6-351EBCE16E1E}"/>
                  </a:ext>
                </a:extLst>
              </p:cNvPr>
              <p:cNvSpPr txBox="1">
                <a:spLocks noRot="1" noChangeAspect="1" noMove="1" noResize="1" noEditPoints="1" noAdjustHandles="1" noChangeArrowheads="1" noChangeShapeType="1" noTextEdit="1"/>
              </p:cNvSpPr>
              <p:nvPr/>
            </p:nvSpPr>
            <p:spPr>
              <a:xfrm>
                <a:off x="6313163" y="1813733"/>
                <a:ext cx="1969257" cy="276999"/>
              </a:xfrm>
              <a:prstGeom prst="rect">
                <a:avLst/>
              </a:prstGeom>
              <a:blipFill>
                <a:blip r:embed="rId21"/>
                <a:stretch>
                  <a:fillRect l="-2477" t="-4444" r="-4025"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57BEE160-A756-49BB-BE9D-EBACAE3482CE}"/>
                  </a:ext>
                </a:extLst>
              </p:cNvPr>
              <p:cNvSpPr txBox="1"/>
              <p:nvPr/>
            </p:nvSpPr>
            <p:spPr>
              <a:xfrm>
                <a:off x="6320213" y="2772423"/>
                <a:ext cx="17159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𝑦</m:t>
                      </m:r>
                      <m:r>
                        <a:rPr lang="en-US" b="0" i="1" smtClean="0">
                          <a:solidFill>
                            <a:schemeClr val="accent1"/>
                          </a:solidFill>
                          <a:latin typeface="Cambria Math" panose="02040503050406030204" pitchFamily="18" charset="0"/>
                          <a:ea typeface="Cambria Math" panose="02040503050406030204" pitchFamily="18" charset="0"/>
                        </a:rPr>
                        <m:t>∈</m:t>
                      </m:r>
                      <m:r>
                        <m:rPr>
                          <m:nor/>
                        </m:rPr>
                        <a:rPr lang="en-US" b="0" i="0" smtClean="0">
                          <a:solidFill>
                            <a:schemeClr val="accent1"/>
                          </a:solidFill>
                          <a:latin typeface="Cambria Math" panose="02040503050406030204" pitchFamily="18" charset="0"/>
                          <a:ea typeface="Cambria Math" panose="02040503050406030204" pitchFamily="18" charset="0"/>
                        </a:rPr>
                        <m:t>{0,1) (</m:t>
                      </m:r>
                      <m:r>
                        <m:rPr>
                          <m:nor/>
                        </m:rPr>
                        <a:rPr lang="en-US" b="0" i="0" smtClean="0">
                          <a:solidFill>
                            <a:schemeClr val="accent1"/>
                          </a:solidFill>
                          <a:latin typeface="Cambria Math" panose="02040503050406030204" pitchFamily="18" charset="0"/>
                          <a:ea typeface="Cambria Math" panose="02040503050406030204" pitchFamily="18" charset="0"/>
                        </a:rPr>
                        <m:t>class</m:t>
                      </m:r>
                      <m:r>
                        <m:rPr>
                          <m:nor/>
                        </m:rPr>
                        <a:rPr lang="en-US" b="0" i="0" smtClean="0">
                          <a:solidFill>
                            <a:schemeClr val="accent1"/>
                          </a:solidFill>
                          <a:latin typeface="Cambria Math" panose="02040503050406030204" pitchFamily="18" charset="0"/>
                          <a:ea typeface="Cambria Math" panose="02040503050406030204" pitchFamily="18" charset="0"/>
                        </a:rPr>
                        <m:t>.)</m:t>
                      </m:r>
                    </m:oMath>
                  </m:oMathPara>
                </a14:m>
                <a:endParaRPr lang="en-US" dirty="0">
                  <a:solidFill>
                    <a:schemeClr val="accent1"/>
                  </a:solidFill>
                </a:endParaRPr>
              </a:p>
            </p:txBody>
          </p:sp>
        </mc:Choice>
        <mc:Fallback xmlns="">
          <p:sp>
            <p:nvSpPr>
              <p:cNvPr id="126" name="TextBox 125">
                <a:extLst>
                  <a:ext uri="{FF2B5EF4-FFF2-40B4-BE49-F238E27FC236}">
                    <a16:creationId xmlns:a16="http://schemas.microsoft.com/office/drawing/2014/main" id="{57BEE160-A756-49BB-BE9D-EBACAE3482CE}"/>
                  </a:ext>
                </a:extLst>
              </p:cNvPr>
              <p:cNvSpPr txBox="1">
                <a:spLocks noRot="1" noChangeAspect="1" noMove="1" noResize="1" noEditPoints="1" noAdjustHandles="1" noChangeArrowheads="1" noChangeShapeType="1" noTextEdit="1"/>
              </p:cNvSpPr>
              <p:nvPr/>
            </p:nvSpPr>
            <p:spPr>
              <a:xfrm>
                <a:off x="6320213" y="2772423"/>
                <a:ext cx="1715983" cy="276999"/>
              </a:xfrm>
              <a:prstGeom prst="rect">
                <a:avLst/>
              </a:prstGeom>
              <a:blipFill>
                <a:blip r:embed="rId22"/>
                <a:stretch>
                  <a:fillRect l="-2847" t="-4444" r="-4982" b="-3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CE69F8C9-A830-4980-AD43-03F2E0696C6B}"/>
                  </a:ext>
                </a:extLst>
              </p:cNvPr>
              <p:cNvSpPr txBox="1"/>
              <p:nvPr/>
            </p:nvSpPr>
            <p:spPr>
              <a:xfrm>
                <a:off x="6316369" y="3942605"/>
                <a:ext cx="19660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𝑦</m:t>
                      </m:r>
                      <m:r>
                        <a:rPr lang="en-US" b="0" i="1" smtClean="0">
                          <a:solidFill>
                            <a:schemeClr val="accent1"/>
                          </a:solidFill>
                          <a:latin typeface="Cambria Math" panose="02040503050406030204" pitchFamily="18" charset="0"/>
                          <a:ea typeface="Cambria Math" panose="02040503050406030204" pitchFamily="18" charset="0"/>
                        </a:rPr>
                        <m:t>∈</m:t>
                      </m:r>
                      <m:r>
                        <m:rPr>
                          <m:nor/>
                        </m:rPr>
                        <a:rPr lang="en-US" b="0" i="0" smtClean="0">
                          <a:solidFill>
                            <a:schemeClr val="accent1"/>
                          </a:solidFill>
                          <a:latin typeface="Cambria Math" panose="02040503050406030204" pitchFamily="18" charset="0"/>
                          <a:ea typeface="Cambria Math" panose="02040503050406030204" pitchFamily="18" charset="0"/>
                        </a:rPr>
                        <m:t>{−1,+1) (</m:t>
                      </m:r>
                      <m:r>
                        <m:rPr>
                          <m:nor/>
                        </m:rPr>
                        <a:rPr lang="en-US" b="0" i="0" smtClean="0">
                          <a:solidFill>
                            <a:schemeClr val="accent1"/>
                          </a:solidFill>
                          <a:latin typeface="Cambria Math" panose="02040503050406030204" pitchFamily="18" charset="0"/>
                          <a:ea typeface="Cambria Math" panose="02040503050406030204" pitchFamily="18" charset="0"/>
                        </a:rPr>
                        <m:t>class</m:t>
                      </m:r>
                      <m:r>
                        <m:rPr>
                          <m:nor/>
                        </m:rPr>
                        <a:rPr lang="en-US" b="0" i="0" smtClean="0">
                          <a:solidFill>
                            <a:schemeClr val="accent1"/>
                          </a:solidFill>
                          <a:latin typeface="Cambria Math" panose="02040503050406030204" pitchFamily="18" charset="0"/>
                          <a:ea typeface="Cambria Math" panose="02040503050406030204" pitchFamily="18" charset="0"/>
                        </a:rPr>
                        <m:t>.)</m:t>
                      </m:r>
                    </m:oMath>
                  </m:oMathPara>
                </a14:m>
                <a:endParaRPr lang="en-US" dirty="0">
                  <a:solidFill>
                    <a:schemeClr val="accent1"/>
                  </a:solidFill>
                </a:endParaRPr>
              </a:p>
            </p:txBody>
          </p:sp>
        </mc:Choice>
        <mc:Fallback xmlns="">
          <p:sp>
            <p:nvSpPr>
              <p:cNvPr id="128" name="TextBox 127">
                <a:extLst>
                  <a:ext uri="{FF2B5EF4-FFF2-40B4-BE49-F238E27FC236}">
                    <a16:creationId xmlns:a16="http://schemas.microsoft.com/office/drawing/2014/main" id="{CE69F8C9-A830-4980-AD43-03F2E0696C6B}"/>
                  </a:ext>
                </a:extLst>
              </p:cNvPr>
              <p:cNvSpPr txBox="1">
                <a:spLocks noRot="1" noChangeAspect="1" noMove="1" noResize="1" noEditPoints="1" noAdjustHandles="1" noChangeArrowheads="1" noChangeShapeType="1" noTextEdit="1"/>
              </p:cNvSpPr>
              <p:nvPr/>
            </p:nvSpPr>
            <p:spPr>
              <a:xfrm>
                <a:off x="6316369" y="3942605"/>
                <a:ext cx="1966051" cy="276999"/>
              </a:xfrm>
              <a:prstGeom prst="rect">
                <a:avLst/>
              </a:prstGeom>
              <a:blipFill>
                <a:blip r:embed="rId23"/>
                <a:stretch>
                  <a:fillRect l="-2477" t="-4444" r="-4025" b="-37778"/>
                </a:stretch>
              </a:blipFill>
            </p:spPr>
            <p:txBody>
              <a:bodyPr/>
              <a:lstStyle/>
              <a:p>
                <a:r>
                  <a:rPr lang="en-US">
                    <a:noFill/>
                  </a:rPr>
                  <a:t> </a:t>
                </a:r>
              </a:p>
            </p:txBody>
          </p:sp>
        </mc:Fallback>
      </mc:AlternateContent>
    </p:spTree>
    <p:extLst>
      <p:ext uri="{BB962C8B-B14F-4D97-AF65-F5344CB8AC3E}">
        <p14:creationId xmlns:p14="http://schemas.microsoft.com/office/powerpoint/2010/main" val="1497733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3D118-3DD3-448C-988A-E8B3C47E10D3}"/>
              </a:ext>
            </a:extLst>
          </p:cNvPr>
          <p:cNvSpPr>
            <a:spLocks noGrp="1"/>
          </p:cNvSpPr>
          <p:nvPr>
            <p:ph type="title"/>
          </p:nvPr>
        </p:nvSpPr>
        <p:spPr>
          <a:xfrm>
            <a:off x="321148" y="-198444"/>
            <a:ext cx="10515600" cy="1325563"/>
          </a:xfrm>
        </p:spPr>
        <p:txBody>
          <a:bodyPr/>
          <a:lstStyle/>
          <a:p>
            <a:r>
              <a:rPr lang="en-US" dirty="0"/>
              <a:t>NN Recap</a:t>
            </a:r>
          </a:p>
        </p:txBody>
      </p:sp>
      <p:sp>
        <p:nvSpPr>
          <p:cNvPr id="95" name="Text Placeholder 94">
            <a:extLst>
              <a:ext uri="{FF2B5EF4-FFF2-40B4-BE49-F238E27FC236}">
                <a16:creationId xmlns:a16="http://schemas.microsoft.com/office/drawing/2014/main" id="{1D289687-CB8C-422B-A57E-D16914B04230}"/>
              </a:ext>
            </a:extLst>
          </p:cNvPr>
          <p:cNvSpPr>
            <a:spLocks noGrp="1"/>
          </p:cNvSpPr>
          <p:nvPr>
            <p:ph sz="half" idx="1"/>
          </p:nvPr>
        </p:nvSpPr>
        <p:spPr>
          <a:xfrm>
            <a:off x="822957" y="831876"/>
            <a:ext cx="5181600" cy="4351338"/>
          </a:xfrm>
        </p:spPr>
        <p:txBody>
          <a:bodyPr/>
          <a:lstStyle/>
          <a:p>
            <a:r>
              <a:rPr lang="en-US" dirty="0"/>
              <a:t>Activation Functions</a:t>
            </a:r>
          </a:p>
          <a:p>
            <a:pPr marL="0" indent="0">
              <a:buNone/>
            </a:pPr>
            <a:endParaRPr lang="en-US" dirty="0"/>
          </a:p>
        </p:txBody>
      </p:sp>
      <p:sp>
        <p:nvSpPr>
          <p:cNvPr id="93" name="Text Placeholder 92">
            <a:extLst>
              <a:ext uri="{FF2B5EF4-FFF2-40B4-BE49-F238E27FC236}">
                <a16:creationId xmlns:a16="http://schemas.microsoft.com/office/drawing/2014/main" id="{38CD5705-F030-4C05-9591-5F2BE2537F22}"/>
              </a:ext>
            </a:extLst>
          </p:cNvPr>
          <p:cNvSpPr>
            <a:spLocks noGrp="1"/>
          </p:cNvSpPr>
          <p:nvPr>
            <p:ph sz="half" idx="2"/>
          </p:nvPr>
        </p:nvSpPr>
        <p:spPr>
          <a:xfrm>
            <a:off x="6187445" y="831876"/>
            <a:ext cx="5181600" cy="4351338"/>
          </a:xfrm>
        </p:spPr>
        <p:txBody>
          <a:bodyPr/>
          <a:lstStyle/>
          <a:p>
            <a:r>
              <a:rPr lang="en-US" dirty="0"/>
              <a:t>Loss functions</a:t>
            </a:r>
          </a:p>
        </p:txBody>
      </p:sp>
      <p:pic>
        <p:nvPicPr>
          <p:cNvPr id="3" name="Picture 2">
            <a:extLst>
              <a:ext uri="{FF2B5EF4-FFF2-40B4-BE49-F238E27FC236}">
                <a16:creationId xmlns:a16="http://schemas.microsoft.com/office/drawing/2014/main" id="{CD29D03B-16E8-4872-B04F-1FA76FBCF13E}"/>
              </a:ext>
            </a:extLst>
          </p:cNvPr>
          <p:cNvPicPr>
            <a:picLocks noChangeAspect="1"/>
          </p:cNvPicPr>
          <p:nvPr/>
        </p:nvPicPr>
        <p:blipFill>
          <a:blip r:embed="rId2"/>
          <a:stretch>
            <a:fillRect/>
          </a:stretch>
        </p:blipFill>
        <p:spPr>
          <a:xfrm>
            <a:off x="182974" y="2471533"/>
            <a:ext cx="1186415" cy="1097693"/>
          </a:xfrm>
          <a:prstGeom prst="rect">
            <a:avLst/>
          </a:prstGeom>
        </p:spPr>
      </p:pic>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59E9FF66-4358-4874-86B2-329F9684B2EA}"/>
                  </a:ext>
                </a:extLst>
              </p:cNvPr>
              <p:cNvSpPr txBox="1"/>
              <p:nvPr/>
            </p:nvSpPr>
            <p:spPr>
              <a:xfrm>
                <a:off x="1461910" y="2552236"/>
                <a:ext cx="4150432"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1+</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sup>
                          </m:sSup>
                        </m:den>
                      </m:f>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𝜑</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94" name="TextBox 93">
                <a:extLst>
                  <a:ext uri="{FF2B5EF4-FFF2-40B4-BE49-F238E27FC236}">
                    <a16:creationId xmlns:a16="http://schemas.microsoft.com/office/drawing/2014/main" id="{59E9FF66-4358-4874-86B2-329F9684B2EA}"/>
                  </a:ext>
                </a:extLst>
              </p:cNvPr>
              <p:cNvSpPr txBox="1">
                <a:spLocks noRot="1" noChangeAspect="1" noMove="1" noResize="1" noEditPoints="1" noAdjustHandles="1" noChangeArrowheads="1" noChangeShapeType="1" noTextEdit="1"/>
              </p:cNvSpPr>
              <p:nvPr/>
            </p:nvSpPr>
            <p:spPr>
              <a:xfrm>
                <a:off x="1461910" y="2552236"/>
                <a:ext cx="4150432" cy="52501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BBBA9675-C1F1-4DAC-91CB-5D9FDF8CDC6E}"/>
                  </a:ext>
                </a:extLst>
              </p:cNvPr>
              <p:cNvSpPr txBox="1"/>
              <p:nvPr/>
            </p:nvSpPr>
            <p:spPr>
              <a:xfrm>
                <a:off x="1515417" y="3743645"/>
                <a:ext cx="3703130" cy="5361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𝑧</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𝑧</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sup>
                          </m:sSup>
                        </m:den>
                      </m:f>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𝜑</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=1−</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97" name="TextBox 96">
                <a:extLst>
                  <a:ext uri="{FF2B5EF4-FFF2-40B4-BE49-F238E27FC236}">
                    <a16:creationId xmlns:a16="http://schemas.microsoft.com/office/drawing/2014/main" id="{BBBA9675-C1F1-4DAC-91CB-5D9FDF8CDC6E}"/>
                  </a:ext>
                </a:extLst>
              </p:cNvPr>
              <p:cNvSpPr txBox="1">
                <a:spLocks noRot="1" noChangeAspect="1" noMove="1" noResize="1" noEditPoints="1" noAdjustHandles="1" noChangeArrowheads="1" noChangeShapeType="1" noTextEdit="1"/>
              </p:cNvSpPr>
              <p:nvPr/>
            </p:nvSpPr>
            <p:spPr>
              <a:xfrm>
                <a:off x="1515417" y="3743645"/>
                <a:ext cx="3703130" cy="53610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B27E139E-7F78-4977-906D-35E63225BB5C}"/>
                  </a:ext>
                </a:extLst>
              </p:cNvPr>
              <p:cNvSpPr txBox="1"/>
              <p:nvPr/>
            </p:nvSpPr>
            <p:spPr>
              <a:xfrm>
                <a:off x="1461910" y="4886577"/>
                <a:ext cx="4061945"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max</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𝑧</m:t>
                              </m:r>
                            </m:e>
                          </m:d>
                        </m:e>
                      </m:func>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𝜑</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&lt;0</m:t>
                              </m:r>
                            </m:e>
                            <m:e>
                              <m:r>
                                <a:rPr lang="en-US" b="0" i="1" smtClean="0">
                                  <a:latin typeface="Cambria Math" panose="02040503050406030204" pitchFamily="18" charset="0"/>
                                  <a:ea typeface="Cambria Math" panose="02040503050406030204" pitchFamily="18" charset="0"/>
                                </a:rPr>
                                <m:t>&amp;1,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≥0</m:t>
                              </m:r>
                            </m:e>
                          </m:eqArr>
                        </m:e>
                      </m:d>
                    </m:oMath>
                  </m:oMathPara>
                </a14:m>
                <a:endParaRPr lang="en-US" dirty="0"/>
              </a:p>
            </p:txBody>
          </p:sp>
        </mc:Choice>
        <mc:Fallback xmlns="">
          <p:sp>
            <p:nvSpPr>
              <p:cNvPr id="98" name="TextBox 97">
                <a:extLst>
                  <a:ext uri="{FF2B5EF4-FFF2-40B4-BE49-F238E27FC236}">
                    <a16:creationId xmlns:a16="http://schemas.microsoft.com/office/drawing/2014/main" id="{B27E139E-7F78-4977-906D-35E63225BB5C}"/>
                  </a:ext>
                </a:extLst>
              </p:cNvPr>
              <p:cNvSpPr txBox="1">
                <a:spLocks noRot="1" noChangeAspect="1" noMove="1" noResize="1" noEditPoints="1" noAdjustHandles="1" noChangeArrowheads="1" noChangeShapeType="1" noTextEdit="1"/>
              </p:cNvSpPr>
              <p:nvPr/>
            </p:nvSpPr>
            <p:spPr>
              <a:xfrm>
                <a:off x="1461910" y="4886577"/>
                <a:ext cx="4061945" cy="61786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EDB59808-DEBF-41F6-BF36-E01236E5A964}"/>
                  </a:ext>
                </a:extLst>
              </p:cNvPr>
              <p:cNvSpPr txBox="1"/>
              <p:nvPr/>
            </p:nvSpPr>
            <p:spPr>
              <a:xfrm>
                <a:off x="3634663" y="5769052"/>
                <a:ext cx="4171335"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max</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e>
                          </m:d>
                        </m:e>
                      </m:func>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𝜑</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r>
                                <a:rPr lang="en-US" i="1">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&lt;0</m:t>
                              </m:r>
                            </m:e>
                            <m:e>
                              <m:r>
                                <a:rPr lang="en-US" b="0" i="1" smtClean="0">
                                  <a:latin typeface="Cambria Math" panose="02040503050406030204" pitchFamily="18" charset="0"/>
                                  <a:ea typeface="Cambria Math" panose="02040503050406030204" pitchFamily="18" charset="0"/>
                                </a:rPr>
                                <m:t>&amp;1,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≥0</m:t>
                              </m:r>
                            </m:e>
                          </m:eqArr>
                        </m:e>
                      </m:d>
                    </m:oMath>
                  </m:oMathPara>
                </a14:m>
                <a:endParaRPr lang="en-US" dirty="0"/>
              </a:p>
            </p:txBody>
          </p:sp>
        </mc:Choice>
        <mc:Fallback xmlns="">
          <p:sp>
            <p:nvSpPr>
              <p:cNvPr id="100" name="TextBox 99">
                <a:extLst>
                  <a:ext uri="{FF2B5EF4-FFF2-40B4-BE49-F238E27FC236}">
                    <a16:creationId xmlns:a16="http://schemas.microsoft.com/office/drawing/2014/main" id="{EDB59808-DEBF-41F6-BF36-E01236E5A964}"/>
                  </a:ext>
                </a:extLst>
              </p:cNvPr>
              <p:cNvSpPr txBox="1">
                <a:spLocks noRot="1" noChangeAspect="1" noMove="1" noResize="1" noEditPoints="1" noAdjustHandles="1" noChangeArrowheads="1" noChangeShapeType="1" noTextEdit="1"/>
              </p:cNvSpPr>
              <p:nvPr/>
            </p:nvSpPr>
            <p:spPr>
              <a:xfrm>
                <a:off x="3634663" y="5769052"/>
                <a:ext cx="4171335" cy="617861"/>
              </a:xfrm>
              <a:prstGeom prst="rect">
                <a:avLst/>
              </a:prstGeom>
              <a:blipFill>
                <a:blip r:embed="rId6"/>
                <a:stretch>
                  <a:fillRect/>
                </a:stretch>
              </a:blipFill>
            </p:spPr>
            <p:txBody>
              <a:bodyPr/>
              <a:lstStyle/>
              <a:p>
                <a:r>
                  <a:rPr lang="en-US">
                    <a:noFill/>
                  </a:rPr>
                  <a:t> </a:t>
                </a:r>
              </a:p>
            </p:txBody>
          </p:sp>
        </mc:Fallback>
      </mc:AlternateContent>
      <p:pic>
        <p:nvPicPr>
          <p:cNvPr id="103" name="Picture 102">
            <a:extLst>
              <a:ext uri="{FF2B5EF4-FFF2-40B4-BE49-F238E27FC236}">
                <a16:creationId xmlns:a16="http://schemas.microsoft.com/office/drawing/2014/main" id="{EE2F2A93-FB7D-472D-BDE2-C3296D95CCFB}"/>
              </a:ext>
            </a:extLst>
          </p:cNvPr>
          <p:cNvPicPr>
            <a:picLocks noChangeAspect="1"/>
          </p:cNvPicPr>
          <p:nvPr/>
        </p:nvPicPr>
        <p:blipFill>
          <a:blip r:embed="rId7"/>
          <a:stretch>
            <a:fillRect/>
          </a:stretch>
        </p:blipFill>
        <p:spPr>
          <a:xfrm>
            <a:off x="222651" y="3639727"/>
            <a:ext cx="1146738" cy="1030378"/>
          </a:xfrm>
          <a:prstGeom prst="rect">
            <a:avLst/>
          </a:prstGeom>
        </p:spPr>
      </p:pic>
      <p:pic>
        <p:nvPicPr>
          <p:cNvPr id="104" name="Picture 103">
            <a:extLst>
              <a:ext uri="{FF2B5EF4-FFF2-40B4-BE49-F238E27FC236}">
                <a16:creationId xmlns:a16="http://schemas.microsoft.com/office/drawing/2014/main" id="{B96C037F-E994-42C2-8C3E-C817F26CAEA3}"/>
              </a:ext>
            </a:extLst>
          </p:cNvPr>
          <p:cNvPicPr>
            <a:picLocks noChangeAspect="1"/>
          </p:cNvPicPr>
          <p:nvPr/>
        </p:nvPicPr>
        <p:blipFill>
          <a:blip r:embed="rId8"/>
          <a:stretch>
            <a:fillRect/>
          </a:stretch>
        </p:blipFill>
        <p:spPr>
          <a:xfrm>
            <a:off x="182974" y="4740606"/>
            <a:ext cx="1238001" cy="1320071"/>
          </a:xfrm>
          <a:prstGeom prst="rect">
            <a:avLst/>
          </a:prstGeom>
        </p:spPr>
      </p:pic>
      <p:pic>
        <p:nvPicPr>
          <p:cNvPr id="105" name="Picture 104">
            <a:extLst>
              <a:ext uri="{FF2B5EF4-FFF2-40B4-BE49-F238E27FC236}">
                <a16:creationId xmlns:a16="http://schemas.microsoft.com/office/drawing/2014/main" id="{B84E18EB-7B89-4537-82BB-387AB4E14D16}"/>
              </a:ext>
            </a:extLst>
          </p:cNvPr>
          <p:cNvPicPr>
            <a:picLocks noChangeAspect="1"/>
          </p:cNvPicPr>
          <p:nvPr/>
        </p:nvPicPr>
        <p:blipFill>
          <a:blip r:embed="rId9"/>
          <a:stretch>
            <a:fillRect/>
          </a:stretch>
        </p:blipFill>
        <p:spPr>
          <a:xfrm>
            <a:off x="2452832" y="5537854"/>
            <a:ext cx="1036588" cy="1298856"/>
          </a:xfrm>
          <a:prstGeom prst="rect">
            <a:avLst/>
          </a:prstGeom>
        </p:spPr>
      </p:pic>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4DF8398D-7989-40CA-A0EE-9536D2EEBAF9}"/>
                  </a:ext>
                </a:extLst>
              </p:cNvPr>
              <p:cNvSpPr txBox="1"/>
              <p:nvPr/>
            </p:nvSpPr>
            <p:spPr>
              <a:xfrm>
                <a:off x="6320213" y="1965616"/>
                <a:ext cx="3253968"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ea typeface="Cambria Math" panose="02040503050406030204" pitchFamily="18" charset="0"/>
                        </a:rPr>
                        <m:t>square</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loss</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e>
                        <m:sup>
                          <m:r>
                            <a:rPr lang="en-US" b="0" i="1" smtClean="0">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107" name="TextBox 106">
                <a:extLst>
                  <a:ext uri="{FF2B5EF4-FFF2-40B4-BE49-F238E27FC236}">
                    <a16:creationId xmlns:a16="http://schemas.microsoft.com/office/drawing/2014/main" id="{4DF8398D-7989-40CA-A0EE-9536D2EEBAF9}"/>
                  </a:ext>
                </a:extLst>
              </p:cNvPr>
              <p:cNvSpPr txBox="1">
                <a:spLocks noRot="1" noChangeAspect="1" noMove="1" noResize="1" noEditPoints="1" noAdjustHandles="1" noChangeArrowheads="1" noChangeShapeType="1" noTextEdit="1"/>
              </p:cNvSpPr>
              <p:nvPr/>
            </p:nvSpPr>
            <p:spPr>
              <a:xfrm>
                <a:off x="6320213" y="1965616"/>
                <a:ext cx="3253968" cy="51860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E4BA8F33-6217-453C-BA47-0379DF0158AC}"/>
                  </a:ext>
                </a:extLst>
              </p:cNvPr>
              <p:cNvSpPr txBox="1"/>
              <p:nvPr/>
            </p:nvSpPr>
            <p:spPr>
              <a:xfrm>
                <a:off x="6096000" y="3073391"/>
                <a:ext cx="6166368" cy="276999"/>
              </a:xfrm>
              <a:prstGeom prst="rect">
                <a:avLst/>
              </a:prstGeom>
              <a:noFill/>
            </p:spPr>
            <p:txBody>
              <a:bodyPr wrap="none" lIns="0" tIns="0" rIns="0" bIns="0" rtlCol="0">
                <a:spAutoFit/>
              </a:bodyPr>
              <a:lstStyle/>
              <a:p>
                <a:r>
                  <a:rPr lang="en-US" dirty="0"/>
                  <a:t>log (cross entropy) loss:</a:t>
                </a:r>
                <a14:m>
                  <m:oMath xmlns:m="http://schemas.openxmlformats.org/officeDocument/2006/math">
                    <m:r>
                      <a:rPr lang="en-US" b="0" i="1" smtClean="0">
                        <a:latin typeface="Cambria Math" panose="02040503050406030204" pitchFamily="18" charset="0"/>
                        <a:ea typeface="Cambria Math" panose="02040503050406030204" pitchFamily="18" charset="0"/>
                      </a:rPr>
                      <m:t>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𝑦</m:t>
                            </m:r>
                          </m:e>
                        </m:d>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e>
                        </m:func>
                      </m:e>
                    </m:func>
                  </m:oMath>
                </a14:m>
                <a:endParaRPr lang="en-US" dirty="0"/>
              </a:p>
            </p:txBody>
          </p:sp>
        </mc:Choice>
        <mc:Fallback xmlns="">
          <p:sp>
            <p:nvSpPr>
              <p:cNvPr id="111" name="TextBox 110">
                <a:extLst>
                  <a:ext uri="{FF2B5EF4-FFF2-40B4-BE49-F238E27FC236}">
                    <a16:creationId xmlns:a16="http://schemas.microsoft.com/office/drawing/2014/main" id="{E4BA8F33-6217-453C-BA47-0379DF0158AC}"/>
                  </a:ext>
                </a:extLst>
              </p:cNvPr>
              <p:cNvSpPr txBox="1">
                <a:spLocks noRot="1" noChangeAspect="1" noMove="1" noResize="1" noEditPoints="1" noAdjustHandles="1" noChangeArrowheads="1" noChangeShapeType="1" noTextEdit="1"/>
              </p:cNvSpPr>
              <p:nvPr/>
            </p:nvSpPr>
            <p:spPr>
              <a:xfrm>
                <a:off x="6096000" y="3073391"/>
                <a:ext cx="6166368" cy="276999"/>
              </a:xfrm>
              <a:prstGeom prst="rect">
                <a:avLst/>
              </a:prstGeom>
              <a:blipFill>
                <a:blip r:embed="rId11"/>
                <a:stretch>
                  <a:fillRect l="-2273" t="-28261" r="-889"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D842B2B8-83F9-4454-ABDA-556CEBE27AFB}"/>
                  </a:ext>
                </a:extLst>
              </p:cNvPr>
              <p:cNvSpPr txBox="1"/>
              <p:nvPr/>
            </p:nvSpPr>
            <p:spPr>
              <a:xfrm>
                <a:off x="6316369" y="1264329"/>
                <a:ext cx="371730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 </m:t>
                      </m:r>
                      <m:r>
                        <m:rPr>
                          <m:nor/>
                        </m:rPr>
                        <a:rPr lang="en-US" b="0" i="0" smtClean="0">
                          <a:latin typeface="Cambria Math" panose="02040503050406030204" pitchFamily="18" charset="0"/>
                        </a:rPr>
                        <m:t>expected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value</m:t>
                      </m:r>
                      <m:r>
                        <m:rPr>
                          <m:nor/>
                        </m:rPr>
                        <a:rPr lang="en-US" b="0" i="0" smtClean="0">
                          <a:latin typeface="Cambria Math" panose="02040503050406030204" pitchFamily="18" charset="0"/>
                        </a:rPr>
                        <m:t>; </m:t>
                      </m:r>
                      <m:r>
                        <a:rPr lang="en-US" b="0" i="1" smtClean="0">
                          <a:latin typeface="Cambria Math" panose="02040503050406030204" pitchFamily="18" charset="0"/>
                        </a:rPr>
                        <m:t>𝑧</m:t>
                      </m:r>
                      <m:r>
                        <a:rPr lang="en-US" b="0" i="1" smtClean="0">
                          <a:latin typeface="Cambria Math" panose="02040503050406030204" pitchFamily="18" charset="0"/>
                        </a:rPr>
                        <m:t>: </m:t>
                      </m:r>
                      <m:r>
                        <m:rPr>
                          <m:nor/>
                        </m:rPr>
                        <a:rPr lang="en-US" b="0" i="0" smtClean="0">
                          <a:latin typeface="Cambria Math" panose="02040503050406030204" pitchFamily="18" charset="0"/>
                        </a:rPr>
                        <m:t>predicted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value</m:t>
                      </m:r>
                    </m:oMath>
                  </m:oMathPara>
                </a14:m>
                <a:endParaRPr lang="en-US" dirty="0"/>
              </a:p>
            </p:txBody>
          </p:sp>
        </mc:Choice>
        <mc:Fallback xmlns="">
          <p:sp>
            <p:nvSpPr>
              <p:cNvPr id="112" name="TextBox 111">
                <a:extLst>
                  <a:ext uri="{FF2B5EF4-FFF2-40B4-BE49-F238E27FC236}">
                    <a16:creationId xmlns:a16="http://schemas.microsoft.com/office/drawing/2014/main" id="{D842B2B8-83F9-4454-ABDA-556CEBE27AFB}"/>
                  </a:ext>
                </a:extLst>
              </p:cNvPr>
              <p:cNvSpPr txBox="1">
                <a:spLocks noRot="1" noChangeAspect="1" noMove="1" noResize="1" noEditPoints="1" noAdjustHandles="1" noChangeArrowheads="1" noChangeShapeType="1" noTextEdit="1"/>
              </p:cNvSpPr>
              <p:nvPr/>
            </p:nvSpPr>
            <p:spPr>
              <a:xfrm>
                <a:off x="6316369" y="1264329"/>
                <a:ext cx="3717300" cy="276999"/>
              </a:xfrm>
              <a:prstGeom prst="rect">
                <a:avLst/>
              </a:prstGeom>
              <a:blipFill>
                <a:blip r:embed="rId14"/>
                <a:stretch>
                  <a:fillRect l="-1148" t="-2174" r="-1148"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5D450B88-3F93-4DAD-93B9-E3BA974E9787}"/>
                  </a:ext>
                </a:extLst>
              </p:cNvPr>
              <p:cNvSpPr txBox="1"/>
              <p:nvPr/>
            </p:nvSpPr>
            <p:spPr>
              <a:xfrm>
                <a:off x="6316369" y="4357324"/>
                <a:ext cx="360752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b="0" i="0" smtClean="0">
                          <a:latin typeface="Cambria Math" panose="02040503050406030204" pitchFamily="18" charset="0"/>
                        </a:rPr>
                        <m:t>logistic</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loss</m:t>
                      </m:r>
                      <m:r>
                        <m:rPr>
                          <m:nor/>
                        </m:rPr>
                        <a:rPr lang="en-US" b="0" i="0"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r>
                            <a:rPr lang="en-US" b="0" i="1" smtClean="0">
                              <a:latin typeface="Cambria Math" panose="02040503050406030204" pitchFamily="18" charset="0"/>
                              <a:ea typeface="Cambria Math" panose="02040503050406030204" pitchFamily="18" charset="0"/>
                            </a:rPr>
                            <m:t>(1+</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𝑦𝑧</m:t>
                              </m:r>
                            </m:sup>
                          </m:sSup>
                          <m:r>
                            <a:rPr lang="en-US" b="0" i="1" smtClean="0">
                              <a:latin typeface="Cambria Math" panose="02040503050406030204" pitchFamily="18" charset="0"/>
                              <a:ea typeface="Cambria Math" panose="02040503050406030204" pitchFamily="18" charset="0"/>
                            </a:rPr>
                            <m:t>)</m:t>
                          </m:r>
                        </m:e>
                      </m:func>
                    </m:oMath>
                  </m:oMathPara>
                </a14:m>
                <a:endParaRPr lang="en-US" dirty="0"/>
              </a:p>
            </p:txBody>
          </p:sp>
        </mc:Choice>
        <mc:Fallback xmlns="">
          <p:sp>
            <p:nvSpPr>
              <p:cNvPr id="113" name="TextBox 112">
                <a:extLst>
                  <a:ext uri="{FF2B5EF4-FFF2-40B4-BE49-F238E27FC236}">
                    <a16:creationId xmlns:a16="http://schemas.microsoft.com/office/drawing/2014/main" id="{5D450B88-3F93-4DAD-93B9-E3BA974E9787}"/>
                  </a:ext>
                </a:extLst>
              </p:cNvPr>
              <p:cNvSpPr txBox="1">
                <a:spLocks noRot="1" noChangeAspect="1" noMove="1" noResize="1" noEditPoints="1" noAdjustHandles="1" noChangeArrowheads="1" noChangeShapeType="1" noTextEdit="1"/>
              </p:cNvSpPr>
              <p:nvPr/>
            </p:nvSpPr>
            <p:spPr>
              <a:xfrm>
                <a:off x="6316369" y="4357324"/>
                <a:ext cx="3607526" cy="276999"/>
              </a:xfrm>
              <a:prstGeom prst="rect">
                <a:avLst/>
              </a:prstGeom>
              <a:blipFill>
                <a:blip r:embed="rId15"/>
                <a:stretch>
                  <a:fillRect l="-1858" t="-2222" r="-2027"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296174BA-8ADA-4135-A684-BE5AF16D78CD}"/>
                  </a:ext>
                </a:extLst>
              </p:cNvPr>
              <p:cNvSpPr txBox="1"/>
              <p:nvPr/>
            </p:nvSpPr>
            <p:spPr>
              <a:xfrm>
                <a:off x="6316369" y="4744199"/>
                <a:ext cx="353051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b="0" i="0" smtClean="0">
                          <a:latin typeface="Cambria Math" panose="02040503050406030204" pitchFamily="18" charset="0"/>
                        </a:rPr>
                        <m:t>hinge</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loss</m:t>
                      </m:r>
                      <m:r>
                        <m:rPr>
                          <m:nor/>
                        </m:rPr>
                        <a:rPr lang="en-US" b="0" i="0"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max</m:t>
                          </m:r>
                        </m:fName>
                        <m:e>
                          <m:r>
                            <a:rPr lang="en-US" b="0" i="1" smtClean="0">
                              <a:latin typeface="Cambria Math" panose="02040503050406030204" pitchFamily="18" charset="0"/>
                              <a:ea typeface="Cambria Math" panose="02040503050406030204" pitchFamily="18" charset="0"/>
                            </a:rPr>
                            <m:t>(0,1−</m:t>
                          </m:r>
                          <m:r>
                            <a:rPr lang="en-US" b="0" i="1" smtClean="0">
                              <a:latin typeface="Cambria Math" panose="02040503050406030204" pitchFamily="18" charset="0"/>
                              <a:ea typeface="Cambria Math" panose="02040503050406030204" pitchFamily="18" charset="0"/>
                            </a:rPr>
                            <m:t>𝑦𝑧</m:t>
                          </m:r>
                          <m:r>
                            <a:rPr lang="en-US" b="0" i="1" smtClean="0">
                              <a:latin typeface="Cambria Math" panose="02040503050406030204" pitchFamily="18" charset="0"/>
                              <a:ea typeface="Cambria Math" panose="02040503050406030204" pitchFamily="18" charset="0"/>
                            </a:rPr>
                            <m:t>)</m:t>
                          </m:r>
                        </m:e>
                      </m:func>
                    </m:oMath>
                  </m:oMathPara>
                </a14:m>
                <a:endParaRPr lang="en-US" dirty="0"/>
              </a:p>
            </p:txBody>
          </p:sp>
        </mc:Choice>
        <mc:Fallback xmlns="">
          <p:sp>
            <p:nvSpPr>
              <p:cNvPr id="114" name="TextBox 113">
                <a:extLst>
                  <a:ext uri="{FF2B5EF4-FFF2-40B4-BE49-F238E27FC236}">
                    <a16:creationId xmlns:a16="http://schemas.microsoft.com/office/drawing/2014/main" id="{296174BA-8ADA-4135-A684-BE5AF16D78CD}"/>
                  </a:ext>
                </a:extLst>
              </p:cNvPr>
              <p:cNvSpPr txBox="1">
                <a:spLocks noRot="1" noChangeAspect="1" noMove="1" noResize="1" noEditPoints="1" noAdjustHandles="1" noChangeArrowheads="1" noChangeShapeType="1" noTextEdit="1"/>
              </p:cNvSpPr>
              <p:nvPr/>
            </p:nvSpPr>
            <p:spPr>
              <a:xfrm>
                <a:off x="6316369" y="4744199"/>
                <a:ext cx="3530518" cy="276999"/>
              </a:xfrm>
              <a:prstGeom prst="rect">
                <a:avLst/>
              </a:prstGeom>
              <a:blipFill>
                <a:blip r:embed="rId16"/>
                <a:stretch>
                  <a:fillRect l="-1900" t="-2174" r="-19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E44F0400-09E7-4125-8DE6-C99F1B33A3F3}"/>
                  </a:ext>
                </a:extLst>
              </p:cNvPr>
              <p:cNvSpPr txBox="1"/>
              <p:nvPr/>
            </p:nvSpPr>
            <p:spPr>
              <a:xfrm>
                <a:off x="9764240" y="2086418"/>
                <a:ext cx="13768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ℓ</m:t>
                          </m:r>
                        </m:e>
                        <m:sup>
                          <m:r>
                            <a:rPr lang="en-US" b="0" i="1" smtClean="0">
                              <a:solidFill>
                                <a:srgbClr val="FF0000"/>
                              </a:solidFill>
                              <a:latin typeface="Cambria Math" panose="02040503050406030204" pitchFamily="18" charset="0"/>
                              <a:ea typeface="Cambria Math" panose="02040503050406030204" pitchFamily="18" charset="0"/>
                            </a:rPr>
                            <m:t>′</m:t>
                          </m:r>
                        </m:sup>
                      </m:sSup>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𝑧</m:t>
                          </m:r>
                        </m:e>
                      </m:d>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𝑧</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𝑦</m:t>
                      </m:r>
                    </m:oMath>
                  </m:oMathPara>
                </a14:m>
                <a:endParaRPr lang="en-US" dirty="0"/>
              </a:p>
            </p:txBody>
          </p:sp>
        </mc:Choice>
        <mc:Fallback xmlns="">
          <p:sp>
            <p:nvSpPr>
              <p:cNvPr id="115" name="TextBox 114">
                <a:extLst>
                  <a:ext uri="{FF2B5EF4-FFF2-40B4-BE49-F238E27FC236}">
                    <a16:creationId xmlns:a16="http://schemas.microsoft.com/office/drawing/2014/main" id="{E44F0400-09E7-4125-8DE6-C99F1B33A3F3}"/>
                  </a:ext>
                </a:extLst>
              </p:cNvPr>
              <p:cNvSpPr txBox="1">
                <a:spLocks noRot="1" noChangeAspect="1" noMove="1" noResize="1" noEditPoints="1" noAdjustHandles="1" noChangeArrowheads="1" noChangeShapeType="1" noTextEdit="1"/>
              </p:cNvSpPr>
              <p:nvPr/>
            </p:nvSpPr>
            <p:spPr>
              <a:xfrm>
                <a:off x="9764240" y="2086418"/>
                <a:ext cx="1376852" cy="276999"/>
              </a:xfrm>
              <a:prstGeom prst="rect">
                <a:avLst/>
              </a:prstGeom>
              <a:blipFill>
                <a:blip r:embed="rId17"/>
                <a:stretch>
                  <a:fillRect l="-3982" r="-3540"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A5D6AFA8-EF7A-418B-868C-49CABC61DA2E}"/>
                  </a:ext>
                </a:extLst>
              </p:cNvPr>
              <p:cNvSpPr txBox="1"/>
              <p:nvPr/>
            </p:nvSpPr>
            <p:spPr>
              <a:xfrm>
                <a:off x="8411547" y="3346076"/>
                <a:ext cx="1679819" cy="523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ℓ</m:t>
                          </m:r>
                        </m:e>
                        <m:sup>
                          <m:r>
                            <a:rPr lang="en-US" b="0" i="1" smtClean="0">
                              <a:solidFill>
                                <a:srgbClr val="FF0000"/>
                              </a:solidFill>
                              <a:latin typeface="Cambria Math" panose="02040503050406030204" pitchFamily="18" charset="0"/>
                              <a:ea typeface="Cambria Math" panose="02040503050406030204" pitchFamily="18" charset="0"/>
                            </a:rPr>
                            <m:t>′</m:t>
                          </m:r>
                        </m:sup>
                      </m:sSup>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𝑧</m:t>
                          </m:r>
                        </m:e>
                      </m:d>
                      <m:r>
                        <a:rPr lang="en-US" b="0" i="1" smtClean="0">
                          <a:solidFill>
                            <a:srgbClr val="FF0000"/>
                          </a:solidFill>
                          <a:latin typeface="Cambria Math" panose="02040503050406030204" pitchFamily="18" charset="0"/>
                          <a:ea typeface="Cambria Math" panose="02040503050406030204" pitchFamily="18" charset="0"/>
                        </a:rPr>
                        <m:t>=</m:t>
                      </m:r>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𝑧</m:t>
                          </m:r>
                          <m:r>
                            <a:rPr lang="en-US" i="1">
                              <a:solidFill>
                                <a:srgbClr val="FF0000"/>
                              </a:solidFill>
                              <a:latin typeface="Cambria Math" panose="02040503050406030204" pitchFamily="18" charset="0"/>
                              <a:ea typeface="Cambria Math" panose="02040503050406030204" pitchFamily="18" charset="0"/>
                            </a:rPr>
                            <m:t>−</m:t>
                          </m:r>
                          <m:r>
                            <a:rPr lang="en-US" i="1">
                              <a:solidFill>
                                <a:srgbClr val="FF0000"/>
                              </a:solidFill>
                              <a:latin typeface="Cambria Math" panose="02040503050406030204" pitchFamily="18" charset="0"/>
                              <a:ea typeface="Cambria Math" panose="02040503050406030204" pitchFamily="18" charset="0"/>
                            </a:rPr>
                            <m:t>𝑦</m:t>
                          </m:r>
                        </m:num>
                        <m:den>
                          <m:r>
                            <a:rPr lang="en-US" b="0" i="1" smtClean="0">
                              <a:solidFill>
                                <a:srgbClr val="FF0000"/>
                              </a:solidFill>
                              <a:latin typeface="Cambria Math" panose="02040503050406030204" pitchFamily="18" charset="0"/>
                              <a:ea typeface="Cambria Math" panose="02040503050406030204" pitchFamily="18" charset="0"/>
                            </a:rPr>
                            <m:t>𝑧</m:t>
                          </m:r>
                          <m:r>
                            <a:rPr lang="en-US" b="0" i="1" smtClean="0">
                              <a:solidFill>
                                <a:srgbClr val="FF0000"/>
                              </a:solidFill>
                              <a:latin typeface="Cambria Math" panose="02040503050406030204" pitchFamily="18" charset="0"/>
                              <a:ea typeface="Cambria Math" panose="02040503050406030204" pitchFamily="18" charset="0"/>
                            </a:rPr>
                            <m:t>(1−</m:t>
                          </m:r>
                          <m:r>
                            <a:rPr lang="en-US" b="0" i="1" smtClean="0">
                              <a:solidFill>
                                <a:srgbClr val="FF0000"/>
                              </a:solidFill>
                              <a:latin typeface="Cambria Math" panose="02040503050406030204" pitchFamily="18" charset="0"/>
                              <a:ea typeface="Cambria Math" panose="02040503050406030204" pitchFamily="18" charset="0"/>
                            </a:rPr>
                            <m:t>𝑧</m:t>
                          </m:r>
                          <m:r>
                            <a:rPr lang="en-US" b="0" i="1" smtClean="0">
                              <a:solidFill>
                                <a:srgbClr val="FF0000"/>
                              </a:solidFill>
                              <a:latin typeface="Cambria Math" panose="02040503050406030204" pitchFamily="18" charset="0"/>
                              <a:ea typeface="Cambria Math" panose="02040503050406030204" pitchFamily="18" charset="0"/>
                            </a:rPr>
                            <m:t>)</m:t>
                          </m:r>
                        </m:den>
                      </m:f>
                    </m:oMath>
                  </m:oMathPara>
                </a14:m>
                <a:endParaRPr lang="en-US" dirty="0"/>
              </a:p>
            </p:txBody>
          </p:sp>
        </mc:Choice>
        <mc:Fallback xmlns="">
          <p:sp>
            <p:nvSpPr>
              <p:cNvPr id="117" name="TextBox 116">
                <a:extLst>
                  <a:ext uri="{FF2B5EF4-FFF2-40B4-BE49-F238E27FC236}">
                    <a16:creationId xmlns:a16="http://schemas.microsoft.com/office/drawing/2014/main" id="{A5D6AFA8-EF7A-418B-868C-49CABC61DA2E}"/>
                  </a:ext>
                </a:extLst>
              </p:cNvPr>
              <p:cNvSpPr txBox="1">
                <a:spLocks noRot="1" noChangeAspect="1" noMove="1" noResize="1" noEditPoints="1" noAdjustHandles="1" noChangeArrowheads="1" noChangeShapeType="1" noTextEdit="1"/>
              </p:cNvSpPr>
              <p:nvPr/>
            </p:nvSpPr>
            <p:spPr>
              <a:xfrm>
                <a:off x="8411547" y="3346076"/>
                <a:ext cx="1679819" cy="523477"/>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FD111B1F-CBFE-4327-A273-9ACDC49F9DA9}"/>
                  </a:ext>
                </a:extLst>
              </p:cNvPr>
              <p:cNvSpPr txBox="1"/>
              <p:nvPr/>
            </p:nvSpPr>
            <p:spPr>
              <a:xfrm>
                <a:off x="9832439" y="4202766"/>
                <a:ext cx="1925142" cy="5378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ℓ</m:t>
                          </m:r>
                        </m:e>
                        <m:sup>
                          <m:r>
                            <a:rPr lang="en-US" b="0" i="1" smtClean="0">
                              <a:solidFill>
                                <a:srgbClr val="FF0000"/>
                              </a:solidFill>
                              <a:latin typeface="Cambria Math" panose="02040503050406030204" pitchFamily="18" charset="0"/>
                              <a:ea typeface="Cambria Math" panose="02040503050406030204" pitchFamily="18" charset="0"/>
                            </a:rPr>
                            <m:t>′</m:t>
                          </m:r>
                        </m:sup>
                      </m:sSup>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𝑧</m:t>
                          </m:r>
                        </m:e>
                      </m:d>
                      <m:r>
                        <a:rPr lang="en-US" b="0" i="1" smtClean="0">
                          <a:solidFill>
                            <a:srgbClr val="FF0000"/>
                          </a:solidFill>
                          <a:latin typeface="Cambria Math" panose="02040503050406030204" pitchFamily="18" charset="0"/>
                          <a:ea typeface="Cambria Math" panose="02040503050406030204" pitchFamily="18" charset="0"/>
                        </a:rPr>
                        <m:t>=−</m:t>
                      </m:r>
                      <m:f>
                        <m:fPr>
                          <m:ctrlPr>
                            <a:rPr lang="en-US" b="0" i="1" smtClean="0">
                              <a:solidFill>
                                <a:srgbClr val="FF0000"/>
                              </a:solidFill>
                              <a:latin typeface="Cambria Math" panose="02040503050406030204" pitchFamily="18" charset="0"/>
                              <a:ea typeface="Cambria Math" panose="02040503050406030204" pitchFamily="18" charset="0"/>
                            </a:rPr>
                          </m:ctrlPr>
                        </m:fPr>
                        <m:num>
                          <m:r>
                            <a:rPr lang="en-US" i="1">
                              <a:solidFill>
                                <a:srgbClr val="FF0000"/>
                              </a:solidFill>
                              <a:latin typeface="Cambria Math" panose="02040503050406030204" pitchFamily="18" charset="0"/>
                              <a:ea typeface="Cambria Math" panose="02040503050406030204" pitchFamily="18" charset="0"/>
                            </a:rPr>
                            <m:t>𝑦</m:t>
                          </m:r>
                          <m:sSup>
                            <m:sSupPr>
                              <m:ctrlPr>
                                <a:rPr lang="en-US"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𝑦𝑧</m:t>
                              </m:r>
                            </m:sup>
                          </m:sSup>
                        </m:num>
                        <m:den>
                          <m:r>
                            <a:rPr lang="en-US" b="0" i="1" smtClean="0">
                              <a:solidFill>
                                <a:srgbClr val="FF0000"/>
                              </a:solidFill>
                              <a:latin typeface="Cambria Math" panose="02040503050406030204" pitchFamily="18" charset="0"/>
                              <a:ea typeface="Cambria Math" panose="02040503050406030204" pitchFamily="18" charset="0"/>
                            </a:rPr>
                            <m:t>1+</m:t>
                          </m:r>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𝑒</m:t>
                              </m:r>
                            </m:e>
                            <m:sup>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𝑦𝑧</m:t>
                              </m:r>
                            </m:sup>
                          </m:sSup>
                        </m:den>
                      </m:f>
                    </m:oMath>
                  </m:oMathPara>
                </a14:m>
                <a:endParaRPr lang="en-US" dirty="0"/>
              </a:p>
            </p:txBody>
          </p:sp>
        </mc:Choice>
        <mc:Fallback xmlns="">
          <p:sp>
            <p:nvSpPr>
              <p:cNvPr id="119" name="TextBox 118">
                <a:extLst>
                  <a:ext uri="{FF2B5EF4-FFF2-40B4-BE49-F238E27FC236}">
                    <a16:creationId xmlns:a16="http://schemas.microsoft.com/office/drawing/2014/main" id="{FD111B1F-CBFE-4327-A273-9ACDC49F9DA9}"/>
                  </a:ext>
                </a:extLst>
              </p:cNvPr>
              <p:cNvSpPr txBox="1">
                <a:spLocks noRot="1" noChangeAspect="1" noMove="1" noResize="1" noEditPoints="1" noAdjustHandles="1" noChangeArrowheads="1" noChangeShapeType="1" noTextEdit="1"/>
              </p:cNvSpPr>
              <p:nvPr/>
            </p:nvSpPr>
            <p:spPr>
              <a:xfrm>
                <a:off x="9832439" y="4202766"/>
                <a:ext cx="1925142" cy="537840"/>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C1EAF825-7CFB-47CE-85EF-4B2993E70CC8}"/>
                  </a:ext>
                </a:extLst>
              </p:cNvPr>
              <p:cNvSpPr txBox="1"/>
              <p:nvPr/>
            </p:nvSpPr>
            <p:spPr>
              <a:xfrm>
                <a:off x="7386961" y="5037296"/>
                <a:ext cx="2445478"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0000"/>
                          </a:solidFill>
                          <a:latin typeface="Cambria Math" panose="02040503050406030204" pitchFamily="18" charset="0"/>
                          <a:ea typeface="Cambria Math" panose="02040503050406030204" pitchFamily="18" charset="0"/>
                        </a:rPr>
                        <m:t>ℓ</m:t>
                      </m:r>
                      <m:r>
                        <a:rPr lang="en-US" b="0" i="1" smtClean="0">
                          <a:solidFill>
                            <a:srgbClr val="FF0000"/>
                          </a:solidFill>
                          <a:latin typeface="Cambria Math" panose="02040503050406030204" pitchFamily="18" charset="0"/>
                          <a:ea typeface="Cambria Math" panose="02040503050406030204" pitchFamily="18" charset="0"/>
                        </a:rPr>
                        <m:t>′</m:t>
                      </m:r>
                      <m:d>
                        <m:dPr>
                          <m:ctrlPr>
                            <a:rPr lang="en-US"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𝑧</m:t>
                          </m:r>
                        </m:e>
                      </m:d>
                      <m:r>
                        <a:rPr lang="en-US" i="1" smtClean="0">
                          <a:solidFill>
                            <a:srgbClr val="FF0000"/>
                          </a:solidFill>
                          <a:latin typeface="Cambria Math" panose="02040503050406030204" pitchFamily="18" charset="0"/>
                        </a:rPr>
                        <m:t>=</m:t>
                      </m:r>
                      <m:d>
                        <m:dPr>
                          <m:begChr m:val="{"/>
                          <m:endChr m:val=""/>
                          <m:ctrlPr>
                            <a:rPr lang="en-US" i="1" smtClean="0">
                              <a:solidFill>
                                <a:srgbClr val="FF0000"/>
                              </a:solidFill>
                              <a:latin typeface="Cambria Math" panose="02040503050406030204" pitchFamily="18" charset="0"/>
                            </a:rPr>
                          </m:ctrlPr>
                        </m:dPr>
                        <m:e>
                          <m:eqArr>
                            <m:eqArrPr>
                              <m:ctrlPr>
                                <a:rPr lang="en-US" i="1" smtClean="0">
                                  <a:solidFill>
                                    <a:srgbClr val="FF0000"/>
                                  </a:solidFill>
                                  <a:latin typeface="Cambria Math" panose="02040503050406030204" pitchFamily="18" charset="0"/>
                                </a:rPr>
                              </m:ctrlPr>
                            </m:eqArrPr>
                            <m:e>
                              <m:r>
                                <a:rPr lang="en-US" i="1" smtClean="0">
                                  <a:solidFill>
                                    <a:srgbClr val="FF0000"/>
                                  </a:solidFill>
                                  <a:latin typeface="Cambria Math" panose="02040503050406030204" pitchFamily="18" charset="0"/>
                                </a:rPr>
                                <m:t>−&amp;</m:t>
                              </m:r>
                              <m:r>
                                <a:rPr lang="en-US" b="0" i="1" smtClean="0">
                                  <a:solidFill>
                                    <a:srgbClr val="FF0000"/>
                                  </a:solidFill>
                                  <a:latin typeface="Cambria Math" panose="02040503050406030204" pitchFamily="18" charset="0"/>
                                </a:rPr>
                                <m:t>𝑦</m:t>
                              </m:r>
                              <m:r>
                                <a:rPr lang="en-US"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𝑦𝑧</m:t>
                              </m:r>
                              <m:r>
                                <a:rPr lang="en-US" i="1" smtClean="0">
                                  <a:solidFill>
                                    <a:srgbClr val="FF0000"/>
                                  </a:solidFill>
                                  <a:latin typeface="Cambria Math" panose="02040503050406030204" pitchFamily="18" charset="0"/>
                                </a:rPr>
                                <m:t>&lt;</m:t>
                              </m:r>
                              <m:r>
                                <a:rPr lang="en-US" b="0" i="1" smtClean="0">
                                  <a:solidFill>
                                    <a:srgbClr val="FF0000"/>
                                  </a:solidFill>
                                  <a:latin typeface="Cambria Math" panose="02040503050406030204" pitchFamily="18" charset="0"/>
                                </a:rPr>
                                <m:t>1</m:t>
                              </m:r>
                            </m:e>
                            <m:e>
                              <m:r>
                                <a:rPr lang="en-US" i="1" smtClean="0">
                                  <a:solidFill>
                                    <a:srgbClr val="FF0000"/>
                                  </a:solidFill>
                                  <a:latin typeface="Cambria Math" panose="02040503050406030204" pitchFamily="18" charset="0"/>
                                </a:rPr>
                                <m:t>&amp;</m:t>
                              </m:r>
                              <m:r>
                                <a:rPr lang="en-US" b="0" i="1" smtClean="0">
                                  <a:solidFill>
                                    <a:srgbClr val="FF0000"/>
                                  </a:solidFill>
                                  <a:latin typeface="Cambria Math" panose="02040503050406030204" pitchFamily="18" charset="0"/>
                                </a:rPr>
                                <m:t>0</m:t>
                              </m:r>
                              <m:r>
                                <a:rPr lang="en-US"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𝑦𝑧</m:t>
                              </m:r>
                              <m:r>
                                <a:rPr lang="en-US"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1</m:t>
                              </m:r>
                            </m:e>
                          </m:eqArr>
                        </m:e>
                      </m:d>
                    </m:oMath>
                  </m:oMathPara>
                </a14:m>
                <a:endParaRPr lang="en-US" dirty="0"/>
              </a:p>
            </p:txBody>
          </p:sp>
        </mc:Choice>
        <mc:Fallback xmlns="">
          <p:sp>
            <p:nvSpPr>
              <p:cNvPr id="120" name="TextBox 119">
                <a:extLst>
                  <a:ext uri="{FF2B5EF4-FFF2-40B4-BE49-F238E27FC236}">
                    <a16:creationId xmlns:a16="http://schemas.microsoft.com/office/drawing/2014/main" id="{C1EAF825-7CFB-47CE-85EF-4B2993E70CC8}"/>
                  </a:ext>
                </a:extLst>
              </p:cNvPr>
              <p:cNvSpPr txBox="1">
                <a:spLocks noRot="1" noChangeAspect="1" noMove="1" noResize="1" noEditPoints="1" noAdjustHandles="1" noChangeArrowheads="1" noChangeShapeType="1" noTextEdit="1"/>
              </p:cNvSpPr>
              <p:nvPr/>
            </p:nvSpPr>
            <p:spPr>
              <a:xfrm>
                <a:off x="7386961" y="5037296"/>
                <a:ext cx="2445478" cy="617861"/>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853E90D7-D26A-4B33-A2C6-351EBCE16E1E}"/>
                  </a:ext>
                </a:extLst>
              </p:cNvPr>
              <p:cNvSpPr txBox="1"/>
              <p:nvPr/>
            </p:nvSpPr>
            <p:spPr>
              <a:xfrm>
                <a:off x="6313163" y="1813733"/>
                <a:ext cx="19692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𝑦</m:t>
                      </m:r>
                      <m:r>
                        <a:rPr lang="en-US" b="0" i="1" smtClean="0">
                          <a:solidFill>
                            <a:schemeClr val="accent1"/>
                          </a:solidFill>
                          <a:latin typeface="Cambria Math" panose="02040503050406030204" pitchFamily="18" charset="0"/>
                          <a:ea typeface="Cambria Math" panose="02040503050406030204" pitchFamily="18" charset="0"/>
                        </a:rPr>
                        <m:t>∈</m:t>
                      </m:r>
                      <m:r>
                        <a:rPr lang="en-US" b="0" i="1" smtClean="0">
                          <a:solidFill>
                            <a:schemeClr val="accent1"/>
                          </a:solidFill>
                          <a:latin typeface="Cambria Math" panose="02040503050406030204" pitchFamily="18" charset="0"/>
                          <a:ea typeface="Cambria Math" panose="02040503050406030204" pitchFamily="18" charset="0"/>
                        </a:rPr>
                        <m:t>ℝ</m:t>
                      </m:r>
                      <m:r>
                        <m:rPr>
                          <m:nor/>
                        </m:rPr>
                        <a:rPr lang="en-US" b="0" i="0" smtClean="0">
                          <a:solidFill>
                            <a:schemeClr val="accent1"/>
                          </a:solidFill>
                          <a:latin typeface="Cambria Math" panose="02040503050406030204" pitchFamily="18" charset="0"/>
                          <a:ea typeface="Cambria Math" panose="02040503050406030204" pitchFamily="18" charset="0"/>
                        </a:rPr>
                        <m:t>  (</m:t>
                      </m:r>
                      <m:r>
                        <m:rPr>
                          <m:nor/>
                        </m:rPr>
                        <a:rPr lang="en-US" b="0" i="0" smtClean="0">
                          <a:solidFill>
                            <a:schemeClr val="accent1"/>
                          </a:solidFill>
                          <a:latin typeface="Cambria Math" panose="02040503050406030204" pitchFamily="18" charset="0"/>
                          <a:ea typeface="Cambria Math" panose="02040503050406030204" pitchFamily="18" charset="0"/>
                        </a:rPr>
                        <m:t>regression</m:t>
                      </m:r>
                      <m:r>
                        <m:rPr>
                          <m:nor/>
                        </m:rPr>
                        <a:rPr lang="en-US" b="0" i="0" smtClean="0">
                          <a:solidFill>
                            <a:schemeClr val="accent1"/>
                          </a:solidFill>
                          <a:latin typeface="Cambria Math" panose="02040503050406030204" pitchFamily="18" charset="0"/>
                          <a:ea typeface="Cambria Math" panose="02040503050406030204" pitchFamily="18" charset="0"/>
                        </a:rPr>
                        <m:t>)</m:t>
                      </m:r>
                    </m:oMath>
                  </m:oMathPara>
                </a14:m>
                <a:endParaRPr lang="en-US" dirty="0">
                  <a:solidFill>
                    <a:schemeClr val="accent1"/>
                  </a:solidFill>
                </a:endParaRPr>
              </a:p>
            </p:txBody>
          </p:sp>
        </mc:Choice>
        <mc:Fallback xmlns="">
          <p:sp>
            <p:nvSpPr>
              <p:cNvPr id="124" name="TextBox 123">
                <a:extLst>
                  <a:ext uri="{FF2B5EF4-FFF2-40B4-BE49-F238E27FC236}">
                    <a16:creationId xmlns:a16="http://schemas.microsoft.com/office/drawing/2014/main" id="{853E90D7-D26A-4B33-A2C6-351EBCE16E1E}"/>
                  </a:ext>
                </a:extLst>
              </p:cNvPr>
              <p:cNvSpPr txBox="1">
                <a:spLocks noRot="1" noChangeAspect="1" noMove="1" noResize="1" noEditPoints="1" noAdjustHandles="1" noChangeArrowheads="1" noChangeShapeType="1" noTextEdit="1"/>
              </p:cNvSpPr>
              <p:nvPr/>
            </p:nvSpPr>
            <p:spPr>
              <a:xfrm>
                <a:off x="6313163" y="1813733"/>
                <a:ext cx="1969257" cy="276999"/>
              </a:xfrm>
              <a:prstGeom prst="rect">
                <a:avLst/>
              </a:prstGeom>
              <a:blipFill>
                <a:blip r:embed="rId21"/>
                <a:stretch>
                  <a:fillRect l="-2477" t="-4444" r="-4025"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57BEE160-A756-49BB-BE9D-EBACAE3482CE}"/>
                  </a:ext>
                </a:extLst>
              </p:cNvPr>
              <p:cNvSpPr txBox="1"/>
              <p:nvPr/>
            </p:nvSpPr>
            <p:spPr>
              <a:xfrm>
                <a:off x="6320213" y="2772423"/>
                <a:ext cx="171598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𝑦</m:t>
                      </m:r>
                      <m:r>
                        <a:rPr lang="en-US" b="0" i="1" smtClean="0">
                          <a:solidFill>
                            <a:schemeClr val="accent1"/>
                          </a:solidFill>
                          <a:latin typeface="Cambria Math" panose="02040503050406030204" pitchFamily="18" charset="0"/>
                          <a:ea typeface="Cambria Math" panose="02040503050406030204" pitchFamily="18" charset="0"/>
                        </a:rPr>
                        <m:t>∈</m:t>
                      </m:r>
                      <m:r>
                        <m:rPr>
                          <m:nor/>
                        </m:rPr>
                        <a:rPr lang="en-US" b="0" i="0" smtClean="0">
                          <a:solidFill>
                            <a:schemeClr val="accent1"/>
                          </a:solidFill>
                          <a:latin typeface="Cambria Math" panose="02040503050406030204" pitchFamily="18" charset="0"/>
                          <a:ea typeface="Cambria Math" panose="02040503050406030204" pitchFamily="18" charset="0"/>
                        </a:rPr>
                        <m:t>{0,1) (</m:t>
                      </m:r>
                      <m:r>
                        <m:rPr>
                          <m:nor/>
                        </m:rPr>
                        <a:rPr lang="en-US" b="0" i="0" smtClean="0">
                          <a:solidFill>
                            <a:schemeClr val="accent1"/>
                          </a:solidFill>
                          <a:latin typeface="Cambria Math" panose="02040503050406030204" pitchFamily="18" charset="0"/>
                          <a:ea typeface="Cambria Math" panose="02040503050406030204" pitchFamily="18" charset="0"/>
                        </a:rPr>
                        <m:t>class</m:t>
                      </m:r>
                      <m:r>
                        <m:rPr>
                          <m:nor/>
                        </m:rPr>
                        <a:rPr lang="en-US" b="0" i="0" smtClean="0">
                          <a:solidFill>
                            <a:schemeClr val="accent1"/>
                          </a:solidFill>
                          <a:latin typeface="Cambria Math" panose="02040503050406030204" pitchFamily="18" charset="0"/>
                          <a:ea typeface="Cambria Math" panose="02040503050406030204" pitchFamily="18" charset="0"/>
                        </a:rPr>
                        <m:t>.)</m:t>
                      </m:r>
                    </m:oMath>
                  </m:oMathPara>
                </a14:m>
                <a:endParaRPr lang="en-US" dirty="0">
                  <a:solidFill>
                    <a:schemeClr val="accent1"/>
                  </a:solidFill>
                </a:endParaRPr>
              </a:p>
            </p:txBody>
          </p:sp>
        </mc:Choice>
        <mc:Fallback xmlns="">
          <p:sp>
            <p:nvSpPr>
              <p:cNvPr id="126" name="TextBox 125">
                <a:extLst>
                  <a:ext uri="{FF2B5EF4-FFF2-40B4-BE49-F238E27FC236}">
                    <a16:creationId xmlns:a16="http://schemas.microsoft.com/office/drawing/2014/main" id="{57BEE160-A756-49BB-BE9D-EBACAE3482CE}"/>
                  </a:ext>
                </a:extLst>
              </p:cNvPr>
              <p:cNvSpPr txBox="1">
                <a:spLocks noRot="1" noChangeAspect="1" noMove="1" noResize="1" noEditPoints="1" noAdjustHandles="1" noChangeArrowheads="1" noChangeShapeType="1" noTextEdit="1"/>
              </p:cNvSpPr>
              <p:nvPr/>
            </p:nvSpPr>
            <p:spPr>
              <a:xfrm>
                <a:off x="6320213" y="2772423"/>
                <a:ext cx="1715983" cy="276999"/>
              </a:xfrm>
              <a:prstGeom prst="rect">
                <a:avLst/>
              </a:prstGeom>
              <a:blipFill>
                <a:blip r:embed="rId22"/>
                <a:stretch>
                  <a:fillRect l="-2847" t="-4444" r="-4982" b="-3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CE69F8C9-A830-4980-AD43-03F2E0696C6B}"/>
                  </a:ext>
                </a:extLst>
              </p:cNvPr>
              <p:cNvSpPr txBox="1"/>
              <p:nvPr/>
            </p:nvSpPr>
            <p:spPr>
              <a:xfrm>
                <a:off x="6316369" y="3942605"/>
                <a:ext cx="196605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𝑦</m:t>
                      </m:r>
                      <m:r>
                        <a:rPr lang="en-US" b="0" i="1" smtClean="0">
                          <a:solidFill>
                            <a:schemeClr val="accent1"/>
                          </a:solidFill>
                          <a:latin typeface="Cambria Math" panose="02040503050406030204" pitchFamily="18" charset="0"/>
                          <a:ea typeface="Cambria Math" panose="02040503050406030204" pitchFamily="18" charset="0"/>
                        </a:rPr>
                        <m:t>∈</m:t>
                      </m:r>
                      <m:r>
                        <m:rPr>
                          <m:nor/>
                        </m:rPr>
                        <a:rPr lang="en-US" b="0" i="0" smtClean="0">
                          <a:solidFill>
                            <a:schemeClr val="accent1"/>
                          </a:solidFill>
                          <a:latin typeface="Cambria Math" panose="02040503050406030204" pitchFamily="18" charset="0"/>
                          <a:ea typeface="Cambria Math" panose="02040503050406030204" pitchFamily="18" charset="0"/>
                        </a:rPr>
                        <m:t>{−1,+1) (</m:t>
                      </m:r>
                      <m:r>
                        <m:rPr>
                          <m:nor/>
                        </m:rPr>
                        <a:rPr lang="en-US" b="0" i="0" smtClean="0">
                          <a:solidFill>
                            <a:schemeClr val="accent1"/>
                          </a:solidFill>
                          <a:latin typeface="Cambria Math" panose="02040503050406030204" pitchFamily="18" charset="0"/>
                          <a:ea typeface="Cambria Math" panose="02040503050406030204" pitchFamily="18" charset="0"/>
                        </a:rPr>
                        <m:t>class</m:t>
                      </m:r>
                      <m:r>
                        <m:rPr>
                          <m:nor/>
                        </m:rPr>
                        <a:rPr lang="en-US" b="0" i="0" smtClean="0">
                          <a:solidFill>
                            <a:schemeClr val="accent1"/>
                          </a:solidFill>
                          <a:latin typeface="Cambria Math" panose="02040503050406030204" pitchFamily="18" charset="0"/>
                          <a:ea typeface="Cambria Math" panose="02040503050406030204" pitchFamily="18" charset="0"/>
                        </a:rPr>
                        <m:t>.)</m:t>
                      </m:r>
                    </m:oMath>
                  </m:oMathPara>
                </a14:m>
                <a:endParaRPr lang="en-US" dirty="0">
                  <a:solidFill>
                    <a:schemeClr val="accent1"/>
                  </a:solidFill>
                </a:endParaRPr>
              </a:p>
            </p:txBody>
          </p:sp>
        </mc:Choice>
        <mc:Fallback xmlns="">
          <p:sp>
            <p:nvSpPr>
              <p:cNvPr id="128" name="TextBox 127">
                <a:extLst>
                  <a:ext uri="{FF2B5EF4-FFF2-40B4-BE49-F238E27FC236}">
                    <a16:creationId xmlns:a16="http://schemas.microsoft.com/office/drawing/2014/main" id="{CE69F8C9-A830-4980-AD43-03F2E0696C6B}"/>
                  </a:ext>
                </a:extLst>
              </p:cNvPr>
              <p:cNvSpPr txBox="1">
                <a:spLocks noRot="1" noChangeAspect="1" noMove="1" noResize="1" noEditPoints="1" noAdjustHandles="1" noChangeArrowheads="1" noChangeShapeType="1" noTextEdit="1"/>
              </p:cNvSpPr>
              <p:nvPr/>
            </p:nvSpPr>
            <p:spPr>
              <a:xfrm>
                <a:off x="6316369" y="3942605"/>
                <a:ext cx="1966051" cy="276999"/>
              </a:xfrm>
              <a:prstGeom prst="rect">
                <a:avLst/>
              </a:prstGeom>
              <a:blipFill>
                <a:blip r:embed="rId23"/>
                <a:stretch>
                  <a:fillRect l="-2477" t="-4444" r="-4025" b="-37778"/>
                </a:stretch>
              </a:blipFill>
            </p:spPr>
            <p:txBody>
              <a:bodyPr/>
              <a:lstStyle/>
              <a:p>
                <a:r>
                  <a:rPr lang="en-US">
                    <a:noFill/>
                  </a:rPr>
                  <a:t> </a:t>
                </a:r>
              </a:p>
            </p:txBody>
          </p:sp>
        </mc:Fallback>
      </mc:AlternateContent>
      <p:pic>
        <p:nvPicPr>
          <p:cNvPr id="5" name="Picture 4" descr="A picture containing different, object, photo, group&#10;&#10;Description automatically generated">
            <a:extLst>
              <a:ext uri="{FF2B5EF4-FFF2-40B4-BE49-F238E27FC236}">
                <a16:creationId xmlns:a16="http://schemas.microsoft.com/office/drawing/2014/main" id="{5962B037-78B0-4945-AA95-31D019631C3C}"/>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99364" y="1577368"/>
            <a:ext cx="928990" cy="853851"/>
          </a:xfrm>
          <a:prstGeom prst="rect">
            <a:avLst/>
          </a:prstGeom>
        </p:spPr>
      </p:pic>
      <p:sp>
        <p:nvSpPr>
          <p:cNvPr id="4" name="TextBox 3">
            <a:extLst>
              <a:ext uri="{FF2B5EF4-FFF2-40B4-BE49-F238E27FC236}">
                <a16:creationId xmlns:a16="http://schemas.microsoft.com/office/drawing/2014/main" id="{833FC16B-8839-43C7-AF76-CDFB6FB9C2E6}"/>
              </a:ext>
            </a:extLst>
          </p:cNvPr>
          <p:cNvSpPr txBox="1"/>
          <p:nvPr/>
        </p:nvSpPr>
        <p:spPr>
          <a:xfrm>
            <a:off x="222651" y="1280168"/>
            <a:ext cx="1303498" cy="307777"/>
          </a:xfrm>
          <a:prstGeom prst="rect">
            <a:avLst/>
          </a:prstGeom>
          <a:noFill/>
        </p:spPr>
        <p:txBody>
          <a:bodyPr wrap="none" rtlCol="0">
            <a:spAutoFit/>
          </a:bodyPr>
          <a:lstStyle/>
          <a:p>
            <a:r>
              <a:rPr lang="en-US" sz="1400" b="1" dirty="0"/>
              <a:t>Linear/Identity</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8633FCB-F240-4E39-A4D8-0C90D06749B4}"/>
                  </a:ext>
                </a:extLst>
              </p:cNvPr>
              <p:cNvSpPr txBox="1"/>
              <p:nvPr/>
            </p:nvSpPr>
            <p:spPr>
              <a:xfrm>
                <a:off x="1466569" y="1865793"/>
                <a:ext cx="21680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0"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φ</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=1</m:t>
                      </m:r>
                    </m:oMath>
                  </m:oMathPara>
                </a14:m>
                <a:endParaRPr lang="en-US" dirty="0"/>
              </a:p>
            </p:txBody>
          </p:sp>
        </mc:Choice>
        <mc:Fallback xmlns="">
          <p:sp>
            <p:nvSpPr>
              <p:cNvPr id="6" name="TextBox 5">
                <a:extLst>
                  <a:ext uri="{FF2B5EF4-FFF2-40B4-BE49-F238E27FC236}">
                    <a16:creationId xmlns:a16="http://schemas.microsoft.com/office/drawing/2014/main" id="{98633FCB-F240-4E39-A4D8-0C90D06749B4}"/>
                  </a:ext>
                </a:extLst>
              </p:cNvPr>
              <p:cNvSpPr txBox="1">
                <a:spLocks noRot="1" noChangeAspect="1" noMove="1" noResize="1" noEditPoints="1" noAdjustHandles="1" noChangeArrowheads="1" noChangeShapeType="1" noTextEdit="1"/>
              </p:cNvSpPr>
              <p:nvPr/>
            </p:nvSpPr>
            <p:spPr>
              <a:xfrm>
                <a:off x="1466569" y="1865793"/>
                <a:ext cx="2168094" cy="276999"/>
              </a:xfrm>
              <a:prstGeom prst="rect">
                <a:avLst/>
              </a:prstGeom>
              <a:blipFill>
                <a:blip r:embed="rId25"/>
                <a:stretch>
                  <a:fillRect l="-2254" r="-2254" b="-23913"/>
                </a:stretch>
              </a:blipFill>
            </p:spPr>
            <p:txBody>
              <a:bodyPr/>
              <a:lstStyle/>
              <a:p>
                <a:r>
                  <a:rPr lang="en-US">
                    <a:noFill/>
                  </a:rPr>
                  <a:t> </a:t>
                </a:r>
              </a:p>
            </p:txBody>
          </p:sp>
        </mc:Fallback>
      </mc:AlternateContent>
    </p:spTree>
    <p:extLst>
      <p:ext uri="{BB962C8B-B14F-4D97-AF65-F5344CB8AC3E}">
        <p14:creationId xmlns:p14="http://schemas.microsoft.com/office/powerpoint/2010/main" val="3772855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3D118-3DD3-448C-988A-E8B3C47E10D3}"/>
              </a:ext>
            </a:extLst>
          </p:cNvPr>
          <p:cNvSpPr>
            <a:spLocks noGrp="1"/>
          </p:cNvSpPr>
          <p:nvPr>
            <p:ph type="title"/>
          </p:nvPr>
        </p:nvSpPr>
        <p:spPr>
          <a:xfrm>
            <a:off x="321148" y="-198444"/>
            <a:ext cx="10515600" cy="1325563"/>
          </a:xfrm>
        </p:spPr>
        <p:txBody>
          <a:bodyPr/>
          <a:lstStyle/>
          <a:p>
            <a:r>
              <a:rPr lang="en-US" dirty="0"/>
              <a:t>NN Recap</a:t>
            </a:r>
          </a:p>
        </p:txBody>
      </p:sp>
      <p:sp>
        <p:nvSpPr>
          <p:cNvPr id="95" name="Text Placeholder 94">
            <a:extLst>
              <a:ext uri="{FF2B5EF4-FFF2-40B4-BE49-F238E27FC236}">
                <a16:creationId xmlns:a16="http://schemas.microsoft.com/office/drawing/2014/main" id="{1D289687-CB8C-422B-A57E-D16914B04230}"/>
              </a:ext>
            </a:extLst>
          </p:cNvPr>
          <p:cNvSpPr>
            <a:spLocks noGrp="1"/>
          </p:cNvSpPr>
          <p:nvPr>
            <p:ph sz="half" idx="1"/>
          </p:nvPr>
        </p:nvSpPr>
        <p:spPr>
          <a:xfrm>
            <a:off x="822957" y="831876"/>
            <a:ext cx="5181600" cy="4351338"/>
          </a:xfrm>
        </p:spPr>
        <p:txBody>
          <a:bodyPr/>
          <a:lstStyle/>
          <a:p>
            <a:r>
              <a:rPr lang="en-US" dirty="0"/>
              <a:t>Activation Functions</a:t>
            </a:r>
          </a:p>
          <a:p>
            <a:pPr marL="0" indent="0">
              <a:buNone/>
            </a:pPr>
            <a:endParaRPr lang="en-US" dirty="0"/>
          </a:p>
        </p:txBody>
      </p:sp>
      <p:sp>
        <p:nvSpPr>
          <p:cNvPr id="93" name="Text Placeholder 92">
            <a:extLst>
              <a:ext uri="{FF2B5EF4-FFF2-40B4-BE49-F238E27FC236}">
                <a16:creationId xmlns:a16="http://schemas.microsoft.com/office/drawing/2014/main" id="{38CD5705-F030-4C05-9591-5F2BE2537F22}"/>
              </a:ext>
            </a:extLst>
          </p:cNvPr>
          <p:cNvSpPr>
            <a:spLocks noGrp="1"/>
          </p:cNvSpPr>
          <p:nvPr>
            <p:ph sz="half" idx="2"/>
          </p:nvPr>
        </p:nvSpPr>
        <p:spPr>
          <a:xfrm>
            <a:off x="6187445" y="831876"/>
            <a:ext cx="5181600" cy="4351338"/>
          </a:xfrm>
        </p:spPr>
        <p:txBody>
          <a:bodyPr/>
          <a:lstStyle/>
          <a:p>
            <a:r>
              <a:rPr lang="en-US" dirty="0"/>
              <a:t>Loss functions</a:t>
            </a:r>
          </a:p>
        </p:txBody>
      </p:sp>
      <p:pic>
        <p:nvPicPr>
          <p:cNvPr id="3" name="Picture 2">
            <a:extLst>
              <a:ext uri="{FF2B5EF4-FFF2-40B4-BE49-F238E27FC236}">
                <a16:creationId xmlns:a16="http://schemas.microsoft.com/office/drawing/2014/main" id="{CD29D03B-16E8-4872-B04F-1FA76FBCF13E}"/>
              </a:ext>
            </a:extLst>
          </p:cNvPr>
          <p:cNvPicPr>
            <a:picLocks noChangeAspect="1"/>
          </p:cNvPicPr>
          <p:nvPr/>
        </p:nvPicPr>
        <p:blipFill>
          <a:blip r:embed="rId2"/>
          <a:stretch>
            <a:fillRect/>
          </a:stretch>
        </p:blipFill>
        <p:spPr>
          <a:xfrm>
            <a:off x="182974" y="2471533"/>
            <a:ext cx="1186415" cy="1097693"/>
          </a:xfrm>
          <a:prstGeom prst="rect">
            <a:avLst/>
          </a:prstGeom>
        </p:spPr>
      </p:pic>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59E9FF66-4358-4874-86B2-329F9684B2EA}"/>
                  </a:ext>
                </a:extLst>
              </p:cNvPr>
              <p:cNvSpPr txBox="1"/>
              <p:nvPr/>
            </p:nvSpPr>
            <p:spPr>
              <a:xfrm>
                <a:off x="1461910" y="2552236"/>
                <a:ext cx="4150432"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1+</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sup>
                          </m:sSup>
                        </m:den>
                      </m:f>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𝜑</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94" name="TextBox 93">
                <a:extLst>
                  <a:ext uri="{FF2B5EF4-FFF2-40B4-BE49-F238E27FC236}">
                    <a16:creationId xmlns:a16="http://schemas.microsoft.com/office/drawing/2014/main" id="{59E9FF66-4358-4874-86B2-329F9684B2EA}"/>
                  </a:ext>
                </a:extLst>
              </p:cNvPr>
              <p:cNvSpPr txBox="1">
                <a:spLocks noRot="1" noChangeAspect="1" noMove="1" noResize="1" noEditPoints="1" noAdjustHandles="1" noChangeArrowheads="1" noChangeShapeType="1" noTextEdit="1"/>
              </p:cNvSpPr>
              <p:nvPr/>
            </p:nvSpPr>
            <p:spPr>
              <a:xfrm>
                <a:off x="1461910" y="2552236"/>
                <a:ext cx="4150432" cy="52501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BBBA9675-C1F1-4DAC-91CB-5D9FDF8CDC6E}"/>
                  </a:ext>
                </a:extLst>
              </p:cNvPr>
              <p:cNvSpPr txBox="1"/>
              <p:nvPr/>
            </p:nvSpPr>
            <p:spPr>
              <a:xfrm>
                <a:off x="1515417" y="3743645"/>
                <a:ext cx="3703130" cy="5361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𝑧</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𝑧</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sup>
                          </m:sSup>
                        </m:den>
                      </m:f>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𝜑</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=1−</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97" name="TextBox 96">
                <a:extLst>
                  <a:ext uri="{FF2B5EF4-FFF2-40B4-BE49-F238E27FC236}">
                    <a16:creationId xmlns:a16="http://schemas.microsoft.com/office/drawing/2014/main" id="{BBBA9675-C1F1-4DAC-91CB-5D9FDF8CDC6E}"/>
                  </a:ext>
                </a:extLst>
              </p:cNvPr>
              <p:cNvSpPr txBox="1">
                <a:spLocks noRot="1" noChangeAspect="1" noMove="1" noResize="1" noEditPoints="1" noAdjustHandles="1" noChangeArrowheads="1" noChangeShapeType="1" noTextEdit="1"/>
              </p:cNvSpPr>
              <p:nvPr/>
            </p:nvSpPr>
            <p:spPr>
              <a:xfrm>
                <a:off x="1515417" y="3743645"/>
                <a:ext cx="3703130" cy="53610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B27E139E-7F78-4977-906D-35E63225BB5C}"/>
                  </a:ext>
                </a:extLst>
              </p:cNvPr>
              <p:cNvSpPr txBox="1"/>
              <p:nvPr/>
            </p:nvSpPr>
            <p:spPr>
              <a:xfrm>
                <a:off x="1461910" y="4886577"/>
                <a:ext cx="4061945"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max</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𝑧</m:t>
                              </m:r>
                            </m:e>
                          </m:d>
                        </m:e>
                      </m:func>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𝜑</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0,  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&lt;0</m:t>
                              </m:r>
                            </m:e>
                            <m:e>
                              <m:r>
                                <a:rPr lang="en-US" b="0" i="1" smtClean="0">
                                  <a:latin typeface="Cambria Math" panose="02040503050406030204" pitchFamily="18" charset="0"/>
                                  <a:ea typeface="Cambria Math" panose="02040503050406030204" pitchFamily="18" charset="0"/>
                                </a:rPr>
                                <m:t>&amp;1,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≥0</m:t>
                              </m:r>
                            </m:e>
                          </m:eqArr>
                        </m:e>
                      </m:d>
                    </m:oMath>
                  </m:oMathPara>
                </a14:m>
                <a:endParaRPr lang="en-US" dirty="0"/>
              </a:p>
            </p:txBody>
          </p:sp>
        </mc:Choice>
        <mc:Fallback xmlns="">
          <p:sp>
            <p:nvSpPr>
              <p:cNvPr id="98" name="TextBox 97">
                <a:extLst>
                  <a:ext uri="{FF2B5EF4-FFF2-40B4-BE49-F238E27FC236}">
                    <a16:creationId xmlns:a16="http://schemas.microsoft.com/office/drawing/2014/main" id="{B27E139E-7F78-4977-906D-35E63225BB5C}"/>
                  </a:ext>
                </a:extLst>
              </p:cNvPr>
              <p:cNvSpPr txBox="1">
                <a:spLocks noRot="1" noChangeAspect="1" noMove="1" noResize="1" noEditPoints="1" noAdjustHandles="1" noChangeArrowheads="1" noChangeShapeType="1" noTextEdit="1"/>
              </p:cNvSpPr>
              <p:nvPr/>
            </p:nvSpPr>
            <p:spPr>
              <a:xfrm>
                <a:off x="1461910" y="4886577"/>
                <a:ext cx="4061945" cy="61786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EDB59808-DEBF-41F6-BF36-E01236E5A964}"/>
                  </a:ext>
                </a:extLst>
              </p:cNvPr>
              <p:cNvSpPr txBox="1"/>
              <p:nvPr/>
            </p:nvSpPr>
            <p:spPr>
              <a:xfrm>
                <a:off x="3634663" y="5769052"/>
                <a:ext cx="4171335"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max</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e>
                          </m:d>
                        </m:e>
                      </m:func>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𝜑</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eqArr>
                            <m:eqArrPr>
                              <m:ctrlPr>
                                <a:rPr lang="en-US" b="0" i="1" smtClean="0">
                                  <a:latin typeface="Cambria Math" panose="02040503050406030204" pitchFamily="18" charset="0"/>
                                  <a:ea typeface="Cambria Math" panose="02040503050406030204" pitchFamily="18" charset="0"/>
                                </a:rPr>
                              </m:ctrlPr>
                            </m:eqArrPr>
                            <m:e>
                              <m:r>
                                <a:rPr lang="en-US" i="1">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&lt;0</m:t>
                              </m:r>
                            </m:e>
                            <m:e>
                              <m:r>
                                <a:rPr lang="en-US" b="0" i="1" smtClean="0">
                                  <a:latin typeface="Cambria Math" panose="02040503050406030204" pitchFamily="18" charset="0"/>
                                  <a:ea typeface="Cambria Math" panose="02040503050406030204" pitchFamily="18" charset="0"/>
                                </a:rPr>
                                <m:t>&amp;1,  </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≥0</m:t>
                              </m:r>
                            </m:e>
                          </m:eqArr>
                        </m:e>
                      </m:d>
                    </m:oMath>
                  </m:oMathPara>
                </a14:m>
                <a:endParaRPr lang="en-US" dirty="0"/>
              </a:p>
            </p:txBody>
          </p:sp>
        </mc:Choice>
        <mc:Fallback xmlns="">
          <p:sp>
            <p:nvSpPr>
              <p:cNvPr id="100" name="TextBox 99">
                <a:extLst>
                  <a:ext uri="{FF2B5EF4-FFF2-40B4-BE49-F238E27FC236}">
                    <a16:creationId xmlns:a16="http://schemas.microsoft.com/office/drawing/2014/main" id="{EDB59808-DEBF-41F6-BF36-E01236E5A964}"/>
                  </a:ext>
                </a:extLst>
              </p:cNvPr>
              <p:cNvSpPr txBox="1">
                <a:spLocks noRot="1" noChangeAspect="1" noMove="1" noResize="1" noEditPoints="1" noAdjustHandles="1" noChangeArrowheads="1" noChangeShapeType="1" noTextEdit="1"/>
              </p:cNvSpPr>
              <p:nvPr/>
            </p:nvSpPr>
            <p:spPr>
              <a:xfrm>
                <a:off x="3634663" y="5769052"/>
                <a:ext cx="4171335" cy="617861"/>
              </a:xfrm>
              <a:prstGeom prst="rect">
                <a:avLst/>
              </a:prstGeom>
              <a:blipFill>
                <a:blip r:embed="rId6"/>
                <a:stretch>
                  <a:fillRect/>
                </a:stretch>
              </a:blipFill>
            </p:spPr>
            <p:txBody>
              <a:bodyPr/>
              <a:lstStyle/>
              <a:p>
                <a:r>
                  <a:rPr lang="en-US">
                    <a:noFill/>
                  </a:rPr>
                  <a:t> </a:t>
                </a:r>
              </a:p>
            </p:txBody>
          </p:sp>
        </mc:Fallback>
      </mc:AlternateContent>
      <p:pic>
        <p:nvPicPr>
          <p:cNvPr id="103" name="Picture 102">
            <a:extLst>
              <a:ext uri="{FF2B5EF4-FFF2-40B4-BE49-F238E27FC236}">
                <a16:creationId xmlns:a16="http://schemas.microsoft.com/office/drawing/2014/main" id="{EE2F2A93-FB7D-472D-BDE2-C3296D95CCFB}"/>
              </a:ext>
            </a:extLst>
          </p:cNvPr>
          <p:cNvPicPr>
            <a:picLocks noChangeAspect="1"/>
          </p:cNvPicPr>
          <p:nvPr/>
        </p:nvPicPr>
        <p:blipFill>
          <a:blip r:embed="rId7"/>
          <a:stretch>
            <a:fillRect/>
          </a:stretch>
        </p:blipFill>
        <p:spPr>
          <a:xfrm>
            <a:off x="222651" y="3639727"/>
            <a:ext cx="1146738" cy="1030378"/>
          </a:xfrm>
          <a:prstGeom prst="rect">
            <a:avLst/>
          </a:prstGeom>
        </p:spPr>
      </p:pic>
      <p:pic>
        <p:nvPicPr>
          <p:cNvPr id="104" name="Picture 103">
            <a:extLst>
              <a:ext uri="{FF2B5EF4-FFF2-40B4-BE49-F238E27FC236}">
                <a16:creationId xmlns:a16="http://schemas.microsoft.com/office/drawing/2014/main" id="{B96C037F-E994-42C2-8C3E-C817F26CAEA3}"/>
              </a:ext>
            </a:extLst>
          </p:cNvPr>
          <p:cNvPicPr>
            <a:picLocks noChangeAspect="1"/>
          </p:cNvPicPr>
          <p:nvPr/>
        </p:nvPicPr>
        <p:blipFill>
          <a:blip r:embed="rId8"/>
          <a:stretch>
            <a:fillRect/>
          </a:stretch>
        </p:blipFill>
        <p:spPr>
          <a:xfrm>
            <a:off x="182974" y="4740606"/>
            <a:ext cx="1238001" cy="1320071"/>
          </a:xfrm>
          <a:prstGeom prst="rect">
            <a:avLst/>
          </a:prstGeom>
        </p:spPr>
      </p:pic>
      <p:pic>
        <p:nvPicPr>
          <p:cNvPr id="105" name="Picture 104">
            <a:extLst>
              <a:ext uri="{FF2B5EF4-FFF2-40B4-BE49-F238E27FC236}">
                <a16:creationId xmlns:a16="http://schemas.microsoft.com/office/drawing/2014/main" id="{B84E18EB-7B89-4537-82BB-387AB4E14D16}"/>
              </a:ext>
            </a:extLst>
          </p:cNvPr>
          <p:cNvPicPr>
            <a:picLocks noChangeAspect="1"/>
          </p:cNvPicPr>
          <p:nvPr/>
        </p:nvPicPr>
        <p:blipFill>
          <a:blip r:embed="rId9"/>
          <a:stretch>
            <a:fillRect/>
          </a:stretch>
        </p:blipFill>
        <p:spPr>
          <a:xfrm>
            <a:off x="2452832" y="5537854"/>
            <a:ext cx="1036588" cy="1298856"/>
          </a:xfrm>
          <a:prstGeom prst="rect">
            <a:avLst/>
          </a:prstGeom>
        </p:spPr>
      </p:pic>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4DF8398D-7989-40CA-A0EE-9536D2EEBAF9}"/>
                  </a:ext>
                </a:extLst>
              </p:cNvPr>
              <p:cNvSpPr txBox="1"/>
              <p:nvPr/>
            </p:nvSpPr>
            <p:spPr>
              <a:xfrm>
                <a:off x="6320213" y="1965616"/>
                <a:ext cx="3253968"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ea typeface="Cambria Math" panose="02040503050406030204" pitchFamily="18" charset="0"/>
                        </a:rPr>
                        <m:t>square</m:t>
                      </m:r>
                      <m:r>
                        <a:rPr lang="en-US" b="0" i="0" smtClean="0">
                          <a:latin typeface="Cambria Math" panose="02040503050406030204" pitchFamily="18" charset="0"/>
                          <a:ea typeface="Cambria Math" panose="02040503050406030204" pitchFamily="18" charset="0"/>
                        </a:rPr>
                        <m:t> </m:t>
                      </m:r>
                      <m:r>
                        <m:rPr>
                          <m:sty m:val="p"/>
                        </m:rPr>
                        <a:rPr lang="en-US" b="0" i="0" smtClean="0">
                          <a:latin typeface="Cambria Math" panose="02040503050406030204" pitchFamily="18" charset="0"/>
                          <a:ea typeface="Cambria Math" panose="02040503050406030204" pitchFamily="18" charset="0"/>
                        </a:rPr>
                        <m:t>loss</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e>
                          </m:d>
                        </m:e>
                        <m:sup>
                          <m:r>
                            <a:rPr lang="en-US" b="0" i="1" smtClean="0">
                              <a:latin typeface="Cambria Math" panose="02040503050406030204" pitchFamily="18" charset="0"/>
                              <a:ea typeface="Cambria Math" panose="02040503050406030204" pitchFamily="18" charset="0"/>
                            </a:rPr>
                            <m:t>2</m:t>
                          </m:r>
                        </m:sup>
                      </m:sSup>
                    </m:oMath>
                  </m:oMathPara>
                </a14:m>
                <a:endParaRPr lang="en-US" dirty="0"/>
              </a:p>
            </p:txBody>
          </p:sp>
        </mc:Choice>
        <mc:Fallback xmlns="">
          <p:sp>
            <p:nvSpPr>
              <p:cNvPr id="107" name="TextBox 106">
                <a:extLst>
                  <a:ext uri="{FF2B5EF4-FFF2-40B4-BE49-F238E27FC236}">
                    <a16:creationId xmlns:a16="http://schemas.microsoft.com/office/drawing/2014/main" id="{4DF8398D-7989-40CA-A0EE-9536D2EEBAF9}"/>
                  </a:ext>
                </a:extLst>
              </p:cNvPr>
              <p:cNvSpPr txBox="1">
                <a:spLocks noRot="1" noChangeAspect="1" noMove="1" noResize="1" noEditPoints="1" noAdjustHandles="1" noChangeArrowheads="1" noChangeShapeType="1" noTextEdit="1"/>
              </p:cNvSpPr>
              <p:nvPr/>
            </p:nvSpPr>
            <p:spPr>
              <a:xfrm>
                <a:off x="6320213" y="1965616"/>
                <a:ext cx="3253968" cy="518604"/>
              </a:xfrm>
              <a:prstGeom prst="rect">
                <a:avLst/>
              </a:prstGeom>
              <a:blipFill>
                <a:blip r:embed="rId10"/>
                <a:stretch>
                  <a:fillRect/>
                </a:stretch>
              </a:blipFill>
            </p:spPr>
            <p:txBody>
              <a:bodyPr/>
              <a:lstStyle/>
              <a:p>
                <a:r>
                  <a:rPr lang="en-US">
                    <a:noFill/>
                  </a:rPr>
                  <a:t> </a:t>
                </a:r>
              </a:p>
            </p:txBody>
          </p:sp>
        </mc:Fallback>
      </mc:AlternateContent>
      <p:sp>
        <p:nvSpPr>
          <p:cNvPr id="111" name="TextBox 110">
            <a:extLst>
              <a:ext uri="{FF2B5EF4-FFF2-40B4-BE49-F238E27FC236}">
                <a16:creationId xmlns:a16="http://schemas.microsoft.com/office/drawing/2014/main" id="{E4BA8F33-6217-453C-BA47-0379DF0158AC}"/>
              </a:ext>
            </a:extLst>
          </p:cNvPr>
          <p:cNvSpPr txBox="1"/>
          <p:nvPr/>
        </p:nvSpPr>
        <p:spPr>
          <a:xfrm>
            <a:off x="6320213" y="3066939"/>
            <a:ext cx="2211055" cy="276999"/>
          </a:xfrm>
          <a:prstGeom prst="rect">
            <a:avLst/>
          </a:prstGeom>
          <a:noFill/>
        </p:spPr>
        <p:txBody>
          <a:bodyPr wrap="none" lIns="0" tIns="0" rIns="0" bIns="0" rtlCol="0">
            <a:spAutoFit/>
          </a:bodyPr>
          <a:lstStyle/>
          <a:p>
            <a:r>
              <a:rPr lang="en-US" dirty="0"/>
              <a:t>log (cross entropy) loss:</a:t>
            </a:r>
          </a:p>
        </p:txBody>
      </p:sp>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D842B2B8-83F9-4454-ABDA-556CEBE27AFB}"/>
                  </a:ext>
                </a:extLst>
              </p:cNvPr>
              <p:cNvSpPr txBox="1"/>
              <p:nvPr/>
            </p:nvSpPr>
            <p:spPr>
              <a:xfrm>
                <a:off x="6316369" y="1264329"/>
                <a:ext cx="371730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 </m:t>
                      </m:r>
                      <m:r>
                        <m:rPr>
                          <m:nor/>
                        </m:rPr>
                        <a:rPr lang="en-US" b="0" i="0" smtClean="0">
                          <a:latin typeface="Cambria Math" panose="02040503050406030204" pitchFamily="18" charset="0"/>
                        </a:rPr>
                        <m:t>expected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value</m:t>
                      </m:r>
                      <m:r>
                        <m:rPr>
                          <m:nor/>
                        </m:rPr>
                        <a:rPr lang="en-US" b="0" i="0" smtClean="0">
                          <a:latin typeface="Cambria Math" panose="02040503050406030204" pitchFamily="18" charset="0"/>
                        </a:rPr>
                        <m:t>; </m:t>
                      </m:r>
                      <m:r>
                        <a:rPr lang="en-US" b="0" i="1" smtClean="0">
                          <a:latin typeface="Cambria Math" panose="02040503050406030204" pitchFamily="18" charset="0"/>
                        </a:rPr>
                        <m:t>𝑧</m:t>
                      </m:r>
                      <m:r>
                        <a:rPr lang="en-US" b="0" i="1" smtClean="0">
                          <a:latin typeface="Cambria Math" panose="02040503050406030204" pitchFamily="18" charset="0"/>
                        </a:rPr>
                        <m:t>: </m:t>
                      </m:r>
                      <m:r>
                        <m:rPr>
                          <m:nor/>
                        </m:rPr>
                        <a:rPr lang="en-US" b="0" i="0" smtClean="0">
                          <a:latin typeface="Cambria Math" panose="02040503050406030204" pitchFamily="18" charset="0"/>
                        </a:rPr>
                        <m:t>predicted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value</m:t>
                      </m:r>
                    </m:oMath>
                  </m:oMathPara>
                </a14:m>
                <a:endParaRPr lang="en-US" dirty="0"/>
              </a:p>
            </p:txBody>
          </p:sp>
        </mc:Choice>
        <mc:Fallback xmlns="">
          <p:sp>
            <p:nvSpPr>
              <p:cNvPr id="112" name="TextBox 111">
                <a:extLst>
                  <a:ext uri="{FF2B5EF4-FFF2-40B4-BE49-F238E27FC236}">
                    <a16:creationId xmlns:a16="http://schemas.microsoft.com/office/drawing/2014/main" id="{D842B2B8-83F9-4454-ABDA-556CEBE27AFB}"/>
                  </a:ext>
                </a:extLst>
              </p:cNvPr>
              <p:cNvSpPr txBox="1">
                <a:spLocks noRot="1" noChangeAspect="1" noMove="1" noResize="1" noEditPoints="1" noAdjustHandles="1" noChangeArrowheads="1" noChangeShapeType="1" noTextEdit="1"/>
              </p:cNvSpPr>
              <p:nvPr/>
            </p:nvSpPr>
            <p:spPr>
              <a:xfrm>
                <a:off x="6316369" y="1264329"/>
                <a:ext cx="3717300" cy="276999"/>
              </a:xfrm>
              <a:prstGeom prst="rect">
                <a:avLst/>
              </a:prstGeom>
              <a:blipFill>
                <a:blip r:embed="rId14"/>
                <a:stretch>
                  <a:fillRect l="-1148" t="-2174" r="-1148"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E44F0400-09E7-4125-8DE6-C99F1B33A3F3}"/>
                  </a:ext>
                </a:extLst>
              </p:cNvPr>
              <p:cNvSpPr txBox="1"/>
              <p:nvPr/>
            </p:nvSpPr>
            <p:spPr>
              <a:xfrm>
                <a:off x="9764240" y="2086418"/>
                <a:ext cx="137685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i="1">
                              <a:solidFill>
                                <a:srgbClr val="FF0000"/>
                              </a:solidFill>
                              <a:latin typeface="Cambria Math" panose="02040503050406030204" pitchFamily="18" charset="0"/>
                              <a:ea typeface="Cambria Math" panose="02040503050406030204" pitchFamily="18" charset="0"/>
                            </a:rPr>
                            <m:t>ℓ</m:t>
                          </m:r>
                        </m:e>
                        <m:sup>
                          <m:r>
                            <a:rPr lang="en-US" b="0" i="1" smtClean="0">
                              <a:solidFill>
                                <a:srgbClr val="FF0000"/>
                              </a:solidFill>
                              <a:latin typeface="Cambria Math" panose="02040503050406030204" pitchFamily="18" charset="0"/>
                              <a:ea typeface="Cambria Math" panose="02040503050406030204" pitchFamily="18" charset="0"/>
                            </a:rPr>
                            <m:t>′</m:t>
                          </m:r>
                        </m:sup>
                      </m:sSup>
                      <m:d>
                        <m:dPr>
                          <m:ctrlPr>
                            <a:rPr lang="en-US" b="0" i="1" smtClean="0">
                              <a:solidFill>
                                <a:srgbClr val="FF0000"/>
                              </a:solidFill>
                              <a:latin typeface="Cambria Math" panose="02040503050406030204" pitchFamily="18" charset="0"/>
                              <a:ea typeface="Cambria Math" panose="02040503050406030204" pitchFamily="18" charset="0"/>
                            </a:rPr>
                          </m:ctrlPr>
                        </m:dPr>
                        <m:e>
                          <m:r>
                            <a:rPr lang="en-US" b="0" i="1" smtClean="0">
                              <a:solidFill>
                                <a:srgbClr val="FF0000"/>
                              </a:solidFill>
                              <a:latin typeface="Cambria Math" panose="02040503050406030204" pitchFamily="18" charset="0"/>
                              <a:ea typeface="Cambria Math" panose="02040503050406030204" pitchFamily="18" charset="0"/>
                            </a:rPr>
                            <m:t>𝑧</m:t>
                          </m:r>
                        </m:e>
                      </m:d>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𝑧</m:t>
                      </m:r>
                      <m:r>
                        <a:rPr lang="en-US" b="0" i="1" smtClean="0">
                          <a:solidFill>
                            <a:srgbClr val="FF0000"/>
                          </a:solidFill>
                          <a:latin typeface="Cambria Math" panose="02040503050406030204" pitchFamily="18" charset="0"/>
                          <a:ea typeface="Cambria Math" panose="02040503050406030204" pitchFamily="18" charset="0"/>
                        </a:rPr>
                        <m:t>−</m:t>
                      </m:r>
                      <m:r>
                        <a:rPr lang="en-US" b="0" i="1" smtClean="0">
                          <a:solidFill>
                            <a:srgbClr val="FF0000"/>
                          </a:solidFill>
                          <a:latin typeface="Cambria Math" panose="02040503050406030204" pitchFamily="18" charset="0"/>
                          <a:ea typeface="Cambria Math" panose="02040503050406030204" pitchFamily="18" charset="0"/>
                        </a:rPr>
                        <m:t>𝑦</m:t>
                      </m:r>
                    </m:oMath>
                  </m:oMathPara>
                </a14:m>
                <a:endParaRPr lang="en-US" dirty="0"/>
              </a:p>
            </p:txBody>
          </p:sp>
        </mc:Choice>
        <mc:Fallback xmlns="">
          <p:sp>
            <p:nvSpPr>
              <p:cNvPr id="115" name="TextBox 114">
                <a:extLst>
                  <a:ext uri="{FF2B5EF4-FFF2-40B4-BE49-F238E27FC236}">
                    <a16:creationId xmlns:a16="http://schemas.microsoft.com/office/drawing/2014/main" id="{E44F0400-09E7-4125-8DE6-C99F1B33A3F3}"/>
                  </a:ext>
                </a:extLst>
              </p:cNvPr>
              <p:cNvSpPr txBox="1">
                <a:spLocks noRot="1" noChangeAspect="1" noMove="1" noResize="1" noEditPoints="1" noAdjustHandles="1" noChangeArrowheads="1" noChangeShapeType="1" noTextEdit="1"/>
              </p:cNvSpPr>
              <p:nvPr/>
            </p:nvSpPr>
            <p:spPr>
              <a:xfrm>
                <a:off x="9764240" y="2086418"/>
                <a:ext cx="1376852" cy="276999"/>
              </a:xfrm>
              <a:prstGeom prst="rect">
                <a:avLst/>
              </a:prstGeom>
              <a:blipFill>
                <a:blip r:embed="rId17"/>
                <a:stretch>
                  <a:fillRect l="-3982" r="-3540"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853E90D7-D26A-4B33-A2C6-351EBCE16E1E}"/>
                  </a:ext>
                </a:extLst>
              </p:cNvPr>
              <p:cNvSpPr txBox="1"/>
              <p:nvPr/>
            </p:nvSpPr>
            <p:spPr>
              <a:xfrm>
                <a:off x="6313163" y="1813733"/>
                <a:ext cx="21720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𝑦</m:t>
                      </m:r>
                      <m:r>
                        <a:rPr lang="en-US" b="0" i="1" smtClean="0">
                          <a:solidFill>
                            <a:schemeClr val="accent1"/>
                          </a:solidFill>
                          <a:latin typeface="Cambria Math" panose="02040503050406030204" pitchFamily="18" charset="0"/>
                        </a:rPr>
                        <m:t>,</m:t>
                      </m:r>
                      <m:r>
                        <a:rPr lang="en-US" b="0" i="1" smtClean="0">
                          <a:solidFill>
                            <a:schemeClr val="accent1"/>
                          </a:solidFill>
                          <a:latin typeface="Cambria Math" panose="02040503050406030204" pitchFamily="18" charset="0"/>
                        </a:rPr>
                        <m:t>𝑧</m:t>
                      </m:r>
                      <m:r>
                        <a:rPr lang="en-US" b="0" i="1" smtClean="0">
                          <a:solidFill>
                            <a:schemeClr val="accent1"/>
                          </a:solidFill>
                          <a:latin typeface="Cambria Math" panose="02040503050406030204" pitchFamily="18" charset="0"/>
                          <a:ea typeface="Cambria Math" panose="02040503050406030204" pitchFamily="18" charset="0"/>
                        </a:rPr>
                        <m:t>∈</m:t>
                      </m:r>
                      <m:r>
                        <a:rPr lang="en-US" b="0" i="1" smtClean="0">
                          <a:solidFill>
                            <a:schemeClr val="accent1"/>
                          </a:solidFill>
                          <a:latin typeface="Cambria Math" panose="02040503050406030204" pitchFamily="18" charset="0"/>
                          <a:ea typeface="Cambria Math" panose="02040503050406030204" pitchFamily="18" charset="0"/>
                        </a:rPr>
                        <m:t>ℝ</m:t>
                      </m:r>
                      <m:r>
                        <m:rPr>
                          <m:nor/>
                        </m:rPr>
                        <a:rPr lang="en-US" b="0" i="0" smtClean="0">
                          <a:solidFill>
                            <a:schemeClr val="accent1"/>
                          </a:solidFill>
                          <a:latin typeface="Cambria Math" panose="02040503050406030204" pitchFamily="18" charset="0"/>
                          <a:ea typeface="Cambria Math" panose="02040503050406030204" pitchFamily="18" charset="0"/>
                        </a:rPr>
                        <m:t>  (</m:t>
                      </m:r>
                      <m:r>
                        <m:rPr>
                          <m:nor/>
                        </m:rPr>
                        <a:rPr lang="en-US" b="0" i="0" smtClean="0">
                          <a:solidFill>
                            <a:schemeClr val="accent1"/>
                          </a:solidFill>
                          <a:latin typeface="Cambria Math" panose="02040503050406030204" pitchFamily="18" charset="0"/>
                          <a:ea typeface="Cambria Math" panose="02040503050406030204" pitchFamily="18" charset="0"/>
                        </a:rPr>
                        <m:t>regression</m:t>
                      </m:r>
                      <m:r>
                        <m:rPr>
                          <m:nor/>
                        </m:rPr>
                        <a:rPr lang="en-US" b="0" i="0" smtClean="0">
                          <a:solidFill>
                            <a:schemeClr val="accent1"/>
                          </a:solidFill>
                          <a:latin typeface="Cambria Math" panose="02040503050406030204" pitchFamily="18" charset="0"/>
                          <a:ea typeface="Cambria Math" panose="02040503050406030204" pitchFamily="18" charset="0"/>
                        </a:rPr>
                        <m:t>)</m:t>
                      </m:r>
                    </m:oMath>
                  </m:oMathPara>
                </a14:m>
                <a:endParaRPr lang="en-US" dirty="0">
                  <a:solidFill>
                    <a:schemeClr val="accent1"/>
                  </a:solidFill>
                </a:endParaRPr>
              </a:p>
            </p:txBody>
          </p:sp>
        </mc:Choice>
        <mc:Fallback xmlns="">
          <p:sp>
            <p:nvSpPr>
              <p:cNvPr id="124" name="TextBox 123">
                <a:extLst>
                  <a:ext uri="{FF2B5EF4-FFF2-40B4-BE49-F238E27FC236}">
                    <a16:creationId xmlns:a16="http://schemas.microsoft.com/office/drawing/2014/main" id="{853E90D7-D26A-4B33-A2C6-351EBCE16E1E}"/>
                  </a:ext>
                </a:extLst>
              </p:cNvPr>
              <p:cNvSpPr txBox="1">
                <a:spLocks noRot="1" noChangeAspect="1" noMove="1" noResize="1" noEditPoints="1" noAdjustHandles="1" noChangeArrowheads="1" noChangeShapeType="1" noTextEdit="1"/>
              </p:cNvSpPr>
              <p:nvPr/>
            </p:nvSpPr>
            <p:spPr>
              <a:xfrm>
                <a:off x="6313163" y="1813733"/>
                <a:ext cx="2172005" cy="276999"/>
              </a:xfrm>
              <a:prstGeom prst="rect">
                <a:avLst/>
              </a:prstGeom>
              <a:blipFill>
                <a:blip r:embed="rId18"/>
                <a:stretch>
                  <a:fillRect l="-2247" t="-4444" r="-3652"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57BEE160-A756-49BB-BE9D-EBACAE3482CE}"/>
                  </a:ext>
                </a:extLst>
              </p:cNvPr>
              <p:cNvSpPr txBox="1"/>
              <p:nvPr/>
            </p:nvSpPr>
            <p:spPr>
              <a:xfrm>
                <a:off x="6320213" y="2772423"/>
                <a:ext cx="2596224" cy="2782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1"/>
                          </a:solidFill>
                          <a:latin typeface="Cambria Math" panose="02040503050406030204" pitchFamily="18" charset="0"/>
                        </a:rPr>
                        <m:t>𝑦</m:t>
                      </m:r>
                      <m:r>
                        <a:rPr lang="en-US" b="0" i="1" smtClean="0">
                          <a:solidFill>
                            <a:schemeClr val="accent1"/>
                          </a:solidFill>
                          <a:latin typeface="Cambria Math" panose="02040503050406030204" pitchFamily="18" charset="0"/>
                          <a:ea typeface="Cambria Math" panose="02040503050406030204" pitchFamily="18" charset="0"/>
                        </a:rPr>
                        <m:t>∈</m:t>
                      </m:r>
                      <m:r>
                        <m:rPr>
                          <m:nor/>
                        </m:rPr>
                        <a:rPr lang="en-US" b="0" i="0" smtClean="0">
                          <a:solidFill>
                            <a:schemeClr val="accent1"/>
                          </a:solidFill>
                          <a:latin typeface="Cambria Math" panose="02040503050406030204" pitchFamily="18" charset="0"/>
                          <a:ea typeface="Cambria Math" panose="02040503050406030204" pitchFamily="18" charset="0"/>
                        </a:rPr>
                        <m:t>{0,1</m:t>
                      </m:r>
                      <m:sSup>
                        <m:sSupPr>
                          <m:ctrlPr>
                            <a:rPr lang="en-US" b="0" i="1" smtClean="0">
                              <a:solidFill>
                                <a:schemeClr val="accent1"/>
                              </a:solidFill>
                              <a:latin typeface="Cambria Math" panose="02040503050406030204" pitchFamily="18" charset="0"/>
                              <a:ea typeface="Cambria Math" panose="02040503050406030204" pitchFamily="18" charset="0"/>
                            </a:rPr>
                          </m:ctrlPr>
                        </m:sSupPr>
                        <m:e>
                          <m:r>
                            <a:rPr lang="en-US" b="0" i="1" smtClean="0">
                              <a:solidFill>
                                <a:schemeClr val="accent1"/>
                              </a:solidFill>
                              <a:latin typeface="Cambria Math" panose="02040503050406030204" pitchFamily="18" charset="0"/>
                              <a:ea typeface="Cambria Math" panose="02040503050406030204" pitchFamily="18" charset="0"/>
                            </a:rPr>
                            <m:t>}</m:t>
                          </m:r>
                        </m:e>
                        <m:sup>
                          <m:r>
                            <a:rPr lang="en-US" b="0" i="1" smtClean="0">
                              <a:solidFill>
                                <a:schemeClr val="accent1"/>
                              </a:solidFill>
                              <a:latin typeface="Cambria Math" panose="02040503050406030204" pitchFamily="18" charset="0"/>
                              <a:ea typeface="Cambria Math" panose="02040503050406030204" pitchFamily="18" charset="0"/>
                            </a:rPr>
                            <m:t>𝐶</m:t>
                          </m:r>
                        </m:sup>
                      </m:sSup>
                      <m:r>
                        <m:rPr>
                          <m:nor/>
                        </m:rPr>
                        <a:rPr lang="en-US" b="0" i="0" smtClean="0">
                          <a:solidFill>
                            <a:schemeClr val="accent1"/>
                          </a:solidFill>
                          <a:latin typeface="Cambria Math" panose="02040503050406030204" pitchFamily="18" charset="0"/>
                          <a:ea typeface="Cambria Math" panose="02040503050406030204" pitchFamily="18" charset="0"/>
                        </a:rPr>
                        <m:t> , </m:t>
                      </m:r>
                      <m:r>
                        <m:rPr>
                          <m:nor/>
                        </m:rPr>
                        <a:rPr lang="en-US" b="0" i="0" smtClean="0">
                          <a:solidFill>
                            <a:schemeClr val="accent1"/>
                          </a:solidFill>
                          <a:latin typeface="Cambria Math" panose="02040503050406030204" pitchFamily="18" charset="0"/>
                          <a:ea typeface="Cambria Math" panose="02040503050406030204" pitchFamily="18" charset="0"/>
                        </a:rPr>
                        <m:t>z</m:t>
                      </m:r>
                      <m:r>
                        <a:rPr lang="en-US" b="0" i="1" smtClean="0">
                          <a:solidFill>
                            <a:schemeClr val="accent1"/>
                          </a:solidFill>
                          <a:latin typeface="Cambria Math" panose="02040503050406030204" pitchFamily="18" charset="0"/>
                          <a:ea typeface="Cambria Math" panose="02040503050406030204" pitchFamily="18" charset="0"/>
                        </a:rPr>
                        <m:t>∈</m:t>
                      </m:r>
                      <m:sSup>
                        <m:sSupPr>
                          <m:ctrlPr>
                            <a:rPr lang="en-US" b="0" i="1" smtClean="0">
                              <a:solidFill>
                                <a:schemeClr val="accent1"/>
                              </a:solidFill>
                              <a:latin typeface="Cambria Math" panose="02040503050406030204" pitchFamily="18" charset="0"/>
                              <a:ea typeface="Cambria Math" panose="02040503050406030204" pitchFamily="18" charset="0"/>
                            </a:rPr>
                          </m:ctrlPr>
                        </m:sSupPr>
                        <m:e>
                          <m:r>
                            <a:rPr lang="en-US" b="0" i="1" smtClean="0">
                              <a:solidFill>
                                <a:schemeClr val="accent1"/>
                              </a:solidFill>
                              <a:latin typeface="Cambria Math" panose="02040503050406030204" pitchFamily="18" charset="0"/>
                              <a:ea typeface="Cambria Math" panose="02040503050406030204" pitchFamily="18" charset="0"/>
                            </a:rPr>
                            <m:t>ℝ</m:t>
                          </m:r>
                        </m:e>
                        <m:sup>
                          <m:r>
                            <a:rPr lang="en-US" b="0" i="1" smtClean="0">
                              <a:solidFill>
                                <a:schemeClr val="accent1"/>
                              </a:solidFill>
                              <a:latin typeface="Cambria Math" panose="02040503050406030204" pitchFamily="18" charset="0"/>
                              <a:ea typeface="Cambria Math" panose="02040503050406030204" pitchFamily="18" charset="0"/>
                            </a:rPr>
                            <m:t>𝐶</m:t>
                          </m:r>
                        </m:sup>
                      </m:sSup>
                      <m:r>
                        <m:rPr>
                          <m:nor/>
                        </m:rPr>
                        <a:rPr lang="en-US" b="0" i="0" smtClean="0">
                          <a:solidFill>
                            <a:schemeClr val="accent1"/>
                          </a:solidFill>
                          <a:latin typeface="Cambria Math" panose="02040503050406030204" pitchFamily="18" charset="0"/>
                          <a:ea typeface="Cambria Math" panose="02040503050406030204" pitchFamily="18" charset="0"/>
                        </a:rPr>
                        <m:t>(</m:t>
                      </m:r>
                      <m:r>
                        <m:rPr>
                          <m:nor/>
                        </m:rPr>
                        <a:rPr lang="en-US" b="0" i="0" smtClean="0">
                          <a:solidFill>
                            <a:schemeClr val="accent1"/>
                          </a:solidFill>
                          <a:latin typeface="Cambria Math" panose="02040503050406030204" pitchFamily="18" charset="0"/>
                          <a:ea typeface="Cambria Math" panose="02040503050406030204" pitchFamily="18" charset="0"/>
                        </a:rPr>
                        <m:t>class</m:t>
                      </m:r>
                      <m:r>
                        <m:rPr>
                          <m:nor/>
                        </m:rPr>
                        <a:rPr lang="en-US" b="0" i="0" smtClean="0">
                          <a:solidFill>
                            <a:schemeClr val="accent1"/>
                          </a:solidFill>
                          <a:latin typeface="Cambria Math" panose="02040503050406030204" pitchFamily="18" charset="0"/>
                          <a:ea typeface="Cambria Math" panose="02040503050406030204" pitchFamily="18" charset="0"/>
                        </a:rPr>
                        <m:t>.)</m:t>
                      </m:r>
                    </m:oMath>
                  </m:oMathPara>
                </a14:m>
                <a:endParaRPr lang="en-US" dirty="0">
                  <a:solidFill>
                    <a:schemeClr val="accent1"/>
                  </a:solidFill>
                </a:endParaRPr>
              </a:p>
            </p:txBody>
          </p:sp>
        </mc:Choice>
        <mc:Fallback xmlns="">
          <p:sp>
            <p:nvSpPr>
              <p:cNvPr id="126" name="TextBox 125">
                <a:extLst>
                  <a:ext uri="{FF2B5EF4-FFF2-40B4-BE49-F238E27FC236}">
                    <a16:creationId xmlns:a16="http://schemas.microsoft.com/office/drawing/2014/main" id="{57BEE160-A756-49BB-BE9D-EBACAE3482CE}"/>
                  </a:ext>
                </a:extLst>
              </p:cNvPr>
              <p:cNvSpPr txBox="1">
                <a:spLocks noRot="1" noChangeAspect="1" noMove="1" noResize="1" noEditPoints="1" noAdjustHandles="1" noChangeArrowheads="1" noChangeShapeType="1" noTextEdit="1"/>
              </p:cNvSpPr>
              <p:nvPr/>
            </p:nvSpPr>
            <p:spPr>
              <a:xfrm>
                <a:off x="6320213" y="2772423"/>
                <a:ext cx="2596224" cy="278218"/>
              </a:xfrm>
              <a:prstGeom prst="rect">
                <a:avLst/>
              </a:prstGeom>
              <a:blipFill>
                <a:blip r:embed="rId19"/>
                <a:stretch>
                  <a:fillRect l="-1878" t="-2222" r="-2817" b="-40000"/>
                </a:stretch>
              </a:blipFill>
            </p:spPr>
            <p:txBody>
              <a:bodyPr/>
              <a:lstStyle/>
              <a:p>
                <a:r>
                  <a:rPr lang="en-US">
                    <a:noFill/>
                  </a:rPr>
                  <a:t> </a:t>
                </a:r>
              </a:p>
            </p:txBody>
          </p:sp>
        </mc:Fallback>
      </mc:AlternateContent>
      <p:pic>
        <p:nvPicPr>
          <p:cNvPr id="5" name="Picture 4" descr="A picture containing different, object, photo, group&#10;&#10;Description automatically generated">
            <a:extLst>
              <a:ext uri="{FF2B5EF4-FFF2-40B4-BE49-F238E27FC236}">
                <a16:creationId xmlns:a16="http://schemas.microsoft.com/office/drawing/2014/main" id="{5962B037-78B0-4945-AA95-31D019631C3C}"/>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299364" y="1577368"/>
            <a:ext cx="928990" cy="853851"/>
          </a:xfrm>
          <a:prstGeom prst="rect">
            <a:avLst/>
          </a:prstGeom>
        </p:spPr>
      </p:pic>
      <p:sp>
        <p:nvSpPr>
          <p:cNvPr id="4" name="TextBox 3">
            <a:extLst>
              <a:ext uri="{FF2B5EF4-FFF2-40B4-BE49-F238E27FC236}">
                <a16:creationId xmlns:a16="http://schemas.microsoft.com/office/drawing/2014/main" id="{833FC16B-8839-43C7-AF76-CDFB6FB9C2E6}"/>
              </a:ext>
            </a:extLst>
          </p:cNvPr>
          <p:cNvSpPr txBox="1"/>
          <p:nvPr/>
        </p:nvSpPr>
        <p:spPr>
          <a:xfrm>
            <a:off x="222651" y="1280168"/>
            <a:ext cx="1303498" cy="307777"/>
          </a:xfrm>
          <a:prstGeom prst="rect">
            <a:avLst/>
          </a:prstGeom>
          <a:noFill/>
        </p:spPr>
        <p:txBody>
          <a:bodyPr wrap="none" rtlCol="0">
            <a:spAutoFit/>
          </a:bodyPr>
          <a:lstStyle/>
          <a:p>
            <a:r>
              <a:rPr lang="en-US" sz="1400" b="1" dirty="0"/>
              <a:t>Linear/Identity</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8633FCB-F240-4E39-A4D8-0C90D06749B4}"/>
                  </a:ext>
                </a:extLst>
              </p:cNvPr>
              <p:cNvSpPr txBox="1"/>
              <p:nvPr/>
            </p:nvSpPr>
            <p:spPr>
              <a:xfrm>
                <a:off x="1466569" y="1865793"/>
                <a:ext cx="21680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0"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φ</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𝑧</m:t>
                          </m:r>
                        </m:e>
                      </m:d>
                      <m:r>
                        <a:rPr lang="en-US" b="0" i="1" smtClean="0">
                          <a:latin typeface="Cambria Math" panose="02040503050406030204" pitchFamily="18" charset="0"/>
                          <a:ea typeface="Cambria Math" panose="02040503050406030204" pitchFamily="18" charset="0"/>
                        </a:rPr>
                        <m:t>=1</m:t>
                      </m:r>
                    </m:oMath>
                  </m:oMathPara>
                </a14:m>
                <a:endParaRPr lang="en-US" dirty="0"/>
              </a:p>
            </p:txBody>
          </p:sp>
        </mc:Choice>
        <mc:Fallback xmlns="">
          <p:sp>
            <p:nvSpPr>
              <p:cNvPr id="6" name="TextBox 5">
                <a:extLst>
                  <a:ext uri="{FF2B5EF4-FFF2-40B4-BE49-F238E27FC236}">
                    <a16:creationId xmlns:a16="http://schemas.microsoft.com/office/drawing/2014/main" id="{98633FCB-F240-4E39-A4D8-0C90D06749B4}"/>
                  </a:ext>
                </a:extLst>
              </p:cNvPr>
              <p:cNvSpPr txBox="1">
                <a:spLocks noRot="1" noChangeAspect="1" noMove="1" noResize="1" noEditPoints="1" noAdjustHandles="1" noChangeArrowheads="1" noChangeShapeType="1" noTextEdit="1"/>
              </p:cNvSpPr>
              <p:nvPr/>
            </p:nvSpPr>
            <p:spPr>
              <a:xfrm>
                <a:off x="1466569" y="1865793"/>
                <a:ext cx="2168094" cy="276999"/>
              </a:xfrm>
              <a:prstGeom prst="rect">
                <a:avLst/>
              </a:prstGeom>
              <a:blipFill>
                <a:blip r:embed="rId25"/>
                <a:stretch>
                  <a:fillRect l="-2254" r="-2254" b="-239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774AC40-227B-4EA8-BA13-4F55DEEE06DA}"/>
                  </a:ext>
                </a:extLst>
              </p:cNvPr>
              <p:cNvSpPr txBox="1"/>
              <p:nvPr/>
            </p:nvSpPr>
            <p:spPr>
              <a:xfrm>
                <a:off x="8828599" y="2807006"/>
                <a:ext cx="2307683" cy="7805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ℓ</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𝑧</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𝑦</m:t>
                          </m:r>
                        </m:e>
                      </m:d>
                      <m:r>
                        <a:rPr lang="en-US" b="0" i="0" smtClean="0">
                          <a:latin typeface="Cambria Math" panose="02040503050406030204" pitchFamily="18" charset="0"/>
                          <a:ea typeface="Cambria Math" panose="02040503050406030204" pitchFamily="18" charset="0"/>
                        </a:rPr>
                        <m:t>=−</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𝐶</m:t>
                          </m:r>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𝑦</m:t>
                              </m:r>
                            </m:e>
                            <m:sub>
                              <m:r>
                                <a:rPr lang="en-US" b="0" i="1" smtClean="0">
                                  <a:latin typeface="Cambria Math" panose="02040503050406030204" pitchFamily="18" charset="0"/>
                                  <a:ea typeface="Cambria Math" panose="02040503050406030204" pitchFamily="18" charset="0"/>
                                </a:rPr>
                                <m:t>𝑖</m:t>
                              </m:r>
                            </m:sub>
                          </m:sSub>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b="0" i="1" smtClean="0">
                                      <a:latin typeface="Cambria Math" panose="02040503050406030204" pitchFamily="18" charset="0"/>
                                      <a:ea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𝑠</m:t>
                                  </m:r>
                                </m:e>
                                <m:sub>
                                  <m:r>
                                    <a:rPr lang="en-US" b="0" i="1" smtClean="0">
                                      <a:latin typeface="Cambria Math" panose="02040503050406030204" pitchFamily="18" charset="0"/>
                                      <a:ea typeface="Cambria Math" panose="02040503050406030204" pitchFamily="18" charset="0"/>
                                    </a:rPr>
                                    <m:t>𝑖</m:t>
                                  </m:r>
                                </m:sub>
                              </m:sSub>
                            </m:e>
                          </m:func>
                        </m:e>
                      </m:nary>
                    </m:oMath>
                  </m:oMathPara>
                </a14:m>
                <a:endParaRPr lang="en-US" dirty="0"/>
              </a:p>
            </p:txBody>
          </p:sp>
        </mc:Choice>
        <mc:Fallback xmlns="">
          <p:sp>
            <p:nvSpPr>
              <p:cNvPr id="7" name="TextBox 6">
                <a:extLst>
                  <a:ext uri="{FF2B5EF4-FFF2-40B4-BE49-F238E27FC236}">
                    <a16:creationId xmlns:a16="http://schemas.microsoft.com/office/drawing/2014/main" id="{A774AC40-227B-4EA8-BA13-4F55DEEE06DA}"/>
                  </a:ext>
                </a:extLst>
              </p:cNvPr>
              <p:cNvSpPr txBox="1">
                <a:spLocks noRot="1" noChangeAspect="1" noMove="1" noResize="1" noEditPoints="1" noAdjustHandles="1" noChangeArrowheads="1" noChangeShapeType="1" noTextEdit="1"/>
              </p:cNvSpPr>
              <p:nvPr/>
            </p:nvSpPr>
            <p:spPr>
              <a:xfrm>
                <a:off x="8828599" y="2807006"/>
                <a:ext cx="2307683" cy="780535"/>
              </a:xfrm>
              <a:prstGeom prst="rect">
                <a:avLst/>
              </a:prstGeom>
              <a:blipFill>
                <a:blip r:embed="rId2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FFEC3A1-34C8-42A6-86F0-DEE70A9D0400}"/>
                  </a:ext>
                </a:extLst>
              </p:cNvPr>
              <p:cNvSpPr txBox="1"/>
              <p:nvPr/>
            </p:nvSpPr>
            <p:spPr>
              <a:xfrm>
                <a:off x="6613827" y="3577457"/>
                <a:ext cx="1395446" cy="7398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𝑧</m:t>
                                  </m:r>
                                </m:e>
                                <m:sub>
                                  <m:r>
                                    <a:rPr lang="en-US" b="0" i="1" smtClean="0">
                                      <a:latin typeface="Cambria Math" panose="02040503050406030204" pitchFamily="18" charset="0"/>
                                    </a:rPr>
                                    <m:t>𝑖</m:t>
                                  </m:r>
                                </m:sub>
                                <m:sup/>
                              </m:sSubSup>
                            </m:sup>
                          </m:sSup>
                        </m:num>
                        <m:den>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𝐶</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𝑗</m:t>
                                      </m:r>
                                    </m:sub>
                                  </m:sSub>
                                </m:sup>
                              </m:sSup>
                            </m:e>
                          </m:nary>
                        </m:den>
                      </m:f>
                    </m:oMath>
                  </m:oMathPara>
                </a14:m>
                <a:endParaRPr lang="en-US" dirty="0"/>
              </a:p>
            </p:txBody>
          </p:sp>
        </mc:Choice>
        <mc:Fallback xmlns="">
          <p:sp>
            <p:nvSpPr>
              <p:cNvPr id="8" name="TextBox 7">
                <a:extLst>
                  <a:ext uri="{FF2B5EF4-FFF2-40B4-BE49-F238E27FC236}">
                    <a16:creationId xmlns:a16="http://schemas.microsoft.com/office/drawing/2014/main" id="{6FFEC3A1-34C8-42A6-86F0-DEE70A9D0400}"/>
                  </a:ext>
                </a:extLst>
              </p:cNvPr>
              <p:cNvSpPr txBox="1">
                <a:spLocks noRot="1" noChangeAspect="1" noMove="1" noResize="1" noEditPoints="1" noAdjustHandles="1" noChangeArrowheads="1" noChangeShapeType="1" noTextEdit="1"/>
              </p:cNvSpPr>
              <p:nvPr/>
            </p:nvSpPr>
            <p:spPr>
              <a:xfrm>
                <a:off x="6613827" y="3577457"/>
                <a:ext cx="1395446" cy="739883"/>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EE0A95C-79E4-4ACF-9468-83A1B98AAEE3}"/>
                  </a:ext>
                </a:extLst>
              </p:cNvPr>
              <p:cNvSpPr txBox="1"/>
              <p:nvPr/>
            </p:nvSpPr>
            <p:spPr>
              <a:xfrm>
                <a:off x="8886916" y="3839928"/>
                <a:ext cx="156574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i="1" smtClean="0">
                              <a:solidFill>
                                <a:srgbClr val="FF0000"/>
                              </a:solidFill>
                              <a:latin typeface="Cambria Math" panose="02040503050406030204" pitchFamily="18" charset="0"/>
                              <a:ea typeface="Cambria Math" panose="02040503050406030204" pitchFamily="18" charset="0"/>
                            </a:rPr>
                            <m:t>ℓ</m:t>
                          </m:r>
                        </m:e>
                        <m:sup>
                          <m:r>
                            <a:rPr lang="en-US" b="0" i="1" smtClean="0">
                              <a:solidFill>
                                <a:srgbClr val="FF0000"/>
                              </a:solidFill>
                              <a:latin typeface="Cambria Math" panose="02040503050406030204" pitchFamily="18" charset="0"/>
                              <a:ea typeface="Cambria Math" panose="02040503050406030204" pitchFamily="18" charset="0"/>
                            </a:rPr>
                            <m:t>′</m:t>
                          </m:r>
                        </m:sup>
                      </m:sSup>
                      <m:d>
                        <m:dPr>
                          <m:ctrlPr>
                            <a:rPr lang="en-US" b="0" i="1" smtClean="0">
                              <a:solidFill>
                                <a:srgbClr val="FF0000"/>
                              </a:solidFill>
                              <a:latin typeface="Cambria Math" panose="02040503050406030204" pitchFamily="18" charset="0"/>
                              <a:ea typeface="Cambria Math" panose="02040503050406030204" pitchFamily="18" charset="0"/>
                            </a:rPr>
                          </m:ctrlPr>
                        </m:dPr>
                        <m:e>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GB" b="0" i="1" smtClean="0">
                                  <a:solidFill>
                                    <a:srgbClr val="FF0000"/>
                                  </a:solidFill>
                                  <a:latin typeface="Cambria Math" panose="02040503050406030204" pitchFamily="18" charset="0"/>
                                  <a:ea typeface="Cambria Math" panose="02040503050406030204" pitchFamily="18" charset="0"/>
                                </a:rPr>
                                <m:t>𝑧</m:t>
                              </m:r>
                            </m:e>
                            <m:sub>
                              <m:r>
                                <a:rPr lang="en-US" b="0" i="1" smtClean="0">
                                  <a:solidFill>
                                    <a:srgbClr val="FF0000"/>
                                  </a:solidFill>
                                  <a:latin typeface="Cambria Math" panose="02040503050406030204" pitchFamily="18" charset="0"/>
                                  <a:ea typeface="Cambria Math" panose="02040503050406030204" pitchFamily="18" charset="0"/>
                                </a:rPr>
                                <m:t>𝑖</m:t>
                              </m:r>
                            </m:sub>
                          </m:sSub>
                        </m:e>
                      </m:d>
                      <m:r>
                        <a:rPr lang="en-US" b="0" i="1" smtClean="0">
                          <a:solidFill>
                            <a:srgbClr val="FF0000"/>
                          </a:solidFill>
                          <a:latin typeface="Cambria Math" panose="02040503050406030204" pitchFamily="18" charset="0"/>
                          <a:ea typeface="Cambria Math" panose="02040503050406030204" pitchFamily="18" charset="0"/>
                        </a:rPr>
                        <m:t>=</m:t>
                      </m:r>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𝑠</m:t>
                          </m:r>
                        </m:e>
                        <m:sub>
                          <m:r>
                            <a:rPr lang="en-US" b="0" i="1" smtClean="0">
                              <a:solidFill>
                                <a:srgbClr val="FF0000"/>
                              </a:solidFill>
                              <a:latin typeface="Cambria Math" panose="02040503050406030204" pitchFamily="18" charset="0"/>
                              <a:ea typeface="Cambria Math" panose="02040503050406030204" pitchFamily="18" charset="0"/>
                            </a:rPr>
                            <m:t>𝑖</m:t>
                          </m:r>
                        </m:sub>
                      </m:sSub>
                      <m:r>
                        <a:rPr lang="en-US" b="0" i="1" smtClean="0">
                          <a:solidFill>
                            <a:srgbClr val="FF0000"/>
                          </a:solidFill>
                          <a:latin typeface="Cambria Math" panose="02040503050406030204" pitchFamily="18" charset="0"/>
                          <a:ea typeface="Cambria Math" panose="02040503050406030204" pitchFamily="18" charset="0"/>
                        </a:rPr>
                        <m:t>−</m:t>
                      </m:r>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b="0" i="1" smtClean="0">
                              <a:solidFill>
                                <a:srgbClr val="FF0000"/>
                              </a:solidFill>
                              <a:latin typeface="Cambria Math" panose="02040503050406030204" pitchFamily="18" charset="0"/>
                              <a:ea typeface="Cambria Math" panose="02040503050406030204" pitchFamily="18" charset="0"/>
                            </a:rPr>
                            <m:t>𝑦</m:t>
                          </m:r>
                        </m:e>
                        <m:sub>
                          <m:r>
                            <a:rPr lang="en-US" b="0" i="1" smtClean="0">
                              <a:solidFill>
                                <a:srgbClr val="FF0000"/>
                              </a:solidFill>
                              <a:latin typeface="Cambria Math" panose="02040503050406030204" pitchFamily="18" charset="0"/>
                              <a:ea typeface="Cambria Math" panose="02040503050406030204" pitchFamily="18" charset="0"/>
                            </a:rPr>
                            <m:t>𝑖</m:t>
                          </m:r>
                        </m:sub>
                      </m:sSub>
                    </m:oMath>
                  </m:oMathPara>
                </a14:m>
                <a:endParaRPr lang="en-US" dirty="0"/>
              </a:p>
            </p:txBody>
          </p:sp>
        </mc:Choice>
        <mc:Fallback xmlns="">
          <p:sp>
            <p:nvSpPr>
              <p:cNvPr id="9" name="TextBox 8">
                <a:extLst>
                  <a:ext uri="{FF2B5EF4-FFF2-40B4-BE49-F238E27FC236}">
                    <a16:creationId xmlns:a16="http://schemas.microsoft.com/office/drawing/2014/main" id="{4EE0A95C-79E4-4ACF-9468-83A1B98AAEE3}"/>
                  </a:ext>
                </a:extLst>
              </p:cNvPr>
              <p:cNvSpPr txBox="1">
                <a:spLocks noRot="1" noChangeAspect="1" noMove="1" noResize="1" noEditPoints="1" noAdjustHandles="1" noChangeArrowheads="1" noChangeShapeType="1" noTextEdit="1"/>
              </p:cNvSpPr>
              <p:nvPr/>
            </p:nvSpPr>
            <p:spPr>
              <a:xfrm>
                <a:off x="8886916" y="3839928"/>
                <a:ext cx="1565749" cy="276999"/>
              </a:xfrm>
              <a:prstGeom prst="rect">
                <a:avLst/>
              </a:prstGeom>
              <a:blipFill>
                <a:blip r:embed="rId28"/>
                <a:stretch>
                  <a:fillRect l="-3113" r="-778" b="-26667"/>
                </a:stretch>
              </a:blipFill>
            </p:spPr>
            <p:txBody>
              <a:bodyPr/>
              <a:lstStyle/>
              <a:p>
                <a:r>
                  <a:rPr lang="en-GB">
                    <a:noFill/>
                  </a:rPr>
                  <a:t> </a:t>
                </a:r>
              </a:p>
            </p:txBody>
          </p:sp>
        </mc:Fallback>
      </mc:AlternateContent>
      <p:pic>
        <p:nvPicPr>
          <p:cNvPr id="1026" name="Picture 2">
            <a:extLst>
              <a:ext uri="{FF2B5EF4-FFF2-40B4-BE49-F238E27FC236}">
                <a16:creationId xmlns:a16="http://schemas.microsoft.com/office/drawing/2014/main" id="{523CDA13-26B1-41F0-A01E-9AB1DD87D92E}"/>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7870824" y="4477456"/>
            <a:ext cx="3924565" cy="1060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0467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768C6-DA2D-4BB1-9810-2DEBA98E1851}"/>
              </a:ext>
            </a:extLst>
          </p:cNvPr>
          <p:cNvSpPr>
            <a:spLocks noGrp="1"/>
          </p:cNvSpPr>
          <p:nvPr>
            <p:ph type="title"/>
          </p:nvPr>
        </p:nvSpPr>
        <p:spPr/>
        <p:txBody>
          <a:bodyPr/>
          <a:lstStyle/>
          <a:p>
            <a:r>
              <a:rPr lang="en-US" dirty="0"/>
              <a:t>Logistic as special case of soft-max</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E50AAE8D-7471-4E18-AA69-C8FE327DC4A2}"/>
                  </a:ext>
                </a:extLst>
              </p:cNvPr>
              <p:cNvSpPr>
                <a:spLocks noGrp="1"/>
              </p:cNvSpPr>
              <p:nvPr>
                <p:ph idx="1"/>
              </p:nvPr>
            </p:nvSpPr>
            <p:spPr>
              <a:xfrm>
                <a:off x="838200" y="1825624"/>
                <a:ext cx="10515600" cy="5032375"/>
              </a:xfrm>
            </p:spPr>
            <p:txBody>
              <a:bodyPr>
                <a:normAutofit/>
              </a:bodyPr>
              <a:lstStyle/>
              <a:p>
                <a:r>
                  <a:rPr lang="en-US" dirty="0"/>
                  <a:t>Logistic (binary classification):</a:t>
                </a:r>
              </a:p>
              <a:p>
                <a:pPr lvl="1"/>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=1</m:t>
                            </m:r>
                          </m:e>
                          <m:e>
                            <m:r>
                              <a:rPr lang="en-US" b="0" i="1" smtClean="0">
                                <a:latin typeface="Cambria Math" panose="02040503050406030204" pitchFamily="18" charset="0"/>
                              </a:rPr>
                              <m:t>𝑥</m:t>
                            </m:r>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𝑤𝑥</m:t>
                            </m:r>
                          </m:sup>
                        </m:sSup>
                      </m:den>
                    </m:f>
                    <m:r>
                      <a:rPr lang="en-US" b="0" i="1" smtClean="0">
                        <a:latin typeface="Cambria Math" panose="02040503050406030204" pitchFamily="18" charset="0"/>
                      </a:rPr>
                      <m:t>;     </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=0</m:t>
                            </m:r>
                          </m:e>
                          <m:e>
                            <m:r>
                              <a:rPr lang="en-US" b="0" i="1" smtClean="0">
                                <a:latin typeface="Cambria Math" panose="02040503050406030204" pitchFamily="18" charset="0"/>
                              </a:rPr>
                              <m:t>𝑥</m:t>
                            </m:r>
                          </m:e>
                        </m:d>
                      </m:e>
                    </m:func>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𝑤𝑥</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𝑤𝑥</m:t>
                            </m:r>
                          </m:sup>
                        </m:sSup>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𝑤𝑥</m:t>
                            </m:r>
                          </m:sup>
                        </m:sSup>
                      </m:den>
                    </m:f>
                  </m:oMath>
                </a14:m>
                <a:endParaRPr lang="en-US" dirty="0"/>
              </a:p>
              <a:p>
                <a:r>
                  <a:rPr lang="en-US" dirty="0"/>
                  <a:t>Soft-max (multiclass classification):</a:t>
                </a:r>
              </a:p>
              <a:p>
                <a:pPr lvl="1"/>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𝑘</m:t>
                            </m:r>
                          </m:sub>
                        </m:sSub>
                      </m:e>
                    </m:d>
                  </m:oMath>
                </a14:m>
                <a:endParaRPr lang="en-US" b="0" dirty="0"/>
              </a:p>
              <a:p>
                <a:pPr lvl="1"/>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e>
                            <m:r>
                              <a:rPr lang="en-US" b="0" i="1" smtClean="0">
                                <a:latin typeface="Cambria Math" panose="02040503050406030204" pitchFamily="18" charset="0"/>
                              </a:rPr>
                              <m:t>𝑥</m:t>
                            </m:r>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m:t>
                                </m:r>
                                <m:r>
                                  <a:rPr lang="en-US" b="0" i="1" smtClean="0">
                                    <a:latin typeface="Cambria Math" panose="02040503050406030204" pitchFamily="18" charset="0"/>
                                  </a:rPr>
                                  <m:t>𝑤</m:t>
                                </m:r>
                              </m:e>
                              <m:sub>
                                <m:r>
                                  <a:rPr lang="en-US" b="0" i="1" smtClean="0">
                                    <a:latin typeface="Cambria Math" panose="02040503050406030204" pitchFamily="18" charset="0"/>
                                  </a:rPr>
                                  <m:t>𝑖</m:t>
                                </m:r>
                              </m:sub>
                              <m:sup/>
                            </m:sSubSup>
                            <m:r>
                              <a:rPr lang="en-US" b="0" i="1" smtClean="0">
                                <a:latin typeface="Cambria Math" panose="02040503050406030204" pitchFamily="18" charset="0"/>
                              </a:rPr>
                              <m:t>𝑥</m:t>
                            </m:r>
                          </m:sup>
                        </m:sSup>
                      </m:num>
                      <m:den>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𝑘</m:t>
                            </m:r>
                          </m:sup>
                          <m:e>
                            <m:sSup>
                              <m:sSupPr>
                                <m:ctrlPr>
                                  <a:rPr lang="en-US" i="1">
                                    <a:latin typeface="Cambria Math" panose="02040503050406030204" pitchFamily="18" charset="0"/>
                                  </a:rPr>
                                </m:ctrlPr>
                              </m:sSupPr>
                              <m:e>
                                <m:r>
                                  <a:rPr lang="en-US" i="1">
                                    <a:latin typeface="Cambria Math" panose="02040503050406030204" pitchFamily="18" charset="0"/>
                                  </a:rPr>
                                  <m:t>𝑒</m:t>
                                </m:r>
                              </m:e>
                              <m:sup>
                                <m:sSubSup>
                                  <m:sSubSupPr>
                                    <m:ctrlPr>
                                      <a:rPr lang="en-US" i="1">
                                        <a:latin typeface="Cambria Math" panose="02040503050406030204" pitchFamily="18" charset="0"/>
                                      </a:rPr>
                                    </m:ctrlPr>
                                  </m:sSubSupPr>
                                  <m:e>
                                    <m:r>
                                      <a:rPr lang="en-US" i="1">
                                        <a:latin typeface="Cambria Math" panose="02040503050406030204" pitchFamily="18" charset="0"/>
                                      </a:rPr>
                                      <m:t>−</m:t>
                                    </m:r>
                                    <m:r>
                                      <a:rPr lang="en-US" i="1">
                                        <a:latin typeface="Cambria Math" panose="02040503050406030204" pitchFamily="18" charset="0"/>
                                      </a:rPr>
                                      <m:t>𝑤</m:t>
                                    </m:r>
                                  </m:e>
                                  <m:sub>
                                    <m:r>
                                      <a:rPr lang="en-US" b="0" i="1" smtClean="0">
                                        <a:latin typeface="Cambria Math" panose="02040503050406030204" pitchFamily="18" charset="0"/>
                                      </a:rPr>
                                      <m:t>𝑗</m:t>
                                    </m:r>
                                  </m:sub>
                                  <m:sup/>
                                </m:sSubSup>
                                <m:r>
                                  <a:rPr lang="en-US" i="1">
                                    <a:latin typeface="Cambria Math" panose="02040503050406030204" pitchFamily="18" charset="0"/>
                                  </a:rPr>
                                  <m:t>𝑥</m:t>
                                </m:r>
                              </m:sup>
                            </m:sSup>
                          </m:e>
                        </m:nary>
                      </m:den>
                    </m:f>
                  </m:oMath>
                </a14:m>
                <a:endParaRPr lang="en-US" dirty="0"/>
              </a:p>
              <a:p>
                <a:pPr lvl="1"/>
                <a:r>
                  <a:rPr lang="en-US" dirty="0"/>
                  <a:t>Let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=2</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a:rPr lang="en-US" b="0" i="1" smtClean="0">
                        <a:latin typeface="Cambria Math" panose="02040503050406030204" pitchFamily="18" charset="0"/>
                      </a:rPr>
                      <m:t>𝑤</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oMath>
                </a14:m>
                <a:endParaRPr lang="en-US" dirty="0"/>
              </a:p>
              <a:p>
                <a:pPr lvl="1"/>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e>
                          <m:e>
                            <m:r>
                              <a:rPr lang="en-US" b="0" i="1" smtClean="0">
                                <a:latin typeface="Cambria Math" panose="02040503050406030204" pitchFamily="18" charset="0"/>
                              </a:rPr>
                              <m:t>𝑥</m:t>
                            </m:r>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1</m:t>
                                </m:r>
                              </m:sub>
                              <m:sup/>
                            </m:sSubSup>
                            <m:r>
                              <a:rPr lang="en-US" b="0" i="1" smtClean="0">
                                <a:latin typeface="Cambria Math" panose="02040503050406030204" pitchFamily="18" charset="0"/>
                              </a:rPr>
                              <m:t>𝑥</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𝑥</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r>
                              <a:rPr lang="en-US" b="0" i="1" smtClean="0">
                                <a:latin typeface="Cambria Math" panose="02040503050406030204" pitchFamily="18" charset="0"/>
                              </a:rPr>
                              <m:t>𝑥</m:t>
                            </m:r>
                          </m:sup>
                        </m:sSup>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i="1">
                                        <a:latin typeface="Cambria Math" panose="02040503050406030204" pitchFamily="18" charset="0"/>
                                      </a:rPr>
                                      <m:t>1</m:t>
                                    </m:r>
                                  </m:sub>
                                  <m:sup/>
                                </m:sSubSup>
                                <m:r>
                                  <a:rPr lang="en-US" i="1">
                                    <a:latin typeface="Cambria Math" panose="02040503050406030204" pitchFamily="18" charset="0"/>
                                  </a:rPr>
                                  <m:t>𝑥</m:t>
                                </m:r>
                              </m:sup>
                            </m:sSup>
                          </m:num>
                          <m:den>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𝑤</m:t>
                                    </m:r>
                                  </m:e>
                                  <m:sub>
                                    <m:r>
                                      <a:rPr lang="en-US" b="0" i="1" smtClean="0">
                                        <a:latin typeface="Cambria Math" panose="02040503050406030204" pitchFamily="18" charset="0"/>
                                      </a:rPr>
                                      <m:t>2</m:t>
                                    </m:r>
                                  </m:sub>
                                  <m:sup/>
                                </m:sSubSup>
                                <m:r>
                                  <a:rPr lang="en-US" i="1">
                                    <a:latin typeface="Cambria Math" panose="02040503050406030204" pitchFamily="18" charset="0"/>
                                  </a:rPr>
                                  <m:t>𝑥</m:t>
                                </m:r>
                              </m:sup>
                            </m:sSup>
                          </m:den>
                        </m:f>
                      </m:num>
                      <m:den>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1</m:t>
                                    </m:r>
                                  </m:sub>
                                </m:sSub>
                                <m:r>
                                  <a:rPr lang="en-US" i="1">
                                    <a:latin typeface="Cambria Math" panose="02040503050406030204" pitchFamily="18" charset="0"/>
                                  </a:rPr>
                                  <m:t>𝑥</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2</m:t>
                                    </m:r>
                                  </m:sub>
                                </m:sSub>
                                <m:r>
                                  <a:rPr lang="en-US" i="1">
                                    <a:latin typeface="Cambria Math" panose="02040503050406030204" pitchFamily="18" charset="0"/>
                                  </a:rPr>
                                  <m:t>𝑥</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r>
                                  <a:rPr lang="en-US" b="0" i="1" smtClean="0">
                                    <a:latin typeface="Cambria Math" panose="02040503050406030204" pitchFamily="18" charset="0"/>
                                  </a:rPr>
                                  <m:t>𝑥</m:t>
                                </m:r>
                              </m:sup>
                            </m:sSup>
                          </m:den>
                        </m:f>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1</m:t>
                                    </m:r>
                                  </m:sub>
                                  <m:sup/>
                                </m:sSubSup>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𝑤</m:t>
                                    </m:r>
                                  </m:e>
                                  <m:sub>
                                    <m:r>
                                      <a:rPr lang="en-US" b="0" i="1" smtClean="0">
                                        <a:latin typeface="Cambria Math" panose="02040503050406030204" pitchFamily="18" charset="0"/>
                                      </a:rPr>
                                      <m:t>2</m:t>
                                    </m:r>
                                  </m:sub>
                                  <m:sup/>
                                </m:sSubSup>
                              </m:e>
                            </m:d>
                            <m:r>
                              <a:rPr lang="en-US" b="0" i="1" smtClean="0">
                                <a:latin typeface="Cambria Math" panose="02040503050406030204" pitchFamily="18" charset="0"/>
                              </a:rPr>
                              <m:t>𝑥</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2</m:t>
                                    </m:r>
                                  </m:sub>
                                </m:sSub>
                              </m:e>
                            </m:d>
                            <m:r>
                              <a:rPr lang="en-US" b="0" i="1" smtClean="0">
                                <a:latin typeface="Cambria Math" panose="02040503050406030204" pitchFamily="18" charset="0"/>
                              </a:rPr>
                              <m:t>𝑥</m:t>
                            </m:r>
                          </m:sup>
                        </m:sSup>
                        <m:r>
                          <a:rPr lang="en-US" b="0" i="1" smtClean="0">
                            <a:latin typeface="Cambria Math" panose="02040503050406030204" pitchFamily="18" charset="0"/>
                          </a:rPr>
                          <m:t>+1</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𝑤𝑥</m:t>
                            </m:r>
                          </m:sup>
                        </m:sSup>
                      </m:num>
                      <m:den>
                        <m:r>
                          <a:rPr lang="en-US" i="1">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𝑤𝑥</m:t>
                            </m:r>
                          </m:sup>
                        </m:sSup>
                      </m:den>
                    </m:f>
                  </m:oMath>
                </a14:m>
                <a:endParaRPr lang="en-US" dirty="0"/>
              </a:p>
            </p:txBody>
          </p:sp>
        </mc:Choice>
        <mc:Fallback xmlns="">
          <p:sp>
            <p:nvSpPr>
              <p:cNvPr id="5" name="Content Placeholder 4">
                <a:extLst>
                  <a:ext uri="{FF2B5EF4-FFF2-40B4-BE49-F238E27FC236}">
                    <a16:creationId xmlns:a16="http://schemas.microsoft.com/office/drawing/2014/main" id="{E50AAE8D-7471-4E18-AA69-C8FE327DC4A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t="-1937"/>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17141C76-0EBF-4B78-84C3-E3DBD9BA5D7A}"/>
              </a:ext>
            </a:extLst>
          </p:cNvPr>
          <p:cNvSpPr/>
          <p:nvPr/>
        </p:nvSpPr>
        <p:spPr>
          <a:xfrm>
            <a:off x="8591550" y="1825624"/>
            <a:ext cx="996950" cy="14446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5A79A2E-B912-45F6-9185-B6D6EA16CCB1}"/>
              </a:ext>
            </a:extLst>
          </p:cNvPr>
          <p:cNvSpPr/>
          <p:nvPr/>
        </p:nvSpPr>
        <p:spPr>
          <a:xfrm>
            <a:off x="9296400" y="5048249"/>
            <a:ext cx="996950" cy="144462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8470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3D118-3DD3-448C-988A-E8B3C47E10D3}"/>
              </a:ext>
            </a:extLst>
          </p:cNvPr>
          <p:cNvSpPr>
            <a:spLocks noGrp="1"/>
          </p:cNvSpPr>
          <p:nvPr>
            <p:ph type="title"/>
          </p:nvPr>
        </p:nvSpPr>
        <p:spPr>
          <a:xfrm>
            <a:off x="443865" y="196960"/>
            <a:ext cx="3979545" cy="1325563"/>
          </a:xfrm>
        </p:spPr>
        <p:txBody>
          <a:bodyPr/>
          <a:lstStyle/>
          <a:p>
            <a:r>
              <a:rPr lang="en-US" dirty="0"/>
              <a:t>NN Recap: backpropagation</a:t>
            </a:r>
          </a:p>
        </p:txBody>
      </p:sp>
      <p:grpSp>
        <p:nvGrpSpPr>
          <p:cNvPr id="4" name="Group 3">
            <a:extLst>
              <a:ext uri="{FF2B5EF4-FFF2-40B4-BE49-F238E27FC236}">
                <a16:creationId xmlns:a16="http://schemas.microsoft.com/office/drawing/2014/main" id="{DD444AA1-49F8-49B3-BFF1-BDDC10B0532D}"/>
              </a:ext>
            </a:extLst>
          </p:cNvPr>
          <p:cNvGrpSpPr/>
          <p:nvPr/>
        </p:nvGrpSpPr>
        <p:grpSpPr>
          <a:xfrm>
            <a:off x="8339257" y="200471"/>
            <a:ext cx="3055882" cy="1900903"/>
            <a:chOff x="5473984" y="1095332"/>
            <a:chExt cx="3055882" cy="1900903"/>
          </a:xfrm>
        </p:grpSpPr>
        <p:grpSp>
          <p:nvGrpSpPr>
            <p:cNvPr id="5" name="Group 4">
              <a:extLst>
                <a:ext uri="{FF2B5EF4-FFF2-40B4-BE49-F238E27FC236}">
                  <a16:creationId xmlns:a16="http://schemas.microsoft.com/office/drawing/2014/main" id="{13A426C1-5F3B-4044-B522-1C3FF85AD026}"/>
                </a:ext>
              </a:extLst>
            </p:cNvPr>
            <p:cNvGrpSpPr/>
            <p:nvPr/>
          </p:nvGrpSpPr>
          <p:grpSpPr>
            <a:xfrm>
              <a:off x="5473984" y="1408178"/>
              <a:ext cx="3055882" cy="1588057"/>
              <a:chOff x="990599" y="738216"/>
              <a:chExt cx="3381620" cy="1757334"/>
            </a:xfrm>
          </p:grpSpPr>
          <p:grpSp>
            <p:nvGrpSpPr>
              <p:cNvPr id="11" name="Group 10">
                <a:extLst>
                  <a:ext uri="{FF2B5EF4-FFF2-40B4-BE49-F238E27FC236}">
                    <a16:creationId xmlns:a16="http://schemas.microsoft.com/office/drawing/2014/main" id="{4B9D9CA9-F07F-4356-BE95-DF86582A3219}"/>
                  </a:ext>
                </a:extLst>
              </p:cNvPr>
              <p:cNvGrpSpPr/>
              <p:nvPr/>
            </p:nvGrpSpPr>
            <p:grpSpPr>
              <a:xfrm>
                <a:off x="1239873" y="738216"/>
                <a:ext cx="2862230" cy="1432793"/>
                <a:chOff x="1905000" y="2190750"/>
                <a:chExt cx="3483917" cy="1744001"/>
              </a:xfrm>
            </p:grpSpPr>
            <p:sp>
              <p:nvSpPr>
                <p:cNvPr id="16" name="Oval 15">
                  <a:extLst>
                    <a:ext uri="{FF2B5EF4-FFF2-40B4-BE49-F238E27FC236}">
                      <a16:creationId xmlns:a16="http://schemas.microsoft.com/office/drawing/2014/main" id="{B2878DD0-FCAA-4F3E-8279-56CD0840076A}"/>
                    </a:ext>
                  </a:extLst>
                </p:cNvPr>
                <p:cNvSpPr/>
                <p:nvPr/>
              </p:nvSpPr>
              <p:spPr>
                <a:xfrm>
                  <a:off x="1905000" y="3183496"/>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B2F1F90-F3C5-4186-B052-DFBF78881D77}"/>
                    </a:ext>
                  </a:extLst>
                </p:cNvPr>
                <p:cNvSpPr/>
                <p:nvPr/>
              </p:nvSpPr>
              <p:spPr>
                <a:xfrm>
                  <a:off x="1905000" y="2848532"/>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AD435C3-8C30-4215-A621-89FB1A720669}"/>
                    </a:ext>
                  </a:extLst>
                </p:cNvPr>
                <p:cNvSpPr/>
                <p:nvPr/>
              </p:nvSpPr>
              <p:spPr>
                <a:xfrm>
                  <a:off x="1905000" y="2513568"/>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D1A5512-448C-48B4-8DD4-9B8A6EEC913E}"/>
                    </a:ext>
                  </a:extLst>
                </p:cNvPr>
                <p:cNvSpPr/>
                <p:nvPr/>
              </p:nvSpPr>
              <p:spPr>
                <a:xfrm>
                  <a:off x="2899779" y="2190751"/>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FD3C2F9-CD26-4471-AC50-0065125E5444}"/>
                    </a:ext>
                  </a:extLst>
                </p:cNvPr>
                <p:cNvSpPr/>
                <p:nvPr/>
              </p:nvSpPr>
              <p:spPr>
                <a:xfrm>
                  <a:off x="5102454" y="236976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901F5022-AB8F-4A66-B4A9-DCEAFEF7DF40}"/>
                    </a:ext>
                  </a:extLst>
                </p:cNvPr>
                <p:cNvCxnSpPr>
                  <a:stCxn id="18" idx="6"/>
                  <a:endCxn id="19" idx="2"/>
                </p:cNvCxnSpPr>
                <p:nvPr/>
              </p:nvCxnSpPr>
              <p:spPr>
                <a:xfrm flipV="1">
                  <a:off x="2191463" y="2334552"/>
                  <a:ext cx="708316" cy="3228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87117E7-95EE-4507-AA0D-C6398B22C66F}"/>
                    </a:ext>
                  </a:extLst>
                </p:cNvPr>
                <p:cNvCxnSpPr>
                  <a:stCxn id="17" idx="6"/>
                  <a:endCxn id="19" idx="2"/>
                </p:cNvCxnSpPr>
                <p:nvPr/>
              </p:nvCxnSpPr>
              <p:spPr>
                <a:xfrm flipV="1">
                  <a:off x="2191463" y="2334552"/>
                  <a:ext cx="708316" cy="6577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1C47650-4776-4636-BAA2-FB53B72CD322}"/>
                    </a:ext>
                  </a:extLst>
                </p:cNvPr>
                <p:cNvCxnSpPr>
                  <a:stCxn id="16" idx="6"/>
                  <a:endCxn id="19" idx="2"/>
                </p:cNvCxnSpPr>
                <p:nvPr/>
              </p:nvCxnSpPr>
              <p:spPr>
                <a:xfrm flipV="1">
                  <a:off x="2191463" y="2334552"/>
                  <a:ext cx="708316" cy="9927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2494720C-FE62-4482-BC8C-1CDCBFD9DE45}"/>
                    </a:ext>
                  </a:extLst>
                </p:cNvPr>
                <p:cNvSpPr/>
                <p:nvPr/>
              </p:nvSpPr>
              <p:spPr>
                <a:xfrm>
                  <a:off x="2899778" y="2564055"/>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AF07FB37-2D11-4447-8A1A-F627745D6A25}"/>
                    </a:ext>
                  </a:extLst>
                </p:cNvPr>
                <p:cNvCxnSpPr>
                  <a:stCxn id="18" idx="6"/>
                  <a:endCxn id="24" idx="2"/>
                </p:cNvCxnSpPr>
                <p:nvPr/>
              </p:nvCxnSpPr>
              <p:spPr>
                <a:xfrm>
                  <a:off x="2191463" y="2657369"/>
                  <a:ext cx="708315" cy="5048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71EADB8-778C-4178-9054-E4AEB42EBEB5}"/>
                    </a:ext>
                  </a:extLst>
                </p:cNvPr>
                <p:cNvCxnSpPr>
                  <a:stCxn id="17" idx="6"/>
                  <a:endCxn id="24" idx="2"/>
                </p:cNvCxnSpPr>
                <p:nvPr/>
              </p:nvCxnSpPr>
              <p:spPr>
                <a:xfrm flipV="1">
                  <a:off x="2191463" y="2707856"/>
                  <a:ext cx="708315" cy="2844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AD26F97-5BEE-4CE1-8C40-0A16FDA6F284}"/>
                    </a:ext>
                  </a:extLst>
                </p:cNvPr>
                <p:cNvCxnSpPr>
                  <a:stCxn id="16" idx="6"/>
                  <a:endCxn id="24" idx="2"/>
                </p:cNvCxnSpPr>
                <p:nvPr/>
              </p:nvCxnSpPr>
              <p:spPr>
                <a:xfrm flipV="1">
                  <a:off x="2191463" y="2707856"/>
                  <a:ext cx="708315" cy="61944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396B1BB8-3D0B-429B-AE5A-5E510492D3D0}"/>
                    </a:ext>
                  </a:extLst>
                </p:cNvPr>
                <p:cNvSpPr/>
                <p:nvPr/>
              </p:nvSpPr>
              <p:spPr>
                <a:xfrm>
                  <a:off x="2899777" y="292277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66906EA3-6471-44C1-A46A-0F5F7022680A}"/>
                    </a:ext>
                  </a:extLst>
                </p:cNvPr>
                <p:cNvCxnSpPr>
                  <a:stCxn id="18" idx="6"/>
                  <a:endCxn id="28" idx="2"/>
                </p:cNvCxnSpPr>
                <p:nvPr/>
              </p:nvCxnSpPr>
              <p:spPr>
                <a:xfrm>
                  <a:off x="2191463" y="2657369"/>
                  <a:ext cx="708314" cy="40920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15E5647-CC6E-4BE9-A687-9B86A52548E9}"/>
                    </a:ext>
                  </a:extLst>
                </p:cNvPr>
                <p:cNvCxnSpPr>
                  <a:stCxn id="17" idx="6"/>
                  <a:endCxn id="28" idx="2"/>
                </p:cNvCxnSpPr>
                <p:nvPr/>
              </p:nvCxnSpPr>
              <p:spPr>
                <a:xfrm>
                  <a:off x="2191463" y="2992333"/>
                  <a:ext cx="708314" cy="742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925386A-0476-41FD-9E88-390DD1E6420C}"/>
                    </a:ext>
                  </a:extLst>
                </p:cNvPr>
                <p:cNvCxnSpPr>
                  <a:stCxn id="16" idx="6"/>
                  <a:endCxn id="28" idx="2"/>
                </p:cNvCxnSpPr>
                <p:nvPr/>
              </p:nvCxnSpPr>
              <p:spPr>
                <a:xfrm flipV="1">
                  <a:off x="2191463" y="3066578"/>
                  <a:ext cx="708314" cy="2607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2943B939-DAD3-4C54-B2FD-7886D29DCCAA}"/>
                    </a:ext>
                  </a:extLst>
                </p:cNvPr>
                <p:cNvSpPr/>
                <p:nvPr/>
              </p:nvSpPr>
              <p:spPr>
                <a:xfrm>
                  <a:off x="2899776" y="3273713"/>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a:extLst>
                    <a:ext uri="{FF2B5EF4-FFF2-40B4-BE49-F238E27FC236}">
                      <a16:creationId xmlns:a16="http://schemas.microsoft.com/office/drawing/2014/main" id="{4E544FF2-1FD0-402F-8C77-5672141BFAD9}"/>
                    </a:ext>
                  </a:extLst>
                </p:cNvPr>
                <p:cNvCxnSpPr>
                  <a:stCxn id="18" idx="6"/>
                  <a:endCxn id="32" idx="2"/>
                </p:cNvCxnSpPr>
                <p:nvPr/>
              </p:nvCxnSpPr>
              <p:spPr>
                <a:xfrm>
                  <a:off x="2191463" y="2657369"/>
                  <a:ext cx="708313" cy="7601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20CF1B0-75B6-4896-A025-2774643D6D9F}"/>
                    </a:ext>
                  </a:extLst>
                </p:cNvPr>
                <p:cNvCxnSpPr>
                  <a:stCxn id="17" idx="6"/>
                  <a:endCxn id="32" idx="2"/>
                </p:cNvCxnSpPr>
                <p:nvPr/>
              </p:nvCxnSpPr>
              <p:spPr>
                <a:xfrm>
                  <a:off x="2191463" y="2992333"/>
                  <a:ext cx="708313" cy="4251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C8B9504-D53A-4C56-8B21-DE7CF25F68A0}"/>
                    </a:ext>
                  </a:extLst>
                </p:cNvPr>
                <p:cNvCxnSpPr>
                  <a:stCxn id="16" idx="6"/>
                  <a:endCxn id="32" idx="2"/>
                </p:cNvCxnSpPr>
                <p:nvPr/>
              </p:nvCxnSpPr>
              <p:spPr>
                <a:xfrm>
                  <a:off x="2191463" y="3327297"/>
                  <a:ext cx="708313" cy="902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A956E81D-F91E-4E73-A2F1-181746D64DAD}"/>
                    </a:ext>
                  </a:extLst>
                </p:cNvPr>
                <p:cNvSpPr/>
                <p:nvPr/>
              </p:nvSpPr>
              <p:spPr>
                <a:xfrm>
                  <a:off x="2899779" y="36385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58BA1855-2974-45DF-97FB-F518C34AF3B2}"/>
                    </a:ext>
                  </a:extLst>
                </p:cNvPr>
                <p:cNvCxnSpPr>
                  <a:stCxn id="18" idx="6"/>
                  <a:endCxn id="36" idx="2"/>
                </p:cNvCxnSpPr>
                <p:nvPr/>
              </p:nvCxnSpPr>
              <p:spPr>
                <a:xfrm>
                  <a:off x="2191463" y="2657369"/>
                  <a:ext cx="708316" cy="112498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67DCD96-8863-4062-98F1-7527B0CA6BD9}"/>
                    </a:ext>
                  </a:extLst>
                </p:cNvPr>
                <p:cNvCxnSpPr>
                  <a:stCxn id="17" idx="6"/>
                  <a:endCxn id="36" idx="2"/>
                </p:cNvCxnSpPr>
                <p:nvPr/>
              </p:nvCxnSpPr>
              <p:spPr>
                <a:xfrm>
                  <a:off x="2191463" y="2992333"/>
                  <a:ext cx="708316" cy="79001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2F46FD4-0888-46F7-91BF-2DE20AD60629}"/>
                    </a:ext>
                  </a:extLst>
                </p:cNvPr>
                <p:cNvCxnSpPr>
                  <a:stCxn id="16" idx="6"/>
                  <a:endCxn id="36" idx="2"/>
                </p:cNvCxnSpPr>
                <p:nvPr/>
              </p:nvCxnSpPr>
              <p:spPr>
                <a:xfrm>
                  <a:off x="2191463" y="3327297"/>
                  <a:ext cx="708316" cy="45505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E7EE6FE7-4C8B-463A-A104-505ABBD43B36}"/>
                    </a:ext>
                  </a:extLst>
                </p:cNvPr>
                <p:cNvSpPr/>
                <p:nvPr/>
              </p:nvSpPr>
              <p:spPr>
                <a:xfrm>
                  <a:off x="4028197" y="21907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Arrow Connector 40">
                  <a:extLst>
                    <a:ext uri="{FF2B5EF4-FFF2-40B4-BE49-F238E27FC236}">
                      <a16:creationId xmlns:a16="http://schemas.microsoft.com/office/drawing/2014/main" id="{165C5A12-F357-4FBD-BD8C-A86CB04B6437}"/>
                    </a:ext>
                  </a:extLst>
                </p:cNvPr>
                <p:cNvCxnSpPr>
                  <a:stCxn id="19" idx="6"/>
                  <a:endCxn id="40" idx="2"/>
                </p:cNvCxnSpPr>
                <p:nvPr/>
              </p:nvCxnSpPr>
              <p:spPr>
                <a:xfrm flipV="1">
                  <a:off x="3186242" y="23345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374D5B8A-7BF3-4CBE-BB58-26141BCB59A8}"/>
                    </a:ext>
                  </a:extLst>
                </p:cNvPr>
                <p:cNvCxnSpPr>
                  <a:stCxn id="24" idx="6"/>
                  <a:endCxn id="40" idx="2"/>
                </p:cNvCxnSpPr>
                <p:nvPr/>
              </p:nvCxnSpPr>
              <p:spPr>
                <a:xfrm flipV="1">
                  <a:off x="3186241" y="233455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E448387-2B15-4740-9F7B-869EEC48CF37}"/>
                    </a:ext>
                  </a:extLst>
                </p:cNvPr>
                <p:cNvCxnSpPr>
                  <a:stCxn id="28" idx="6"/>
                  <a:endCxn id="40" idx="2"/>
                </p:cNvCxnSpPr>
                <p:nvPr/>
              </p:nvCxnSpPr>
              <p:spPr>
                <a:xfrm flipV="1">
                  <a:off x="3186240" y="2334551"/>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E73E252-A917-4B93-B7D6-9090A0DA489F}"/>
                    </a:ext>
                  </a:extLst>
                </p:cNvPr>
                <p:cNvCxnSpPr>
                  <a:stCxn id="32" idx="6"/>
                  <a:endCxn id="40" idx="2"/>
                </p:cNvCxnSpPr>
                <p:nvPr/>
              </p:nvCxnSpPr>
              <p:spPr>
                <a:xfrm flipV="1">
                  <a:off x="3186239" y="2334551"/>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AF1252A-0328-44DC-91C7-0C6A80F60575}"/>
                    </a:ext>
                  </a:extLst>
                </p:cNvPr>
                <p:cNvCxnSpPr>
                  <a:stCxn id="36" idx="6"/>
                  <a:endCxn id="40" idx="2"/>
                </p:cNvCxnSpPr>
                <p:nvPr/>
              </p:nvCxnSpPr>
              <p:spPr>
                <a:xfrm flipV="1">
                  <a:off x="3186242" y="2334551"/>
                  <a:ext cx="841955" cy="144780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8BC87CF1-3862-47D4-BACE-7D9B6F3D0C05}"/>
                    </a:ext>
                  </a:extLst>
                </p:cNvPr>
                <p:cNvSpPr/>
                <p:nvPr/>
              </p:nvSpPr>
              <p:spPr>
                <a:xfrm>
                  <a:off x="4028196" y="2568528"/>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Arrow Connector 46">
                  <a:extLst>
                    <a:ext uri="{FF2B5EF4-FFF2-40B4-BE49-F238E27FC236}">
                      <a16:creationId xmlns:a16="http://schemas.microsoft.com/office/drawing/2014/main" id="{5F5D0F32-3A38-4B96-8B3C-0B6607D199B8}"/>
                    </a:ext>
                  </a:extLst>
                </p:cNvPr>
                <p:cNvCxnSpPr>
                  <a:endCxn id="46" idx="2"/>
                </p:cNvCxnSpPr>
                <p:nvPr/>
              </p:nvCxnSpPr>
              <p:spPr>
                <a:xfrm flipV="1">
                  <a:off x="3186241" y="2712329"/>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FBA43E8-BEF1-4119-860F-D05D83EC562D}"/>
                    </a:ext>
                  </a:extLst>
                </p:cNvPr>
                <p:cNvCxnSpPr>
                  <a:stCxn id="28" idx="6"/>
                  <a:endCxn id="46" idx="2"/>
                </p:cNvCxnSpPr>
                <p:nvPr/>
              </p:nvCxnSpPr>
              <p:spPr>
                <a:xfrm flipV="1">
                  <a:off x="3186240" y="2712329"/>
                  <a:ext cx="841956" cy="3542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7DDA0C9-D824-467A-B8DF-9EBE00BB60E6}"/>
                    </a:ext>
                  </a:extLst>
                </p:cNvPr>
                <p:cNvCxnSpPr>
                  <a:endCxn id="46" idx="2"/>
                </p:cNvCxnSpPr>
                <p:nvPr/>
              </p:nvCxnSpPr>
              <p:spPr>
                <a:xfrm flipV="1">
                  <a:off x="3186239" y="2712329"/>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66767092-F94C-45C4-9902-2144CD630595}"/>
                    </a:ext>
                  </a:extLst>
                </p:cNvPr>
                <p:cNvCxnSpPr>
                  <a:endCxn id="46" idx="2"/>
                </p:cNvCxnSpPr>
                <p:nvPr/>
              </p:nvCxnSpPr>
              <p:spPr>
                <a:xfrm flipV="1">
                  <a:off x="3186238" y="2712329"/>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8F75487-A1F4-422C-BFF7-6585E4087F79}"/>
                    </a:ext>
                  </a:extLst>
                </p:cNvPr>
                <p:cNvCxnSpPr>
                  <a:stCxn id="19" idx="6"/>
                  <a:endCxn id="46" idx="2"/>
                </p:cNvCxnSpPr>
                <p:nvPr/>
              </p:nvCxnSpPr>
              <p:spPr>
                <a:xfrm>
                  <a:off x="3186242" y="2334552"/>
                  <a:ext cx="841954" cy="377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411E63B2-A95F-445E-9F96-8EB2F7E37F15}"/>
                    </a:ext>
                  </a:extLst>
                </p:cNvPr>
                <p:cNvSpPr/>
                <p:nvPr/>
              </p:nvSpPr>
              <p:spPr>
                <a:xfrm>
                  <a:off x="4030044" y="2915686"/>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07EE0BC6-8B89-47CE-9969-B73F5A438712}"/>
                    </a:ext>
                  </a:extLst>
                </p:cNvPr>
                <p:cNvCxnSpPr>
                  <a:endCxn id="52" idx="2"/>
                </p:cNvCxnSpPr>
                <p:nvPr/>
              </p:nvCxnSpPr>
              <p:spPr>
                <a:xfrm flipV="1">
                  <a:off x="3188089" y="3059487"/>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FD58620A-A8DD-4DE9-9B89-F878052D2DD1}"/>
                    </a:ext>
                  </a:extLst>
                </p:cNvPr>
                <p:cNvCxnSpPr>
                  <a:endCxn id="52" idx="2"/>
                </p:cNvCxnSpPr>
                <p:nvPr/>
              </p:nvCxnSpPr>
              <p:spPr>
                <a:xfrm flipV="1">
                  <a:off x="3188088" y="3059487"/>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152133D-3CB9-4695-ADEB-C58CC4EE10C9}"/>
                    </a:ext>
                  </a:extLst>
                </p:cNvPr>
                <p:cNvCxnSpPr>
                  <a:endCxn id="52" idx="2"/>
                </p:cNvCxnSpPr>
                <p:nvPr/>
              </p:nvCxnSpPr>
              <p:spPr>
                <a:xfrm flipV="1">
                  <a:off x="3188087" y="3059487"/>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0984B8A3-6CC4-4419-ADF5-73B71E467CA0}"/>
                    </a:ext>
                  </a:extLst>
                </p:cNvPr>
                <p:cNvCxnSpPr>
                  <a:stCxn id="24" idx="6"/>
                  <a:endCxn id="52" idx="2"/>
                </p:cNvCxnSpPr>
                <p:nvPr/>
              </p:nvCxnSpPr>
              <p:spPr>
                <a:xfrm>
                  <a:off x="3186241" y="2707856"/>
                  <a:ext cx="843803" cy="35163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948A68B8-13A5-431D-AE3C-6880C1495838}"/>
                    </a:ext>
                  </a:extLst>
                </p:cNvPr>
                <p:cNvCxnSpPr>
                  <a:stCxn id="19" idx="6"/>
                  <a:endCxn id="52" idx="2"/>
                </p:cNvCxnSpPr>
                <p:nvPr/>
              </p:nvCxnSpPr>
              <p:spPr>
                <a:xfrm>
                  <a:off x="3186242" y="2334552"/>
                  <a:ext cx="843802" cy="72493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3B2A2BA8-E9B6-4289-B7C0-11595DE5A2EC}"/>
                    </a:ext>
                  </a:extLst>
                </p:cNvPr>
                <p:cNvSpPr/>
                <p:nvPr/>
              </p:nvSpPr>
              <p:spPr>
                <a:xfrm>
                  <a:off x="4028195" y="326390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a:extLst>
                    <a:ext uri="{FF2B5EF4-FFF2-40B4-BE49-F238E27FC236}">
                      <a16:creationId xmlns:a16="http://schemas.microsoft.com/office/drawing/2014/main" id="{DDA9BAA8-DB33-4DCE-B0DF-9C300053352E}"/>
                    </a:ext>
                  </a:extLst>
                </p:cNvPr>
                <p:cNvCxnSpPr>
                  <a:stCxn id="32" idx="6"/>
                  <a:endCxn id="58" idx="2"/>
                </p:cNvCxnSpPr>
                <p:nvPr/>
              </p:nvCxnSpPr>
              <p:spPr>
                <a:xfrm flipV="1">
                  <a:off x="3186239" y="3407701"/>
                  <a:ext cx="841956" cy="981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4DA34009-A1B3-4E6E-98B8-930CB8FF5021}"/>
                    </a:ext>
                  </a:extLst>
                </p:cNvPr>
                <p:cNvCxnSpPr>
                  <a:endCxn id="58" idx="2"/>
                </p:cNvCxnSpPr>
                <p:nvPr/>
              </p:nvCxnSpPr>
              <p:spPr>
                <a:xfrm flipV="1">
                  <a:off x="3186239" y="340770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32720B78-534F-4E24-A476-B3BCBDD9277C}"/>
                    </a:ext>
                  </a:extLst>
                </p:cNvPr>
                <p:cNvCxnSpPr>
                  <a:stCxn id="28" idx="6"/>
                  <a:endCxn id="58" idx="2"/>
                </p:cNvCxnSpPr>
                <p:nvPr/>
              </p:nvCxnSpPr>
              <p:spPr>
                <a:xfrm>
                  <a:off x="3186240" y="3066578"/>
                  <a:ext cx="841955" cy="34112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7C44B76E-B83F-4D66-B4AC-2AA948CC18A1}"/>
                    </a:ext>
                  </a:extLst>
                </p:cNvPr>
                <p:cNvCxnSpPr>
                  <a:stCxn id="24" idx="6"/>
                  <a:endCxn id="58" idx="2"/>
                </p:cNvCxnSpPr>
                <p:nvPr/>
              </p:nvCxnSpPr>
              <p:spPr>
                <a:xfrm>
                  <a:off x="3186241" y="2707856"/>
                  <a:ext cx="841954" cy="6998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659A5840-82E4-486F-B336-760C3B1D7212}"/>
                    </a:ext>
                  </a:extLst>
                </p:cNvPr>
                <p:cNvCxnSpPr>
                  <a:stCxn id="19" idx="6"/>
                  <a:endCxn id="58" idx="2"/>
                </p:cNvCxnSpPr>
                <p:nvPr/>
              </p:nvCxnSpPr>
              <p:spPr>
                <a:xfrm>
                  <a:off x="3186242" y="2334552"/>
                  <a:ext cx="841953" cy="10731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9FD63E55-B06E-49F6-9B4F-B05C30182B15}"/>
                    </a:ext>
                  </a:extLst>
                </p:cNvPr>
                <p:cNvSpPr/>
                <p:nvPr/>
              </p:nvSpPr>
              <p:spPr>
                <a:xfrm>
                  <a:off x="4028194" y="36471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Arrow Connector 64">
                  <a:extLst>
                    <a:ext uri="{FF2B5EF4-FFF2-40B4-BE49-F238E27FC236}">
                      <a16:creationId xmlns:a16="http://schemas.microsoft.com/office/drawing/2014/main" id="{9FBD988D-C0D4-4733-9125-7BAD005BD8C7}"/>
                    </a:ext>
                  </a:extLst>
                </p:cNvPr>
                <p:cNvCxnSpPr>
                  <a:endCxn id="64" idx="2"/>
                </p:cNvCxnSpPr>
                <p:nvPr/>
              </p:nvCxnSpPr>
              <p:spPr>
                <a:xfrm flipV="1">
                  <a:off x="3186239" y="37909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32B7176-EA10-4E10-9504-44964EFB8AA8}"/>
                    </a:ext>
                  </a:extLst>
                </p:cNvPr>
                <p:cNvCxnSpPr>
                  <a:stCxn id="32" idx="6"/>
                  <a:endCxn id="64" idx="2"/>
                </p:cNvCxnSpPr>
                <p:nvPr/>
              </p:nvCxnSpPr>
              <p:spPr>
                <a:xfrm>
                  <a:off x="3186239" y="3417514"/>
                  <a:ext cx="841955" cy="37343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525C454-E87C-445A-949D-AF51A564A92B}"/>
                    </a:ext>
                  </a:extLst>
                </p:cNvPr>
                <p:cNvCxnSpPr>
                  <a:stCxn id="28" idx="6"/>
                  <a:endCxn id="64" idx="2"/>
                </p:cNvCxnSpPr>
                <p:nvPr/>
              </p:nvCxnSpPr>
              <p:spPr>
                <a:xfrm>
                  <a:off x="3186240" y="3066578"/>
                  <a:ext cx="841954" cy="72437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0A083A12-2B1B-4FB2-B75D-837BBDB4A511}"/>
                    </a:ext>
                  </a:extLst>
                </p:cNvPr>
                <p:cNvCxnSpPr>
                  <a:stCxn id="24" idx="6"/>
                  <a:endCxn id="64" idx="2"/>
                </p:cNvCxnSpPr>
                <p:nvPr/>
              </p:nvCxnSpPr>
              <p:spPr>
                <a:xfrm>
                  <a:off x="3186241" y="2707856"/>
                  <a:ext cx="841953" cy="108309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0D212DD8-9EC7-427A-BC80-E112D659E8CC}"/>
                    </a:ext>
                  </a:extLst>
                </p:cNvPr>
                <p:cNvCxnSpPr>
                  <a:stCxn id="19" idx="6"/>
                  <a:endCxn id="64" idx="2"/>
                </p:cNvCxnSpPr>
                <p:nvPr/>
              </p:nvCxnSpPr>
              <p:spPr>
                <a:xfrm>
                  <a:off x="3186242" y="2334552"/>
                  <a:ext cx="841952" cy="145639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FE38E088-6F3C-4CBA-8FCD-0B223BE83C1D}"/>
                    </a:ext>
                  </a:extLst>
                </p:cNvPr>
                <p:cNvCxnSpPr>
                  <a:stCxn id="40" idx="6"/>
                  <a:endCxn id="20" idx="2"/>
                </p:cNvCxnSpPr>
                <p:nvPr/>
              </p:nvCxnSpPr>
              <p:spPr>
                <a:xfrm>
                  <a:off x="4314660" y="2334551"/>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2E78642C-F93C-4169-8B0B-3C656948D2AA}"/>
                    </a:ext>
                  </a:extLst>
                </p:cNvPr>
                <p:cNvCxnSpPr>
                  <a:stCxn id="46" idx="6"/>
                  <a:endCxn id="20" idx="2"/>
                </p:cNvCxnSpPr>
                <p:nvPr/>
              </p:nvCxnSpPr>
              <p:spPr>
                <a:xfrm flipV="1">
                  <a:off x="4314659" y="2513568"/>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1ABB171F-193F-446F-9216-55FBBE960A80}"/>
                    </a:ext>
                  </a:extLst>
                </p:cNvPr>
                <p:cNvCxnSpPr>
                  <a:stCxn id="52" idx="6"/>
                  <a:endCxn id="20" idx="2"/>
                </p:cNvCxnSpPr>
                <p:nvPr/>
              </p:nvCxnSpPr>
              <p:spPr>
                <a:xfrm flipV="1">
                  <a:off x="4316507" y="2513568"/>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1C208B8-510F-4C3D-BA61-F0EDB161910A}"/>
                    </a:ext>
                  </a:extLst>
                </p:cNvPr>
                <p:cNvCxnSpPr>
                  <a:stCxn id="58" idx="6"/>
                  <a:endCxn id="20" idx="2"/>
                </p:cNvCxnSpPr>
                <p:nvPr/>
              </p:nvCxnSpPr>
              <p:spPr>
                <a:xfrm flipV="1">
                  <a:off x="4314658" y="2513568"/>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E355CA7-0194-4EDD-8A40-4EAFDABFDEBE}"/>
                    </a:ext>
                  </a:extLst>
                </p:cNvPr>
                <p:cNvCxnSpPr>
                  <a:stCxn id="64" idx="6"/>
                  <a:endCxn id="20" idx="2"/>
                </p:cNvCxnSpPr>
                <p:nvPr/>
              </p:nvCxnSpPr>
              <p:spPr>
                <a:xfrm flipV="1">
                  <a:off x="4314657" y="2513568"/>
                  <a:ext cx="787797" cy="127738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0476E787-73EE-48E8-B383-5314E7483AD3}"/>
                    </a:ext>
                  </a:extLst>
                </p:cNvPr>
                <p:cNvSpPr/>
                <p:nvPr/>
              </p:nvSpPr>
              <p:spPr>
                <a:xfrm>
                  <a:off x="5102453" y="27456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41F4372F-2786-4151-8EAC-9690F5A1B691}"/>
                    </a:ext>
                  </a:extLst>
                </p:cNvPr>
                <p:cNvCxnSpPr>
                  <a:endCxn id="75" idx="2"/>
                </p:cNvCxnSpPr>
                <p:nvPr/>
              </p:nvCxnSpPr>
              <p:spPr>
                <a:xfrm>
                  <a:off x="4314659" y="27104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905F7C9C-7CB0-43B8-AA3A-A086258DD54C}"/>
                    </a:ext>
                  </a:extLst>
                </p:cNvPr>
                <p:cNvCxnSpPr>
                  <a:endCxn id="75" idx="2"/>
                </p:cNvCxnSpPr>
                <p:nvPr/>
              </p:nvCxnSpPr>
              <p:spPr>
                <a:xfrm flipV="1">
                  <a:off x="4314658" y="28894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B54EB729-6A56-4F12-A001-8ECAC859E7B1}"/>
                    </a:ext>
                  </a:extLst>
                </p:cNvPr>
                <p:cNvCxnSpPr>
                  <a:endCxn id="75" idx="2"/>
                </p:cNvCxnSpPr>
                <p:nvPr/>
              </p:nvCxnSpPr>
              <p:spPr>
                <a:xfrm flipV="1">
                  <a:off x="4316506" y="2889453"/>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D10AA24D-394E-432A-9136-5B5413A4D75C}"/>
                    </a:ext>
                  </a:extLst>
                </p:cNvPr>
                <p:cNvCxnSpPr>
                  <a:endCxn id="75" idx="2"/>
                </p:cNvCxnSpPr>
                <p:nvPr/>
              </p:nvCxnSpPr>
              <p:spPr>
                <a:xfrm flipV="1">
                  <a:off x="4314657" y="2889453"/>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10914349-5E15-4AB6-B90F-234FD4C93D94}"/>
                    </a:ext>
                  </a:extLst>
                </p:cNvPr>
                <p:cNvCxnSpPr>
                  <a:stCxn id="40" idx="6"/>
                  <a:endCxn id="75" idx="2"/>
                </p:cNvCxnSpPr>
                <p:nvPr/>
              </p:nvCxnSpPr>
              <p:spPr>
                <a:xfrm>
                  <a:off x="4314660" y="2334551"/>
                  <a:ext cx="787793" cy="5549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42160A71-527D-4720-8062-6BEE7FB3A9E0}"/>
                    </a:ext>
                  </a:extLst>
                </p:cNvPr>
                <p:cNvSpPr/>
                <p:nvPr/>
              </p:nvSpPr>
              <p:spPr>
                <a:xfrm>
                  <a:off x="5102452" y="3088214"/>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Arrow Connector 81">
                  <a:extLst>
                    <a:ext uri="{FF2B5EF4-FFF2-40B4-BE49-F238E27FC236}">
                      <a16:creationId xmlns:a16="http://schemas.microsoft.com/office/drawing/2014/main" id="{C61526FC-9A8E-4D3F-925B-7001B92594F1}"/>
                    </a:ext>
                  </a:extLst>
                </p:cNvPr>
                <p:cNvCxnSpPr>
                  <a:endCxn id="81" idx="2"/>
                </p:cNvCxnSpPr>
                <p:nvPr/>
              </p:nvCxnSpPr>
              <p:spPr>
                <a:xfrm>
                  <a:off x="4314658" y="3052998"/>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D557AEF1-8761-4C3E-9472-70D84D8D700E}"/>
                    </a:ext>
                  </a:extLst>
                </p:cNvPr>
                <p:cNvCxnSpPr>
                  <a:endCxn id="81" idx="2"/>
                </p:cNvCxnSpPr>
                <p:nvPr/>
              </p:nvCxnSpPr>
              <p:spPr>
                <a:xfrm flipV="1">
                  <a:off x="4314657" y="3232015"/>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FDAC91E4-A005-42A2-81ED-A98D935BABFD}"/>
                    </a:ext>
                  </a:extLst>
                </p:cNvPr>
                <p:cNvCxnSpPr>
                  <a:endCxn id="81" idx="2"/>
                </p:cNvCxnSpPr>
                <p:nvPr/>
              </p:nvCxnSpPr>
              <p:spPr>
                <a:xfrm flipV="1">
                  <a:off x="4316505" y="3232015"/>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AA113CAA-6B72-4D19-A461-AE015D4F5470}"/>
                    </a:ext>
                  </a:extLst>
                </p:cNvPr>
                <p:cNvCxnSpPr>
                  <a:stCxn id="46" idx="6"/>
                  <a:endCxn id="81" idx="2"/>
                </p:cNvCxnSpPr>
                <p:nvPr/>
              </p:nvCxnSpPr>
              <p:spPr>
                <a:xfrm>
                  <a:off x="4314659" y="2712329"/>
                  <a:ext cx="787793" cy="51968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3444977E-0F0F-4DCE-9686-0BC0CE1D6875}"/>
                    </a:ext>
                  </a:extLst>
                </p:cNvPr>
                <p:cNvCxnSpPr>
                  <a:stCxn id="40" idx="6"/>
                  <a:endCxn id="81" idx="2"/>
                </p:cNvCxnSpPr>
                <p:nvPr/>
              </p:nvCxnSpPr>
              <p:spPr>
                <a:xfrm>
                  <a:off x="4314660" y="2334551"/>
                  <a:ext cx="787792" cy="8974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D277DDC2-8E0E-4C44-9217-FAFC2282FB4A}"/>
                    </a:ext>
                  </a:extLst>
                </p:cNvPr>
                <p:cNvSpPr/>
                <p:nvPr/>
              </p:nvSpPr>
              <p:spPr>
                <a:xfrm>
                  <a:off x="5102454" y="34505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Arrow Connector 87">
                  <a:extLst>
                    <a:ext uri="{FF2B5EF4-FFF2-40B4-BE49-F238E27FC236}">
                      <a16:creationId xmlns:a16="http://schemas.microsoft.com/office/drawing/2014/main" id="{6423B511-C484-4A16-9092-CAF51B026F93}"/>
                    </a:ext>
                  </a:extLst>
                </p:cNvPr>
                <p:cNvCxnSpPr>
                  <a:endCxn id="87" idx="2"/>
                </p:cNvCxnSpPr>
                <p:nvPr/>
              </p:nvCxnSpPr>
              <p:spPr>
                <a:xfrm>
                  <a:off x="4314660" y="34153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B3339706-8498-4EEB-98EB-38392AA8F380}"/>
                    </a:ext>
                  </a:extLst>
                </p:cNvPr>
                <p:cNvCxnSpPr>
                  <a:endCxn id="87" idx="2"/>
                </p:cNvCxnSpPr>
                <p:nvPr/>
              </p:nvCxnSpPr>
              <p:spPr>
                <a:xfrm flipV="1">
                  <a:off x="4314659" y="35943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545D57E-F13D-4E02-994F-A80CAD926D77}"/>
                    </a:ext>
                  </a:extLst>
                </p:cNvPr>
                <p:cNvCxnSpPr>
                  <a:stCxn id="52" idx="6"/>
                  <a:endCxn id="87" idx="2"/>
                </p:cNvCxnSpPr>
                <p:nvPr/>
              </p:nvCxnSpPr>
              <p:spPr>
                <a:xfrm>
                  <a:off x="4316507" y="3059487"/>
                  <a:ext cx="785947" cy="53486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7CA95C78-71A7-457D-BD27-411B7F74798D}"/>
                    </a:ext>
                  </a:extLst>
                </p:cNvPr>
                <p:cNvCxnSpPr>
                  <a:stCxn id="46" idx="6"/>
                  <a:endCxn id="87" idx="2"/>
                </p:cNvCxnSpPr>
                <p:nvPr/>
              </p:nvCxnSpPr>
              <p:spPr>
                <a:xfrm>
                  <a:off x="4314659" y="2712329"/>
                  <a:ext cx="787795" cy="88202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943F89C8-5F86-4F2A-ADBA-52E91F20434D}"/>
                    </a:ext>
                  </a:extLst>
                </p:cNvPr>
                <p:cNvCxnSpPr>
                  <a:stCxn id="40" idx="6"/>
                  <a:endCxn id="87" idx="2"/>
                </p:cNvCxnSpPr>
                <p:nvPr/>
              </p:nvCxnSpPr>
              <p:spPr>
                <a:xfrm>
                  <a:off x="4314660" y="2334551"/>
                  <a:ext cx="787794" cy="12598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2" name="TextBox 11">
                <a:extLst>
                  <a:ext uri="{FF2B5EF4-FFF2-40B4-BE49-F238E27FC236}">
                    <a16:creationId xmlns:a16="http://schemas.microsoft.com/office/drawing/2014/main" id="{3959B973-925E-4B58-97A3-FDB5A6E844E1}"/>
                  </a:ext>
                </a:extLst>
              </p:cNvPr>
              <p:cNvSpPr txBox="1"/>
              <p:nvPr/>
            </p:nvSpPr>
            <p:spPr>
              <a:xfrm>
                <a:off x="990599" y="2156996"/>
                <a:ext cx="775578" cy="338554"/>
              </a:xfrm>
              <a:prstGeom prst="rect">
                <a:avLst/>
              </a:prstGeom>
              <a:noFill/>
            </p:spPr>
            <p:txBody>
              <a:bodyPr wrap="square" rtlCol="0">
                <a:spAutoFit/>
              </a:bodyPr>
              <a:lstStyle/>
              <a:p>
                <a:r>
                  <a:rPr lang="en-US" sz="1400" dirty="0"/>
                  <a:t>Layer 1</a:t>
                </a:r>
              </a:p>
            </p:txBody>
          </p:sp>
          <p:sp>
            <p:nvSpPr>
              <p:cNvPr id="13" name="TextBox 12">
                <a:extLst>
                  <a:ext uri="{FF2B5EF4-FFF2-40B4-BE49-F238E27FC236}">
                    <a16:creationId xmlns:a16="http://schemas.microsoft.com/office/drawing/2014/main" id="{FFA9F79C-F6C6-4E01-B16E-F1958A0DED8D}"/>
                  </a:ext>
                </a:extLst>
              </p:cNvPr>
              <p:cNvSpPr txBox="1"/>
              <p:nvPr/>
            </p:nvSpPr>
            <p:spPr>
              <a:xfrm>
                <a:off x="1787019" y="2156996"/>
                <a:ext cx="775578" cy="338554"/>
              </a:xfrm>
              <a:prstGeom prst="rect">
                <a:avLst/>
              </a:prstGeom>
              <a:noFill/>
            </p:spPr>
            <p:txBody>
              <a:bodyPr wrap="square" rtlCol="0">
                <a:spAutoFit/>
              </a:bodyPr>
              <a:lstStyle/>
              <a:p>
                <a:r>
                  <a:rPr lang="en-US" sz="1400" dirty="0"/>
                  <a:t>Layer 2</a:t>
                </a:r>
              </a:p>
            </p:txBody>
          </p:sp>
          <p:sp>
            <p:nvSpPr>
              <p:cNvPr id="14" name="TextBox 13">
                <a:extLst>
                  <a:ext uri="{FF2B5EF4-FFF2-40B4-BE49-F238E27FC236}">
                    <a16:creationId xmlns:a16="http://schemas.microsoft.com/office/drawing/2014/main" id="{C3D6295B-8384-41DB-899B-20E9312A2520}"/>
                  </a:ext>
                </a:extLst>
              </p:cNvPr>
              <p:cNvSpPr txBox="1"/>
              <p:nvPr/>
            </p:nvSpPr>
            <p:spPr>
              <a:xfrm>
                <a:off x="2715597" y="2156996"/>
                <a:ext cx="775578" cy="338554"/>
              </a:xfrm>
              <a:prstGeom prst="rect">
                <a:avLst/>
              </a:prstGeom>
              <a:noFill/>
            </p:spPr>
            <p:txBody>
              <a:bodyPr wrap="square" rtlCol="0">
                <a:spAutoFit/>
              </a:bodyPr>
              <a:lstStyle/>
              <a:p>
                <a:r>
                  <a:rPr lang="en-US" sz="1400" dirty="0"/>
                  <a:t>Layer 3</a:t>
                </a:r>
              </a:p>
            </p:txBody>
          </p:sp>
          <p:sp>
            <p:nvSpPr>
              <p:cNvPr id="15" name="TextBox 14">
                <a:extLst>
                  <a:ext uri="{FF2B5EF4-FFF2-40B4-BE49-F238E27FC236}">
                    <a16:creationId xmlns:a16="http://schemas.microsoft.com/office/drawing/2014/main" id="{14FB71B1-EBB1-4ABF-B191-275CC97EF19B}"/>
                  </a:ext>
                </a:extLst>
              </p:cNvPr>
              <p:cNvSpPr txBox="1"/>
              <p:nvPr/>
            </p:nvSpPr>
            <p:spPr>
              <a:xfrm>
                <a:off x="3596641" y="2156996"/>
                <a:ext cx="775578" cy="338554"/>
              </a:xfrm>
              <a:prstGeom prst="rect">
                <a:avLst/>
              </a:prstGeom>
              <a:noFill/>
            </p:spPr>
            <p:txBody>
              <a:bodyPr wrap="square" rtlCol="0">
                <a:spAutoFit/>
              </a:bodyPr>
              <a:lstStyle/>
              <a:p>
                <a:r>
                  <a:rPr lang="en-US" sz="1400" dirty="0"/>
                  <a:t>Layer 4</a:t>
                </a:r>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49A03FD-F838-4793-A4F0-49FC14ACAAFB}"/>
                    </a:ext>
                  </a:extLst>
                </p:cNvPr>
                <p:cNvSpPr txBox="1"/>
                <p:nvPr/>
              </p:nvSpPr>
              <p:spPr>
                <a:xfrm>
                  <a:off x="7959152" y="1106873"/>
                  <a:ext cx="484107" cy="320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sz="2000" i="1" smtClean="0">
                                <a:solidFill>
                                  <a:srgbClr val="FF0000"/>
                                </a:solidFill>
                                <a:latin typeface="Cambria Math" panose="02040503050406030204" pitchFamily="18" charset="0"/>
                              </a:rPr>
                            </m:ctrlPr>
                          </m:sSupPr>
                          <m:e>
                            <m:r>
                              <a:rPr lang="it-IT" sz="2000" i="1" smtClean="0">
                                <a:solidFill>
                                  <a:srgbClr val="FF0000"/>
                                </a:solidFill>
                                <a:latin typeface="Cambria Math" panose="02040503050406030204" pitchFamily="18" charset="0"/>
                                <a:ea typeface="Cambria Math" panose="02040503050406030204" pitchFamily="18" charset="0"/>
                              </a:rPr>
                              <m:t>𝛿</m:t>
                            </m:r>
                          </m:e>
                          <m:sup>
                            <m:r>
                              <a:rPr lang="en-GB" sz="2000" b="0" i="1" smtClean="0">
                                <a:solidFill>
                                  <a:srgbClr val="FF0000"/>
                                </a:solidFill>
                                <a:latin typeface="Cambria Math" panose="02040503050406030204" pitchFamily="18" charset="0"/>
                              </a:rPr>
                              <m:t>(4)</m:t>
                            </m:r>
                          </m:sup>
                        </m:sSup>
                      </m:oMath>
                    </m:oMathPara>
                  </a14:m>
                  <a:endParaRPr lang="it-IT" sz="2000" dirty="0">
                    <a:solidFill>
                      <a:srgbClr val="FF0000"/>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7959152" y="1106873"/>
                  <a:ext cx="484107" cy="320601"/>
                </a:xfrm>
                <a:prstGeom prst="rect">
                  <a:avLst/>
                </a:prstGeom>
                <a:blipFill>
                  <a:blip r:embed="rId6"/>
                  <a:stretch>
                    <a:fillRect l="-12500" t="-7547" r="-10000" b="-5660"/>
                  </a:stretch>
                </a:blipFill>
              </p:spPr>
              <p:txBody>
                <a:bodyPr/>
                <a:lstStyle/>
                <a:p>
                  <a:r>
                    <a:rPr lang="en-US">
                      <a:noFill/>
                    </a:rPr>
                    <a:t> </a:t>
                  </a:r>
                </a:p>
              </p:txBody>
            </p:sp>
          </mc:Fallback>
        </mc:AlternateContent>
        <p:sp>
          <p:nvSpPr>
            <p:cNvPr id="7" name="Curved Down Arrow 4">
              <a:extLst>
                <a:ext uri="{FF2B5EF4-FFF2-40B4-BE49-F238E27FC236}">
                  <a16:creationId xmlns:a16="http://schemas.microsoft.com/office/drawing/2014/main" id="{9E945070-916C-4600-B4F3-39C56B84846E}"/>
                </a:ext>
              </a:extLst>
            </p:cNvPr>
            <p:cNvSpPr/>
            <p:nvPr/>
          </p:nvSpPr>
          <p:spPr>
            <a:xfrm rot="10800000" flipV="1">
              <a:off x="7488218" y="1173454"/>
              <a:ext cx="470933" cy="155308"/>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ED1FA84-CB65-47B3-8B28-E93CCEFCB203}"/>
                    </a:ext>
                  </a:extLst>
                </p:cNvPr>
                <p:cNvSpPr txBox="1"/>
                <p:nvPr/>
              </p:nvSpPr>
              <p:spPr>
                <a:xfrm>
                  <a:off x="7067002" y="1101432"/>
                  <a:ext cx="484107" cy="320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sz="2000" i="1" smtClean="0">
                                <a:solidFill>
                                  <a:srgbClr val="FF0000"/>
                                </a:solidFill>
                                <a:latin typeface="Cambria Math" panose="02040503050406030204" pitchFamily="18" charset="0"/>
                              </a:rPr>
                            </m:ctrlPr>
                          </m:sSupPr>
                          <m:e>
                            <m:r>
                              <a:rPr lang="it-IT" sz="2000" i="1" smtClean="0">
                                <a:solidFill>
                                  <a:srgbClr val="FF0000"/>
                                </a:solidFill>
                                <a:latin typeface="Cambria Math" panose="02040503050406030204" pitchFamily="18" charset="0"/>
                                <a:ea typeface="Cambria Math" panose="02040503050406030204" pitchFamily="18" charset="0"/>
                              </a:rPr>
                              <m:t>𝛿</m:t>
                            </m:r>
                          </m:e>
                          <m:sup>
                            <m:r>
                              <a:rPr lang="en-GB" sz="2000" b="0" i="1" smtClean="0">
                                <a:solidFill>
                                  <a:srgbClr val="FF0000"/>
                                </a:solidFill>
                                <a:latin typeface="Cambria Math" panose="02040503050406030204" pitchFamily="18" charset="0"/>
                              </a:rPr>
                              <m:t>(3)</m:t>
                            </m:r>
                          </m:sup>
                        </m:sSup>
                      </m:oMath>
                    </m:oMathPara>
                  </a14:m>
                  <a:endParaRPr lang="it-IT" sz="2000" dirty="0">
                    <a:solidFill>
                      <a:srgbClr val="FF0000"/>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067002" y="1101432"/>
                  <a:ext cx="484107" cy="320601"/>
                </a:xfrm>
                <a:prstGeom prst="rect">
                  <a:avLst/>
                </a:prstGeom>
                <a:blipFill>
                  <a:blip r:embed="rId7"/>
                  <a:stretch>
                    <a:fillRect l="-12658" t="-5660" r="-11392" b="-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F868F0D-34F4-45D3-93CF-677141118B36}"/>
                    </a:ext>
                  </a:extLst>
                </p:cNvPr>
                <p:cNvSpPr txBox="1"/>
                <p:nvPr/>
              </p:nvSpPr>
              <p:spPr>
                <a:xfrm>
                  <a:off x="6174853" y="1095332"/>
                  <a:ext cx="484107" cy="3206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sz="2000" i="1" smtClean="0">
                                <a:solidFill>
                                  <a:srgbClr val="FF0000"/>
                                </a:solidFill>
                                <a:latin typeface="Cambria Math" panose="02040503050406030204" pitchFamily="18" charset="0"/>
                              </a:rPr>
                            </m:ctrlPr>
                          </m:sSupPr>
                          <m:e>
                            <m:r>
                              <a:rPr lang="it-IT" sz="2000" i="1" smtClean="0">
                                <a:solidFill>
                                  <a:srgbClr val="FF0000"/>
                                </a:solidFill>
                                <a:latin typeface="Cambria Math" panose="02040503050406030204" pitchFamily="18" charset="0"/>
                                <a:ea typeface="Cambria Math" panose="02040503050406030204" pitchFamily="18" charset="0"/>
                              </a:rPr>
                              <m:t>𝛿</m:t>
                            </m:r>
                          </m:e>
                          <m:sup>
                            <m:r>
                              <a:rPr lang="en-GB" sz="2000" b="0" i="1" smtClean="0">
                                <a:solidFill>
                                  <a:srgbClr val="FF0000"/>
                                </a:solidFill>
                                <a:latin typeface="Cambria Math" panose="02040503050406030204" pitchFamily="18" charset="0"/>
                              </a:rPr>
                              <m:t>(2)</m:t>
                            </m:r>
                          </m:sup>
                        </m:sSup>
                      </m:oMath>
                    </m:oMathPara>
                  </a14:m>
                  <a:endParaRPr lang="it-IT" sz="2000" dirty="0">
                    <a:solidFill>
                      <a:srgbClr val="FF0000"/>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6174853" y="1095332"/>
                  <a:ext cx="484107" cy="320601"/>
                </a:xfrm>
                <a:prstGeom prst="rect">
                  <a:avLst/>
                </a:prstGeom>
                <a:blipFill>
                  <a:blip r:embed="rId8"/>
                  <a:stretch>
                    <a:fillRect l="-12500" t="-5660" r="-10000" b="-5660"/>
                  </a:stretch>
                </a:blipFill>
              </p:spPr>
              <p:txBody>
                <a:bodyPr/>
                <a:lstStyle/>
                <a:p>
                  <a:r>
                    <a:rPr lang="en-US">
                      <a:noFill/>
                    </a:rPr>
                    <a:t> </a:t>
                  </a:r>
                </a:p>
              </p:txBody>
            </p:sp>
          </mc:Fallback>
        </mc:AlternateContent>
        <p:sp>
          <p:nvSpPr>
            <p:cNvPr id="10" name="Curved Down Arrow 124">
              <a:extLst>
                <a:ext uri="{FF2B5EF4-FFF2-40B4-BE49-F238E27FC236}">
                  <a16:creationId xmlns:a16="http://schemas.microsoft.com/office/drawing/2014/main" id="{923833A0-EB9C-4CA9-B161-AA7786B19572}"/>
                </a:ext>
              </a:extLst>
            </p:cNvPr>
            <p:cNvSpPr/>
            <p:nvPr/>
          </p:nvSpPr>
          <p:spPr>
            <a:xfrm rot="10800000" flipV="1">
              <a:off x="6626785" y="1133088"/>
              <a:ext cx="470933" cy="155308"/>
            </a:xfrm>
            <a:prstGeom prst="curved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gr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9B1021F4-379C-4A73-90A1-875AC492466F}"/>
                  </a:ext>
                </a:extLst>
              </p:cNvPr>
              <p:cNvSpPr txBox="1"/>
              <p:nvPr/>
            </p:nvSpPr>
            <p:spPr>
              <a:xfrm>
                <a:off x="660602" y="2397847"/>
                <a:ext cx="5435398" cy="1008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2400" b="0" i="0" smtClean="0">
                          <a:latin typeface="Cambria Math" panose="02040503050406030204" pitchFamily="18" charset="0"/>
                        </a:rPr>
                        <m:t>cost</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function</m:t>
                      </m:r>
                      <m:r>
                        <m:rPr>
                          <m:nor/>
                        </m:rPr>
                        <a:rPr lang="en-US" sz="2400" b="0" i="0" smtClean="0">
                          <a:latin typeface="Cambria Math" panose="02040503050406030204" pitchFamily="18" charset="0"/>
                        </a:rPr>
                        <m:t>: </m:t>
                      </m:r>
                      <m:r>
                        <a:rPr lang="en-US" sz="2400" b="0" i="1" smtClean="0">
                          <a:latin typeface="Cambria Math" panose="02040503050406030204" pitchFamily="18" charset="0"/>
                        </a:rPr>
                        <m:t>𝐽</m:t>
                      </m:r>
                      <m:d>
                        <m:dPr>
                          <m:ctrlPr>
                            <a:rPr lang="en-US" sz="2400" b="0" i="1" smtClean="0">
                              <a:latin typeface="Cambria Math" panose="02040503050406030204" pitchFamily="18" charset="0"/>
                            </a:rPr>
                          </m:ctrlPr>
                        </m:dPr>
                        <m:e>
                          <m:r>
                            <m:rPr>
                              <m:sty m:val="p"/>
                            </m:rPr>
                            <a:rPr lang="en-US" sz="2400" i="1">
                              <a:latin typeface="Cambria Math" panose="02040503050406030204" pitchFamily="18" charset="0"/>
                              <a:ea typeface="Cambria Math" panose="02040503050406030204" pitchFamily="18" charset="0"/>
                            </a:rPr>
                            <m:t>Θ</m:t>
                          </m:r>
                        </m:e>
                      </m:d>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𝑚</m:t>
                          </m:r>
                        </m:den>
                      </m:f>
                      <m:nary>
                        <m:naryPr>
                          <m:chr m:val="∑"/>
                          <m:ctrlPr>
                            <a:rPr lang="en-US" sz="2400" b="0" i="1" smtClean="0">
                              <a:latin typeface="Cambria Math" panose="02040503050406030204" pitchFamily="18" charset="0"/>
                              <a:ea typeface="Cambria Math" panose="02040503050406030204" pitchFamily="18" charset="0"/>
                            </a:rPr>
                          </m:ctrlPr>
                        </m:naryPr>
                        <m:sub>
                          <m:r>
                            <m:rPr>
                              <m:brk m:alnAt="23"/>
                            </m:rPr>
                            <a:rPr lang="en-US" sz="2400" b="0" i="1" smtClean="0">
                              <a:latin typeface="Cambria Math" panose="02040503050406030204" pitchFamily="18" charset="0"/>
                              <a:ea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=1</m:t>
                          </m:r>
                        </m:sub>
                        <m:sup>
                          <m:r>
                            <a:rPr lang="en-US" sz="2400" b="0" i="1" smtClean="0">
                              <a:latin typeface="Cambria Math" panose="02040503050406030204" pitchFamily="18" charset="0"/>
                              <a:ea typeface="Cambria Math" panose="02040503050406030204" pitchFamily="18" charset="0"/>
                            </a:rPr>
                            <m:t>𝑚</m:t>
                          </m:r>
                        </m:sup>
                        <m:e>
                          <m:r>
                            <a:rPr lang="en-US" sz="2400" b="0" i="1" smtClean="0">
                              <a:latin typeface="Cambria Math" panose="02040503050406030204" pitchFamily="18" charset="0"/>
                              <a:ea typeface="Cambria Math" panose="02040503050406030204" pitchFamily="18" charset="0"/>
                            </a:rPr>
                            <m:t>ℓ(</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h</m:t>
                              </m:r>
                            </m:e>
                            <m:sub>
                              <m:r>
                                <m:rPr>
                                  <m:sty m:val="p"/>
                                </m:rPr>
                                <a:rPr lang="el-GR" sz="2400" b="0" i="1" smtClean="0">
                                  <a:latin typeface="Cambria Math" panose="02040503050406030204" pitchFamily="18" charset="0"/>
                                  <a:ea typeface="Cambria Math" panose="02040503050406030204" pitchFamily="18" charset="0"/>
                                </a:rPr>
                                <m:t>Θ</m:t>
                              </m:r>
                            </m:sub>
                          </m:sSub>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𝑥</m:t>
                              </m:r>
                            </m:e>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𝑖</m:t>
                              </m:r>
                              <m:r>
                                <a:rPr lang="en-US" sz="2400" b="0" i="1" smtClean="0">
                                  <a:latin typeface="Cambria Math" panose="02040503050406030204" pitchFamily="18" charset="0"/>
                                  <a:ea typeface="Cambria Math" panose="02040503050406030204" pitchFamily="18" charset="0"/>
                                </a:rPr>
                                <m:t>)</m:t>
                              </m:r>
                            </m:sup>
                          </m:sSup>
                          <m:r>
                            <a:rPr lang="en-US" sz="2400" b="0" i="1" smtClean="0">
                              <a:latin typeface="Cambria Math" panose="02040503050406030204" pitchFamily="18" charset="0"/>
                              <a:ea typeface="Cambria Math" panose="02040503050406030204" pitchFamily="18" charset="0"/>
                            </a:rPr>
                            <m:t>))</m:t>
                          </m:r>
                        </m:e>
                      </m:nary>
                    </m:oMath>
                  </m:oMathPara>
                </a14:m>
                <a:endParaRPr lang="en-US" sz="2400" dirty="0"/>
              </a:p>
            </p:txBody>
          </p:sp>
        </mc:Choice>
        <mc:Fallback xmlns="">
          <p:sp>
            <p:nvSpPr>
              <p:cNvPr id="97" name="TextBox 96">
                <a:extLst>
                  <a:ext uri="{FF2B5EF4-FFF2-40B4-BE49-F238E27FC236}">
                    <a16:creationId xmlns:a16="http://schemas.microsoft.com/office/drawing/2014/main" id="{9B1021F4-379C-4A73-90A1-875AC492466F}"/>
                  </a:ext>
                </a:extLst>
              </p:cNvPr>
              <p:cNvSpPr txBox="1">
                <a:spLocks noRot="1" noChangeAspect="1" noMove="1" noResize="1" noEditPoints="1" noAdjustHandles="1" noChangeArrowheads="1" noChangeShapeType="1" noTextEdit="1"/>
              </p:cNvSpPr>
              <p:nvPr/>
            </p:nvSpPr>
            <p:spPr>
              <a:xfrm>
                <a:off x="660602" y="2397847"/>
                <a:ext cx="5435398" cy="100822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BE02125C-8A11-477F-839F-3575DB97F142}"/>
                  </a:ext>
                </a:extLst>
              </p:cNvPr>
              <p:cNvSpPr txBox="1"/>
              <p:nvPr/>
            </p:nvSpPr>
            <p:spPr>
              <a:xfrm>
                <a:off x="906997" y="3614207"/>
                <a:ext cx="2445991" cy="9333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𝐽</m:t>
                          </m:r>
                          <m:r>
                            <a:rPr lang="en-US" sz="2400" i="1">
                              <a:latin typeface="Cambria Math" panose="02040503050406030204" pitchFamily="18" charset="0"/>
                              <a:ea typeface="Cambria Math" panose="02040503050406030204" pitchFamily="18" charset="0"/>
                            </a:rPr>
                            <m:t>(</m:t>
                          </m:r>
                          <m:r>
                            <m:rPr>
                              <m:sty m:val="p"/>
                            </m:rPr>
                            <a:rPr lang="el-GR" sz="2400" i="1" smtClean="0">
                              <a:latin typeface="Cambria Math" panose="02040503050406030204" pitchFamily="18" charset="0"/>
                              <a:ea typeface="Cambria Math" panose="02040503050406030204" pitchFamily="18" charset="0"/>
                            </a:rPr>
                            <m:t>Θ</m:t>
                          </m:r>
                          <m:r>
                            <a:rPr lang="en-US" sz="2400" b="0" i="1" smtClean="0">
                              <a:latin typeface="Cambria Math" panose="02040503050406030204" pitchFamily="18" charset="0"/>
                              <a:ea typeface="Cambria Math" panose="02040503050406030204" pitchFamily="18" charset="0"/>
                            </a:rPr>
                            <m:t>)</m:t>
                          </m:r>
                        </m:num>
                        <m:den>
                          <m:r>
                            <a:rPr lang="en-US" sz="2400" i="1" smtClean="0">
                              <a:latin typeface="Cambria Math" panose="02040503050406030204" pitchFamily="18" charset="0"/>
                              <a:ea typeface="Cambria Math" panose="02040503050406030204" pitchFamily="18" charset="0"/>
                            </a:rPr>
                            <m:t>𝜕</m:t>
                          </m:r>
                          <m:sSubSup>
                            <m:sSubSupPr>
                              <m:ctrlPr>
                                <a:rPr lang="en-US" sz="2400" i="1" smtClean="0">
                                  <a:latin typeface="Cambria Math" panose="02040503050406030204" pitchFamily="18" charset="0"/>
                                  <a:ea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ea typeface="Cambria Math" panose="02040503050406030204" pitchFamily="18" charset="0"/>
                                </a:rPr>
                                <m:t>𝑖𝑗</m:t>
                              </m:r>
                            </m:sub>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𝑙</m:t>
                              </m:r>
                              <m:r>
                                <a:rPr lang="en-US" sz="2400" b="0" i="1" smtClean="0">
                                  <a:latin typeface="Cambria Math" panose="02040503050406030204" pitchFamily="18" charset="0"/>
                                  <a:ea typeface="Cambria Math" panose="02040503050406030204" pitchFamily="18" charset="0"/>
                                </a:rPr>
                                <m:t>)</m:t>
                              </m:r>
                            </m:sup>
                          </m:sSubSup>
                        </m:den>
                      </m:f>
                      <m:r>
                        <a:rPr lang="en-US" sz="2400" b="0" i="1" smtClean="0">
                          <a:latin typeface="Cambria Math" panose="02040503050406030204" pitchFamily="18" charset="0"/>
                          <a:ea typeface="Cambria Math" panose="02040503050406030204" pitchFamily="18" charset="0"/>
                        </a:rPr>
                        <m:t>=</m:t>
                      </m:r>
                      <m:sSubSup>
                        <m:sSubSupPr>
                          <m:ctrlPr>
                            <a:rPr lang="en-GB" sz="2400" i="1" smtClean="0">
                              <a:solidFill>
                                <a:schemeClr val="tx1"/>
                              </a:solidFill>
                              <a:latin typeface="Cambria Math" panose="02040503050406030204" pitchFamily="18" charset="0"/>
                              <a:ea typeface="Cambria Math" panose="02040503050406030204" pitchFamily="18" charset="0"/>
                            </a:rPr>
                          </m:ctrlPr>
                        </m:sSubSupPr>
                        <m:e>
                          <m:r>
                            <a:rPr lang="en-GB" sz="2400" i="1">
                              <a:solidFill>
                                <a:schemeClr val="tx1"/>
                              </a:solidFill>
                              <a:latin typeface="Cambria Math" panose="02040503050406030204" pitchFamily="18" charset="0"/>
                              <a:ea typeface="Cambria Math" panose="02040503050406030204" pitchFamily="18" charset="0"/>
                            </a:rPr>
                            <m:t>𝑎</m:t>
                          </m:r>
                        </m:e>
                        <m:sub>
                          <m:r>
                            <a:rPr lang="en-GB" sz="2400" i="1">
                              <a:solidFill>
                                <a:schemeClr val="tx1"/>
                              </a:solidFill>
                              <a:latin typeface="Cambria Math" panose="02040503050406030204" pitchFamily="18" charset="0"/>
                              <a:ea typeface="Cambria Math" panose="02040503050406030204" pitchFamily="18" charset="0"/>
                            </a:rPr>
                            <m:t>𝑗</m:t>
                          </m:r>
                        </m:sub>
                        <m:sup>
                          <m:r>
                            <a:rPr lang="en-GB" sz="2400" i="1">
                              <a:solidFill>
                                <a:schemeClr val="tx1"/>
                              </a:solidFill>
                              <a:latin typeface="Cambria Math" panose="02040503050406030204" pitchFamily="18" charset="0"/>
                              <a:ea typeface="Cambria Math" panose="02040503050406030204" pitchFamily="18" charset="0"/>
                            </a:rPr>
                            <m:t>(</m:t>
                          </m:r>
                          <m:r>
                            <a:rPr lang="en-GB" sz="2400" i="1">
                              <a:solidFill>
                                <a:schemeClr val="tx1"/>
                              </a:solidFill>
                              <a:latin typeface="Cambria Math" panose="02040503050406030204" pitchFamily="18" charset="0"/>
                              <a:ea typeface="Cambria Math" panose="02040503050406030204" pitchFamily="18" charset="0"/>
                            </a:rPr>
                            <m:t>𝑙</m:t>
                          </m:r>
                          <m:r>
                            <a:rPr lang="en-GB" sz="2400" i="1">
                              <a:solidFill>
                                <a:schemeClr val="tx1"/>
                              </a:solidFill>
                              <a:latin typeface="Cambria Math" panose="02040503050406030204" pitchFamily="18" charset="0"/>
                              <a:ea typeface="Cambria Math" panose="02040503050406030204" pitchFamily="18" charset="0"/>
                            </a:rPr>
                            <m:t>)</m:t>
                          </m:r>
                        </m:sup>
                      </m:sSubSup>
                      <m:sSubSup>
                        <m:sSubSupPr>
                          <m:ctrlPr>
                            <a:rPr lang="en-GB" sz="2400" i="1">
                              <a:solidFill>
                                <a:schemeClr val="tx1"/>
                              </a:solidFill>
                              <a:latin typeface="Cambria Math" panose="02040503050406030204" pitchFamily="18" charset="0"/>
                              <a:ea typeface="Cambria Math" panose="02040503050406030204" pitchFamily="18" charset="0"/>
                            </a:rPr>
                          </m:ctrlPr>
                        </m:sSubSupPr>
                        <m:e>
                          <m:r>
                            <a:rPr lang="en-GB" sz="2400" i="1">
                              <a:solidFill>
                                <a:schemeClr val="tx1"/>
                              </a:solidFill>
                              <a:latin typeface="Cambria Math" panose="02040503050406030204" pitchFamily="18" charset="0"/>
                              <a:ea typeface="Cambria Math" panose="02040503050406030204" pitchFamily="18" charset="0"/>
                            </a:rPr>
                            <m:t>𝛿</m:t>
                          </m:r>
                        </m:e>
                        <m:sub>
                          <m:r>
                            <a:rPr lang="en-GB" sz="2400" i="1">
                              <a:solidFill>
                                <a:schemeClr val="tx1"/>
                              </a:solidFill>
                              <a:latin typeface="Cambria Math" panose="02040503050406030204" pitchFamily="18" charset="0"/>
                              <a:ea typeface="Cambria Math" panose="02040503050406030204" pitchFamily="18" charset="0"/>
                            </a:rPr>
                            <m:t>𝑖</m:t>
                          </m:r>
                        </m:sub>
                        <m:sup>
                          <m:r>
                            <a:rPr lang="en-GB" sz="2400" i="1">
                              <a:solidFill>
                                <a:schemeClr val="tx1"/>
                              </a:solidFill>
                              <a:latin typeface="Cambria Math" panose="02040503050406030204" pitchFamily="18" charset="0"/>
                              <a:ea typeface="Cambria Math" panose="02040503050406030204" pitchFamily="18" charset="0"/>
                            </a:rPr>
                            <m:t>(</m:t>
                          </m:r>
                          <m:r>
                            <a:rPr lang="en-GB" sz="2400" i="1">
                              <a:solidFill>
                                <a:schemeClr val="tx1"/>
                              </a:solidFill>
                              <a:latin typeface="Cambria Math" panose="02040503050406030204" pitchFamily="18" charset="0"/>
                              <a:ea typeface="Cambria Math" panose="02040503050406030204" pitchFamily="18" charset="0"/>
                            </a:rPr>
                            <m:t>𝑙</m:t>
                          </m:r>
                          <m:r>
                            <a:rPr lang="en-GB" sz="2400" i="1">
                              <a:solidFill>
                                <a:schemeClr val="tx1"/>
                              </a:solidFill>
                              <a:latin typeface="Cambria Math" panose="02040503050406030204" pitchFamily="18" charset="0"/>
                              <a:ea typeface="Cambria Math" panose="02040503050406030204" pitchFamily="18" charset="0"/>
                            </a:rPr>
                            <m:t>+1)</m:t>
                          </m:r>
                        </m:sup>
                      </m:sSubSup>
                    </m:oMath>
                  </m:oMathPara>
                </a14:m>
                <a:endParaRPr lang="en-US" sz="2400" dirty="0"/>
              </a:p>
            </p:txBody>
          </p:sp>
        </mc:Choice>
        <mc:Fallback xmlns="">
          <p:sp>
            <p:nvSpPr>
              <p:cNvPr id="101" name="TextBox 100">
                <a:extLst>
                  <a:ext uri="{FF2B5EF4-FFF2-40B4-BE49-F238E27FC236}">
                    <a16:creationId xmlns:a16="http://schemas.microsoft.com/office/drawing/2014/main" id="{BE02125C-8A11-477F-839F-3575DB97F142}"/>
                  </a:ext>
                </a:extLst>
              </p:cNvPr>
              <p:cNvSpPr txBox="1">
                <a:spLocks noRot="1" noChangeAspect="1" noMove="1" noResize="1" noEditPoints="1" noAdjustHandles="1" noChangeArrowheads="1" noChangeShapeType="1" noTextEdit="1"/>
              </p:cNvSpPr>
              <p:nvPr/>
            </p:nvSpPr>
            <p:spPr>
              <a:xfrm>
                <a:off x="906997" y="3614207"/>
                <a:ext cx="2445991" cy="933397"/>
              </a:xfrm>
              <a:prstGeom prst="rect">
                <a:avLst/>
              </a:prstGeom>
              <a:blipFill>
                <a:blip r:embed="rId10"/>
                <a:stretch>
                  <a:fillRect/>
                </a:stretch>
              </a:blipFill>
            </p:spPr>
            <p:txBody>
              <a:bodyPr/>
              <a:lstStyle/>
              <a:p>
                <a:r>
                  <a:rPr lang="en-US">
                    <a:noFill/>
                  </a:rPr>
                  <a:t> </a:t>
                </a:r>
              </a:p>
            </p:txBody>
          </p:sp>
        </mc:Fallback>
      </mc:AlternateContent>
      <p:grpSp>
        <p:nvGrpSpPr>
          <p:cNvPr id="102" name="Group 101">
            <a:extLst>
              <a:ext uri="{FF2B5EF4-FFF2-40B4-BE49-F238E27FC236}">
                <a16:creationId xmlns:a16="http://schemas.microsoft.com/office/drawing/2014/main" id="{D6529383-F9AA-4666-A2B8-3310FBEAA13C}"/>
              </a:ext>
            </a:extLst>
          </p:cNvPr>
          <p:cNvGrpSpPr/>
          <p:nvPr/>
        </p:nvGrpSpPr>
        <p:grpSpPr>
          <a:xfrm>
            <a:off x="5164826" y="95757"/>
            <a:ext cx="3111543" cy="2025339"/>
            <a:chOff x="7962769" y="524702"/>
            <a:chExt cx="3055882" cy="2294466"/>
          </a:xfrm>
        </p:grpSpPr>
        <p:grpSp>
          <p:nvGrpSpPr>
            <p:cNvPr id="103" name="Group 102">
              <a:extLst>
                <a:ext uri="{FF2B5EF4-FFF2-40B4-BE49-F238E27FC236}">
                  <a16:creationId xmlns:a16="http://schemas.microsoft.com/office/drawing/2014/main" id="{4F505347-118E-489B-90E2-DA274CD960CF}"/>
                </a:ext>
              </a:extLst>
            </p:cNvPr>
            <p:cNvGrpSpPr/>
            <p:nvPr/>
          </p:nvGrpSpPr>
          <p:grpSpPr>
            <a:xfrm>
              <a:off x="7962769" y="524702"/>
              <a:ext cx="3055882" cy="2294466"/>
              <a:chOff x="7962769" y="524702"/>
              <a:chExt cx="3055882" cy="2294466"/>
            </a:xfrm>
          </p:grpSpPr>
          <p:grpSp>
            <p:nvGrpSpPr>
              <p:cNvPr id="108" name="Group 107">
                <a:extLst>
                  <a:ext uri="{FF2B5EF4-FFF2-40B4-BE49-F238E27FC236}">
                    <a16:creationId xmlns:a16="http://schemas.microsoft.com/office/drawing/2014/main" id="{8B8BE25F-24F4-4282-93E5-436A699CEE99}"/>
                  </a:ext>
                </a:extLst>
              </p:cNvPr>
              <p:cNvGrpSpPr/>
              <p:nvPr/>
            </p:nvGrpSpPr>
            <p:grpSpPr>
              <a:xfrm>
                <a:off x="7962769" y="1231111"/>
                <a:ext cx="3055882" cy="1588057"/>
                <a:chOff x="990599" y="738216"/>
                <a:chExt cx="3381620" cy="1757334"/>
              </a:xfrm>
            </p:grpSpPr>
            <p:grpSp>
              <p:nvGrpSpPr>
                <p:cNvPr id="113" name="Group 112">
                  <a:extLst>
                    <a:ext uri="{FF2B5EF4-FFF2-40B4-BE49-F238E27FC236}">
                      <a16:creationId xmlns:a16="http://schemas.microsoft.com/office/drawing/2014/main" id="{3E35E289-CE4F-4EA8-8DAE-E5B5A34A5C88}"/>
                    </a:ext>
                  </a:extLst>
                </p:cNvPr>
                <p:cNvGrpSpPr/>
                <p:nvPr/>
              </p:nvGrpSpPr>
              <p:grpSpPr>
                <a:xfrm>
                  <a:off x="1239873" y="738216"/>
                  <a:ext cx="2862230" cy="1432793"/>
                  <a:chOff x="1905000" y="2190750"/>
                  <a:chExt cx="3483917" cy="1744001"/>
                </a:xfrm>
              </p:grpSpPr>
              <p:sp>
                <p:nvSpPr>
                  <p:cNvPr id="118" name="Oval 117">
                    <a:extLst>
                      <a:ext uri="{FF2B5EF4-FFF2-40B4-BE49-F238E27FC236}">
                        <a16:creationId xmlns:a16="http://schemas.microsoft.com/office/drawing/2014/main" id="{FE45DD77-48C5-4661-9FAB-917EC868ED6D}"/>
                      </a:ext>
                    </a:extLst>
                  </p:cNvPr>
                  <p:cNvSpPr/>
                  <p:nvPr/>
                </p:nvSpPr>
                <p:spPr>
                  <a:xfrm>
                    <a:off x="1905000" y="3183496"/>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93FE040C-8419-428D-A2D2-06C0557EC1A6}"/>
                      </a:ext>
                    </a:extLst>
                  </p:cNvPr>
                  <p:cNvSpPr/>
                  <p:nvPr/>
                </p:nvSpPr>
                <p:spPr>
                  <a:xfrm>
                    <a:off x="1905000" y="2848532"/>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DEB6F7D7-FFF8-41F7-A71D-8002E8A07F6D}"/>
                      </a:ext>
                    </a:extLst>
                  </p:cNvPr>
                  <p:cNvSpPr/>
                  <p:nvPr/>
                </p:nvSpPr>
                <p:spPr>
                  <a:xfrm>
                    <a:off x="1905000" y="2513568"/>
                    <a:ext cx="286463" cy="28760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B3CCB0DC-E19A-4C5B-B3A2-8E7035064E78}"/>
                      </a:ext>
                    </a:extLst>
                  </p:cNvPr>
                  <p:cNvSpPr/>
                  <p:nvPr/>
                </p:nvSpPr>
                <p:spPr>
                  <a:xfrm>
                    <a:off x="2899779" y="2190751"/>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16159635-8484-435F-8102-F5DC1DFF406A}"/>
                      </a:ext>
                    </a:extLst>
                  </p:cNvPr>
                  <p:cNvSpPr/>
                  <p:nvPr/>
                </p:nvSpPr>
                <p:spPr>
                  <a:xfrm>
                    <a:off x="5102454" y="236976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3" name="Straight Arrow Connector 122">
                    <a:extLst>
                      <a:ext uri="{FF2B5EF4-FFF2-40B4-BE49-F238E27FC236}">
                        <a16:creationId xmlns:a16="http://schemas.microsoft.com/office/drawing/2014/main" id="{9DE4DC46-1ABE-4646-BFE4-D5DCACE5A11C}"/>
                      </a:ext>
                    </a:extLst>
                  </p:cNvPr>
                  <p:cNvCxnSpPr>
                    <a:stCxn id="120" idx="6"/>
                    <a:endCxn id="121" idx="2"/>
                  </p:cNvCxnSpPr>
                  <p:nvPr/>
                </p:nvCxnSpPr>
                <p:spPr>
                  <a:xfrm flipV="1">
                    <a:off x="2191463" y="2334552"/>
                    <a:ext cx="708316" cy="3228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0160B539-BE2F-4CA9-8D2A-35EF4380889F}"/>
                      </a:ext>
                    </a:extLst>
                  </p:cNvPr>
                  <p:cNvCxnSpPr>
                    <a:stCxn id="119" idx="6"/>
                    <a:endCxn id="121" idx="2"/>
                  </p:cNvCxnSpPr>
                  <p:nvPr/>
                </p:nvCxnSpPr>
                <p:spPr>
                  <a:xfrm flipV="1">
                    <a:off x="2191463" y="2334552"/>
                    <a:ext cx="708316" cy="6577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CEFAF6F4-DFBD-4D57-9240-B5C50EE993D7}"/>
                      </a:ext>
                    </a:extLst>
                  </p:cNvPr>
                  <p:cNvCxnSpPr>
                    <a:stCxn id="118" idx="6"/>
                    <a:endCxn id="121" idx="2"/>
                  </p:cNvCxnSpPr>
                  <p:nvPr/>
                </p:nvCxnSpPr>
                <p:spPr>
                  <a:xfrm flipV="1">
                    <a:off x="2191463" y="2334552"/>
                    <a:ext cx="708316" cy="9927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6" name="Oval 125">
                    <a:extLst>
                      <a:ext uri="{FF2B5EF4-FFF2-40B4-BE49-F238E27FC236}">
                        <a16:creationId xmlns:a16="http://schemas.microsoft.com/office/drawing/2014/main" id="{7C14A48C-B13E-4E66-9151-DACE5DEDCF04}"/>
                      </a:ext>
                    </a:extLst>
                  </p:cNvPr>
                  <p:cNvSpPr/>
                  <p:nvPr/>
                </p:nvSpPr>
                <p:spPr>
                  <a:xfrm>
                    <a:off x="2899778" y="2564055"/>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7" name="Straight Arrow Connector 126">
                    <a:extLst>
                      <a:ext uri="{FF2B5EF4-FFF2-40B4-BE49-F238E27FC236}">
                        <a16:creationId xmlns:a16="http://schemas.microsoft.com/office/drawing/2014/main" id="{F4E5981C-3A3B-4308-992F-147FDD63B8C7}"/>
                      </a:ext>
                    </a:extLst>
                  </p:cNvPr>
                  <p:cNvCxnSpPr>
                    <a:stCxn id="120" idx="6"/>
                    <a:endCxn id="126" idx="2"/>
                  </p:cNvCxnSpPr>
                  <p:nvPr/>
                </p:nvCxnSpPr>
                <p:spPr>
                  <a:xfrm>
                    <a:off x="2191463" y="2657369"/>
                    <a:ext cx="708315" cy="5048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942BA629-AD36-4256-8BBE-96E6C3ABEC11}"/>
                      </a:ext>
                    </a:extLst>
                  </p:cNvPr>
                  <p:cNvCxnSpPr>
                    <a:stCxn id="119" idx="6"/>
                    <a:endCxn id="126" idx="2"/>
                  </p:cNvCxnSpPr>
                  <p:nvPr/>
                </p:nvCxnSpPr>
                <p:spPr>
                  <a:xfrm flipV="1">
                    <a:off x="2191463" y="2707856"/>
                    <a:ext cx="708315" cy="2844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EB9CDF46-E00A-46B4-A5BA-D15C11DB8280}"/>
                      </a:ext>
                    </a:extLst>
                  </p:cNvPr>
                  <p:cNvCxnSpPr>
                    <a:stCxn id="118" idx="6"/>
                    <a:endCxn id="126" idx="2"/>
                  </p:cNvCxnSpPr>
                  <p:nvPr/>
                </p:nvCxnSpPr>
                <p:spPr>
                  <a:xfrm flipV="1">
                    <a:off x="2191463" y="2707856"/>
                    <a:ext cx="708315" cy="61944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0" name="Oval 129">
                    <a:extLst>
                      <a:ext uri="{FF2B5EF4-FFF2-40B4-BE49-F238E27FC236}">
                        <a16:creationId xmlns:a16="http://schemas.microsoft.com/office/drawing/2014/main" id="{88936587-1AE7-416F-8982-C7A1036B262E}"/>
                      </a:ext>
                    </a:extLst>
                  </p:cNvPr>
                  <p:cNvSpPr/>
                  <p:nvPr/>
                </p:nvSpPr>
                <p:spPr>
                  <a:xfrm>
                    <a:off x="2899777" y="2922777"/>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1" name="Straight Arrow Connector 130">
                    <a:extLst>
                      <a:ext uri="{FF2B5EF4-FFF2-40B4-BE49-F238E27FC236}">
                        <a16:creationId xmlns:a16="http://schemas.microsoft.com/office/drawing/2014/main" id="{C21B89E0-7DA7-4F7D-B348-6F41644A54D4}"/>
                      </a:ext>
                    </a:extLst>
                  </p:cNvPr>
                  <p:cNvCxnSpPr>
                    <a:stCxn id="120" idx="6"/>
                    <a:endCxn id="130" idx="2"/>
                  </p:cNvCxnSpPr>
                  <p:nvPr/>
                </p:nvCxnSpPr>
                <p:spPr>
                  <a:xfrm>
                    <a:off x="2191463" y="2657369"/>
                    <a:ext cx="708314" cy="40920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1AF559EC-6FDA-4CCD-AF85-0610334E2137}"/>
                      </a:ext>
                    </a:extLst>
                  </p:cNvPr>
                  <p:cNvCxnSpPr>
                    <a:stCxn id="119" idx="6"/>
                    <a:endCxn id="130" idx="2"/>
                  </p:cNvCxnSpPr>
                  <p:nvPr/>
                </p:nvCxnSpPr>
                <p:spPr>
                  <a:xfrm>
                    <a:off x="2191463" y="2992333"/>
                    <a:ext cx="708314" cy="742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3" name="Straight Arrow Connector 132">
                    <a:extLst>
                      <a:ext uri="{FF2B5EF4-FFF2-40B4-BE49-F238E27FC236}">
                        <a16:creationId xmlns:a16="http://schemas.microsoft.com/office/drawing/2014/main" id="{6BD16540-AB65-4A5F-B610-2D8C86B6532E}"/>
                      </a:ext>
                    </a:extLst>
                  </p:cNvPr>
                  <p:cNvCxnSpPr>
                    <a:stCxn id="118" idx="6"/>
                    <a:endCxn id="130" idx="2"/>
                  </p:cNvCxnSpPr>
                  <p:nvPr/>
                </p:nvCxnSpPr>
                <p:spPr>
                  <a:xfrm flipV="1">
                    <a:off x="2191463" y="3066578"/>
                    <a:ext cx="708314" cy="2607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4" name="Oval 133">
                    <a:extLst>
                      <a:ext uri="{FF2B5EF4-FFF2-40B4-BE49-F238E27FC236}">
                        <a16:creationId xmlns:a16="http://schemas.microsoft.com/office/drawing/2014/main" id="{8A9A6910-C547-4A72-8E6B-C1466150548D}"/>
                      </a:ext>
                    </a:extLst>
                  </p:cNvPr>
                  <p:cNvSpPr/>
                  <p:nvPr/>
                </p:nvSpPr>
                <p:spPr>
                  <a:xfrm>
                    <a:off x="2899776" y="3273713"/>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5" name="Straight Arrow Connector 134">
                    <a:extLst>
                      <a:ext uri="{FF2B5EF4-FFF2-40B4-BE49-F238E27FC236}">
                        <a16:creationId xmlns:a16="http://schemas.microsoft.com/office/drawing/2014/main" id="{74A1EA16-FC03-4B13-A076-74B766D2557F}"/>
                      </a:ext>
                    </a:extLst>
                  </p:cNvPr>
                  <p:cNvCxnSpPr>
                    <a:stCxn id="120" idx="6"/>
                    <a:endCxn id="134" idx="2"/>
                  </p:cNvCxnSpPr>
                  <p:nvPr/>
                </p:nvCxnSpPr>
                <p:spPr>
                  <a:xfrm>
                    <a:off x="2191463" y="2657369"/>
                    <a:ext cx="708313" cy="7601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6" name="Straight Arrow Connector 135">
                    <a:extLst>
                      <a:ext uri="{FF2B5EF4-FFF2-40B4-BE49-F238E27FC236}">
                        <a16:creationId xmlns:a16="http://schemas.microsoft.com/office/drawing/2014/main" id="{01749E59-5DF6-4D10-9F38-783D7A2855C5}"/>
                      </a:ext>
                    </a:extLst>
                  </p:cNvPr>
                  <p:cNvCxnSpPr>
                    <a:stCxn id="119" idx="6"/>
                    <a:endCxn id="134" idx="2"/>
                  </p:cNvCxnSpPr>
                  <p:nvPr/>
                </p:nvCxnSpPr>
                <p:spPr>
                  <a:xfrm>
                    <a:off x="2191463" y="2992333"/>
                    <a:ext cx="708313" cy="42518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8112CB3A-5BD8-44CE-8391-9E004273071F}"/>
                      </a:ext>
                    </a:extLst>
                  </p:cNvPr>
                  <p:cNvCxnSpPr>
                    <a:stCxn id="118" idx="6"/>
                    <a:endCxn id="134" idx="2"/>
                  </p:cNvCxnSpPr>
                  <p:nvPr/>
                </p:nvCxnSpPr>
                <p:spPr>
                  <a:xfrm>
                    <a:off x="2191463" y="3327297"/>
                    <a:ext cx="708313" cy="902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8" name="Oval 137">
                    <a:extLst>
                      <a:ext uri="{FF2B5EF4-FFF2-40B4-BE49-F238E27FC236}">
                        <a16:creationId xmlns:a16="http://schemas.microsoft.com/office/drawing/2014/main" id="{5D13BCFA-A811-4891-8730-5538BE911B64}"/>
                      </a:ext>
                    </a:extLst>
                  </p:cNvPr>
                  <p:cNvSpPr/>
                  <p:nvPr/>
                </p:nvSpPr>
                <p:spPr>
                  <a:xfrm>
                    <a:off x="2899779" y="36385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9" name="Straight Arrow Connector 138">
                    <a:extLst>
                      <a:ext uri="{FF2B5EF4-FFF2-40B4-BE49-F238E27FC236}">
                        <a16:creationId xmlns:a16="http://schemas.microsoft.com/office/drawing/2014/main" id="{6C99D021-41D4-4565-ADCA-74E86189BDA1}"/>
                      </a:ext>
                    </a:extLst>
                  </p:cNvPr>
                  <p:cNvCxnSpPr>
                    <a:stCxn id="120" idx="6"/>
                    <a:endCxn id="138" idx="2"/>
                  </p:cNvCxnSpPr>
                  <p:nvPr/>
                </p:nvCxnSpPr>
                <p:spPr>
                  <a:xfrm>
                    <a:off x="2191463" y="2657369"/>
                    <a:ext cx="708316" cy="112498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54DF1047-A2C7-4118-95D8-BAE0BEBBA8D9}"/>
                      </a:ext>
                    </a:extLst>
                  </p:cNvPr>
                  <p:cNvCxnSpPr>
                    <a:stCxn id="119" idx="6"/>
                    <a:endCxn id="138" idx="2"/>
                  </p:cNvCxnSpPr>
                  <p:nvPr/>
                </p:nvCxnSpPr>
                <p:spPr>
                  <a:xfrm>
                    <a:off x="2191463" y="2992333"/>
                    <a:ext cx="708316" cy="790018"/>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30767124-3D03-4365-94DB-BE5099AC46C3}"/>
                      </a:ext>
                    </a:extLst>
                  </p:cNvPr>
                  <p:cNvCxnSpPr>
                    <a:stCxn id="118" idx="6"/>
                    <a:endCxn id="138" idx="2"/>
                  </p:cNvCxnSpPr>
                  <p:nvPr/>
                </p:nvCxnSpPr>
                <p:spPr>
                  <a:xfrm>
                    <a:off x="2191463" y="3327297"/>
                    <a:ext cx="708316" cy="45505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2" name="Oval 141">
                    <a:extLst>
                      <a:ext uri="{FF2B5EF4-FFF2-40B4-BE49-F238E27FC236}">
                        <a16:creationId xmlns:a16="http://schemas.microsoft.com/office/drawing/2014/main" id="{B6E6B147-1681-4C48-A362-11C17A5E761F}"/>
                      </a:ext>
                    </a:extLst>
                  </p:cNvPr>
                  <p:cNvSpPr/>
                  <p:nvPr/>
                </p:nvSpPr>
                <p:spPr>
                  <a:xfrm>
                    <a:off x="4028197" y="21907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3" name="Straight Arrow Connector 142">
                    <a:extLst>
                      <a:ext uri="{FF2B5EF4-FFF2-40B4-BE49-F238E27FC236}">
                        <a16:creationId xmlns:a16="http://schemas.microsoft.com/office/drawing/2014/main" id="{1443F841-856E-4D27-9F78-EDD4B7E2539C}"/>
                      </a:ext>
                    </a:extLst>
                  </p:cNvPr>
                  <p:cNvCxnSpPr>
                    <a:stCxn id="121" idx="6"/>
                    <a:endCxn id="142" idx="2"/>
                  </p:cNvCxnSpPr>
                  <p:nvPr/>
                </p:nvCxnSpPr>
                <p:spPr>
                  <a:xfrm flipV="1">
                    <a:off x="3186242" y="23345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E2863720-0B84-4697-B9BA-B49CCD3A5B64}"/>
                      </a:ext>
                    </a:extLst>
                  </p:cNvPr>
                  <p:cNvCxnSpPr>
                    <a:stCxn id="126" idx="6"/>
                    <a:endCxn id="142" idx="2"/>
                  </p:cNvCxnSpPr>
                  <p:nvPr/>
                </p:nvCxnSpPr>
                <p:spPr>
                  <a:xfrm flipV="1">
                    <a:off x="3186241" y="233455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5" name="Straight Arrow Connector 144">
                    <a:extLst>
                      <a:ext uri="{FF2B5EF4-FFF2-40B4-BE49-F238E27FC236}">
                        <a16:creationId xmlns:a16="http://schemas.microsoft.com/office/drawing/2014/main" id="{B5A19F0A-C249-4F13-B764-367A77FF2523}"/>
                      </a:ext>
                    </a:extLst>
                  </p:cNvPr>
                  <p:cNvCxnSpPr>
                    <a:stCxn id="130" idx="6"/>
                    <a:endCxn id="142" idx="2"/>
                  </p:cNvCxnSpPr>
                  <p:nvPr/>
                </p:nvCxnSpPr>
                <p:spPr>
                  <a:xfrm flipV="1">
                    <a:off x="3186240" y="2334551"/>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AC976139-2F28-41AE-B2C7-8E6FBB998B52}"/>
                      </a:ext>
                    </a:extLst>
                  </p:cNvPr>
                  <p:cNvCxnSpPr>
                    <a:stCxn id="134" idx="6"/>
                    <a:endCxn id="142" idx="2"/>
                  </p:cNvCxnSpPr>
                  <p:nvPr/>
                </p:nvCxnSpPr>
                <p:spPr>
                  <a:xfrm flipV="1">
                    <a:off x="3186239" y="2334551"/>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A13DC6D7-6DBA-4824-9C4C-316279D511EA}"/>
                      </a:ext>
                    </a:extLst>
                  </p:cNvPr>
                  <p:cNvCxnSpPr>
                    <a:stCxn id="138" idx="6"/>
                    <a:endCxn id="142" idx="2"/>
                  </p:cNvCxnSpPr>
                  <p:nvPr/>
                </p:nvCxnSpPr>
                <p:spPr>
                  <a:xfrm flipV="1">
                    <a:off x="3186242" y="2334551"/>
                    <a:ext cx="841955" cy="1447800"/>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3396A7A5-2833-477E-A744-A59A6F4BD230}"/>
                      </a:ext>
                    </a:extLst>
                  </p:cNvPr>
                  <p:cNvSpPr/>
                  <p:nvPr/>
                </p:nvSpPr>
                <p:spPr>
                  <a:xfrm>
                    <a:off x="4028196" y="2568528"/>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9" name="Straight Arrow Connector 148">
                    <a:extLst>
                      <a:ext uri="{FF2B5EF4-FFF2-40B4-BE49-F238E27FC236}">
                        <a16:creationId xmlns:a16="http://schemas.microsoft.com/office/drawing/2014/main" id="{C36E87B7-121C-4C72-B0E6-68A45C365190}"/>
                      </a:ext>
                    </a:extLst>
                  </p:cNvPr>
                  <p:cNvCxnSpPr>
                    <a:endCxn id="148" idx="2"/>
                  </p:cNvCxnSpPr>
                  <p:nvPr/>
                </p:nvCxnSpPr>
                <p:spPr>
                  <a:xfrm flipV="1">
                    <a:off x="3186241" y="2712329"/>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9160F4A9-13A2-4E91-BC9F-23F45B5FDAF7}"/>
                      </a:ext>
                    </a:extLst>
                  </p:cNvPr>
                  <p:cNvCxnSpPr>
                    <a:stCxn id="130" idx="6"/>
                    <a:endCxn id="148" idx="2"/>
                  </p:cNvCxnSpPr>
                  <p:nvPr/>
                </p:nvCxnSpPr>
                <p:spPr>
                  <a:xfrm flipV="1">
                    <a:off x="3186240" y="2712329"/>
                    <a:ext cx="841956" cy="3542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33F2B8F9-5E43-467A-9680-172E22383E35}"/>
                      </a:ext>
                    </a:extLst>
                  </p:cNvPr>
                  <p:cNvCxnSpPr>
                    <a:endCxn id="148" idx="2"/>
                  </p:cNvCxnSpPr>
                  <p:nvPr/>
                </p:nvCxnSpPr>
                <p:spPr>
                  <a:xfrm flipV="1">
                    <a:off x="3186239" y="2712329"/>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9EF4749D-691A-4F2C-867A-D65142CFDEE0}"/>
                      </a:ext>
                    </a:extLst>
                  </p:cNvPr>
                  <p:cNvCxnSpPr>
                    <a:endCxn id="148" idx="2"/>
                  </p:cNvCxnSpPr>
                  <p:nvPr/>
                </p:nvCxnSpPr>
                <p:spPr>
                  <a:xfrm flipV="1">
                    <a:off x="3186238" y="2712329"/>
                    <a:ext cx="841958" cy="108296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E0D8582B-58F9-4208-98EE-A7A81639C922}"/>
                      </a:ext>
                    </a:extLst>
                  </p:cNvPr>
                  <p:cNvCxnSpPr>
                    <a:stCxn id="121" idx="6"/>
                    <a:endCxn id="148" idx="2"/>
                  </p:cNvCxnSpPr>
                  <p:nvPr/>
                </p:nvCxnSpPr>
                <p:spPr>
                  <a:xfrm>
                    <a:off x="3186242" y="2334552"/>
                    <a:ext cx="841954" cy="37777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4" name="Oval 153">
                    <a:extLst>
                      <a:ext uri="{FF2B5EF4-FFF2-40B4-BE49-F238E27FC236}">
                        <a16:creationId xmlns:a16="http://schemas.microsoft.com/office/drawing/2014/main" id="{6F8AE7D9-EE73-466B-B060-21B4C5AE7C09}"/>
                      </a:ext>
                    </a:extLst>
                  </p:cNvPr>
                  <p:cNvSpPr/>
                  <p:nvPr/>
                </p:nvSpPr>
                <p:spPr>
                  <a:xfrm>
                    <a:off x="4030044" y="2915686"/>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5" name="Straight Arrow Connector 154">
                    <a:extLst>
                      <a:ext uri="{FF2B5EF4-FFF2-40B4-BE49-F238E27FC236}">
                        <a16:creationId xmlns:a16="http://schemas.microsoft.com/office/drawing/2014/main" id="{50BC492A-3D4D-4F75-83F1-09B46E4C3F0F}"/>
                      </a:ext>
                    </a:extLst>
                  </p:cNvPr>
                  <p:cNvCxnSpPr>
                    <a:endCxn id="154" idx="2"/>
                  </p:cNvCxnSpPr>
                  <p:nvPr/>
                </p:nvCxnSpPr>
                <p:spPr>
                  <a:xfrm flipV="1">
                    <a:off x="3188089" y="3059487"/>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576964BB-7596-42A1-B8FB-83D7426CD4DE}"/>
                      </a:ext>
                    </a:extLst>
                  </p:cNvPr>
                  <p:cNvCxnSpPr>
                    <a:endCxn id="154" idx="2"/>
                  </p:cNvCxnSpPr>
                  <p:nvPr/>
                </p:nvCxnSpPr>
                <p:spPr>
                  <a:xfrm flipV="1">
                    <a:off x="3188088" y="3059487"/>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7" name="Straight Arrow Connector 156">
                    <a:extLst>
                      <a:ext uri="{FF2B5EF4-FFF2-40B4-BE49-F238E27FC236}">
                        <a16:creationId xmlns:a16="http://schemas.microsoft.com/office/drawing/2014/main" id="{6CAA799A-145D-4710-9547-40C4C9E82828}"/>
                      </a:ext>
                    </a:extLst>
                  </p:cNvPr>
                  <p:cNvCxnSpPr>
                    <a:endCxn id="154" idx="2"/>
                  </p:cNvCxnSpPr>
                  <p:nvPr/>
                </p:nvCxnSpPr>
                <p:spPr>
                  <a:xfrm flipV="1">
                    <a:off x="3188087" y="3059487"/>
                    <a:ext cx="841957" cy="73202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8" name="Straight Arrow Connector 157">
                    <a:extLst>
                      <a:ext uri="{FF2B5EF4-FFF2-40B4-BE49-F238E27FC236}">
                        <a16:creationId xmlns:a16="http://schemas.microsoft.com/office/drawing/2014/main" id="{6CE1AB95-5E28-48EE-882D-5B6D68004A3C}"/>
                      </a:ext>
                    </a:extLst>
                  </p:cNvPr>
                  <p:cNvCxnSpPr>
                    <a:stCxn id="126" idx="6"/>
                    <a:endCxn id="154" idx="2"/>
                  </p:cNvCxnSpPr>
                  <p:nvPr/>
                </p:nvCxnSpPr>
                <p:spPr>
                  <a:xfrm>
                    <a:off x="3186241" y="2707856"/>
                    <a:ext cx="843803" cy="35163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B6F6B0B9-AC39-4E25-90A0-C05DC0913149}"/>
                      </a:ext>
                    </a:extLst>
                  </p:cNvPr>
                  <p:cNvCxnSpPr>
                    <a:stCxn id="121" idx="6"/>
                    <a:endCxn id="154" idx="2"/>
                  </p:cNvCxnSpPr>
                  <p:nvPr/>
                </p:nvCxnSpPr>
                <p:spPr>
                  <a:xfrm>
                    <a:off x="3186242" y="2334552"/>
                    <a:ext cx="843802" cy="72493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0" name="Oval 159">
                    <a:extLst>
                      <a:ext uri="{FF2B5EF4-FFF2-40B4-BE49-F238E27FC236}">
                        <a16:creationId xmlns:a16="http://schemas.microsoft.com/office/drawing/2014/main" id="{907F1464-7A4A-4810-9AFD-68EC8E1D8317}"/>
                      </a:ext>
                    </a:extLst>
                  </p:cNvPr>
                  <p:cNvSpPr/>
                  <p:nvPr/>
                </p:nvSpPr>
                <p:spPr>
                  <a:xfrm>
                    <a:off x="4028195" y="326390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Arrow Connector 160">
                    <a:extLst>
                      <a:ext uri="{FF2B5EF4-FFF2-40B4-BE49-F238E27FC236}">
                        <a16:creationId xmlns:a16="http://schemas.microsoft.com/office/drawing/2014/main" id="{5E716E30-854F-4534-BB26-95599D896706}"/>
                      </a:ext>
                    </a:extLst>
                  </p:cNvPr>
                  <p:cNvCxnSpPr>
                    <a:stCxn id="134" idx="6"/>
                    <a:endCxn id="160" idx="2"/>
                  </p:cNvCxnSpPr>
                  <p:nvPr/>
                </p:nvCxnSpPr>
                <p:spPr>
                  <a:xfrm flipV="1">
                    <a:off x="3186239" y="3407701"/>
                    <a:ext cx="841956" cy="981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3CD508FF-6043-4EE3-BB66-FADC2E0F044C}"/>
                      </a:ext>
                    </a:extLst>
                  </p:cNvPr>
                  <p:cNvCxnSpPr>
                    <a:endCxn id="160" idx="2"/>
                  </p:cNvCxnSpPr>
                  <p:nvPr/>
                </p:nvCxnSpPr>
                <p:spPr>
                  <a:xfrm flipV="1">
                    <a:off x="3186239" y="3407701"/>
                    <a:ext cx="841956" cy="37330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AF63666F-5334-4884-AFF1-350499FA65CB}"/>
                      </a:ext>
                    </a:extLst>
                  </p:cNvPr>
                  <p:cNvCxnSpPr>
                    <a:stCxn id="130" idx="6"/>
                    <a:endCxn id="160" idx="2"/>
                  </p:cNvCxnSpPr>
                  <p:nvPr/>
                </p:nvCxnSpPr>
                <p:spPr>
                  <a:xfrm>
                    <a:off x="3186240" y="3066578"/>
                    <a:ext cx="841955" cy="34112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4" name="Straight Arrow Connector 163">
                    <a:extLst>
                      <a:ext uri="{FF2B5EF4-FFF2-40B4-BE49-F238E27FC236}">
                        <a16:creationId xmlns:a16="http://schemas.microsoft.com/office/drawing/2014/main" id="{D462D94F-9D41-44EE-A6AF-11DF18B582FF}"/>
                      </a:ext>
                    </a:extLst>
                  </p:cNvPr>
                  <p:cNvCxnSpPr>
                    <a:stCxn id="126" idx="6"/>
                    <a:endCxn id="160" idx="2"/>
                  </p:cNvCxnSpPr>
                  <p:nvPr/>
                </p:nvCxnSpPr>
                <p:spPr>
                  <a:xfrm>
                    <a:off x="3186241" y="2707856"/>
                    <a:ext cx="841954" cy="69984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715FA281-82C2-47A0-B7DB-3007E4A8974C}"/>
                      </a:ext>
                    </a:extLst>
                  </p:cNvPr>
                  <p:cNvCxnSpPr>
                    <a:stCxn id="121" idx="6"/>
                    <a:endCxn id="160" idx="2"/>
                  </p:cNvCxnSpPr>
                  <p:nvPr/>
                </p:nvCxnSpPr>
                <p:spPr>
                  <a:xfrm>
                    <a:off x="3186242" y="2334552"/>
                    <a:ext cx="841953" cy="107314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6" name="Oval 165">
                    <a:extLst>
                      <a:ext uri="{FF2B5EF4-FFF2-40B4-BE49-F238E27FC236}">
                        <a16:creationId xmlns:a16="http://schemas.microsoft.com/office/drawing/2014/main" id="{30B7AA74-DE77-4DB1-B477-6B19CB27ED53}"/>
                      </a:ext>
                    </a:extLst>
                  </p:cNvPr>
                  <p:cNvSpPr/>
                  <p:nvPr/>
                </p:nvSpPr>
                <p:spPr>
                  <a:xfrm>
                    <a:off x="4028194" y="3647150"/>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Arrow Connector 166">
                    <a:extLst>
                      <a:ext uri="{FF2B5EF4-FFF2-40B4-BE49-F238E27FC236}">
                        <a16:creationId xmlns:a16="http://schemas.microsoft.com/office/drawing/2014/main" id="{71772BF9-4C5E-423F-AE3E-B5BAD12E948E}"/>
                      </a:ext>
                    </a:extLst>
                  </p:cNvPr>
                  <p:cNvCxnSpPr>
                    <a:endCxn id="166" idx="2"/>
                  </p:cNvCxnSpPr>
                  <p:nvPr/>
                </p:nvCxnSpPr>
                <p:spPr>
                  <a:xfrm flipV="1">
                    <a:off x="3186239" y="3790951"/>
                    <a:ext cx="841955" cy="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8" name="Straight Arrow Connector 167">
                    <a:extLst>
                      <a:ext uri="{FF2B5EF4-FFF2-40B4-BE49-F238E27FC236}">
                        <a16:creationId xmlns:a16="http://schemas.microsoft.com/office/drawing/2014/main" id="{98D139E8-F274-4979-960E-8BCD3B793E39}"/>
                      </a:ext>
                    </a:extLst>
                  </p:cNvPr>
                  <p:cNvCxnSpPr>
                    <a:stCxn id="134" idx="6"/>
                    <a:endCxn id="166" idx="2"/>
                  </p:cNvCxnSpPr>
                  <p:nvPr/>
                </p:nvCxnSpPr>
                <p:spPr>
                  <a:xfrm>
                    <a:off x="3186239" y="3417514"/>
                    <a:ext cx="841955" cy="37343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8E7FF5CF-F52C-4120-B8BE-0324D143C009}"/>
                      </a:ext>
                    </a:extLst>
                  </p:cNvPr>
                  <p:cNvCxnSpPr>
                    <a:stCxn id="130" idx="6"/>
                    <a:endCxn id="166" idx="2"/>
                  </p:cNvCxnSpPr>
                  <p:nvPr/>
                </p:nvCxnSpPr>
                <p:spPr>
                  <a:xfrm>
                    <a:off x="3186240" y="3066578"/>
                    <a:ext cx="841954" cy="72437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0" name="Straight Arrow Connector 169">
                    <a:extLst>
                      <a:ext uri="{FF2B5EF4-FFF2-40B4-BE49-F238E27FC236}">
                        <a16:creationId xmlns:a16="http://schemas.microsoft.com/office/drawing/2014/main" id="{BA619C2B-B4C3-4BBD-91F2-3DD2B0B2562D}"/>
                      </a:ext>
                    </a:extLst>
                  </p:cNvPr>
                  <p:cNvCxnSpPr>
                    <a:stCxn id="126" idx="6"/>
                    <a:endCxn id="166" idx="2"/>
                  </p:cNvCxnSpPr>
                  <p:nvPr/>
                </p:nvCxnSpPr>
                <p:spPr>
                  <a:xfrm>
                    <a:off x="3186241" y="2707856"/>
                    <a:ext cx="841953" cy="1083095"/>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1" name="Straight Arrow Connector 170">
                    <a:extLst>
                      <a:ext uri="{FF2B5EF4-FFF2-40B4-BE49-F238E27FC236}">
                        <a16:creationId xmlns:a16="http://schemas.microsoft.com/office/drawing/2014/main" id="{EEC9336F-2B77-4C49-9B4C-A81065F260F6}"/>
                      </a:ext>
                    </a:extLst>
                  </p:cNvPr>
                  <p:cNvCxnSpPr>
                    <a:stCxn id="121" idx="6"/>
                    <a:endCxn id="166" idx="2"/>
                  </p:cNvCxnSpPr>
                  <p:nvPr/>
                </p:nvCxnSpPr>
                <p:spPr>
                  <a:xfrm>
                    <a:off x="3186242" y="2334552"/>
                    <a:ext cx="841952" cy="145639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2" name="Straight Arrow Connector 171">
                    <a:extLst>
                      <a:ext uri="{FF2B5EF4-FFF2-40B4-BE49-F238E27FC236}">
                        <a16:creationId xmlns:a16="http://schemas.microsoft.com/office/drawing/2014/main" id="{98E8CE20-BA76-40A8-874A-E4ACEA820237}"/>
                      </a:ext>
                    </a:extLst>
                  </p:cNvPr>
                  <p:cNvCxnSpPr>
                    <a:stCxn id="142" idx="6"/>
                    <a:endCxn id="122" idx="2"/>
                  </p:cNvCxnSpPr>
                  <p:nvPr/>
                </p:nvCxnSpPr>
                <p:spPr>
                  <a:xfrm>
                    <a:off x="4314660" y="2334551"/>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3" name="Straight Arrow Connector 172">
                    <a:extLst>
                      <a:ext uri="{FF2B5EF4-FFF2-40B4-BE49-F238E27FC236}">
                        <a16:creationId xmlns:a16="http://schemas.microsoft.com/office/drawing/2014/main" id="{8B13970D-9F8C-40F1-955C-B673DD714D3B}"/>
                      </a:ext>
                    </a:extLst>
                  </p:cNvPr>
                  <p:cNvCxnSpPr>
                    <a:stCxn id="148" idx="6"/>
                    <a:endCxn id="122" idx="2"/>
                  </p:cNvCxnSpPr>
                  <p:nvPr/>
                </p:nvCxnSpPr>
                <p:spPr>
                  <a:xfrm flipV="1">
                    <a:off x="4314659" y="2513568"/>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4" name="Straight Arrow Connector 173">
                    <a:extLst>
                      <a:ext uri="{FF2B5EF4-FFF2-40B4-BE49-F238E27FC236}">
                        <a16:creationId xmlns:a16="http://schemas.microsoft.com/office/drawing/2014/main" id="{CC136E84-56B1-4180-9E0D-056D21EAE1BC}"/>
                      </a:ext>
                    </a:extLst>
                  </p:cNvPr>
                  <p:cNvCxnSpPr>
                    <a:stCxn id="154" idx="6"/>
                    <a:endCxn id="122" idx="2"/>
                  </p:cNvCxnSpPr>
                  <p:nvPr/>
                </p:nvCxnSpPr>
                <p:spPr>
                  <a:xfrm flipV="1">
                    <a:off x="4316507" y="2513568"/>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5" name="Straight Arrow Connector 174">
                    <a:extLst>
                      <a:ext uri="{FF2B5EF4-FFF2-40B4-BE49-F238E27FC236}">
                        <a16:creationId xmlns:a16="http://schemas.microsoft.com/office/drawing/2014/main" id="{BB827C33-7EDC-48D8-95AD-04902044C77A}"/>
                      </a:ext>
                    </a:extLst>
                  </p:cNvPr>
                  <p:cNvCxnSpPr>
                    <a:stCxn id="160" idx="6"/>
                    <a:endCxn id="122" idx="2"/>
                  </p:cNvCxnSpPr>
                  <p:nvPr/>
                </p:nvCxnSpPr>
                <p:spPr>
                  <a:xfrm flipV="1">
                    <a:off x="4314658" y="2513568"/>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6" name="Straight Arrow Connector 175">
                    <a:extLst>
                      <a:ext uri="{FF2B5EF4-FFF2-40B4-BE49-F238E27FC236}">
                        <a16:creationId xmlns:a16="http://schemas.microsoft.com/office/drawing/2014/main" id="{8D26B62B-A3B0-4FA1-9555-4A44895CF9C4}"/>
                      </a:ext>
                    </a:extLst>
                  </p:cNvPr>
                  <p:cNvCxnSpPr>
                    <a:stCxn id="166" idx="6"/>
                    <a:endCxn id="122" idx="2"/>
                  </p:cNvCxnSpPr>
                  <p:nvPr/>
                </p:nvCxnSpPr>
                <p:spPr>
                  <a:xfrm flipV="1">
                    <a:off x="4314657" y="2513568"/>
                    <a:ext cx="787797" cy="127738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Oval 176">
                    <a:extLst>
                      <a:ext uri="{FF2B5EF4-FFF2-40B4-BE49-F238E27FC236}">
                        <a16:creationId xmlns:a16="http://schemas.microsoft.com/office/drawing/2014/main" id="{28BDA935-EE22-48CC-B1E8-C0FFDE35CFA5}"/>
                      </a:ext>
                    </a:extLst>
                  </p:cNvPr>
                  <p:cNvSpPr/>
                  <p:nvPr/>
                </p:nvSpPr>
                <p:spPr>
                  <a:xfrm>
                    <a:off x="5102453" y="27456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8" name="Straight Arrow Connector 177">
                    <a:extLst>
                      <a:ext uri="{FF2B5EF4-FFF2-40B4-BE49-F238E27FC236}">
                        <a16:creationId xmlns:a16="http://schemas.microsoft.com/office/drawing/2014/main" id="{BF9875E4-D775-48C9-8034-0D1F09B82386}"/>
                      </a:ext>
                    </a:extLst>
                  </p:cNvPr>
                  <p:cNvCxnSpPr>
                    <a:endCxn id="177" idx="2"/>
                  </p:cNvCxnSpPr>
                  <p:nvPr/>
                </p:nvCxnSpPr>
                <p:spPr>
                  <a:xfrm>
                    <a:off x="4314659" y="27104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9" name="Straight Arrow Connector 178">
                    <a:extLst>
                      <a:ext uri="{FF2B5EF4-FFF2-40B4-BE49-F238E27FC236}">
                        <a16:creationId xmlns:a16="http://schemas.microsoft.com/office/drawing/2014/main" id="{8150A2FC-9D6A-4F4D-9A44-D5DE1176A6BC}"/>
                      </a:ext>
                    </a:extLst>
                  </p:cNvPr>
                  <p:cNvCxnSpPr>
                    <a:endCxn id="177" idx="2"/>
                  </p:cNvCxnSpPr>
                  <p:nvPr/>
                </p:nvCxnSpPr>
                <p:spPr>
                  <a:xfrm flipV="1">
                    <a:off x="4314658" y="28894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8523C9D1-A5F2-4F56-B731-E6E222B50A03}"/>
                      </a:ext>
                    </a:extLst>
                  </p:cNvPr>
                  <p:cNvCxnSpPr>
                    <a:endCxn id="177" idx="2"/>
                  </p:cNvCxnSpPr>
                  <p:nvPr/>
                </p:nvCxnSpPr>
                <p:spPr>
                  <a:xfrm flipV="1">
                    <a:off x="4316506" y="2889453"/>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1" name="Straight Arrow Connector 180">
                    <a:extLst>
                      <a:ext uri="{FF2B5EF4-FFF2-40B4-BE49-F238E27FC236}">
                        <a16:creationId xmlns:a16="http://schemas.microsoft.com/office/drawing/2014/main" id="{22BF7F83-F931-42EB-A74B-95341F674D87}"/>
                      </a:ext>
                    </a:extLst>
                  </p:cNvPr>
                  <p:cNvCxnSpPr>
                    <a:endCxn id="177" idx="2"/>
                  </p:cNvCxnSpPr>
                  <p:nvPr/>
                </p:nvCxnSpPr>
                <p:spPr>
                  <a:xfrm flipV="1">
                    <a:off x="4314657" y="2889453"/>
                    <a:ext cx="787796" cy="894133"/>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2" name="Straight Arrow Connector 181">
                    <a:extLst>
                      <a:ext uri="{FF2B5EF4-FFF2-40B4-BE49-F238E27FC236}">
                        <a16:creationId xmlns:a16="http://schemas.microsoft.com/office/drawing/2014/main" id="{9BC52120-D71B-4042-A499-2F5AB36F7F9E}"/>
                      </a:ext>
                    </a:extLst>
                  </p:cNvPr>
                  <p:cNvCxnSpPr>
                    <a:stCxn id="142" idx="6"/>
                    <a:endCxn id="177" idx="2"/>
                  </p:cNvCxnSpPr>
                  <p:nvPr/>
                </p:nvCxnSpPr>
                <p:spPr>
                  <a:xfrm>
                    <a:off x="4314660" y="2334551"/>
                    <a:ext cx="787793" cy="5549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3" name="Oval 182">
                    <a:extLst>
                      <a:ext uri="{FF2B5EF4-FFF2-40B4-BE49-F238E27FC236}">
                        <a16:creationId xmlns:a16="http://schemas.microsoft.com/office/drawing/2014/main" id="{17CDC2A6-3CF0-45AC-8DF2-9DA3188E86CF}"/>
                      </a:ext>
                    </a:extLst>
                  </p:cNvPr>
                  <p:cNvSpPr/>
                  <p:nvPr/>
                </p:nvSpPr>
                <p:spPr>
                  <a:xfrm>
                    <a:off x="5102452" y="3088214"/>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4" name="Straight Arrow Connector 183">
                    <a:extLst>
                      <a:ext uri="{FF2B5EF4-FFF2-40B4-BE49-F238E27FC236}">
                        <a16:creationId xmlns:a16="http://schemas.microsoft.com/office/drawing/2014/main" id="{B679337F-3ABE-49DE-BAAC-37CC2DEFA9E7}"/>
                      </a:ext>
                    </a:extLst>
                  </p:cNvPr>
                  <p:cNvCxnSpPr>
                    <a:endCxn id="183" idx="2"/>
                  </p:cNvCxnSpPr>
                  <p:nvPr/>
                </p:nvCxnSpPr>
                <p:spPr>
                  <a:xfrm>
                    <a:off x="4314658" y="3052998"/>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5" name="Straight Arrow Connector 184">
                    <a:extLst>
                      <a:ext uri="{FF2B5EF4-FFF2-40B4-BE49-F238E27FC236}">
                        <a16:creationId xmlns:a16="http://schemas.microsoft.com/office/drawing/2014/main" id="{E4E26A0F-0A1A-4745-9F34-CCFDD27D5FC3}"/>
                      </a:ext>
                    </a:extLst>
                  </p:cNvPr>
                  <p:cNvCxnSpPr>
                    <a:endCxn id="183" idx="2"/>
                  </p:cNvCxnSpPr>
                  <p:nvPr/>
                </p:nvCxnSpPr>
                <p:spPr>
                  <a:xfrm flipV="1">
                    <a:off x="4314657" y="3232015"/>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6" name="Straight Arrow Connector 185">
                    <a:extLst>
                      <a:ext uri="{FF2B5EF4-FFF2-40B4-BE49-F238E27FC236}">
                        <a16:creationId xmlns:a16="http://schemas.microsoft.com/office/drawing/2014/main" id="{84F7379B-5382-47D3-B348-1AFC74AA7005}"/>
                      </a:ext>
                    </a:extLst>
                  </p:cNvPr>
                  <p:cNvCxnSpPr>
                    <a:endCxn id="183" idx="2"/>
                  </p:cNvCxnSpPr>
                  <p:nvPr/>
                </p:nvCxnSpPr>
                <p:spPr>
                  <a:xfrm flipV="1">
                    <a:off x="4316505" y="3232015"/>
                    <a:ext cx="785947" cy="545919"/>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880F4306-D0C5-4A01-97C2-D733AD64CA16}"/>
                      </a:ext>
                    </a:extLst>
                  </p:cNvPr>
                  <p:cNvCxnSpPr>
                    <a:stCxn id="148" idx="6"/>
                    <a:endCxn id="183" idx="2"/>
                  </p:cNvCxnSpPr>
                  <p:nvPr/>
                </p:nvCxnSpPr>
                <p:spPr>
                  <a:xfrm>
                    <a:off x="4314659" y="2712329"/>
                    <a:ext cx="787793" cy="51968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8" name="Straight Arrow Connector 187">
                    <a:extLst>
                      <a:ext uri="{FF2B5EF4-FFF2-40B4-BE49-F238E27FC236}">
                        <a16:creationId xmlns:a16="http://schemas.microsoft.com/office/drawing/2014/main" id="{BC1B53DE-FC61-442A-994D-8BBDB64BDEA9}"/>
                      </a:ext>
                    </a:extLst>
                  </p:cNvPr>
                  <p:cNvCxnSpPr>
                    <a:stCxn id="142" idx="6"/>
                    <a:endCxn id="183" idx="2"/>
                  </p:cNvCxnSpPr>
                  <p:nvPr/>
                </p:nvCxnSpPr>
                <p:spPr>
                  <a:xfrm>
                    <a:off x="4314660" y="2334551"/>
                    <a:ext cx="787792" cy="89746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9" name="Oval 188">
                    <a:extLst>
                      <a:ext uri="{FF2B5EF4-FFF2-40B4-BE49-F238E27FC236}">
                        <a16:creationId xmlns:a16="http://schemas.microsoft.com/office/drawing/2014/main" id="{4209A9DD-861A-4263-A357-A89CEE615481}"/>
                      </a:ext>
                    </a:extLst>
                  </p:cNvPr>
                  <p:cNvSpPr/>
                  <p:nvPr/>
                </p:nvSpPr>
                <p:spPr>
                  <a:xfrm>
                    <a:off x="5102454" y="3450552"/>
                    <a:ext cx="286463" cy="287601"/>
                  </a:xfrm>
                  <a:prstGeom prst="ellipse">
                    <a:avLst/>
                  </a:prstGeom>
                  <a:solidFill>
                    <a:schemeClr val="bg1"/>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0" name="Straight Arrow Connector 189">
                    <a:extLst>
                      <a:ext uri="{FF2B5EF4-FFF2-40B4-BE49-F238E27FC236}">
                        <a16:creationId xmlns:a16="http://schemas.microsoft.com/office/drawing/2014/main" id="{58D647BE-4422-4650-8B64-9D49F61CCBDB}"/>
                      </a:ext>
                    </a:extLst>
                  </p:cNvPr>
                  <p:cNvCxnSpPr>
                    <a:endCxn id="189" idx="2"/>
                  </p:cNvCxnSpPr>
                  <p:nvPr/>
                </p:nvCxnSpPr>
                <p:spPr>
                  <a:xfrm>
                    <a:off x="4314660" y="3415336"/>
                    <a:ext cx="787794" cy="179017"/>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D7EFEAE0-93F8-4723-AE56-624EC2C01801}"/>
                      </a:ext>
                    </a:extLst>
                  </p:cNvPr>
                  <p:cNvCxnSpPr>
                    <a:endCxn id="189" idx="2"/>
                  </p:cNvCxnSpPr>
                  <p:nvPr/>
                </p:nvCxnSpPr>
                <p:spPr>
                  <a:xfrm flipV="1">
                    <a:off x="4314659" y="3594353"/>
                    <a:ext cx="787795" cy="198761"/>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2" name="Straight Arrow Connector 191">
                    <a:extLst>
                      <a:ext uri="{FF2B5EF4-FFF2-40B4-BE49-F238E27FC236}">
                        <a16:creationId xmlns:a16="http://schemas.microsoft.com/office/drawing/2014/main" id="{2F42806F-8BC9-4FB9-A20F-08E2E341B630}"/>
                      </a:ext>
                    </a:extLst>
                  </p:cNvPr>
                  <p:cNvCxnSpPr>
                    <a:stCxn id="154" idx="6"/>
                    <a:endCxn id="189" idx="2"/>
                  </p:cNvCxnSpPr>
                  <p:nvPr/>
                </p:nvCxnSpPr>
                <p:spPr>
                  <a:xfrm>
                    <a:off x="4316507" y="3059487"/>
                    <a:ext cx="785947" cy="534866"/>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05A9D161-1862-4F8B-A339-70E1F61814F2}"/>
                      </a:ext>
                    </a:extLst>
                  </p:cNvPr>
                  <p:cNvCxnSpPr>
                    <a:stCxn id="148" idx="6"/>
                    <a:endCxn id="189" idx="2"/>
                  </p:cNvCxnSpPr>
                  <p:nvPr/>
                </p:nvCxnSpPr>
                <p:spPr>
                  <a:xfrm>
                    <a:off x="4314659" y="2712329"/>
                    <a:ext cx="787795" cy="882024"/>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3484E928-2E9F-4554-B591-33C1A4949F5C}"/>
                      </a:ext>
                    </a:extLst>
                  </p:cNvPr>
                  <p:cNvCxnSpPr>
                    <a:stCxn id="142" idx="6"/>
                    <a:endCxn id="189" idx="2"/>
                  </p:cNvCxnSpPr>
                  <p:nvPr/>
                </p:nvCxnSpPr>
                <p:spPr>
                  <a:xfrm>
                    <a:off x="4314660" y="2334551"/>
                    <a:ext cx="787794" cy="1259802"/>
                  </a:xfrm>
                  <a:prstGeom prst="straightConnector1">
                    <a:avLst/>
                  </a:prstGeom>
                  <a:ln w="31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14" name="TextBox 113">
                  <a:extLst>
                    <a:ext uri="{FF2B5EF4-FFF2-40B4-BE49-F238E27FC236}">
                      <a16:creationId xmlns:a16="http://schemas.microsoft.com/office/drawing/2014/main" id="{D4BCE948-1407-4051-8AEE-6DDD72BE49A8}"/>
                    </a:ext>
                  </a:extLst>
                </p:cNvPr>
                <p:cNvSpPr txBox="1"/>
                <p:nvPr/>
              </p:nvSpPr>
              <p:spPr>
                <a:xfrm>
                  <a:off x="990599" y="2156996"/>
                  <a:ext cx="775578" cy="338554"/>
                </a:xfrm>
                <a:prstGeom prst="rect">
                  <a:avLst/>
                </a:prstGeom>
                <a:noFill/>
              </p:spPr>
              <p:txBody>
                <a:bodyPr wrap="square" rtlCol="0">
                  <a:spAutoFit/>
                </a:bodyPr>
                <a:lstStyle/>
                <a:p>
                  <a:r>
                    <a:rPr lang="en-US" sz="1400" dirty="0"/>
                    <a:t>Layer 1</a:t>
                  </a:r>
                </a:p>
              </p:txBody>
            </p:sp>
            <p:sp>
              <p:nvSpPr>
                <p:cNvPr id="115" name="TextBox 114">
                  <a:extLst>
                    <a:ext uri="{FF2B5EF4-FFF2-40B4-BE49-F238E27FC236}">
                      <a16:creationId xmlns:a16="http://schemas.microsoft.com/office/drawing/2014/main" id="{D7080254-422D-4BAE-908C-94229C5E322C}"/>
                    </a:ext>
                  </a:extLst>
                </p:cNvPr>
                <p:cNvSpPr txBox="1"/>
                <p:nvPr/>
              </p:nvSpPr>
              <p:spPr>
                <a:xfrm>
                  <a:off x="1787019" y="2156996"/>
                  <a:ext cx="775578" cy="338554"/>
                </a:xfrm>
                <a:prstGeom prst="rect">
                  <a:avLst/>
                </a:prstGeom>
                <a:noFill/>
              </p:spPr>
              <p:txBody>
                <a:bodyPr wrap="square" rtlCol="0">
                  <a:spAutoFit/>
                </a:bodyPr>
                <a:lstStyle/>
                <a:p>
                  <a:r>
                    <a:rPr lang="en-US" sz="1400" dirty="0"/>
                    <a:t>Layer 2</a:t>
                  </a:r>
                </a:p>
              </p:txBody>
            </p:sp>
            <p:sp>
              <p:nvSpPr>
                <p:cNvPr id="116" name="TextBox 115">
                  <a:extLst>
                    <a:ext uri="{FF2B5EF4-FFF2-40B4-BE49-F238E27FC236}">
                      <a16:creationId xmlns:a16="http://schemas.microsoft.com/office/drawing/2014/main" id="{869316CE-54CE-42CA-8F32-8BA34C4E8A71}"/>
                    </a:ext>
                  </a:extLst>
                </p:cNvPr>
                <p:cNvSpPr txBox="1"/>
                <p:nvPr/>
              </p:nvSpPr>
              <p:spPr>
                <a:xfrm>
                  <a:off x="2715597" y="2156996"/>
                  <a:ext cx="775578" cy="338554"/>
                </a:xfrm>
                <a:prstGeom prst="rect">
                  <a:avLst/>
                </a:prstGeom>
                <a:noFill/>
              </p:spPr>
              <p:txBody>
                <a:bodyPr wrap="square" rtlCol="0">
                  <a:spAutoFit/>
                </a:bodyPr>
                <a:lstStyle/>
                <a:p>
                  <a:r>
                    <a:rPr lang="en-US" sz="1400" dirty="0"/>
                    <a:t>Layer 3</a:t>
                  </a:r>
                </a:p>
              </p:txBody>
            </p:sp>
            <p:sp>
              <p:nvSpPr>
                <p:cNvPr id="117" name="TextBox 116">
                  <a:extLst>
                    <a:ext uri="{FF2B5EF4-FFF2-40B4-BE49-F238E27FC236}">
                      <a16:creationId xmlns:a16="http://schemas.microsoft.com/office/drawing/2014/main" id="{69483F4F-9DC4-48E8-849F-942A3B2F670A}"/>
                    </a:ext>
                  </a:extLst>
                </p:cNvPr>
                <p:cNvSpPr txBox="1"/>
                <p:nvPr/>
              </p:nvSpPr>
              <p:spPr>
                <a:xfrm>
                  <a:off x="3596641" y="2156996"/>
                  <a:ext cx="775578" cy="338554"/>
                </a:xfrm>
                <a:prstGeom prst="rect">
                  <a:avLst/>
                </a:prstGeom>
                <a:noFill/>
              </p:spPr>
              <p:txBody>
                <a:bodyPr wrap="square" rtlCol="0">
                  <a:spAutoFit/>
                </a:bodyPr>
                <a:lstStyle/>
                <a:p>
                  <a:r>
                    <a:rPr lang="en-US" sz="1400" dirty="0"/>
                    <a:t>Layer 4</a:t>
                  </a:r>
                </a:p>
              </p:txBody>
            </p:sp>
          </p:grp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D990C54E-D762-4252-A5FC-7F9AFCD3576B}"/>
                      </a:ext>
                    </a:extLst>
                  </p:cNvPr>
                  <p:cNvSpPr txBox="1"/>
                  <p:nvPr/>
                </p:nvSpPr>
                <p:spPr>
                  <a:xfrm>
                    <a:off x="8120316" y="533636"/>
                    <a:ext cx="435184"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i="1" smtClean="0">
                                  <a:solidFill>
                                    <a:srgbClr val="0070C0"/>
                                  </a:solidFill>
                                  <a:latin typeface="Cambria Math" panose="02040503050406030204" pitchFamily="18" charset="0"/>
                                </a:rPr>
                              </m:ctrlPr>
                            </m:sSupPr>
                            <m:e>
                              <m:r>
                                <a:rPr lang="en-GB" b="0" i="1" smtClean="0">
                                  <a:solidFill>
                                    <a:srgbClr val="0070C0"/>
                                  </a:solidFill>
                                  <a:latin typeface="Cambria Math" panose="02040503050406030204" pitchFamily="18" charset="0"/>
                                </a:rPr>
                                <m:t>𝑎</m:t>
                              </m:r>
                            </m:e>
                            <m:sup>
                              <m:r>
                                <a:rPr lang="en-GB" b="0" i="1" smtClean="0">
                                  <a:solidFill>
                                    <a:srgbClr val="0070C0"/>
                                  </a:solidFill>
                                  <a:latin typeface="Cambria Math" panose="02040503050406030204" pitchFamily="18" charset="0"/>
                                </a:rPr>
                                <m:t>(1)</m:t>
                              </m:r>
                            </m:sup>
                          </m:sSup>
                        </m:oMath>
                      </m:oMathPara>
                    </a14:m>
                    <a:endParaRPr lang="it-IT" dirty="0"/>
                  </a:p>
                </p:txBody>
              </p:sp>
            </mc:Choice>
            <mc:Fallback xmlns="">
              <p:sp>
                <p:nvSpPr>
                  <p:cNvPr id="116" name="TextBox 115">
                    <a:extLst>
                      <a:ext uri="{FF2B5EF4-FFF2-40B4-BE49-F238E27FC236}">
                        <a16:creationId xmlns:a16="http://schemas.microsoft.com/office/drawing/2014/main" id="{2C76F31B-8CA7-46D1-9667-7CB543521FDD}"/>
                      </a:ext>
                    </a:extLst>
                  </p:cNvPr>
                  <p:cNvSpPr txBox="1">
                    <a:spLocks noRot="1" noChangeAspect="1" noMove="1" noResize="1" noEditPoints="1" noAdjustHandles="1" noChangeArrowheads="1" noChangeShapeType="1" noTextEdit="1"/>
                  </p:cNvSpPr>
                  <p:nvPr/>
                </p:nvSpPr>
                <p:spPr>
                  <a:xfrm>
                    <a:off x="8120316" y="533636"/>
                    <a:ext cx="435184" cy="288477"/>
                  </a:xfrm>
                  <a:prstGeom prst="rect">
                    <a:avLst/>
                  </a:prstGeom>
                  <a:blipFill>
                    <a:blip r:embed="rId25"/>
                    <a:stretch>
                      <a:fillRect t="-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036ADD71-769B-48AD-BD50-24CBF14F612B}"/>
                      </a:ext>
                    </a:extLst>
                  </p:cNvPr>
                  <p:cNvSpPr txBox="1"/>
                  <p:nvPr/>
                </p:nvSpPr>
                <p:spPr>
                  <a:xfrm>
                    <a:off x="8809518" y="527487"/>
                    <a:ext cx="435184"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i="1">
                                  <a:solidFill>
                                    <a:srgbClr val="0070C0"/>
                                  </a:solidFill>
                                  <a:latin typeface="Cambria Math" panose="02040503050406030204" pitchFamily="18" charset="0"/>
                                </a:rPr>
                              </m:ctrlPr>
                            </m:sSupPr>
                            <m:e>
                              <m:r>
                                <a:rPr lang="en-GB" i="1">
                                  <a:solidFill>
                                    <a:srgbClr val="0070C0"/>
                                  </a:solidFill>
                                  <a:latin typeface="Cambria Math" panose="02040503050406030204" pitchFamily="18" charset="0"/>
                                </a:rPr>
                                <m:t>𝑎</m:t>
                              </m:r>
                            </m:e>
                            <m:sup>
                              <m:r>
                                <a:rPr lang="en-GB" i="1">
                                  <a:solidFill>
                                    <a:srgbClr val="0070C0"/>
                                  </a:solidFill>
                                  <a:latin typeface="Cambria Math" panose="02040503050406030204" pitchFamily="18" charset="0"/>
                                </a:rPr>
                                <m:t>(2)</m:t>
                              </m:r>
                            </m:sup>
                          </m:sSup>
                        </m:oMath>
                      </m:oMathPara>
                    </a14:m>
                    <a:endParaRPr lang="it-IT" i="1" dirty="0">
                      <a:solidFill>
                        <a:srgbClr val="0070C0"/>
                      </a:solidFill>
                      <a:latin typeface="Cambria Math" panose="02040503050406030204" pitchFamily="18" charset="0"/>
                    </a:endParaRPr>
                  </a:p>
                </p:txBody>
              </p:sp>
            </mc:Choice>
            <mc:Fallback xmlns="">
              <p:sp>
                <p:nvSpPr>
                  <p:cNvPr id="117" name="TextBox 116">
                    <a:extLst>
                      <a:ext uri="{FF2B5EF4-FFF2-40B4-BE49-F238E27FC236}">
                        <a16:creationId xmlns:a16="http://schemas.microsoft.com/office/drawing/2014/main" id="{E179D4D6-C093-4B24-860D-2866750EB624}"/>
                      </a:ext>
                    </a:extLst>
                  </p:cNvPr>
                  <p:cNvSpPr txBox="1">
                    <a:spLocks noRot="1" noChangeAspect="1" noMove="1" noResize="1" noEditPoints="1" noAdjustHandles="1" noChangeArrowheads="1" noChangeShapeType="1" noTextEdit="1"/>
                  </p:cNvSpPr>
                  <p:nvPr/>
                </p:nvSpPr>
                <p:spPr>
                  <a:xfrm>
                    <a:off x="8809518" y="527487"/>
                    <a:ext cx="435184" cy="288477"/>
                  </a:xfrm>
                  <a:prstGeom prst="rect">
                    <a:avLst/>
                  </a:prstGeom>
                  <a:blipFill>
                    <a:blip r:embed="rId26"/>
                    <a:stretch>
                      <a:fillRect t="-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3D063A04-131D-4805-A2BC-706F868BAE6B}"/>
                      </a:ext>
                    </a:extLst>
                  </p:cNvPr>
                  <p:cNvSpPr txBox="1"/>
                  <p:nvPr/>
                </p:nvSpPr>
                <p:spPr>
                  <a:xfrm>
                    <a:off x="9653074" y="530545"/>
                    <a:ext cx="435184"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i="1" smtClean="0">
                                  <a:solidFill>
                                    <a:srgbClr val="0070C0"/>
                                  </a:solidFill>
                                  <a:latin typeface="Cambria Math" panose="02040503050406030204" pitchFamily="18" charset="0"/>
                                </a:rPr>
                              </m:ctrlPr>
                            </m:sSupPr>
                            <m:e>
                              <m:r>
                                <a:rPr lang="en-GB" b="0" i="1" smtClean="0">
                                  <a:solidFill>
                                    <a:srgbClr val="0070C0"/>
                                  </a:solidFill>
                                  <a:latin typeface="Cambria Math" panose="02040503050406030204" pitchFamily="18" charset="0"/>
                                </a:rPr>
                                <m:t>𝑎</m:t>
                              </m:r>
                            </m:e>
                            <m:sup>
                              <m:r>
                                <a:rPr lang="en-GB" b="0" i="1" smtClean="0">
                                  <a:solidFill>
                                    <a:srgbClr val="0070C0"/>
                                  </a:solidFill>
                                  <a:latin typeface="Cambria Math" panose="02040503050406030204" pitchFamily="18" charset="0"/>
                                </a:rPr>
                                <m:t>(3)</m:t>
                              </m:r>
                            </m:sup>
                          </m:sSup>
                        </m:oMath>
                      </m:oMathPara>
                    </a14:m>
                    <a:endParaRPr lang="it-IT" dirty="0">
                      <a:solidFill>
                        <a:srgbClr val="0070C0"/>
                      </a:solidFill>
                    </a:endParaRPr>
                  </a:p>
                </p:txBody>
              </p:sp>
            </mc:Choice>
            <mc:Fallback xmlns="">
              <p:sp>
                <p:nvSpPr>
                  <p:cNvPr id="118" name="TextBox 117">
                    <a:extLst>
                      <a:ext uri="{FF2B5EF4-FFF2-40B4-BE49-F238E27FC236}">
                        <a16:creationId xmlns:a16="http://schemas.microsoft.com/office/drawing/2014/main" id="{0CE03949-7CB9-46FE-AA80-CCF44C12B6F2}"/>
                      </a:ext>
                    </a:extLst>
                  </p:cNvPr>
                  <p:cNvSpPr txBox="1">
                    <a:spLocks noRot="1" noChangeAspect="1" noMove="1" noResize="1" noEditPoints="1" noAdjustHandles="1" noChangeArrowheads="1" noChangeShapeType="1" noTextEdit="1"/>
                  </p:cNvSpPr>
                  <p:nvPr/>
                </p:nvSpPr>
                <p:spPr>
                  <a:xfrm>
                    <a:off x="9653074" y="530545"/>
                    <a:ext cx="435184" cy="288477"/>
                  </a:xfrm>
                  <a:prstGeom prst="rect">
                    <a:avLst/>
                  </a:prstGeom>
                  <a:blipFill>
                    <a:blip r:embed="rId27"/>
                    <a:stretch>
                      <a:fillRect t="-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8BED3D4C-0CCD-42AA-B8E3-3287E8B011E5}"/>
                      </a:ext>
                    </a:extLst>
                  </p:cNvPr>
                  <p:cNvSpPr txBox="1"/>
                  <p:nvPr/>
                </p:nvSpPr>
                <p:spPr>
                  <a:xfrm>
                    <a:off x="10450622" y="524702"/>
                    <a:ext cx="435184"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it-IT" i="1" smtClean="0">
                                  <a:solidFill>
                                    <a:srgbClr val="0070C0"/>
                                  </a:solidFill>
                                  <a:latin typeface="Cambria Math" panose="02040503050406030204" pitchFamily="18" charset="0"/>
                                </a:rPr>
                              </m:ctrlPr>
                            </m:sSupPr>
                            <m:e>
                              <m:r>
                                <a:rPr lang="en-GB" b="0" i="1" smtClean="0">
                                  <a:solidFill>
                                    <a:srgbClr val="0070C0"/>
                                  </a:solidFill>
                                  <a:latin typeface="Cambria Math" panose="02040503050406030204" pitchFamily="18" charset="0"/>
                                </a:rPr>
                                <m:t>𝑎</m:t>
                              </m:r>
                            </m:e>
                            <m:sup>
                              <m:r>
                                <a:rPr lang="en-GB" b="0" i="1" smtClean="0">
                                  <a:solidFill>
                                    <a:srgbClr val="0070C0"/>
                                  </a:solidFill>
                                  <a:latin typeface="Cambria Math" panose="02040503050406030204" pitchFamily="18" charset="0"/>
                                </a:rPr>
                                <m:t>(4)</m:t>
                              </m:r>
                            </m:sup>
                          </m:sSup>
                        </m:oMath>
                      </m:oMathPara>
                    </a14:m>
                    <a:endParaRPr lang="it-IT" dirty="0"/>
                  </a:p>
                </p:txBody>
              </p:sp>
            </mc:Choice>
            <mc:Fallback xmlns="">
              <p:sp>
                <p:nvSpPr>
                  <p:cNvPr id="119" name="TextBox 118">
                    <a:extLst>
                      <a:ext uri="{FF2B5EF4-FFF2-40B4-BE49-F238E27FC236}">
                        <a16:creationId xmlns:a16="http://schemas.microsoft.com/office/drawing/2014/main" id="{79129FFC-9423-45C0-AE95-2493FA0379A6}"/>
                      </a:ext>
                    </a:extLst>
                  </p:cNvPr>
                  <p:cNvSpPr txBox="1">
                    <a:spLocks noRot="1" noChangeAspect="1" noMove="1" noResize="1" noEditPoints="1" noAdjustHandles="1" noChangeArrowheads="1" noChangeShapeType="1" noTextEdit="1"/>
                  </p:cNvSpPr>
                  <p:nvPr/>
                </p:nvSpPr>
                <p:spPr>
                  <a:xfrm>
                    <a:off x="10450622" y="524702"/>
                    <a:ext cx="435184" cy="288477"/>
                  </a:xfrm>
                  <a:prstGeom prst="rect">
                    <a:avLst/>
                  </a:prstGeom>
                  <a:blipFill>
                    <a:blip r:embed="rId28"/>
                    <a:stretch>
                      <a:fillRect t="-7407"/>
                    </a:stretch>
                  </a:blipFill>
                </p:spPr>
                <p:txBody>
                  <a:bodyPr/>
                  <a:lstStyle/>
                  <a:p>
                    <a:r>
                      <a:rPr lang="en-US">
                        <a:noFill/>
                      </a:rPr>
                      <a:t> </a:t>
                    </a:r>
                  </a:p>
                </p:txBody>
              </p:sp>
            </mc:Fallback>
          </mc:AlternateContent>
        </p:grpSp>
        <p:cxnSp>
          <p:nvCxnSpPr>
            <p:cNvPr id="104" name="Straight Arrow Connector 103">
              <a:extLst>
                <a:ext uri="{FF2B5EF4-FFF2-40B4-BE49-F238E27FC236}">
                  <a16:creationId xmlns:a16="http://schemas.microsoft.com/office/drawing/2014/main" id="{9B15DCC3-9AFC-4A67-866D-8514B77C4601}"/>
                </a:ext>
              </a:extLst>
            </p:cNvPr>
            <p:cNvCxnSpPr/>
            <p:nvPr/>
          </p:nvCxnSpPr>
          <p:spPr>
            <a:xfrm>
              <a:off x="8301481" y="784747"/>
              <a:ext cx="0" cy="440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E39854DD-B635-448A-9C98-472941348AB6}"/>
                </a:ext>
              </a:extLst>
            </p:cNvPr>
            <p:cNvCxnSpPr/>
            <p:nvPr/>
          </p:nvCxnSpPr>
          <p:spPr>
            <a:xfrm>
              <a:off x="10671808" y="739980"/>
              <a:ext cx="0" cy="440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BB2F2183-C93E-4F67-8425-5DA8A9887152}"/>
                </a:ext>
              </a:extLst>
            </p:cNvPr>
            <p:cNvCxnSpPr/>
            <p:nvPr/>
          </p:nvCxnSpPr>
          <p:spPr>
            <a:xfrm>
              <a:off x="9027110" y="739980"/>
              <a:ext cx="0" cy="440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3418D185-A00E-47BC-8382-B293048CF4BF}"/>
                </a:ext>
              </a:extLst>
            </p:cNvPr>
            <p:cNvCxnSpPr/>
            <p:nvPr/>
          </p:nvCxnSpPr>
          <p:spPr>
            <a:xfrm>
              <a:off x="9870666" y="754562"/>
              <a:ext cx="0" cy="4408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96" name="TextBox 195">
                <a:extLst>
                  <a:ext uri="{FF2B5EF4-FFF2-40B4-BE49-F238E27FC236}">
                    <a16:creationId xmlns:a16="http://schemas.microsoft.com/office/drawing/2014/main" id="{535402D9-37C1-4CAD-85BF-B1FE1FED4118}"/>
                  </a:ext>
                </a:extLst>
              </p:cNvPr>
              <p:cNvSpPr txBox="1"/>
              <p:nvPr/>
            </p:nvSpPr>
            <p:spPr>
              <a:xfrm>
                <a:off x="3660412" y="3705892"/>
                <a:ext cx="2798787" cy="562462"/>
              </a:xfrm>
              <a:prstGeom prst="rect">
                <a:avLst/>
              </a:prstGeom>
              <a:noFill/>
            </p:spPr>
            <p:txBody>
              <a:bodyPr wrap="square">
                <a:spAutoFit/>
              </a:bodyPr>
              <a:lstStyle/>
              <a:p>
                <a14:m>
                  <m:oMath xmlns:m="http://schemas.openxmlformats.org/officeDocument/2006/math">
                    <m:sSubSup>
                      <m:sSubSupPr>
                        <m:ctrlPr>
                          <a:rPr lang="en-US" sz="2400" i="1" smtClean="0">
                            <a:latin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𝛿</m:t>
                        </m:r>
                      </m:e>
                      <m:sub>
                        <m:r>
                          <a:rPr lang="en-US" sz="2400" b="0" i="1" smtClean="0">
                            <a:latin typeface="Cambria Math" panose="02040503050406030204" pitchFamily="18" charset="0"/>
                          </a:rPr>
                          <m:t>𝑖</m:t>
                        </m:r>
                      </m:sub>
                      <m:sup>
                        <m:r>
                          <a:rPr lang="en-US" sz="2400" b="0" i="1" smtClean="0">
                            <a:latin typeface="Cambria Math" panose="02040503050406030204" pitchFamily="18" charset="0"/>
                          </a:rPr>
                          <m:t>(</m:t>
                        </m:r>
                        <m:r>
                          <a:rPr lang="en-US" sz="2400" b="0" i="1" smtClean="0">
                            <a:latin typeface="Cambria Math" panose="02040503050406030204" pitchFamily="18" charset="0"/>
                          </a:rPr>
                          <m:t>𝐿</m:t>
                        </m:r>
                        <m:r>
                          <a:rPr lang="en-US" sz="2400" b="0" i="1" smtClean="0">
                            <a:latin typeface="Cambria Math" panose="02040503050406030204" pitchFamily="18" charset="0"/>
                          </a:rPr>
                          <m:t>)</m:t>
                        </m:r>
                      </m:sup>
                    </m:sSubSup>
                    <m:r>
                      <a:rPr lang="en-US" sz="2400" b="0" i="1" smtClean="0">
                        <a:latin typeface="Cambria Math" panose="02040503050406030204" pitchFamily="18" charset="0"/>
                      </a:rPr>
                      <m:t>=</m:t>
                    </m:r>
                  </m:oMath>
                </a14:m>
                <a:r>
                  <a:rPr lang="en-US" sz="2400" dirty="0">
                    <a:ea typeface="Cambria Math" panose="02040503050406030204" pitchFamily="18" charset="0"/>
                  </a:rPr>
                  <a:t> </a:t>
                </a:r>
                <a14:m>
                  <m:oMath xmlns:m="http://schemas.openxmlformats.org/officeDocument/2006/math">
                    <m:r>
                      <a:rPr lang="en-US" sz="2400" i="1" smtClean="0">
                        <a:solidFill>
                          <a:srgbClr val="FF0000"/>
                        </a:solidFill>
                        <a:latin typeface="Cambria Math" panose="02040503050406030204" pitchFamily="18" charset="0"/>
                        <a:ea typeface="Cambria Math" panose="02040503050406030204" pitchFamily="18" charset="0"/>
                      </a:rPr>
                      <m:t>ℓ</m:t>
                    </m:r>
                    <m:r>
                      <a:rPr lang="en-US" sz="2400" b="0" i="1" smtClean="0">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m:t>
                    </m:r>
                    <m:sSub>
                      <m:sSubPr>
                        <m:ctrlPr>
                          <a:rPr lang="en-US" sz="2400" i="1">
                            <a:solidFill>
                              <a:srgbClr val="FF0000"/>
                            </a:solidFill>
                            <a:latin typeface="Cambria Math" panose="02040503050406030204" pitchFamily="18" charset="0"/>
                            <a:ea typeface="Cambria Math" panose="02040503050406030204" pitchFamily="18" charset="0"/>
                          </a:rPr>
                        </m:ctrlPr>
                      </m:sSubPr>
                      <m:e>
                        <m:r>
                          <a:rPr lang="en-US" sz="2400" i="1">
                            <a:solidFill>
                              <a:srgbClr val="FF0000"/>
                            </a:solidFill>
                            <a:latin typeface="Cambria Math" panose="02040503050406030204" pitchFamily="18" charset="0"/>
                            <a:ea typeface="Cambria Math" panose="02040503050406030204" pitchFamily="18" charset="0"/>
                          </a:rPr>
                          <m:t>h</m:t>
                        </m:r>
                      </m:e>
                      <m:sub>
                        <m:r>
                          <m:rPr>
                            <m:sty m:val="p"/>
                          </m:rPr>
                          <a:rPr lang="el-GR" sz="2400" i="1">
                            <a:solidFill>
                              <a:srgbClr val="FF0000"/>
                            </a:solidFill>
                            <a:latin typeface="Cambria Math" panose="02040503050406030204" pitchFamily="18" charset="0"/>
                            <a:ea typeface="Cambria Math" panose="02040503050406030204" pitchFamily="18" charset="0"/>
                          </a:rPr>
                          <m:t>Θ</m:t>
                        </m:r>
                      </m:sub>
                    </m:sSub>
                    <m:r>
                      <a:rPr lang="en-US" sz="2400" i="1">
                        <a:solidFill>
                          <a:srgbClr val="FF0000"/>
                        </a:solidFill>
                        <a:latin typeface="Cambria Math" panose="02040503050406030204" pitchFamily="18" charset="0"/>
                        <a:ea typeface="Cambria Math" panose="02040503050406030204" pitchFamily="18" charset="0"/>
                      </a:rPr>
                      <m:t>(</m:t>
                    </m:r>
                    <m:sSup>
                      <m:sSupPr>
                        <m:ctrlPr>
                          <a:rPr lang="en-US" sz="2400" i="1">
                            <a:solidFill>
                              <a:srgbClr val="FF0000"/>
                            </a:solidFill>
                            <a:latin typeface="Cambria Math" panose="02040503050406030204" pitchFamily="18" charset="0"/>
                            <a:ea typeface="Cambria Math" panose="02040503050406030204" pitchFamily="18" charset="0"/>
                          </a:rPr>
                        </m:ctrlPr>
                      </m:sSupPr>
                      <m:e>
                        <m:r>
                          <a:rPr lang="en-US" sz="2400" i="1">
                            <a:solidFill>
                              <a:srgbClr val="FF0000"/>
                            </a:solidFill>
                            <a:latin typeface="Cambria Math" panose="02040503050406030204" pitchFamily="18" charset="0"/>
                            <a:ea typeface="Cambria Math" panose="02040503050406030204" pitchFamily="18" charset="0"/>
                          </a:rPr>
                          <m:t>𝑥</m:t>
                        </m:r>
                      </m:e>
                      <m:sup>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𝑖</m:t>
                        </m:r>
                        <m:r>
                          <a:rPr lang="en-US" sz="2400" i="1">
                            <a:solidFill>
                              <a:srgbClr val="FF0000"/>
                            </a:solidFill>
                            <a:latin typeface="Cambria Math" panose="02040503050406030204" pitchFamily="18" charset="0"/>
                            <a:ea typeface="Cambria Math" panose="02040503050406030204" pitchFamily="18" charset="0"/>
                          </a:rPr>
                          <m:t>)</m:t>
                        </m:r>
                      </m:sup>
                    </m:sSup>
                  </m:oMath>
                </a14:m>
                <a:r>
                  <a:rPr lang="en-US" sz="2400" dirty="0">
                    <a:solidFill>
                      <a:srgbClr val="FF0000"/>
                    </a:solidFill>
                  </a:rPr>
                  <a:t>))</a:t>
                </a:r>
                <a:endParaRPr lang="en-US" sz="2400" dirty="0"/>
              </a:p>
            </p:txBody>
          </p:sp>
        </mc:Choice>
        <mc:Fallback xmlns="">
          <p:sp>
            <p:nvSpPr>
              <p:cNvPr id="196" name="TextBox 195">
                <a:extLst>
                  <a:ext uri="{FF2B5EF4-FFF2-40B4-BE49-F238E27FC236}">
                    <a16:creationId xmlns:a16="http://schemas.microsoft.com/office/drawing/2014/main" id="{535402D9-37C1-4CAD-85BF-B1FE1FED4118}"/>
                  </a:ext>
                </a:extLst>
              </p:cNvPr>
              <p:cNvSpPr txBox="1">
                <a:spLocks noRot="1" noChangeAspect="1" noMove="1" noResize="1" noEditPoints="1" noAdjustHandles="1" noChangeArrowheads="1" noChangeShapeType="1" noTextEdit="1"/>
              </p:cNvSpPr>
              <p:nvPr/>
            </p:nvSpPr>
            <p:spPr>
              <a:xfrm>
                <a:off x="3660412" y="3705892"/>
                <a:ext cx="2798787" cy="562462"/>
              </a:xfrm>
              <a:prstGeom prst="rect">
                <a:avLst/>
              </a:prstGeom>
              <a:blipFill>
                <a:blip r:embed="rId29"/>
                <a:stretch>
                  <a:fillRect b="-206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8" name="TextBox 197">
                <a:extLst>
                  <a:ext uri="{FF2B5EF4-FFF2-40B4-BE49-F238E27FC236}">
                    <a16:creationId xmlns:a16="http://schemas.microsoft.com/office/drawing/2014/main" id="{3D5934E8-900C-4F29-A25F-B8B1B93E33A5}"/>
                  </a:ext>
                </a:extLst>
              </p:cNvPr>
              <p:cNvSpPr txBox="1"/>
              <p:nvPr/>
            </p:nvSpPr>
            <p:spPr>
              <a:xfrm>
                <a:off x="5491555" y="3366899"/>
                <a:ext cx="6095046" cy="12813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𝛿</m:t>
                          </m:r>
                        </m:e>
                        <m:sub>
                          <m:r>
                            <a:rPr lang="en-US" sz="2400" b="0" i="1" smtClean="0">
                              <a:latin typeface="Cambria Math" panose="02040503050406030204" pitchFamily="18" charset="0"/>
                            </a:rPr>
                            <m:t>𝑖</m:t>
                          </m:r>
                        </m:sub>
                        <m:sup>
                          <m:r>
                            <a:rPr lang="en-US" sz="2400" b="0" i="1" smtClean="0">
                              <a:latin typeface="Cambria Math" panose="02040503050406030204" pitchFamily="18" charset="0"/>
                            </a:rPr>
                            <m:t>(</m:t>
                          </m:r>
                          <m:r>
                            <a:rPr lang="en-US" sz="2400" b="0" i="1" smtClean="0">
                              <a:latin typeface="Cambria Math" panose="02040503050406030204" pitchFamily="18" charset="0"/>
                            </a:rPr>
                            <m:t>𝑙</m:t>
                          </m:r>
                          <m:r>
                            <a:rPr lang="en-US" sz="2400" b="0" i="1" smtClean="0">
                              <a:latin typeface="Cambria Math" panose="02040503050406030204" pitchFamily="18" charset="0"/>
                            </a:rPr>
                            <m:t>)</m:t>
                          </m:r>
                        </m:sup>
                      </m:sSubSup>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nary>
                            <m:naryPr>
                              <m:chr m:val="∑"/>
                              <m:supHide m:val="on"/>
                              <m:ctrlPr>
                                <a:rPr lang="en-US" sz="2400" i="1">
                                  <a:latin typeface="Cambria Math" panose="02040503050406030204" pitchFamily="18" charset="0"/>
                                </a:rPr>
                              </m:ctrlPr>
                            </m:naryPr>
                            <m:sub>
                              <m:r>
                                <m:rPr>
                                  <m:brk m:alnAt="23"/>
                                </m:rPr>
                                <a:rPr lang="en-US" sz="2400" i="1">
                                  <a:latin typeface="Cambria Math" panose="02040503050406030204" pitchFamily="18" charset="0"/>
                                </a:rPr>
                                <m:t>𝑘</m:t>
                              </m:r>
                            </m:sub>
                            <m:sup/>
                            <m:e>
                              <m:sSubSup>
                                <m:sSubSupPr>
                                  <m:ctrlPr>
                                    <a:rPr lang="en-US" sz="2400" i="1">
                                      <a:latin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𝛿</m:t>
                                  </m:r>
                                </m:e>
                                <m:sub>
                                  <m:r>
                                    <a:rPr lang="en-US" sz="2400" i="1">
                                      <a:latin typeface="Cambria Math" panose="02040503050406030204" pitchFamily="18" charset="0"/>
                                    </a:rPr>
                                    <m:t>𝑘</m:t>
                                  </m:r>
                                </m:sub>
                                <m:sup>
                                  <m:d>
                                    <m:dPr>
                                      <m:ctrlPr>
                                        <a:rPr lang="en-US" sz="2400" i="1">
                                          <a:latin typeface="Cambria Math" panose="02040503050406030204" pitchFamily="18" charset="0"/>
                                        </a:rPr>
                                      </m:ctrlPr>
                                    </m:dPr>
                                    <m:e>
                                      <m:r>
                                        <a:rPr lang="en-US" sz="2400" i="1">
                                          <a:latin typeface="Cambria Math" panose="02040503050406030204" pitchFamily="18" charset="0"/>
                                        </a:rPr>
                                        <m:t>𝑙</m:t>
                                      </m:r>
                                      <m:r>
                                        <a:rPr lang="en-US" sz="2400" i="1">
                                          <a:latin typeface="Cambria Math" panose="02040503050406030204" pitchFamily="18" charset="0"/>
                                        </a:rPr>
                                        <m:t>+1</m:t>
                                      </m:r>
                                    </m:e>
                                  </m:d>
                                </m:sup>
                              </m:sSubSup>
                              <m:sSubSup>
                                <m:sSubSupPr>
                                  <m:ctrlPr>
                                    <a:rPr lang="en-US" sz="2400" i="1">
                                      <a:latin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𝜃</m:t>
                                  </m:r>
                                </m:e>
                                <m:sub>
                                  <m:r>
                                    <a:rPr lang="en-US" sz="2400" i="1">
                                      <a:latin typeface="Cambria Math" panose="02040503050406030204" pitchFamily="18" charset="0"/>
                                    </a:rPr>
                                    <m:t>𝑘𝑖</m:t>
                                  </m:r>
                                </m:sub>
                                <m:sup>
                                  <m:d>
                                    <m:dPr>
                                      <m:ctrlPr>
                                        <a:rPr lang="en-US" sz="2400" i="1">
                                          <a:latin typeface="Cambria Math" panose="02040503050406030204" pitchFamily="18" charset="0"/>
                                        </a:rPr>
                                      </m:ctrlPr>
                                    </m:dPr>
                                    <m:e>
                                      <m:r>
                                        <a:rPr lang="en-US" sz="2400" i="1">
                                          <a:latin typeface="Cambria Math" panose="02040503050406030204" pitchFamily="18" charset="0"/>
                                        </a:rPr>
                                        <m:t>𝑙</m:t>
                                      </m:r>
                                    </m:e>
                                  </m:d>
                                </m:sup>
                              </m:sSubSup>
                            </m:e>
                          </m:nary>
                        </m:e>
                      </m:d>
                      <m:sSubSup>
                        <m:sSubSupPr>
                          <m:ctrlPr>
                            <a:rPr lang="en-US" sz="2400" b="0" i="1" smtClean="0">
                              <a:solidFill>
                                <a:srgbClr val="FF0000"/>
                              </a:solidFill>
                              <a:latin typeface="Cambria Math" panose="02040503050406030204" pitchFamily="18" charset="0"/>
                            </a:rPr>
                          </m:ctrlPr>
                        </m:sSubSupPr>
                        <m:e>
                          <m:r>
                            <a:rPr lang="en-US" sz="2400" b="0" i="1" smtClean="0">
                              <a:solidFill>
                                <a:srgbClr val="FF0000"/>
                              </a:solidFill>
                              <a:latin typeface="Cambria Math" panose="02040503050406030204" pitchFamily="18" charset="0"/>
                              <a:ea typeface="Cambria Math" panose="02040503050406030204" pitchFamily="18" charset="0"/>
                            </a:rPr>
                            <m:t>𝜑</m:t>
                          </m:r>
                          <m:r>
                            <a:rPr lang="en-US" sz="2400" b="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rPr>
                            <m:t>𝑎</m:t>
                          </m:r>
                        </m:e>
                        <m:sub>
                          <m:r>
                            <a:rPr lang="en-US" sz="2400" b="0" i="1" smtClean="0">
                              <a:solidFill>
                                <a:srgbClr val="FF0000"/>
                              </a:solidFill>
                              <a:latin typeface="Cambria Math" panose="02040503050406030204" pitchFamily="18" charset="0"/>
                            </a:rPr>
                            <m:t>𝑖</m:t>
                          </m:r>
                        </m:sub>
                        <m:sup>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𝑙</m:t>
                              </m:r>
                            </m:e>
                          </m:d>
                        </m:sup>
                      </m:sSubSup>
                      <m:r>
                        <a:rPr lang="en-US" sz="2400" b="0" i="1" smtClean="0">
                          <a:solidFill>
                            <a:srgbClr val="FF0000"/>
                          </a:solidFill>
                          <a:latin typeface="Cambria Math" panose="02040503050406030204" pitchFamily="18" charset="0"/>
                        </a:rPr>
                        <m:t>)</m:t>
                      </m:r>
                    </m:oMath>
                  </m:oMathPara>
                </a14:m>
                <a:endParaRPr lang="en-US" sz="2400" dirty="0"/>
              </a:p>
            </p:txBody>
          </p:sp>
        </mc:Choice>
        <mc:Fallback xmlns="">
          <p:sp>
            <p:nvSpPr>
              <p:cNvPr id="198" name="TextBox 197">
                <a:extLst>
                  <a:ext uri="{FF2B5EF4-FFF2-40B4-BE49-F238E27FC236}">
                    <a16:creationId xmlns:a16="http://schemas.microsoft.com/office/drawing/2014/main" id="{3D5934E8-900C-4F29-A25F-B8B1B93E33A5}"/>
                  </a:ext>
                </a:extLst>
              </p:cNvPr>
              <p:cNvSpPr txBox="1">
                <a:spLocks noRot="1" noChangeAspect="1" noMove="1" noResize="1" noEditPoints="1" noAdjustHandles="1" noChangeArrowheads="1" noChangeShapeType="1" noTextEdit="1"/>
              </p:cNvSpPr>
              <p:nvPr/>
            </p:nvSpPr>
            <p:spPr>
              <a:xfrm>
                <a:off x="5491555" y="3366899"/>
                <a:ext cx="6095046" cy="1281376"/>
              </a:xfrm>
              <a:prstGeom prst="rect">
                <a:avLst/>
              </a:prstGeom>
              <a:blipFill>
                <a:blip r:embed="rId30"/>
                <a:stretch>
                  <a:fillRect/>
                </a:stretch>
              </a:blipFill>
            </p:spPr>
            <p:txBody>
              <a:bodyPr/>
              <a:lstStyle/>
              <a:p>
                <a:r>
                  <a:rPr lang="en-US">
                    <a:noFill/>
                  </a:rPr>
                  <a:t> </a:t>
                </a:r>
              </a:p>
            </p:txBody>
          </p:sp>
        </mc:Fallback>
      </mc:AlternateContent>
      <p:grpSp>
        <p:nvGrpSpPr>
          <p:cNvPr id="207" name="Group 206">
            <a:extLst>
              <a:ext uri="{FF2B5EF4-FFF2-40B4-BE49-F238E27FC236}">
                <a16:creationId xmlns:a16="http://schemas.microsoft.com/office/drawing/2014/main" id="{6B0BBF83-6365-4BA9-B208-3C9F2D3CA76C}"/>
              </a:ext>
            </a:extLst>
          </p:cNvPr>
          <p:cNvGrpSpPr/>
          <p:nvPr/>
        </p:nvGrpSpPr>
        <p:grpSpPr>
          <a:xfrm>
            <a:off x="977785" y="4755739"/>
            <a:ext cx="2267738" cy="1504555"/>
            <a:chOff x="1565910" y="4589607"/>
            <a:chExt cx="2267738" cy="1504555"/>
          </a:xfrm>
        </p:grpSpPr>
        <p:sp>
          <p:nvSpPr>
            <p:cNvPr id="98" name="Oval 97">
              <a:extLst>
                <a:ext uri="{FF2B5EF4-FFF2-40B4-BE49-F238E27FC236}">
                  <a16:creationId xmlns:a16="http://schemas.microsoft.com/office/drawing/2014/main" id="{8AF0091D-49A8-439D-9E5B-0844BAF0E32C}"/>
                </a:ext>
              </a:extLst>
            </p:cNvPr>
            <p:cNvSpPr/>
            <p:nvPr/>
          </p:nvSpPr>
          <p:spPr>
            <a:xfrm>
              <a:off x="1565910" y="4589607"/>
              <a:ext cx="584627" cy="59389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7540786-062F-437D-A30E-AE5EE2DA44A0}"/>
                    </a:ext>
                  </a:extLst>
                </p:cNvPr>
                <p:cNvSpPr txBox="1"/>
                <p:nvPr/>
              </p:nvSpPr>
              <p:spPr>
                <a:xfrm>
                  <a:off x="2542739" y="4973451"/>
                  <a:ext cx="409664" cy="38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it-IT" i="1" smtClean="0">
                                <a:latin typeface="Cambria Math" panose="02040503050406030204" pitchFamily="18" charset="0"/>
                              </a:rPr>
                            </m:ctrlPr>
                          </m:sSubSupPr>
                          <m:e>
                            <m:r>
                              <a:rPr lang="it-IT"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𝑖𝑗</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bSup>
                      </m:oMath>
                    </m:oMathPara>
                  </a14:m>
                  <a:endParaRPr lang="it-IT" dirty="0"/>
                </a:p>
              </p:txBody>
            </p:sp>
          </mc:Choice>
          <mc:Fallback xmlns="">
            <p:sp>
              <p:nvSpPr>
                <p:cNvPr id="94" name="TextBox 93">
                  <a:extLst>
                    <a:ext uri="{FF2B5EF4-FFF2-40B4-BE49-F238E27FC236}">
                      <a16:creationId xmlns:a16="http://schemas.microsoft.com/office/drawing/2014/main" id="{77540786-062F-437D-A30E-AE5EE2DA44A0}"/>
                    </a:ext>
                  </a:extLst>
                </p:cNvPr>
                <p:cNvSpPr txBox="1">
                  <a:spLocks noRot="1" noChangeAspect="1" noMove="1" noResize="1" noEditPoints="1" noAdjustHandles="1" noChangeArrowheads="1" noChangeShapeType="1" noTextEdit="1"/>
                </p:cNvSpPr>
                <p:nvPr/>
              </p:nvSpPr>
              <p:spPr>
                <a:xfrm>
                  <a:off x="2542739" y="4973451"/>
                  <a:ext cx="409664" cy="383888"/>
                </a:xfrm>
                <a:prstGeom prst="rect">
                  <a:avLst/>
                </a:prstGeom>
                <a:blipFill>
                  <a:blip r:embed="rId31"/>
                  <a:stretch>
                    <a:fillRect l="-11765" t="-3175" r="-11765" b="-20635"/>
                  </a:stretch>
                </a:blipFill>
              </p:spPr>
              <p:txBody>
                <a:bodyPr/>
                <a:lstStyle/>
                <a:p>
                  <a:r>
                    <a:rPr lang="en-US">
                      <a:noFill/>
                    </a:rPr>
                    <a:t> </a:t>
                  </a:r>
                </a:p>
              </p:txBody>
            </p:sp>
          </mc:Fallback>
        </mc:AlternateContent>
        <p:sp>
          <p:nvSpPr>
            <p:cNvPr id="99" name="Oval 98">
              <a:extLst>
                <a:ext uri="{FF2B5EF4-FFF2-40B4-BE49-F238E27FC236}">
                  <a16:creationId xmlns:a16="http://schemas.microsoft.com/office/drawing/2014/main" id="{C9782FFD-E93C-4B4D-9E59-12B20475E8F9}"/>
                </a:ext>
              </a:extLst>
            </p:cNvPr>
            <p:cNvSpPr/>
            <p:nvPr/>
          </p:nvSpPr>
          <p:spPr>
            <a:xfrm>
              <a:off x="3211554" y="5528442"/>
              <a:ext cx="622093" cy="5657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4" name="Straight Arrow Connector 203">
              <a:extLst>
                <a:ext uri="{FF2B5EF4-FFF2-40B4-BE49-F238E27FC236}">
                  <a16:creationId xmlns:a16="http://schemas.microsoft.com/office/drawing/2014/main" id="{1AC7973B-BD9A-4D05-B236-A73B9AE505E3}"/>
                </a:ext>
              </a:extLst>
            </p:cNvPr>
            <p:cNvCxnSpPr/>
            <p:nvPr/>
          </p:nvCxnSpPr>
          <p:spPr>
            <a:xfrm>
              <a:off x="2091005" y="5006406"/>
              <a:ext cx="1120550" cy="67095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9ECB7303-51EA-4363-8E4B-5E6E51F9A9C9}"/>
                    </a:ext>
                  </a:extLst>
                </p:cNvPr>
                <p:cNvSpPr txBox="1"/>
                <p:nvPr/>
              </p:nvSpPr>
              <p:spPr>
                <a:xfrm>
                  <a:off x="1688523" y="4653461"/>
                  <a:ext cx="402482" cy="38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𝑗</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bSup>
                      </m:oMath>
                    </m:oMathPara>
                  </a14:m>
                  <a:endParaRPr lang="en-US" dirty="0"/>
                </a:p>
              </p:txBody>
            </p:sp>
          </mc:Choice>
          <mc:Fallback xmlns="">
            <p:sp>
              <p:nvSpPr>
                <p:cNvPr id="100" name="TextBox 99">
                  <a:extLst>
                    <a:ext uri="{FF2B5EF4-FFF2-40B4-BE49-F238E27FC236}">
                      <a16:creationId xmlns:a16="http://schemas.microsoft.com/office/drawing/2014/main" id="{9ECB7303-51EA-4363-8E4B-5E6E51F9A9C9}"/>
                    </a:ext>
                  </a:extLst>
                </p:cNvPr>
                <p:cNvSpPr txBox="1">
                  <a:spLocks noRot="1" noChangeAspect="1" noMove="1" noResize="1" noEditPoints="1" noAdjustHandles="1" noChangeArrowheads="1" noChangeShapeType="1" noTextEdit="1"/>
                </p:cNvSpPr>
                <p:nvPr/>
              </p:nvSpPr>
              <p:spPr>
                <a:xfrm>
                  <a:off x="1688523" y="4653461"/>
                  <a:ext cx="402482" cy="383888"/>
                </a:xfrm>
                <a:prstGeom prst="rect">
                  <a:avLst/>
                </a:prstGeom>
                <a:blipFill>
                  <a:blip r:embed="rId32"/>
                  <a:stretch>
                    <a:fillRect l="-7576" t="-3175" r="-12121" b="-206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86714176-1264-4668-A24F-A56F7D93B062}"/>
                    </a:ext>
                  </a:extLst>
                </p:cNvPr>
                <p:cNvSpPr txBox="1"/>
                <p:nvPr/>
              </p:nvSpPr>
              <p:spPr>
                <a:xfrm>
                  <a:off x="3211555" y="5613315"/>
                  <a:ext cx="622093" cy="352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𝑖</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+1)</m:t>
                            </m:r>
                          </m:sup>
                        </m:sSubSup>
                      </m:oMath>
                    </m:oMathPara>
                  </a14:m>
                  <a:endParaRPr lang="en-US" dirty="0"/>
                </a:p>
              </p:txBody>
            </p:sp>
          </mc:Choice>
          <mc:Fallback xmlns="">
            <p:sp>
              <p:nvSpPr>
                <p:cNvPr id="206" name="TextBox 205">
                  <a:extLst>
                    <a:ext uri="{FF2B5EF4-FFF2-40B4-BE49-F238E27FC236}">
                      <a16:creationId xmlns:a16="http://schemas.microsoft.com/office/drawing/2014/main" id="{86714176-1264-4668-A24F-A56F7D93B062}"/>
                    </a:ext>
                  </a:extLst>
                </p:cNvPr>
                <p:cNvSpPr txBox="1">
                  <a:spLocks noRot="1" noChangeAspect="1" noMove="1" noResize="1" noEditPoints="1" noAdjustHandles="1" noChangeArrowheads="1" noChangeShapeType="1" noTextEdit="1"/>
                </p:cNvSpPr>
                <p:nvPr/>
              </p:nvSpPr>
              <p:spPr>
                <a:xfrm>
                  <a:off x="3211555" y="5613315"/>
                  <a:ext cx="622093" cy="352597"/>
                </a:xfrm>
                <a:prstGeom prst="rect">
                  <a:avLst/>
                </a:prstGeom>
                <a:blipFill>
                  <a:blip r:embed="rId33"/>
                  <a:stretch>
                    <a:fillRect l="-4902" t="-3448" r="-8824" b="-18966"/>
                  </a:stretch>
                </a:blipFill>
              </p:spPr>
              <p:txBody>
                <a:bodyPr/>
                <a:lstStyle/>
                <a:p>
                  <a:r>
                    <a:rPr lang="en-US">
                      <a:noFill/>
                    </a:rPr>
                    <a:t> </a:t>
                  </a:r>
                </a:p>
              </p:txBody>
            </p:sp>
          </mc:Fallback>
        </mc:AlternateContent>
      </p:grpSp>
      <p:sp>
        <p:nvSpPr>
          <p:cNvPr id="208" name="TextBox 207">
            <a:extLst>
              <a:ext uri="{FF2B5EF4-FFF2-40B4-BE49-F238E27FC236}">
                <a16:creationId xmlns:a16="http://schemas.microsoft.com/office/drawing/2014/main" id="{D7DE2E6A-9F33-4190-8B1E-9FE79F1BA363}"/>
              </a:ext>
            </a:extLst>
          </p:cNvPr>
          <p:cNvSpPr txBox="1"/>
          <p:nvPr/>
        </p:nvSpPr>
        <p:spPr>
          <a:xfrm>
            <a:off x="4813839" y="5217686"/>
            <a:ext cx="5768310" cy="707886"/>
          </a:xfrm>
          <a:prstGeom prst="rect">
            <a:avLst/>
          </a:prstGeom>
          <a:noFill/>
        </p:spPr>
        <p:txBody>
          <a:bodyPr wrap="none" rtlCol="0">
            <a:spAutoFit/>
          </a:bodyPr>
          <a:lstStyle/>
          <a:p>
            <a:r>
              <a:rPr lang="en-US" sz="2000" dirty="0"/>
              <a:t>When computing the </a:t>
            </a:r>
            <a:r>
              <a:rPr lang="en-US" sz="2000" dirty="0">
                <a:latin typeface="Symbol" panose="05050102010706020507" pitchFamily="18" charset="2"/>
              </a:rPr>
              <a:t>d</a:t>
            </a:r>
            <a:r>
              <a:rPr lang="en-US" sz="2000" dirty="0"/>
              <a:t> entry for a hidden unit we use</a:t>
            </a:r>
            <a:br>
              <a:rPr lang="en-US" sz="2000" dirty="0"/>
            </a:br>
            <a:r>
              <a:rPr lang="en-US" sz="2000" dirty="0"/>
              <a:t>the derivative of the activation function of such a unit</a:t>
            </a:r>
          </a:p>
        </p:txBody>
      </p:sp>
    </p:spTree>
    <p:extLst>
      <p:ext uri="{BB962C8B-B14F-4D97-AF65-F5344CB8AC3E}">
        <p14:creationId xmlns:p14="http://schemas.microsoft.com/office/powerpoint/2010/main" val="1367779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8A6ED-234F-43F0-AA78-13F38C966FA4}"/>
              </a:ext>
            </a:extLst>
          </p:cNvPr>
          <p:cNvSpPr>
            <a:spLocks noGrp="1"/>
          </p:cNvSpPr>
          <p:nvPr>
            <p:ph type="title"/>
          </p:nvPr>
        </p:nvSpPr>
        <p:spPr/>
        <p:txBody>
          <a:bodyPr/>
          <a:lstStyle/>
          <a:p>
            <a:r>
              <a:rPr lang="en-US" dirty="0"/>
              <a:t>Why Non-linear activation functions</a:t>
            </a:r>
          </a:p>
        </p:txBody>
      </p:sp>
      <p:sp>
        <p:nvSpPr>
          <p:cNvPr id="3" name="Content Placeholder 2">
            <a:extLst>
              <a:ext uri="{FF2B5EF4-FFF2-40B4-BE49-F238E27FC236}">
                <a16:creationId xmlns:a16="http://schemas.microsoft.com/office/drawing/2014/main" id="{075DD74A-9E65-4E98-AAEB-161BF39E1121}"/>
              </a:ext>
            </a:extLst>
          </p:cNvPr>
          <p:cNvSpPr>
            <a:spLocks noGrp="1"/>
          </p:cNvSpPr>
          <p:nvPr>
            <p:ph idx="1"/>
          </p:nvPr>
        </p:nvSpPr>
        <p:spPr/>
        <p:txBody>
          <a:bodyPr/>
          <a:lstStyle/>
          <a:p>
            <a:r>
              <a:rPr lang="en-US" dirty="0"/>
              <a:t>If only linear activation functions one single unit is sufficient</a:t>
            </a:r>
          </a:p>
          <a:p>
            <a:r>
              <a:rPr lang="en-US" dirty="0"/>
              <a:t>If non linear functions </a:t>
            </a:r>
            <a:r>
              <a:rPr lang="en-US" dirty="0">
                <a:sym typeface="Wingdings" panose="05000000000000000000" pitchFamily="2" charset="2"/>
              </a:rPr>
              <a:t> NN universal function approximators</a:t>
            </a:r>
          </a:p>
          <a:p>
            <a:r>
              <a:rPr lang="en-US" dirty="0">
                <a:sym typeface="Wingdings" panose="05000000000000000000" pitchFamily="2" charset="2"/>
              </a:rPr>
              <a:t>Which activation function</a:t>
            </a:r>
          </a:p>
          <a:p>
            <a:pPr lvl="1"/>
            <a:r>
              <a:rPr lang="en-US" dirty="0">
                <a:sym typeface="Wingdings" panose="05000000000000000000" pitchFamily="2" charset="2"/>
              </a:rPr>
              <a:t>Output layer / regression  linear unit</a:t>
            </a:r>
          </a:p>
          <a:p>
            <a:pPr lvl="1"/>
            <a:r>
              <a:rPr lang="en-US" dirty="0">
                <a:sym typeface="Wingdings" panose="05000000000000000000" pitchFamily="2" charset="2"/>
              </a:rPr>
              <a:t>Output layer / classification  logistic units (class probabilities)</a:t>
            </a:r>
          </a:p>
          <a:p>
            <a:pPr lvl="1"/>
            <a:r>
              <a:rPr lang="en-US" dirty="0">
                <a:sym typeface="Wingdings" panose="05000000000000000000" pitchFamily="2" charset="2"/>
              </a:rPr>
              <a:t>Hidden layers</a:t>
            </a:r>
          </a:p>
          <a:p>
            <a:pPr lvl="2"/>
            <a:r>
              <a:rPr lang="en-US" dirty="0">
                <a:sym typeface="Wingdings" panose="05000000000000000000" pitchFamily="2" charset="2"/>
              </a:rPr>
              <a:t>Until ‘90s logistic</a:t>
            </a:r>
          </a:p>
          <a:p>
            <a:pPr lvl="2"/>
            <a:r>
              <a:rPr lang="en-US" dirty="0">
                <a:sym typeface="Wingdings" panose="05000000000000000000" pitchFamily="2" charset="2"/>
              </a:rPr>
              <a:t>90’s-2000’s  tanh</a:t>
            </a:r>
          </a:p>
          <a:p>
            <a:pPr lvl="2"/>
            <a:r>
              <a:rPr lang="en-US" dirty="0">
                <a:sym typeface="Wingdings" panose="05000000000000000000" pitchFamily="2" charset="2"/>
              </a:rPr>
              <a:t>Now </a:t>
            </a:r>
            <a:r>
              <a:rPr lang="en-US" dirty="0" err="1">
                <a:sym typeface="Wingdings" panose="05000000000000000000" pitchFamily="2" charset="2"/>
              </a:rPr>
              <a:t>ReLU</a:t>
            </a:r>
            <a:endParaRPr lang="en-US" dirty="0"/>
          </a:p>
        </p:txBody>
      </p:sp>
    </p:spTree>
    <p:extLst>
      <p:ext uri="{BB962C8B-B14F-4D97-AF65-F5344CB8AC3E}">
        <p14:creationId xmlns:p14="http://schemas.microsoft.com/office/powerpoint/2010/main" val="3490809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DAD5D-3D1B-4113-8D8D-331AA171C946}"/>
              </a:ext>
            </a:extLst>
          </p:cNvPr>
          <p:cNvSpPr>
            <a:spLocks noGrp="1"/>
          </p:cNvSpPr>
          <p:nvPr>
            <p:ph type="title"/>
          </p:nvPr>
        </p:nvSpPr>
        <p:spPr/>
        <p:txBody>
          <a:bodyPr/>
          <a:lstStyle/>
          <a:p>
            <a:r>
              <a:rPr lang="en-US" dirty="0"/>
              <a:t>Comparisons on activation functions pros-cons</a:t>
            </a:r>
          </a:p>
        </p:txBody>
      </p:sp>
      <p:sp>
        <p:nvSpPr>
          <p:cNvPr id="3" name="Content Placeholder 2">
            <a:extLst>
              <a:ext uri="{FF2B5EF4-FFF2-40B4-BE49-F238E27FC236}">
                <a16:creationId xmlns:a16="http://schemas.microsoft.com/office/drawing/2014/main" id="{CE71D738-9D87-44ED-845A-B1322D06FB04}"/>
              </a:ext>
            </a:extLst>
          </p:cNvPr>
          <p:cNvSpPr>
            <a:spLocks noGrp="1"/>
          </p:cNvSpPr>
          <p:nvPr>
            <p:ph idx="1"/>
          </p:nvPr>
        </p:nvSpPr>
        <p:spPr/>
        <p:txBody>
          <a:bodyPr/>
          <a:lstStyle/>
          <a:p>
            <a:r>
              <a:rPr lang="en-US" dirty="0">
                <a:hlinkClick r:id="rId2"/>
              </a:rPr>
              <a:t>https://towardsdatascience.com/analyzing-different-types-of-activation-functions-in-neural-networks-which-one-to-prefer-e11649256209</a:t>
            </a:r>
            <a:endParaRPr lang="en-US" dirty="0"/>
          </a:p>
          <a:p>
            <a:r>
              <a:rPr lang="en-US">
                <a:hlinkClick r:id="rId3"/>
              </a:rPr>
              <a:t>https://machinelearningmastery.com/rectified-linear-activation-function-for-deep-learning-neural-networks/</a:t>
            </a:r>
            <a:endParaRPr lang="en-US" dirty="0"/>
          </a:p>
        </p:txBody>
      </p:sp>
    </p:spTree>
    <p:extLst>
      <p:ext uri="{BB962C8B-B14F-4D97-AF65-F5344CB8AC3E}">
        <p14:creationId xmlns:p14="http://schemas.microsoft.com/office/powerpoint/2010/main" val="3949918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DAD5D-3D1B-4113-8D8D-331AA171C946}"/>
              </a:ext>
            </a:extLst>
          </p:cNvPr>
          <p:cNvSpPr>
            <a:spLocks noGrp="1"/>
          </p:cNvSpPr>
          <p:nvPr>
            <p:ph type="title"/>
          </p:nvPr>
        </p:nvSpPr>
        <p:spPr/>
        <p:txBody>
          <a:bodyPr/>
          <a:lstStyle/>
          <a:p>
            <a:r>
              <a:rPr lang="en-US" dirty="0"/>
              <a:t>Comparisons on activation functions pros-cons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E71D738-9D87-44ED-845A-B1322D06FB04}"/>
                  </a:ext>
                </a:extLst>
              </p:cNvPr>
              <p:cNvSpPr>
                <a:spLocks noGrp="1"/>
              </p:cNvSpPr>
              <p:nvPr>
                <p:ph idx="1"/>
              </p:nvPr>
            </p:nvSpPr>
            <p:spPr/>
            <p:txBody>
              <a:bodyPr>
                <a:normAutofit lnSpcReduction="10000"/>
              </a:bodyPr>
              <a:lstStyle/>
              <a:p>
                <a:r>
                  <a:rPr lang="en-US" dirty="0"/>
                  <a:t>Pros</a:t>
                </a:r>
              </a:p>
              <a:p>
                <a:pPr lvl="1"/>
                <a:r>
                  <a:rPr lang="en-US" dirty="0"/>
                  <a:t>logistic: </a:t>
                </a:r>
              </a:p>
              <a:p>
                <a:pPr lvl="2"/>
                <a:r>
                  <a:rPr lang="en-US" dirty="0"/>
                  <a:t>differentiable everywhere; </a:t>
                </a:r>
              </a:p>
              <a:p>
                <a:pPr lvl="2"/>
                <a:r>
                  <a:rPr lang="en-US" dirty="0"/>
                  <a:t>[0,1] range for modeling probability</a:t>
                </a:r>
              </a:p>
              <a:p>
                <a:pPr lvl="1"/>
                <a:r>
                  <a:rPr lang="en-US" dirty="0"/>
                  <a:t>tanh</a:t>
                </a:r>
              </a:p>
              <a:p>
                <a:pPr lvl="2"/>
                <a:r>
                  <a:rPr lang="en-US" dirty="0"/>
                  <a:t>differentiable everywhere; </a:t>
                </a:r>
              </a:p>
              <a:p>
                <a:pPr lvl="2"/>
                <a:r>
                  <a:rPr lang="en-US" dirty="0"/>
                  <a:t>0 centered</a:t>
                </a:r>
              </a:p>
              <a:p>
                <a:r>
                  <a:rPr lang="en-US" dirty="0"/>
                  <a:t>Cons: </a:t>
                </a:r>
              </a:p>
              <a:p>
                <a:pPr lvl="1"/>
                <a:r>
                  <a:rPr lang="en-US" dirty="0"/>
                  <a:t>logistic and tanh</a:t>
                </a:r>
              </a:p>
              <a:p>
                <a:pPr lvl="2"/>
                <a:r>
                  <a:rPr lang="en-US" dirty="0"/>
                  <a:t>saturation (derivative almost 0 for large range of arguments); </a:t>
                </a:r>
              </a:p>
              <a:p>
                <a:pPr lvl="2"/>
                <a:r>
                  <a:rPr lang="en-US" dirty="0"/>
                  <a:t>computation of </a:t>
                </a:r>
                <a14:m>
                  <m:oMath xmlns:m="http://schemas.openxmlformats.org/officeDocument/2006/math">
                    <m:r>
                      <a:rPr lang="en-US"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oMath>
                </a14:m>
                <a:r>
                  <a:rPr lang="en-US" dirty="0"/>
                  <a:t> and </a:t>
                </a:r>
                <a14:m>
                  <m:oMath xmlns:m="http://schemas.openxmlformats.org/officeDocument/2006/math">
                    <m:r>
                      <a:rPr lang="en-US" i="1" smtClean="0">
                        <a:latin typeface="Cambria Math" panose="02040503050406030204" pitchFamily="18" charset="0"/>
                        <a:ea typeface="Cambria Math" panose="02040503050406030204" pitchFamily="18" charset="0"/>
                      </a:rPr>
                      <m:t>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𝑧</m:t>
                    </m:r>
                    <m:r>
                      <a:rPr lang="en-US" b="0" i="1" smtClean="0">
                        <a:latin typeface="Cambria Math" panose="02040503050406030204" pitchFamily="18" charset="0"/>
                        <a:ea typeface="Cambria Math" panose="02040503050406030204" pitchFamily="18" charset="0"/>
                      </a:rPr>
                      <m:t>)</m:t>
                    </m:r>
                  </m:oMath>
                </a14:m>
                <a:r>
                  <a:rPr lang="en-US" dirty="0"/>
                  <a:t> requires an exponential; </a:t>
                </a:r>
              </a:p>
              <a:p>
                <a:pPr lvl="2"/>
                <a:r>
                  <a:rPr lang="en-US" dirty="0"/>
                  <a:t>No sparsity: neuron “firing” a 0 value are very unlikely</a:t>
                </a:r>
              </a:p>
            </p:txBody>
          </p:sp>
        </mc:Choice>
        <mc:Fallback xmlns="">
          <p:sp>
            <p:nvSpPr>
              <p:cNvPr id="3" name="Content Placeholder 2">
                <a:extLst>
                  <a:ext uri="{FF2B5EF4-FFF2-40B4-BE49-F238E27FC236}">
                    <a16:creationId xmlns:a16="http://schemas.microsoft.com/office/drawing/2014/main" id="{CE71D738-9D87-44ED-845A-B1322D06FB04}"/>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US">
                    <a:noFill/>
                  </a:rPr>
                  <a:t> </a:t>
                </a:r>
              </a:p>
            </p:txBody>
          </p:sp>
        </mc:Fallback>
      </mc:AlternateContent>
      <p:pic>
        <p:nvPicPr>
          <p:cNvPr id="1026" name="Picture 2" descr="Image for post">
            <a:extLst>
              <a:ext uri="{FF2B5EF4-FFF2-40B4-BE49-F238E27FC236}">
                <a16:creationId xmlns:a16="http://schemas.microsoft.com/office/drawing/2014/main" id="{A44E74CB-4D46-4281-AF7C-8F742ED87A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9157" y="1604221"/>
            <a:ext cx="3286125" cy="21859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for post">
            <a:extLst>
              <a:ext uri="{FF2B5EF4-FFF2-40B4-BE49-F238E27FC236}">
                <a16:creationId xmlns:a16="http://schemas.microsoft.com/office/drawing/2014/main" id="{355B2FDE-5F2A-4D12-AB79-8E7EC98001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70576" y="4001294"/>
            <a:ext cx="3443288"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9707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627B-3F93-4144-944C-15ADBF09EB39}"/>
              </a:ext>
            </a:extLst>
          </p:cNvPr>
          <p:cNvSpPr>
            <a:spLocks noGrp="1"/>
          </p:cNvSpPr>
          <p:nvPr>
            <p:ph type="title"/>
          </p:nvPr>
        </p:nvSpPr>
        <p:spPr/>
        <p:txBody>
          <a:bodyPr/>
          <a:lstStyle/>
          <a:p>
            <a:r>
              <a:rPr lang="en-US" dirty="0"/>
              <a:t>Sigmoid functions: issues</a:t>
            </a:r>
          </a:p>
        </p:txBody>
      </p:sp>
      <p:sp>
        <p:nvSpPr>
          <p:cNvPr id="3" name="Content Placeholder 2">
            <a:extLst>
              <a:ext uri="{FF2B5EF4-FFF2-40B4-BE49-F238E27FC236}">
                <a16:creationId xmlns:a16="http://schemas.microsoft.com/office/drawing/2014/main" id="{3285E9BF-E07C-4F6F-8283-D990E44C49D7}"/>
              </a:ext>
            </a:extLst>
          </p:cNvPr>
          <p:cNvSpPr>
            <a:spLocks noGrp="1"/>
          </p:cNvSpPr>
          <p:nvPr>
            <p:ph idx="1"/>
          </p:nvPr>
        </p:nvSpPr>
        <p:spPr>
          <a:xfrm>
            <a:off x="838200" y="1825624"/>
            <a:ext cx="10515600" cy="4849496"/>
          </a:xfrm>
        </p:spPr>
        <p:txBody>
          <a:bodyPr>
            <a:normAutofit fontScale="85000" lnSpcReduction="20000"/>
          </a:bodyPr>
          <a:lstStyle/>
          <a:p>
            <a:r>
              <a:rPr lang="en-US" u="sng" dirty="0"/>
              <a:t>Saturation</a:t>
            </a:r>
            <a:r>
              <a:rPr lang="en-US" dirty="0"/>
              <a:t> of the activation of a given neuron means that parameters of input connections of the neuron will no longer be updated</a:t>
            </a:r>
          </a:p>
          <a:p>
            <a:endParaRPr lang="en-US" dirty="0"/>
          </a:p>
          <a:p>
            <a:endParaRPr lang="en-US" dirty="0"/>
          </a:p>
          <a:p>
            <a:endParaRPr lang="en-US" dirty="0"/>
          </a:p>
          <a:p>
            <a:endParaRPr lang="en-US" dirty="0"/>
          </a:p>
          <a:p>
            <a:endParaRPr lang="en-US" dirty="0"/>
          </a:p>
          <a:p>
            <a:endParaRPr lang="en-US" dirty="0"/>
          </a:p>
          <a:p>
            <a:endParaRPr lang="en-US" dirty="0"/>
          </a:p>
          <a:p>
            <a:r>
              <a:rPr lang="en-US" u="sng" dirty="0"/>
              <a:t>Vanishing gradient</a:t>
            </a:r>
            <a:r>
              <a:rPr lang="en-US" dirty="0"/>
              <a:t>: if the derivative is different than 0 but still close to 0 (very likely for </a:t>
            </a:r>
            <a:r>
              <a:rPr lang="en-US" dirty="0" err="1"/>
              <a:t>sigmoids</a:t>
            </a:r>
            <a:r>
              <a:rPr lang="en-US" dirty="0"/>
              <a:t>), backprop will compute </a:t>
            </a:r>
            <a:r>
              <a:rPr lang="en-US" dirty="0">
                <a:latin typeface="Symbol" panose="05050102010706020507" pitchFamily="18" charset="2"/>
              </a:rPr>
              <a:t>d</a:t>
            </a:r>
            <a:r>
              <a:rPr lang="en-US" sz="2200" dirty="0"/>
              <a:t>s </a:t>
            </a:r>
            <a:r>
              <a:rPr lang="en-US" dirty="0"/>
              <a:t>that will be more and more close to 0 if several layers are involved since first layers will have </a:t>
            </a:r>
            <a:r>
              <a:rPr lang="en-US" dirty="0">
                <a:latin typeface="Symbol" panose="05050102010706020507" pitchFamily="18" charset="2"/>
              </a:rPr>
              <a:t>d</a:t>
            </a:r>
            <a:r>
              <a:rPr lang="en-US" sz="2200" dirty="0"/>
              <a:t>s</a:t>
            </a:r>
            <a:r>
              <a:rPr lang="en-US" dirty="0"/>
              <a:t> obtained by multiplying very small numbers (more in the following)</a:t>
            </a:r>
          </a:p>
        </p:txBody>
      </p:sp>
      <p:grpSp>
        <p:nvGrpSpPr>
          <p:cNvPr id="13" name="Group 12">
            <a:extLst>
              <a:ext uri="{FF2B5EF4-FFF2-40B4-BE49-F238E27FC236}">
                <a16:creationId xmlns:a16="http://schemas.microsoft.com/office/drawing/2014/main" id="{E9D7555D-94C2-4DE3-8FB4-2056C4D51234}"/>
              </a:ext>
            </a:extLst>
          </p:cNvPr>
          <p:cNvGrpSpPr/>
          <p:nvPr/>
        </p:nvGrpSpPr>
        <p:grpSpPr>
          <a:xfrm>
            <a:off x="1537855" y="2893716"/>
            <a:ext cx="2389089" cy="661411"/>
            <a:chOff x="977785" y="4688226"/>
            <a:chExt cx="2389089" cy="661411"/>
          </a:xfrm>
        </p:grpSpPr>
        <p:sp>
          <p:nvSpPr>
            <p:cNvPr id="5" name="Oval 4">
              <a:extLst>
                <a:ext uri="{FF2B5EF4-FFF2-40B4-BE49-F238E27FC236}">
                  <a16:creationId xmlns:a16="http://schemas.microsoft.com/office/drawing/2014/main" id="{A94779FC-C300-4332-AF31-16ED3E07D76F}"/>
                </a:ext>
              </a:extLst>
            </p:cNvPr>
            <p:cNvSpPr/>
            <p:nvPr/>
          </p:nvSpPr>
          <p:spPr>
            <a:xfrm>
              <a:off x="977785" y="4755739"/>
              <a:ext cx="584627" cy="59389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2E534D5-0094-433C-97B2-B874A61E353C}"/>
                    </a:ext>
                  </a:extLst>
                </p:cNvPr>
                <p:cNvSpPr txBox="1"/>
                <p:nvPr/>
              </p:nvSpPr>
              <p:spPr>
                <a:xfrm>
                  <a:off x="1948764" y="4688226"/>
                  <a:ext cx="409664" cy="38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it-IT" i="1" smtClean="0">
                                <a:latin typeface="Cambria Math" panose="02040503050406030204" pitchFamily="18" charset="0"/>
                              </a:rPr>
                            </m:ctrlPr>
                          </m:sSubSupPr>
                          <m:e>
                            <m:r>
                              <a:rPr lang="it-IT"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𝑖𝑗</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bSup>
                      </m:oMath>
                    </m:oMathPara>
                  </a14:m>
                  <a:endParaRPr lang="it-IT" dirty="0"/>
                </a:p>
              </p:txBody>
            </p:sp>
          </mc:Choice>
          <mc:Fallback xmlns="">
            <p:sp>
              <p:nvSpPr>
                <p:cNvPr id="6" name="TextBox 5">
                  <a:extLst>
                    <a:ext uri="{FF2B5EF4-FFF2-40B4-BE49-F238E27FC236}">
                      <a16:creationId xmlns:a16="http://schemas.microsoft.com/office/drawing/2014/main" id="{52E534D5-0094-433C-97B2-B874A61E353C}"/>
                    </a:ext>
                  </a:extLst>
                </p:cNvPr>
                <p:cNvSpPr txBox="1">
                  <a:spLocks noRot="1" noChangeAspect="1" noMove="1" noResize="1" noEditPoints="1" noAdjustHandles="1" noChangeArrowheads="1" noChangeShapeType="1" noTextEdit="1"/>
                </p:cNvSpPr>
                <p:nvPr/>
              </p:nvSpPr>
              <p:spPr>
                <a:xfrm>
                  <a:off x="1948764" y="4688226"/>
                  <a:ext cx="409664" cy="383888"/>
                </a:xfrm>
                <a:prstGeom prst="rect">
                  <a:avLst/>
                </a:prstGeom>
                <a:blipFill>
                  <a:blip r:embed="rId2"/>
                  <a:stretch>
                    <a:fillRect l="-13433" t="-3175" r="-11940" b="-20635"/>
                  </a:stretch>
                </a:blipFill>
              </p:spPr>
              <p:txBody>
                <a:bodyPr/>
                <a:lstStyle/>
                <a:p>
                  <a:r>
                    <a:rPr lang="en-US">
                      <a:noFill/>
                    </a:rPr>
                    <a:t> </a:t>
                  </a:r>
                </a:p>
              </p:txBody>
            </p:sp>
          </mc:Fallback>
        </mc:AlternateContent>
        <p:sp>
          <p:nvSpPr>
            <p:cNvPr id="7" name="Oval 6">
              <a:extLst>
                <a:ext uri="{FF2B5EF4-FFF2-40B4-BE49-F238E27FC236}">
                  <a16:creationId xmlns:a16="http://schemas.microsoft.com/office/drawing/2014/main" id="{4BFB16D8-9393-44B7-9D08-2150E0BA1FD8}"/>
                </a:ext>
              </a:extLst>
            </p:cNvPr>
            <p:cNvSpPr/>
            <p:nvPr/>
          </p:nvSpPr>
          <p:spPr>
            <a:xfrm>
              <a:off x="2744780" y="4767043"/>
              <a:ext cx="622093" cy="5657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B17E11B6-2115-452F-868C-D45260DD08B1}"/>
                </a:ext>
              </a:extLst>
            </p:cNvPr>
            <p:cNvCxnSpPr>
              <a:cxnSpLocks/>
            </p:cNvCxnSpPr>
            <p:nvPr/>
          </p:nvCxnSpPr>
          <p:spPr>
            <a:xfrm>
              <a:off x="1562412" y="5049903"/>
              <a:ext cx="1182368" cy="2221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9BB5B43-725F-443A-9208-E6D34CD3726B}"/>
                    </a:ext>
                  </a:extLst>
                </p:cNvPr>
                <p:cNvSpPr txBox="1"/>
                <p:nvPr/>
              </p:nvSpPr>
              <p:spPr>
                <a:xfrm>
                  <a:off x="1100398" y="4819593"/>
                  <a:ext cx="402482" cy="38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𝑗</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bSup>
                      </m:oMath>
                    </m:oMathPara>
                  </a14:m>
                  <a:endParaRPr lang="en-US" dirty="0"/>
                </a:p>
              </p:txBody>
            </p:sp>
          </mc:Choice>
          <mc:Fallback xmlns="">
            <p:sp>
              <p:nvSpPr>
                <p:cNvPr id="9" name="TextBox 8">
                  <a:extLst>
                    <a:ext uri="{FF2B5EF4-FFF2-40B4-BE49-F238E27FC236}">
                      <a16:creationId xmlns:a16="http://schemas.microsoft.com/office/drawing/2014/main" id="{19BB5B43-725F-443A-9208-E6D34CD3726B}"/>
                    </a:ext>
                  </a:extLst>
                </p:cNvPr>
                <p:cNvSpPr txBox="1">
                  <a:spLocks noRot="1" noChangeAspect="1" noMove="1" noResize="1" noEditPoints="1" noAdjustHandles="1" noChangeArrowheads="1" noChangeShapeType="1" noTextEdit="1"/>
                </p:cNvSpPr>
                <p:nvPr/>
              </p:nvSpPr>
              <p:spPr>
                <a:xfrm>
                  <a:off x="1100398" y="4819593"/>
                  <a:ext cx="402482" cy="383888"/>
                </a:xfrm>
                <a:prstGeom prst="rect">
                  <a:avLst/>
                </a:prstGeom>
                <a:blipFill>
                  <a:blip r:embed="rId3"/>
                  <a:stretch>
                    <a:fillRect l="-7576" t="-3175" r="-12121" b="-206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18C7BB-34F8-4D09-AC5B-FDC62D1E1E79}"/>
                    </a:ext>
                  </a:extLst>
                </p:cNvPr>
                <p:cNvSpPr txBox="1"/>
                <p:nvPr/>
              </p:nvSpPr>
              <p:spPr>
                <a:xfrm>
                  <a:off x="2744781" y="4851916"/>
                  <a:ext cx="622093" cy="352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𝑖</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+1)</m:t>
                            </m:r>
                          </m:sup>
                        </m:sSubSup>
                      </m:oMath>
                    </m:oMathPara>
                  </a14:m>
                  <a:endParaRPr lang="en-US" dirty="0"/>
                </a:p>
              </p:txBody>
            </p:sp>
          </mc:Choice>
          <mc:Fallback xmlns="">
            <p:sp>
              <p:nvSpPr>
                <p:cNvPr id="10" name="TextBox 9">
                  <a:extLst>
                    <a:ext uri="{FF2B5EF4-FFF2-40B4-BE49-F238E27FC236}">
                      <a16:creationId xmlns:a16="http://schemas.microsoft.com/office/drawing/2014/main" id="{E418C7BB-34F8-4D09-AC5B-FDC62D1E1E79}"/>
                    </a:ext>
                  </a:extLst>
                </p:cNvPr>
                <p:cNvSpPr txBox="1">
                  <a:spLocks noRot="1" noChangeAspect="1" noMove="1" noResize="1" noEditPoints="1" noAdjustHandles="1" noChangeArrowheads="1" noChangeShapeType="1" noTextEdit="1"/>
                </p:cNvSpPr>
                <p:nvPr/>
              </p:nvSpPr>
              <p:spPr>
                <a:xfrm>
                  <a:off x="2744781" y="4851916"/>
                  <a:ext cx="622093" cy="352597"/>
                </a:xfrm>
                <a:prstGeom prst="rect">
                  <a:avLst/>
                </a:prstGeom>
                <a:blipFill>
                  <a:blip r:embed="rId4"/>
                  <a:stretch>
                    <a:fillRect l="-4902" t="-3509" r="-8824" b="-19298"/>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3356BDF-A008-4FE1-BFD8-4D4383AA0093}"/>
                  </a:ext>
                </a:extLst>
              </p:cNvPr>
              <p:cNvSpPr txBox="1"/>
              <p:nvPr/>
            </p:nvSpPr>
            <p:spPr>
              <a:xfrm>
                <a:off x="4682465" y="2810905"/>
                <a:ext cx="2827069" cy="93339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𝐽</m:t>
                          </m:r>
                          <m:r>
                            <a:rPr lang="en-US" sz="2400" i="1">
                              <a:latin typeface="Cambria Math" panose="02040503050406030204" pitchFamily="18" charset="0"/>
                              <a:ea typeface="Cambria Math" panose="02040503050406030204" pitchFamily="18" charset="0"/>
                            </a:rPr>
                            <m:t>(</m:t>
                          </m:r>
                          <m:r>
                            <m:rPr>
                              <m:sty m:val="p"/>
                            </m:rPr>
                            <a:rPr lang="el-GR" sz="2400" i="1" smtClean="0">
                              <a:latin typeface="Cambria Math" panose="02040503050406030204" pitchFamily="18" charset="0"/>
                              <a:ea typeface="Cambria Math" panose="02040503050406030204" pitchFamily="18" charset="0"/>
                            </a:rPr>
                            <m:t>Θ</m:t>
                          </m:r>
                          <m:r>
                            <a:rPr lang="en-US" sz="2400" b="0" i="1" smtClean="0">
                              <a:latin typeface="Cambria Math" panose="02040503050406030204" pitchFamily="18" charset="0"/>
                              <a:ea typeface="Cambria Math" panose="02040503050406030204" pitchFamily="18" charset="0"/>
                            </a:rPr>
                            <m:t>)</m:t>
                          </m:r>
                        </m:num>
                        <m:den>
                          <m:r>
                            <a:rPr lang="en-US" sz="2400" i="1" smtClean="0">
                              <a:latin typeface="Cambria Math" panose="02040503050406030204" pitchFamily="18" charset="0"/>
                              <a:ea typeface="Cambria Math" panose="02040503050406030204" pitchFamily="18" charset="0"/>
                            </a:rPr>
                            <m:t>𝜕</m:t>
                          </m:r>
                          <m:sSubSup>
                            <m:sSubSupPr>
                              <m:ctrlPr>
                                <a:rPr lang="en-US" sz="2400" i="1" smtClean="0">
                                  <a:latin typeface="Cambria Math" panose="02040503050406030204" pitchFamily="18" charset="0"/>
                                  <a:ea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ea typeface="Cambria Math" panose="02040503050406030204" pitchFamily="18" charset="0"/>
                                </a:rPr>
                                <m:t>𝑖𝑗</m:t>
                              </m:r>
                            </m:sub>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𝑙</m:t>
                              </m:r>
                              <m:r>
                                <a:rPr lang="en-US" sz="2400" b="0" i="1" smtClean="0">
                                  <a:latin typeface="Cambria Math" panose="02040503050406030204" pitchFamily="18" charset="0"/>
                                  <a:ea typeface="Cambria Math" panose="02040503050406030204" pitchFamily="18" charset="0"/>
                                </a:rPr>
                                <m:t>)</m:t>
                              </m:r>
                            </m:sup>
                          </m:sSubSup>
                        </m:den>
                      </m:f>
                      <m:r>
                        <a:rPr lang="en-US" sz="2400" b="0" i="1" smtClean="0">
                          <a:latin typeface="Cambria Math" panose="02040503050406030204" pitchFamily="18" charset="0"/>
                          <a:ea typeface="Cambria Math" panose="02040503050406030204" pitchFamily="18" charset="0"/>
                        </a:rPr>
                        <m:t>=</m:t>
                      </m:r>
                      <m:sSubSup>
                        <m:sSubSupPr>
                          <m:ctrlPr>
                            <a:rPr lang="en-GB" sz="2400" i="1" smtClean="0">
                              <a:solidFill>
                                <a:schemeClr val="tx1"/>
                              </a:solidFill>
                              <a:latin typeface="Cambria Math" panose="02040503050406030204" pitchFamily="18" charset="0"/>
                              <a:ea typeface="Cambria Math" panose="02040503050406030204" pitchFamily="18" charset="0"/>
                            </a:rPr>
                          </m:ctrlPr>
                        </m:sSubSupPr>
                        <m:e>
                          <m:r>
                            <a:rPr lang="en-GB" sz="2400" i="1">
                              <a:solidFill>
                                <a:schemeClr val="tx1"/>
                              </a:solidFill>
                              <a:latin typeface="Cambria Math" panose="02040503050406030204" pitchFamily="18" charset="0"/>
                              <a:ea typeface="Cambria Math" panose="02040503050406030204" pitchFamily="18" charset="0"/>
                            </a:rPr>
                            <m:t>𝑎</m:t>
                          </m:r>
                        </m:e>
                        <m:sub>
                          <m:r>
                            <a:rPr lang="en-GB" sz="2400" i="1">
                              <a:solidFill>
                                <a:schemeClr val="tx1"/>
                              </a:solidFill>
                              <a:latin typeface="Cambria Math" panose="02040503050406030204" pitchFamily="18" charset="0"/>
                              <a:ea typeface="Cambria Math" panose="02040503050406030204" pitchFamily="18" charset="0"/>
                            </a:rPr>
                            <m:t>𝑗</m:t>
                          </m:r>
                        </m:sub>
                        <m:sup>
                          <m:r>
                            <a:rPr lang="en-GB" sz="2400" i="1">
                              <a:solidFill>
                                <a:schemeClr val="tx1"/>
                              </a:solidFill>
                              <a:latin typeface="Cambria Math" panose="02040503050406030204" pitchFamily="18" charset="0"/>
                              <a:ea typeface="Cambria Math" panose="02040503050406030204" pitchFamily="18" charset="0"/>
                            </a:rPr>
                            <m:t>(</m:t>
                          </m:r>
                          <m:r>
                            <a:rPr lang="en-GB" sz="2400" i="1">
                              <a:solidFill>
                                <a:schemeClr val="tx1"/>
                              </a:solidFill>
                              <a:latin typeface="Cambria Math" panose="02040503050406030204" pitchFamily="18" charset="0"/>
                              <a:ea typeface="Cambria Math" panose="02040503050406030204" pitchFamily="18" charset="0"/>
                            </a:rPr>
                            <m:t>𝑙</m:t>
                          </m:r>
                          <m:r>
                            <a:rPr lang="en-GB" sz="2400" i="1">
                              <a:solidFill>
                                <a:schemeClr val="tx1"/>
                              </a:solidFill>
                              <a:latin typeface="Cambria Math" panose="02040503050406030204" pitchFamily="18" charset="0"/>
                              <a:ea typeface="Cambria Math" panose="02040503050406030204" pitchFamily="18" charset="0"/>
                            </a:rPr>
                            <m:t>)</m:t>
                          </m:r>
                        </m:sup>
                      </m:sSubSup>
                      <m:sSubSup>
                        <m:sSubSupPr>
                          <m:ctrlPr>
                            <a:rPr lang="en-GB" sz="2400" i="1" smtClean="0">
                              <a:solidFill>
                                <a:srgbClr val="FF0000"/>
                              </a:solidFill>
                              <a:latin typeface="Cambria Math" panose="02040503050406030204" pitchFamily="18" charset="0"/>
                              <a:ea typeface="Cambria Math" panose="02040503050406030204" pitchFamily="18" charset="0"/>
                            </a:rPr>
                          </m:ctrlPr>
                        </m:sSubSupPr>
                        <m:e>
                          <m:r>
                            <a:rPr lang="en-GB" sz="2400" i="1">
                              <a:solidFill>
                                <a:srgbClr val="FF0000"/>
                              </a:solidFill>
                              <a:latin typeface="Cambria Math" panose="02040503050406030204" pitchFamily="18" charset="0"/>
                              <a:ea typeface="Cambria Math" panose="02040503050406030204" pitchFamily="18" charset="0"/>
                            </a:rPr>
                            <m:t>𝛿</m:t>
                          </m:r>
                        </m:e>
                        <m:sub>
                          <m:r>
                            <a:rPr lang="en-GB" sz="2400" i="1">
                              <a:solidFill>
                                <a:srgbClr val="FF0000"/>
                              </a:solidFill>
                              <a:latin typeface="Cambria Math" panose="02040503050406030204" pitchFamily="18" charset="0"/>
                              <a:ea typeface="Cambria Math" panose="02040503050406030204" pitchFamily="18" charset="0"/>
                            </a:rPr>
                            <m:t>𝑖</m:t>
                          </m:r>
                        </m:sub>
                        <m:sup>
                          <m:r>
                            <a:rPr lang="en-GB" sz="2400" i="1">
                              <a:solidFill>
                                <a:srgbClr val="FF0000"/>
                              </a:solidFill>
                              <a:latin typeface="Cambria Math" panose="02040503050406030204" pitchFamily="18" charset="0"/>
                              <a:ea typeface="Cambria Math" panose="02040503050406030204" pitchFamily="18" charset="0"/>
                            </a:rPr>
                            <m:t>(</m:t>
                          </m:r>
                          <m:r>
                            <a:rPr lang="en-GB" sz="2400" i="1">
                              <a:solidFill>
                                <a:srgbClr val="FF0000"/>
                              </a:solidFill>
                              <a:latin typeface="Cambria Math" panose="02040503050406030204" pitchFamily="18" charset="0"/>
                              <a:ea typeface="Cambria Math" panose="02040503050406030204" pitchFamily="18" charset="0"/>
                            </a:rPr>
                            <m:t>𝑙</m:t>
                          </m:r>
                          <m:r>
                            <a:rPr lang="en-GB" sz="2400" i="1">
                              <a:solidFill>
                                <a:srgbClr val="FF0000"/>
                              </a:solidFill>
                              <a:latin typeface="Cambria Math" panose="02040503050406030204" pitchFamily="18" charset="0"/>
                              <a:ea typeface="Cambria Math" panose="02040503050406030204" pitchFamily="18" charset="0"/>
                            </a:rPr>
                            <m:t>+1)</m:t>
                          </m:r>
                        </m:sup>
                      </m:sSubSup>
                    </m:oMath>
                  </m:oMathPara>
                </a14:m>
                <a:endParaRPr lang="en-US" sz="2400" dirty="0"/>
              </a:p>
            </p:txBody>
          </p:sp>
        </mc:Choice>
        <mc:Fallback xmlns="">
          <p:sp>
            <p:nvSpPr>
              <p:cNvPr id="15" name="TextBox 14">
                <a:extLst>
                  <a:ext uri="{FF2B5EF4-FFF2-40B4-BE49-F238E27FC236}">
                    <a16:creationId xmlns:a16="http://schemas.microsoft.com/office/drawing/2014/main" id="{93356BDF-A008-4FE1-BFD8-4D4383AA0093}"/>
                  </a:ext>
                </a:extLst>
              </p:cNvPr>
              <p:cNvSpPr txBox="1">
                <a:spLocks noRot="1" noChangeAspect="1" noMove="1" noResize="1" noEditPoints="1" noAdjustHandles="1" noChangeArrowheads="1" noChangeShapeType="1" noTextEdit="1"/>
              </p:cNvSpPr>
              <p:nvPr/>
            </p:nvSpPr>
            <p:spPr>
              <a:xfrm>
                <a:off x="4682465" y="2810905"/>
                <a:ext cx="2827069" cy="93339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DBC59B9-12B1-4D6D-B4EF-E562841D8869}"/>
                  </a:ext>
                </a:extLst>
              </p:cNvPr>
              <p:cNvSpPr txBox="1"/>
              <p:nvPr/>
            </p:nvSpPr>
            <p:spPr>
              <a:xfrm>
                <a:off x="7195029" y="2846509"/>
                <a:ext cx="4463415" cy="5624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𝛿</m:t>
                          </m:r>
                        </m:e>
                        <m:sub>
                          <m:r>
                            <a:rPr lang="en-US" sz="2400" b="0" i="1" smtClean="0">
                              <a:latin typeface="Cambria Math" panose="02040503050406030204" pitchFamily="18" charset="0"/>
                            </a:rPr>
                            <m:t>𝑖</m:t>
                          </m:r>
                        </m:sub>
                        <m:sup>
                          <m:r>
                            <a:rPr lang="en-US" sz="2400" b="0" i="1" smtClean="0">
                              <a:latin typeface="Cambria Math" panose="02040503050406030204" pitchFamily="18" charset="0"/>
                            </a:rPr>
                            <m:t>(</m:t>
                          </m:r>
                          <m:r>
                            <a:rPr lang="en-US" sz="2400" b="0" i="1" smtClean="0">
                              <a:latin typeface="Cambria Math" panose="02040503050406030204" pitchFamily="18" charset="0"/>
                            </a:rPr>
                            <m:t>𝑙</m:t>
                          </m:r>
                          <m:r>
                            <a:rPr lang="en-US" sz="2400" b="0" i="1" smtClean="0">
                              <a:latin typeface="Cambria Math" panose="02040503050406030204" pitchFamily="18" charset="0"/>
                            </a:rPr>
                            <m:t>+1)</m:t>
                          </m:r>
                        </m:sup>
                      </m:sSubSup>
                      <m:r>
                        <a:rPr lang="en-US" sz="2400" b="0" i="1" smtClean="0">
                          <a:latin typeface="Cambria Math" panose="02040503050406030204" pitchFamily="18" charset="0"/>
                        </a:rPr>
                        <m:t>=</m:t>
                      </m:r>
                      <m:r>
                        <a:rPr lang="en-US" sz="2400" b="0" i="1" smtClean="0">
                          <a:latin typeface="Cambria Math" panose="02040503050406030204" pitchFamily="18" charset="0"/>
                        </a:rPr>
                        <m:t>𝐾</m:t>
                      </m:r>
                      <m:sSubSup>
                        <m:sSubSupPr>
                          <m:ctrlPr>
                            <a:rPr lang="en-US" sz="2400" b="0" i="1" smtClean="0">
                              <a:solidFill>
                                <a:srgbClr val="FF0000"/>
                              </a:solidFill>
                              <a:latin typeface="Cambria Math" panose="02040503050406030204" pitchFamily="18" charset="0"/>
                            </a:rPr>
                          </m:ctrlPr>
                        </m:sSubSupPr>
                        <m:e>
                          <m:r>
                            <a:rPr lang="en-US" sz="2400" b="0" i="1" smtClean="0">
                              <a:solidFill>
                                <a:srgbClr val="FF0000"/>
                              </a:solidFill>
                              <a:latin typeface="Cambria Math" panose="02040503050406030204" pitchFamily="18" charset="0"/>
                              <a:ea typeface="Cambria Math" panose="02040503050406030204" pitchFamily="18" charset="0"/>
                            </a:rPr>
                            <m:t>𝜑</m:t>
                          </m:r>
                          <m:r>
                            <a:rPr lang="en-US" sz="2400" b="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rPr>
                            <m:t>𝑎</m:t>
                          </m:r>
                        </m:e>
                        <m:sub>
                          <m:r>
                            <a:rPr lang="en-US" sz="2400" b="0" i="1" smtClean="0">
                              <a:solidFill>
                                <a:srgbClr val="FF0000"/>
                              </a:solidFill>
                              <a:latin typeface="Cambria Math" panose="02040503050406030204" pitchFamily="18" charset="0"/>
                            </a:rPr>
                            <m:t>𝑖</m:t>
                          </m:r>
                        </m:sub>
                        <m:sup>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𝑙</m:t>
                              </m:r>
                              <m:r>
                                <a:rPr lang="en-US" sz="2400" b="0" i="1" smtClean="0">
                                  <a:solidFill>
                                    <a:srgbClr val="FF0000"/>
                                  </a:solidFill>
                                  <a:latin typeface="Cambria Math" panose="02040503050406030204" pitchFamily="18" charset="0"/>
                                </a:rPr>
                                <m:t>+1</m:t>
                              </m:r>
                            </m:e>
                          </m:d>
                        </m:sup>
                      </m:sSubSup>
                      <m:r>
                        <a:rPr lang="en-US" sz="2400" b="0" i="1" smtClean="0">
                          <a:solidFill>
                            <a:srgbClr val="FF0000"/>
                          </a:solidFill>
                          <a:latin typeface="Cambria Math" panose="02040503050406030204" pitchFamily="18" charset="0"/>
                        </a:rPr>
                        <m:t>)</m:t>
                      </m:r>
                    </m:oMath>
                  </m:oMathPara>
                </a14:m>
                <a:endParaRPr lang="en-US" sz="2400" dirty="0"/>
              </a:p>
            </p:txBody>
          </p:sp>
        </mc:Choice>
        <mc:Fallback xmlns="">
          <p:sp>
            <p:nvSpPr>
              <p:cNvPr id="17" name="TextBox 16">
                <a:extLst>
                  <a:ext uri="{FF2B5EF4-FFF2-40B4-BE49-F238E27FC236}">
                    <a16:creationId xmlns:a16="http://schemas.microsoft.com/office/drawing/2014/main" id="{2DBC59B9-12B1-4D6D-B4EF-E562841D8869}"/>
                  </a:ext>
                </a:extLst>
              </p:cNvPr>
              <p:cNvSpPr txBox="1">
                <a:spLocks noRot="1" noChangeAspect="1" noMove="1" noResize="1" noEditPoints="1" noAdjustHandles="1" noChangeArrowheads="1" noChangeShapeType="1" noTextEdit="1"/>
              </p:cNvSpPr>
              <p:nvPr/>
            </p:nvSpPr>
            <p:spPr>
              <a:xfrm>
                <a:off x="7195029" y="2846509"/>
                <a:ext cx="4463415" cy="56246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0EF6954-B018-42B4-A7C9-4F787F6768BD}"/>
                  </a:ext>
                </a:extLst>
              </p:cNvPr>
              <p:cNvSpPr txBox="1"/>
              <p:nvPr/>
            </p:nvSpPr>
            <p:spPr>
              <a:xfrm>
                <a:off x="6095999" y="3744302"/>
                <a:ext cx="2806666" cy="9333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rPr>
                            <m:t>𝑖𝑗</m:t>
                          </m:r>
                        </m:sub>
                        <m:sup>
                          <m:r>
                            <a:rPr lang="en-US" sz="2400" b="0" i="1" smtClean="0">
                              <a:latin typeface="Cambria Math" panose="02040503050406030204" pitchFamily="18" charset="0"/>
                            </a:rPr>
                            <m:t>(</m:t>
                          </m:r>
                          <m:r>
                            <a:rPr lang="en-US" sz="2400" b="0" i="1" smtClean="0">
                              <a:latin typeface="Cambria Math" panose="02040503050406030204" pitchFamily="18" charset="0"/>
                            </a:rPr>
                            <m:t>𝑙</m:t>
                          </m:r>
                          <m:r>
                            <a:rPr lang="en-US" sz="2400" b="0" i="1" smtClean="0">
                              <a:latin typeface="Cambria Math" panose="02040503050406030204" pitchFamily="18" charset="0"/>
                            </a:rPr>
                            <m:t>)</m:t>
                          </m:r>
                        </m:sup>
                      </m:sSubSup>
                      <m:r>
                        <a:rPr lang="en-US" sz="2400" i="1">
                          <a:latin typeface="Cambria Math" panose="02040503050406030204" pitchFamily="18" charset="0"/>
                          <a:ea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𝜃</m:t>
                          </m:r>
                        </m:e>
                        <m:sub>
                          <m:r>
                            <a:rPr lang="en-US" sz="2400" i="1">
                              <a:latin typeface="Cambria Math" panose="02040503050406030204" pitchFamily="18" charset="0"/>
                            </a:rPr>
                            <m:t>𝑖𝑗</m:t>
                          </m:r>
                        </m:sub>
                        <m:sup>
                          <m:r>
                            <a:rPr lang="en-US" sz="2400" i="1">
                              <a:latin typeface="Cambria Math" panose="02040503050406030204" pitchFamily="18" charset="0"/>
                            </a:rPr>
                            <m:t>(</m:t>
                          </m:r>
                          <m:r>
                            <a:rPr lang="en-US" sz="2400" i="1">
                              <a:latin typeface="Cambria Math" panose="02040503050406030204" pitchFamily="18" charset="0"/>
                            </a:rPr>
                            <m:t>𝑙</m:t>
                          </m:r>
                          <m:r>
                            <a:rPr lang="en-US" sz="2400" i="1">
                              <a:latin typeface="Cambria Math" panose="02040503050406030204" pitchFamily="18" charset="0"/>
                            </a:rPr>
                            <m:t>)</m:t>
                          </m:r>
                        </m:sup>
                      </m:sSubSup>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𝛼</m:t>
                      </m:r>
                      <m:f>
                        <m:fPr>
                          <m:ctrlPr>
                            <a:rPr lang="en-US" sz="2400" i="1" smtClean="0">
                              <a:solidFill>
                                <a:srgbClr val="FF0000"/>
                              </a:solidFill>
                              <a:latin typeface="Cambria Math" panose="02040503050406030204" pitchFamily="18" charset="0"/>
                              <a:ea typeface="Cambria Math" panose="02040503050406030204" pitchFamily="18" charset="0"/>
                            </a:rPr>
                          </m:ctrlPr>
                        </m:fPr>
                        <m:num>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𝐽</m:t>
                          </m:r>
                          <m:r>
                            <a:rPr lang="en-US" sz="2400" i="1">
                              <a:solidFill>
                                <a:srgbClr val="FF0000"/>
                              </a:solidFill>
                              <a:latin typeface="Cambria Math" panose="02040503050406030204" pitchFamily="18" charset="0"/>
                              <a:ea typeface="Cambria Math" panose="02040503050406030204" pitchFamily="18" charset="0"/>
                            </a:rPr>
                            <m:t>(</m:t>
                          </m:r>
                          <m:r>
                            <m:rPr>
                              <m:sty m:val="p"/>
                            </m:rPr>
                            <a:rPr lang="el-GR" sz="2400" i="1">
                              <a:solidFill>
                                <a:srgbClr val="FF0000"/>
                              </a:solidFill>
                              <a:latin typeface="Cambria Math" panose="02040503050406030204" pitchFamily="18" charset="0"/>
                              <a:ea typeface="Cambria Math" panose="02040503050406030204" pitchFamily="18" charset="0"/>
                            </a:rPr>
                            <m:t>Θ</m:t>
                          </m:r>
                          <m:r>
                            <a:rPr lang="en-US" sz="2400" i="1">
                              <a:solidFill>
                                <a:srgbClr val="FF0000"/>
                              </a:solidFill>
                              <a:latin typeface="Cambria Math" panose="02040503050406030204" pitchFamily="18" charset="0"/>
                              <a:ea typeface="Cambria Math" panose="02040503050406030204" pitchFamily="18" charset="0"/>
                            </a:rPr>
                            <m:t>)</m:t>
                          </m:r>
                        </m:num>
                        <m:den>
                          <m:r>
                            <a:rPr lang="en-US" sz="2400" i="1">
                              <a:solidFill>
                                <a:srgbClr val="FF0000"/>
                              </a:solidFill>
                              <a:latin typeface="Cambria Math" panose="02040503050406030204" pitchFamily="18" charset="0"/>
                              <a:ea typeface="Cambria Math" panose="02040503050406030204" pitchFamily="18" charset="0"/>
                            </a:rPr>
                            <m:t>𝜕</m:t>
                          </m:r>
                          <m:sSubSup>
                            <m:sSubSupPr>
                              <m:ctrlPr>
                                <a:rPr lang="en-US" sz="2400" i="1">
                                  <a:solidFill>
                                    <a:srgbClr val="FF0000"/>
                                  </a:solidFill>
                                  <a:latin typeface="Cambria Math" panose="02040503050406030204" pitchFamily="18" charset="0"/>
                                  <a:ea typeface="Cambria Math" panose="02040503050406030204" pitchFamily="18" charset="0"/>
                                </a:rPr>
                              </m:ctrlPr>
                            </m:sSubSupPr>
                            <m:e>
                              <m:r>
                                <a:rPr lang="en-US" sz="2400" i="1">
                                  <a:solidFill>
                                    <a:srgbClr val="FF0000"/>
                                  </a:solidFill>
                                  <a:latin typeface="Cambria Math" panose="02040503050406030204" pitchFamily="18" charset="0"/>
                                  <a:ea typeface="Cambria Math" panose="02040503050406030204" pitchFamily="18" charset="0"/>
                                </a:rPr>
                                <m:t>𝜃</m:t>
                              </m:r>
                            </m:e>
                            <m:sub>
                              <m:r>
                                <a:rPr lang="en-US" sz="2400" i="1">
                                  <a:solidFill>
                                    <a:srgbClr val="FF0000"/>
                                  </a:solidFill>
                                  <a:latin typeface="Cambria Math" panose="02040503050406030204" pitchFamily="18" charset="0"/>
                                  <a:ea typeface="Cambria Math" panose="02040503050406030204" pitchFamily="18" charset="0"/>
                                </a:rPr>
                                <m:t>𝑖𝑗</m:t>
                              </m:r>
                            </m:sub>
                            <m:sup>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𝑙</m:t>
                              </m:r>
                              <m:r>
                                <a:rPr lang="en-US" sz="2400" i="1">
                                  <a:solidFill>
                                    <a:srgbClr val="FF0000"/>
                                  </a:solidFill>
                                  <a:latin typeface="Cambria Math" panose="02040503050406030204" pitchFamily="18" charset="0"/>
                                  <a:ea typeface="Cambria Math" panose="02040503050406030204" pitchFamily="18" charset="0"/>
                                </a:rPr>
                                <m:t>)</m:t>
                              </m:r>
                            </m:sup>
                          </m:sSubSup>
                        </m:den>
                      </m:f>
                    </m:oMath>
                  </m:oMathPara>
                </a14:m>
                <a:endParaRPr lang="en-US" sz="2400" dirty="0"/>
              </a:p>
            </p:txBody>
          </p:sp>
        </mc:Choice>
        <mc:Fallback xmlns="">
          <p:sp>
            <p:nvSpPr>
              <p:cNvPr id="18" name="TextBox 17">
                <a:extLst>
                  <a:ext uri="{FF2B5EF4-FFF2-40B4-BE49-F238E27FC236}">
                    <a16:creationId xmlns:a16="http://schemas.microsoft.com/office/drawing/2014/main" id="{60EF6954-B018-42B4-A7C9-4F787F6768BD}"/>
                  </a:ext>
                </a:extLst>
              </p:cNvPr>
              <p:cNvSpPr txBox="1">
                <a:spLocks noRot="1" noChangeAspect="1" noMove="1" noResize="1" noEditPoints="1" noAdjustHandles="1" noChangeArrowheads="1" noChangeShapeType="1" noTextEdit="1"/>
              </p:cNvSpPr>
              <p:nvPr/>
            </p:nvSpPr>
            <p:spPr>
              <a:xfrm>
                <a:off x="6095999" y="3744302"/>
                <a:ext cx="2806666" cy="933397"/>
              </a:xfrm>
              <a:prstGeom prst="rect">
                <a:avLst/>
              </a:prstGeom>
              <a:blipFill>
                <a:blip r:embed="rId7"/>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225D6CB5-C556-4864-A8F5-F979F77EA194}"/>
              </a:ext>
            </a:extLst>
          </p:cNvPr>
          <p:cNvSpPr txBox="1"/>
          <p:nvPr/>
        </p:nvSpPr>
        <p:spPr>
          <a:xfrm>
            <a:off x="9075420" y="3920490"/>
            <a:ext cx="1793120" cy="369332"/>
          </a:xfrm>
          <a:prstGeom prst="rect">
            <a:avLst/>
          </a:prstGeom>
          <a:noFill/>
        </p:spPr>
        <p:txBody>
          <a:bodyPr wrap="none" rtlCol="0">
            <a:spAutoFit/>
          </a:bodyPr>
          <a:lstStyle/>
          <a:p>
            <a:r>
              <a:rPr lang="en-US" dirty="0"/>
              <a:t>Gradient descent</a:t>
            </a:r>
          </a:p>
        </p:txBody>
      </p:sp>
      <p:sp>
        <p:nvSpPr>
          <p:cNvPr id="20" name="Callout: Line 19">
            <a:extLst>
              <a:ext uri="{FF2B5EF4-FFF2-40B4-BE49-F238E27FC236}">
                <a16:creationId xmlns:a16="http://schemas.microsoft.com/office/drawing/2014/main" id="{CE93EE3B-B403-4DB1-9E2D-E3E3524FBFA3}"/>
              </a:ext>
            </a:extLst>
          </p:cNvPr>
          <p:cNvSpPr/>
          <p:nvPr/>
        </p:nvSpPr>
        <p:spPr>
          <a:xfrm rot="16200000">
            <a:off x="8015382" y="3689648"/>
            <a:ext cx="1017270" cy="930052"/>
          </a:xfrm>
          <a:prstGeom prst="borderCallout1">
            <a:avLst>
              <a:gd name="adj1" fmla="val 13220"/>
              <a:gd name="adj2" fmla="val -1030"/>
              <a:gd name="adj3" fmla="val 97752"/>
              <a:gd name="adj4" fmla="val -1979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EC400409-FC80-4FF8-8592-5847DD1418FC}"/>
              </a:ext>
            </a:extLst>
          </p:cNvPr>
          <p:cNvSpPr txBox="1"/>
          <p:nvPr/>
        </p:nvSpPr>
        <p:spPr>
          <a:xfrm>
            <a:off x="8989043" y="4663309"/>
            <a:ext cx="64008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0</a:t>
            </a:r>
          </a:p>
        </p:txBody>
      </p:sp>
      <p:pic>
        <p:nvPicPr>
          <p:cNvPr id="22" name="Picture 21" descr="Image for post">
            <a:extLst>
              <a:ext uri="{FF2B5EF4-FFF2-40B4-BE49-F238E27FC236}">
                <a16:creationId xmlns:a16="http://schemas.microsoft.com/office/drawing/2014/main" id="{7E832E2C-7190-4F33-84FB-0908813C4F0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556" y="3750297"/>
            <a:ext cx="2066507" cy="137467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Image for post">
            <a:extLst>
              <a:ext uri="{FF2B5EF4-FFF2-40B4-BE49-F238E27FC236}">
                <a16:creationId xmlns:a16="http://schemas.microsoft.com/office/drawing/2014/main" id="{534EC59B-DE16-4198-BD13-06450ED1E6D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38433" y="3736240"/>
            <a:ext cx="2185618" cy="1378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972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1B7A6-EE36-4004-9AED-7AD1E74E7972}"/>
              </a:ext>
            </a:extLst>
          </p:cNvPr>
          <p:cNvSpPr>
            <a:spLocks noGrp="1"/>
          </p:cNvSpPr>
          <p:nvPr>
            <p:ph type="title"/>
          </p:nvPr>
        </p:nvSpPr>
        <p:spPr/>
        <p:txBody>
          <a:bodyPr/>
          <a:lstStyle/>
          <a:p>
            <a:r>
              <a:rPr lang="en-US" dirty="0" err="1"/>
              <a:t>Sigmoids</a:t>
            </a:r>
            <a:r>
              <a:rPr lang="en-US" dirty="0"/>
              <a:t> functions: issues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6EFEE7-C39E-454A-88E9-94FABD11BB31}"/>
                  </a:ext>
                </a:extLst>
              </p:cNvPr>
              <p:cNvSpPr>
                <a:spLocks noGrp="1"/>
              </p:cNvSpPr>
              <p:nvPr>
                <p:ph idx="1"/>
              </p:nvPr>
            </p:nvSpPr>
            <p:spPr>
              <a:xfrm>
                <a:off x="838200" y="1553548"/>
                <a:ext cx="10515600" cy="5374346"/>
              </a:xfrm>
            </p:spPr>
            <p:txBody>
              <a:bodyPr>
                <a:normAutofit lnSpcReduction="10000"/>
              </a:bodyPr>
              <a:lstStyle/>
              <a:p>
                <a:r>
                  <a:rPr lang="en-US" sz="2400" u="sng" dirty="0"/>
                  <a:t>Zero-centered</a:t>
                </a:r>
                <a:r>
                  <a:rPr lang="en-US" sz="2400" dirty="0"/>
                  <a:t>: </a:t>
                </a:r>
                <a:r>
                  <a:rPr lang="en-US" sz="2400" i="1" dirty="0"/>
                  <a:t>tanh</a:t>
                </a:r>
                <a:r>
                  <a:rPr lang="en-US" sz="2400" dirty="0"/>
                  <a:t> can be either positive or negative, while </a:t>
                </a:r>
                <a:r>
                  <a:rPr lang="en-US" sz="2400" i="1" dirty="0"/>
                  <a:t>logistic</a:t>
                </a:r>
                <a:r>
                  <a:rPr lang="en-US" sz="2400" dirty="0"/>
                  <a:t> is always positive (centered in 0.5); all parameters entering a neuron (</a:t>
                </a:r>
                <a14:m>
                  <m:oMath xmlns:m="http://schemas.openxmlformats.org/officeDocument/2006/math">
                    <m:sSubSup>
                      <m:sSubSupPr>
                        <m:ctrlPr>
                          <a:rPr lang="en-US" sz="2400" i="1" smtClean="0">
                            <a:latin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rPr>
                          <m:t>𝑖𝑗</m:t>
                        </m:r>
                      </m:sub>
                      <m:sup>
                        <m:r>
                          <a:rPr lang="en-US" sz="2400" b="0" i="1" smtClean="0">
                            <a:latin typeface="Cambria Math" panose="02040503050406030204" pitchFamily="18" charset="0"/>
                          </a:rPr>
                          <m:t>(</m:t>
                        </m:r>
                        <m:r>
                          <a:rPr lang="en-US" sz="2400" b="0" i="1" smtClean="0">
                            <a:latin typeface="Cambria Math" panose="02040503050406030204" pitchFamily="18" charset="0"/>
                          </a:rPr>
                          <m:t>𝑙</m:t>
                        </m:r>
                        <m:r>
                          <a:rPr lang="en-US" sz="2400" b="0" i="1" smtClean="0">
                            <a:latin typeface="Cambria Math" panose="02040503050406030204" pitchFamily="18" charset="0"/>
                          </a:rPr>
                          <m:t>)</m:t>
                        </m:r>
                      </m:sup>
                    </m:sSubSup>
                    <m:r>
                      <a:rPr lang="en-US" sz="2400" b="0" i="1" smtClean="0">
                        <a:latin typeface="Cambria Math" panose="02040503050406030204" pitchFamily="18" charset="0"/>
                      </a:rPr>
                      <m:t>, </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rPr>
                          <m:t>𝑖𝑘</m:t>
                        </m:r>
                      </m:sub>
                      <m:sup>
                        <m:r>
                          <a:rPr lang="en-US" sz="2400" b="0" i="1" smtClean="0">
                            <a:latin typeface="Cambria Math" panose="02040503050406030204" pitchFamily="18" charset="0"/>
                          </a:rPr>
                          <m:t>(</m:t>
                        </m:r>
                        <m:r>
                          <a:rPr lang="en-US" sz="2400" b="0" i="1" smtClean="0">
                            <a:latin typeface="Cambria Math" panose="02040503050406030204" pitchFamily="18" charset="0"/>
                          </a:rPr>
                          <m:t>𝑙</m:t>
                        </m:r>
                        <m:r>
                          <a:rPr lang="en-US" sz="2400" b="0" i="1" smtClean="0">
                            <a:latin typeface="Cambria Math" panose="02040503050406030204" pitchFamily="18" charset="0"/>
                          </a:rPr>
                          <m:t>)</m:t>
                        </m:r>
                      </m:sup>
                    </m:sSubSup>
                  </m:oMath>
                </a14:m>
                <a:r>
                  <a:rPr lang="en-US" sz="2400" dirty="0"/>
                  <a:t>) are updated with a common factor (</a:t>
                </a:r>
                <a14:m>
                  <m:oMath xmlns:m="http://schemas.openxmlformats.org/officeDocument/2006/math">
                    <m:sSubSup>
                      <m:sSubSupPr>
                        <m:ctrlPr>
                          <a:rPr lang="en-US" sz="2400" i="1" smtClean="0">
                            <a:latin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𝛿</m:t>
                        </m:r>
                      </m:e>
                      <m:sub>
                        <m:r>
                          <a:rPr lang="en-US" sz="2400" b="0" i="1" smtClean="0">
                            <a:latin typeface="Cambria Math" panose="02040503050406030204" pitchFamily="18" charset="0"/>
                          </a:rPr>
                          <m:t>𝑖</m:t>
                        </m:r>
                      </m:sub>
                      <m:sup>
                        <m:r>
                          <a:rPr lang="en-US" sz="2400" b="0" i="1" smtClean="0">
                            <a:latin typeface="Cambria Math" panose="02040503050406030204" pitchFamily="18" charset="0"/>
                          </a:rPr>
                          <m:t>(</m:t>
                        </m:r>
                        <m:r>
                          <a:rPr lang="en-US" sz="2400" b="0" i="1" smtClean="0">
                            <a:latin typeface="Cambria Math" panose="02040503050406030204" pitchFamily="18" charset="0"/>
                          </a:rPr>
                          <m:t>𝑙</m:t>
                        </m:r>
                        <m:r>
                          <a:rPr lang="en-US" sz="2400" b="0" i="1" smtClean="0">
                            <a:latin typeface="Cambria Math" panose="02040503050406030204" pitchFamily="18" charset="0"/>
                          </a:rPr>
                          <m:t>+1)</m:t>
                        </m:r>
                      </m:sup>
                    </m:sSubSup>
                    <m:r>
                      <a:rPr lang="en-US" sz="2400" b="0" i="1" smtClean="0">
                        <a:latin typeface="Cambria Math" panose="02040503050406030204" pitchFamily="18" charset="0"/>
                      </a:rPr>
                      <m:t>)</m:t>
                    </m:r>
                  </m:oMath>
                </a14:m>
                <a:r>
                  <a:rPr lang="en-US" sz="2400" dirty="0"/>
                  <a:t> times the activation value of the source (</a:t>
                </a:r>
                <a14:m>
                  <m:oMath xmlns:m="http://schemas.openxmlformats.org/officeDocument/2006/math">
                    <m:sSubSup>
                      <m:sSubSupPr>
                        <m:ctrlPr>
                          <a:rPr lang="en-US" sz="2400" i="1" smtClean="0">
                            <a:latin typeface="Cambria Math" panose="02040503050406030204" pitchFamily="18" charset="0"/>
                          </a:rPr>
                        </m:ctrlPr>
                      </m:sSubSupPr>
                      <m:e>
                        <m:r>
                          <a:rPr lang="en-US" sz="2400" b="0" i="1" smtClean="0">
                            <a:latin typeface="Cambria Math" panose="02040503050406030204" pitchFamily="18" charset="0"/>
                          </a:rPr>
                          <m:t>𝑎</m:t>
                        </m:r>
                      </m:e>
                      <m:sub>
                        <m:r>
                          <a:rPr lang="en-US" sz="2400" b="0" i="1" smtClean="0">
                            <a:latin typeface="Cambria Math" panose="02040503050406030204" pitchFamily="18" charset="0"/>
                          </a:rPr>
                          <m:t>𝑗</m:t>
                        </m:r>
                      </m:sub>
                      <m:sup>
                        <m:r>
                          <a:rPr lang="en-US" sz="2400" b="0" i="1" smtClean="0">
                            <a:latin typeface="Cambria Math" panose="02040503050406030204" pitchFamily="18" charset="0"/>
                          </a:rPr>
                          <m:t>(</m:t>
                        </m:r>
                        <m:r>
                          <a:rPr lang="en-US" sz="2400" b="0" i="1" smtClean="0">
                            <a:latin typeface="Cambria Math" panose="02040503050406030204" pitchFamily="18" charset="0"/>
                          </a:rPr>
                          <m:t>𝑙</m:t>
                        </m:r>
                        <m:r>
                          <a:rPr lang="en-US" sz="2400" b="0" i="1" smtClean="0">
                            <a:latin typeface="Cambria Math" panose="02040503050406030204" pitchFamily="18" charset="0"/>
                          </a:rPr>
                          <m:t>)</m:t>
                        </m:r>
                      </m:sup>
                    </m:sSubSup>
                    <m:r>
                      <a:rPr lang="en-US" sz="2400" b="0" i="1" smtClean="0">
                        <a:latin typeface="Cambria Math" panose="02040503050406030204" pitchFamily="18" charset="0"/>
                      </a:rPr>
                      <m:t>, </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𝑎</m:t>
                        </m:r>
                      </m:e>
                      <m:sub>
                        <m:r>
                          <a:rPr lang="en-US" sz="2400" b="0" i="1" smtClean="0">
                            <a:latin typeface="Cambria Math" panose="02040503050406030204" pitchFamily="18" charset="0"/>
                          </a:rPr>
                          <m:t>𝑘</m:t>
                        </m:r>
                      </m:sub>
                      <m:sup>
                        <m:r>
                          <a:rPr lang="en-US" sz="2400" b="0" i="1" smtClean="0">
                            <a:latin typeface="Cambria Math" panose="02040503050406030204" pitchFamily="18" charset="0"/>
                          </a:rPr>
                          <m:t>(</m:t>
                        </m:r>
                        <m:r>
                          <a:rPr lang="en-US" sz="2400" b="0" i="1" smtClean="0">
                            <a:latin typeface="Cambria Math" panose="02040503050406030204" pitchFamily="18" charset="0"/>
                          </a:rPr>
                          <m:t>𝑙</m:t>
                        </m:r>
                        <m:r>
                          <a:rPr lang="en-US" sz="2400" b="0" i="1" smtClean="0">
                            <a:latin typeface="Cambria Math" panose="02040503050406030204" pitchFamily="18" charset="0"/>
                          </a:rPr>
                          <m:t>)</m:t>
                        </m:r>
                      </m:sup>
                    </m:sSubSup>
                  </m:oMath>
                </a14:m>
                <a:r>
                  <a:rPr lang="en-US" sz="2400" dirty="0"/>
                  <a:t>)</a:t>
                </a:r>
              </a:p>
              <a:p>
                <a:endParaRPr lang="en-US" sz="2400" dirty="0"/>
              </a:p>
              <a:p>
                <a:endParaRPr lang="en-US" sz="2400" dirty="0"/>
              </a:p>
              <a:p>
                <a:endParaRPr lang="en-US" sz="2400" dirty="0"/>
              </a:p>
              <a:p>
                <a:endParaRPr lang="en-US" sz="2400" dirty="0"/>
              </a:p>
              <a:p>
                <a:r>
                  <a:rPr lang="en-US" sz="2400" dirty="0"/>
                  <a:t>If activation function is always positive (</a:t>
                </a:r>
                <a:r>
                  <a:rPr lang="en-US" sz="2400" i="1" dirty="0"/>
                  <a:t>logistic</a:t>
                </a:r>
                <a:r>
                  <a:rPr lang="en-US" sz="2400" dirty="0"/>
                  <a:t>), then all parameters will be updated in the same direction (the product will be positive or negative depending only on the common part </a:t>
                </a:r>
                <a:r>
                  <a:rPr lang="en-US" sz="2400" dirty="0">
                    <a:latin typeface="Symbol" panose="05050102010706020507" pitchFamily="18" charset="2"/>
                  </a:rPr>
                  <a:t>d</a:t>
                </a:r>
                <a:r>
                  <a:rPr lang="en-US" sz="2400" dirty="0"/>
                  <a:t>)</a:t>
                </a:r>
              </a:p>
              <a:p>
                <a:r>
                  <a:rPr lang="en-US" sz="2400" dirty="0"/>
                  <a:t>If zero-centered as </a:t>
                </a:r>
                <a:r>
                  <a:rPr lang="en-US" sz="2400" i="1" dirty="0"/>
                  <a:t>tanh</a:t>
                </a:r>
                <a:r>
                  <a:rPr lang="en-US" sz="2400" dirty="0"/>
                  <a:t> parameters are allowed to move in opposite directions (more exploration </a:t>
                </a:r>
                <a:r>
                  <a:rPr lang="en-US" sz="2400" dirty="0">
                    <a:sym typeface="Wingdings" panose="05000000000000000000" pitchFamily="2" charset="2"/>
                  </a:rPr>
                  <a:t> more </a:t>
                </a:r>
                <a:r>
                  <a:rPr lang="en-US" sz="2400" dirty="0"/>
                  <a:t>learning)</a:t>
                </a:r>
              </a:p>
            </p:txBody>
          </p:sp>
        </mc:Choice>
        <mc:Fallback xmlns="">
          <p:sp>
            <p:nvSpPr>
              <p:cNvPr id="3" name="Content Placeholder 2">
                <a:extLst>
                  <a:ext uri="{FF2B5EF4-FFF2-40B4-BE49-F238E27FC236}">
                    <a16:creationId xmlns:a16="http://schemas.microsoft.com/office/drawing/2014/main" id="{766EFEE7-C39E-454A-88E9-94FABD11BB31}"/>
                  </a:ext>
                </a:extLst>
              </p:cNvPr>
              <p:cNvSpPr>
                <a:spLocks noGrp="1" noRot="1" noChangeAspect="1" noMove="1" noResize="1" noEditPoints="1" noAdjustHandles="1" noChangeArrowheads="1" noChangeShapeType="1" noTextEdit="1"/>
              </p:cNvSpPr>
              <p:nvPr>
                <p:ph idx="1"/>
              </p:nvPr>
            </p:nvSpPr>
            <p:spPr>
              <a:xfrm>
                <a:off x="838200" y="1553548"/>
                <a:ext cx="10515600" cy="5374346"/>
              </a:xfrm>
              <a:blipFill>
                <a:blip r:embed="rId2"/>
                <a:stretch>
                  <a:fillRect l="-812" t="-2157" r="-1449"/>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ADD706D3-D897-44D1-B54C-663793D6705C}"/>
              </a:ext>
            </a:extLst>
          </p:cNvPr>
          <p:cNvGrpSpPr/>
          <p:nvPr/>
        </p:nvGrpSpPr>
        <p:grpSpPr>
          <a:xfrm>
            <a:off x="1446415" y="3252435"/>
            <a:ext cx="2389089" cy="661411"/>
            <a:chOff x="977785" y="4688226"/>
            <a:chExt cx="2389089" cy="661411"/>
          </a:xfrm>
        </p:grpSpPr>
        <p:sp>
          <p:nvSpPr>
            <p:cNvPr id="5" name="Oval 4">
              <a:extLst>
                <a:ext uri="{FF2B5EF4-FFF2-40B4-BE49-F238E27FC236}">
                  <a16:creationId xmlns:a16="http://schemas.microsoft.com/office/drawing/2014/main" id="{949F0D36-EA73-40DD-93C4-265C41B7EA6B}"/>
                </a:ext>
              </a:extLst>
            </p:cNvPr>
            <p:cNvSpPr/>
            <p:nvPr/>
          </p:nvSpPr>
          <p:spPr>
            <a:xfrm>
              <a:off x="977785" y="4755739"/>
              <a:ext cx="584627" cy="59389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64760CA-382A-413C-B4F3-6D7660DFE5AB}"/>
                    </a:ext>
                  </a:extLst>
                </p:cNvPr>
                <p:cNvSpPr txBox="1"/>
                <p:nvPr/>
              </p:nvSpPr>
              <p:spPr>
                <a:xfrm>
                  <a:off x="1948764" y="4688226"/>
                  <a:ext cx="409664" cy="38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it-IT" i="1" smtClean="0">
                                <a:latin typeface="Cambria Math" panose="02040503050406030204" pitchFamily="18" charset="0"/>
                              </a:rPr>
                            </m:ctrlPr>
                          </m:sSubSupPr>
                          <m:e>
                            <m:r>
                              <a:rPr lang="it-IT"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𝑖𝑗</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bSup>
                      </m:oMath>
                    </m:oMathPara>
                  </a14:m>
                  <a:endParaRPr lang="it-IT" dirty="0"/>
                </a:p>
              </p:txBody>
            </p:sp>
          </mc:Choice>
          <mc:Fallback xmlns="">
            <p:sp>
              <p:nvSpPr>
                <p:cNvPr id="6" name="TextBox 5">
                  <a:extLst>
                    <a:ext uri="{FF2B5EF4-FFF2-40B4-BE49-F238E27FC236}">
                      <a16:creationId xmlns:a16="http://schemas.microsoft.com/office/drawing/2014/main" id="{364760CA-382A-413C-B4F3-6D7660DFE5AB}"/>
                    </a:ext>
                  </a:extLst>
                </p:cNvPr>
                <p:cNvSpPr txBox="1">
                  <a:spLocks noRot="1" noChangeAspect="1" noMove="1" noResize="1" noEditPoints="1" noAdjustHandles="1" noChangeArrowheads="1" noChangeShapeType="1" noTextEdit="1"/>
                </p:cNvSpPr>
                <p:nvPr/>
              </p:nvSpPr>
              <p:spPr>
                <a:xfrm>
                  <a:off x="1948764" y="4688226"/>
                  <a:ext cx="409664" cy="383888"/>
                </a:xfrm>
                <a:prstGeom prst="rect">
                  <a:avLst/>
                </a:prstGeom>
                <a:blipFill>
                  <a:blip r:embed="rId3"/>
                  <a:stretch>
                    <a:fillRect l="-13433" t="-3175" r="-11940" b="-20635"/>
                  </a:stretch>
                </a:blipFill>
              </p:spPr>
              <p:txBody>
                <a:bodyPr/>
                <a:lstStyle/>
                <a:p>
                  <a:r>
                    <a:rPr lang="en-US">
                      <a:noFill/>
                    </a:rPr>
                    <a:t> </a:t>
                  </a:r>
                </a:p>
              </p:txBody>
            </p:sp>
          </mc:Fallback>
        </mc:AlternateContent>
        <p:sp>
          <p:nvSpPr>
            <p:cNvPr id="7" name="Oval 6">
              <a:extLst>
                <a:ext uri="{FF2B5EF4-FFF2-40B4-BE49-F238E27FC236}">
                  <a16:creationId xmlns:a16="http://schemas.microsoft.com/office/drawing/2014/main" id="{609F609C-C829-4F29-AED1-33995A86FC68}"/>
                </a:ext>
              </a:extLst>
            </p:cNvPr>
            <p:cNvSpPr/>
            <p:nvPr/>
          </p:nvSpPr>
          <p:spPr>
            <a:xfrm>
              <a:off x="2744780" y="4767043"/>
              <a:ext cx="622093" cy="5657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7DE08E2-BF98-4B26-9470-925F6D258C29}"/>
                </a:ext>
              </a:extLst>
            </p:cNvPr>
            <p:cNvCxnSpPr>
              <a:cxnSpLocks/>
            </p:cNvCxnSpPr>
            <p:nvPr/>
          </p:nvCxnSpPr>
          <p:spPr>
            <a:xfrm>
              <a:off x="1562412" y="5049903"/>
              <a:ext cx="1182368" cy="2221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B18440F-148F-41FB-A700-71B2FE111E09}"/>
                    </a:ext>
                  </a:extLst>
                </p:cNvPr>
                <p:cNvSpPr txBox="1"/>
                <p:nvPr/>
              </p:nvSpPr>
              <p:spPr>
                <a:xfrm>
                  <a:off x="1100398" y="4819593"/>
                  <a:ext cx="402482" cy="38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𝑗</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bSup>
                      </m:oMath>
                    </m:oMathPara>
                  </a14:m>
                  <a:endParaRPr lang="en-US" dirty="0"/>
                </a:p>
              </p:txBody>
            </p:sp>
          </mc:Choice>
          <mc:Fallback xmlns="">
            <p:sp>
              <p:nvSpPr>
                <p:cNvPr id="9" name="TextBox 8">
                  <a:extLst>
                    <a:ext uri="{FF2B5EF4-FFF2-40B4-BE49-F238E27FC236}">
                      <a16:creationId xmlns:a16="http://schemas.microsoft.com/office/drawing/2014/main" id="{AB18440F-148F-41FB-A700-71B2FE111E09}"/>
                    </a:ext>
                  </a:extLst>
                </p:cNvPr>
                <p:cNvSpPr txBox="1">
                  <a:spLocks noRot="1" noChangeAspect="1" noMove="1" noResize="1" noEditPoints="1" noAdjustHandles="1" noChangeArrowheads="1" noChangeShapeType="1" noTextEdit="1"/>
                </p:cNvSpPr>
                <p:nvPr/>
              </p:nvSpPr>
              <p:spPr>
                <a:xfrm>
                  <a:off x="1100398" y="4819593"/>
                  <a:ext cx="402482" cy="383888"/>
                </a:xfrm>
                <a:prstGeom prst="rect">
                  <a:avLst/>
                </a:prstGeom>
                <a:blipFill>
                  <a:blip r:embed="rId4"/>
                  <a:stretch>
                    <a:fillRect l="-7576" t="-3175" r="-12121" b="-206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4D34C6D-93B9-499A-B820-E428A5B3E0C5}"/>
                    </a:ext>
                  </a:extLst>
                </p:cNvPr>
                <p:cNvSpPr txBox="1"/>
                <p:nvPr/>
              </p:nvSpPr>
              <p:spPr>
                <a:xfrm>
                  <a:off x="2744781" y="4851916"/>
                  <a:ext cx="622093" cy="352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𝑖</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+1)</m:t>
                            </m:r>
                          </m:sup>
                        </m:sSubSup>
                      </m:oMath>
                    </m:oMathPara>
                  </a14:m>
                  <a:endParaRPr lang="en-US" dirty="0"/>
                </a:p>
              </p:txBody>
            </p:sp>
          </mc:Choice>
          <mc:Fallback xmlns="">
            <p:sp>
              <p:nvSpPr>
                <p:cNvPr id="10" name="TextBox 9">
                  <a:extLst>
                    <a:ext uri="{FF2B5EF4-FFF2-40B4-BE49-F238E27FC236}">
                      <a16:creationId xmlns:a16="http://schemas.microsoft.com/office/drawing/2014/main" id="{94D34C6D-93B9-499A-B820-E428A5B3E0C5}"/>
                    </a:ext>
                  </a:extLst>
                </p:cNvPr>
                <p:cNvSpPr txBox="1">
                  <a:spLocks noRot="1" noChangeAspect="1" noMove="1" noResize="1" noEditPoints="1" noAdjustHandles="1" noChangeArrowheads="1" noChangeShapeType="1" noTextEdit="1"/>
                </p:cNvSpPr>
                <p:nvPr/>
              </p:nvSpPr>
              <p:spPr>
                <a:xfrm>
                  <a:off x="2744781" y="4851916"/>
                  <a:ext cx="622093" cy="352597"/>
                </a:xfrm>
                <a:prstGeom prst="rect">
                  <a:avLst/>
                </a:prstGeom>
                <a:blipFill>
                  <a:blip r:embed="rId5"/>
                  <a:stretch>
                    <a:fillRect l="-4902" t="-3448" r="-8824" b="-18966"/>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C1BE09D-8F81-4CC5-A73F-E840B8CBAD16}"/>
                  </a:ext>
                </a:extLst>
              </p:cNvPr>
              <p:cNvSpPr txBox="1"/>
              <p:nvPr/>
            </p:nvSpPr>
            <p:spPr>
              <a:xfrm>
                <a:off x="4556735" y="2769574"/>
                <a:ext cx="2827069" cy="93339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𝐽</m:t>
                          </m:r>
                          <m:r>
                            <a:rPr lang="en-US" sz="2400" i="1">
                              <a:latin typeface="Cambria Math" panose="02040503050406030204" pitchFamily="18" charset="0"/>
                              <a:ea typeface="Cambria Math" panose="02040503050406030204" pitchFamily="18" charset="0"/>
                            </a:rPr>
                            <m:t>(</m:t>
                          </m:r>
                          <m:r>
                            <m:rPr>
                              <m:sty m:val="p"/>
                            </m:rPr>
                            <a:rPr lang="el-GR" sz="2400" i="1" smtClean="0">
                              <a:latin typeface="Cambria Math" panose="02040503050406030204" pitchFamily="18" charset="0"/>
                              <a:ea typeface="Cambria Math" panose="02040503050406030204" pitchFamily="18" charset="0"/>
                            </a:rPr>
                            <m:t>Θ</m:t>
                          </m:r>
                          <m:r>
                            <a:rPr lang="en-US" sz="2400" b="0" i="1" smtClean="0">
                              <a:latin typeface="Cambria Math" panose="02040503050406030204" pitchFamily="18" charset="0"/>
                              <a:ea typeface="Cambria Math" panose="02040503050406030204" pitchFamily="18" charset="0"/>
                            </a:rPr>
                            <m:t>)</m:t>
                          </m:r>
                        </m:num>
                        <m:den>
                          <m:r>
                            <a:rPr lang="en-US" sz="2400" i="1" smtClean="0">
                              <a:latin typeface="Cambria Math" panose="02040503050406030204" pitchFamily="18" charset="0"/>
                              <a:ea typeface="Cambria Math" panose="02040503050406030204" pitchFamily="18" charset="0"/>
                            </a:rPr>
                            <m:t>𝜕</m:t>
                          </m:r>
                          <m:sSubSup>
                            <m:sSubSupPr>
                              <m:ctrlPr>
                                <a:rPr lang="en-US" sz="2400" i="1" smtClean="0">
                                  <a:latin typeface="Cambria Math" panose="02040503050406030204" pitchFamily="18" charset="0"/>
                                  <a:ea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ea typeface="Cambria Math" panose="02040503050406030204" pitchFamily="18" charset="0"/>
                                </a:rPr>
                                <m:t>𝑖𝑗</m:t>
                              </m:r>
                            </m:sub>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𝑙</m:t>
                              </m:r>
                              <m:r>
                                <a:rPr lang="en-US" sz="2400" b="0" i="1" smtClean="0">
                                  <a:latin typeface="Cambria Math" panose="02040503050406030204" pitchFamily="18" charset="0"/>
                                  <a:ea typeface="Cambria Math" panose="02040503050406030204" pitchFamily="18" charset="0"/>
                                </a:rPr>
                                <m:t>)</m:t>
                              </m:r>
                            </m:sup>
                          </m:sSubSup>
                        </m:den>
                      </m:f>
                      <m:r>
                        <a:rPr lang="en-US" sz="2400" b="0" i="1" smtClean="0">
                          <a:latin typeface="Cambria Math" panose="02040503050406030204" pitchFamily="18" charset="0"/>
                          <a:ea typeface="Cambria Math" panose="02040503050406030204" pitchFamily="18" charset="0"/>
                        </a:rPr>
                        <m:t>=</m:t>
                      </m:r>
                      <m:sSubSup>
                        <m:sSubSupPr>
                          <m:ctrlPr>
                            <a:rPr lang="en-GB" sz="2400" i="1" smtClean="0">
                              <a:solidFill>
                                <a:schemeClr val="tx1"/>
                              </a:solidFill>
                              <a:latin typeface="Cambria Math" panose="02040503050406030204" pitchFamily="18" charset="0"/>
                              <a:ea typeface="Cambria Math" panose="02040503050406030204" pitchFamily="18" charset="0"/>
                            </a:rPr>
                          </m:ctrlPr>
                        </m:sSubSupPr>
                        <m:e>
                          <m:r>
                            <a:rPr lang="en-GB" sz="2400" i="1">
                              <a:solidFill>
                                <a:schemeClr val="tx1"/>
                              </a:solidFill>
                              <a:latin typeface="Cambria Math" panose="02040503050406030204" pitchFamily="18" charset="0"/>
                              <a:ea typeface="Cambria Math" panose="02040503050406030204" pitchFamily="18" charset="0"/>
                            </a:rPr>
                            <m:t>𝑎</m:t>
                          </m:r>
                        </m:e>
                        <m:sub>
                          <m:r>
                            <a:rPr lang="en-GB" sz="2400" i="1">
                              <a:solidFill>
                                <a:schemeClr val="tx1"/>
                              </a:solidFill>
                              <a:latin typeface="Cambria Math" panose="02040503050406030204" pitchFamily="18" charset="0"/>
                              <a:ea typeface="Cambria Math" panose="02040503050406030204" pitchFamily="18" charset="0"/>
                            </a:rPr>
                            <m:t>𝑗</m:t>
                          </m:r>
                        </m:sub>
                        <m:sup>
                          <m:r>
                            <a:rPr lang="en-GB" sz="2400" i="1">
                              <a:solidFill>
                                <a:schemeClr val="tx1"/>
                              </a:solidFill>
                              <a:latin typeface="Cambria Math" panose="02040503050406030204" pitchFamily="18" charset="0"/>
                              <a:ea typeface="Cambria Math" panose="02040503050406030204" pitchFamily="18" charset="0"/>
                            </a:rPr>
                            <m:t>(</m:t>
                          </m:r>
                          <m:r>
                            <a:rPr lang="en-GB" sz="2400" i="1">
                              <a:solidFill>
                                <a:schemeClr val="tx1"/>
                              </a:solidFill>
                              <a:latin typeface="Cambria Math" panose="02040503050406030204" pitchFamily="18" charset="0"/>
                              <a:ea typeface="Cambria Math" panose="02040503050406030204" pitchFamily="18" charset="0"/>
                            </a:rPr>
                            <m:t>𝑙</m:t>
                          </m:r>
                          <m:r>
                            <a:rPr lang="en-GB" sz="2400" i="1">
                              <a:solidFill>
                                <a:schemeClr val="tx1"/>
                              </a:solidFill>
                              <a:latin typeface="Cambria Math" panose="02040503050406030204" pitchFamily="18" charset="0"/>
                              <a:ea typeface="Cambria Math" panose="02040503050406030204" pitchFamily="18" charset="0"/>
                            </a:rPr>
                            <m:t>)</m:t>
                          </m:r>
                        </m:sup>
                      </m:sSubSup>
                      <m:sSubSup>
                        <m:sSubSupPr>
                          <m:ctrlPr>
                            <a:rPr lang="en-GB" sz="2400" i="1" smtClean="0">
                              <a:solidFill>
                                <a:srgbClr val="FF0000"/>
                              </a:solidFill>
                              <a:latin typeface="Cambria Math" panose="02040503050406030204" pitchFamily="18" charset="0"/>
                              <a:ea typeface="Cambria Math" panose="02040503050406030204" pitchFamily="18" charset="0"/>
                            </a:rPr>
                          </m:ctrlPr>
                        </m:sSubSupPr>
                        <m:e>
                          <m:r>
                            <a:rPr lang="en-GB" sz="2400" i="1">
                              <a:solidFill>
                                <a:srgbClr val="FF0000"/>
                              </a:solidFill>
                              <a:latin typeface="Cambria Math" panose="02040503050406030204" pitchFamily="18" charset="0"/>
                              <a:ea typeface="Cambria Math" panose="02040503050406030204" pitchFamily="18" charset="0"/>
                            </a:rPr>
                            <m:t>𝛿</m:t>
                          </m:r>
                        </m:e>
                        <m:sub>
                          <m:r>
                            <a:rPr lang="en-GB" sz="2400" i="1">
                              <a:solidFill>
                                <a:srgbClr val="FF0000"/>
                              </a:solidFill>
                              <a:latin typeface="Cambria Math" panose="02040503050406030204" pitchFamily="18" charset="0"/>
                              <a:ea typeface="Cambria Math" panose="02040503050406030204" pitchFamily="18" charset="0"/>
                            </a:rPr>
                            <m:t>𝑖</m:t>
                          </m:r>
                        </m:sub>
                        <m:sup>
                          <m:r>
                            <a:rPr lang="en-GB" sz="2400" i="1">
                              <a:solidFill>
                                <a:srgbClr val="FF0000"/>
                              </a:solidFill>
                              <a:latin typeface="Cambria Math" panose="02040503050406030204" pitchFamily="18" charset="0"/>
                              <a:ea typeface="Cambria Math" panose="02040503050406030204" pitchFamily="18" charset="0"/>
                            </a:rPr>
                            <m:t>(</m:t>
                          </m:r>
                          <m:r>
                            <a:rPr lang="en-GB" sz="2400" i="1">
                              <a:solidFill>
                                <a:srgbClr val="FF0000"/>
                              </a:solidFill>
                              <a:latin typeface="Cambria Math" panose="02040503050406030204" pitchFamily="18" charset="0"/>
                              <a:ea typeface="Cambria Math" panose="02040503050406030204" pitchFamily="18" charset="0"/>
                            </a:rPr>
                            <m:t>𝑙</m:t>
                          </m:r>
                          <m:r>
                            <a:rPr lang="en-GB" sz="2400" i="1">
                              <a:solidFill>
                                <a:srgbClr val="FF0000"/>
                              </a:solidFill>
                              <a:latin typeface="Cambria Math" panose="02040503050406030204" pitchFamily="18" charset="0"/>
                              <a:ea typeface="Cambria Math" panose="02040503050406030204" pitchFamily="18" charset="0"/>
                            </a:rPr>
                            <m:t>+1)</m:t>
                          </m:r>
                        </m:sup>
                      </m:sSubSup>
                    </m:oMath>
                  </m:oMathPara>
                </a14:m>
                <a:endParaRPr lang="en-US" sz="2400" dirty="0"/>
              </a:p>
            </p:txBody>
          </p:sp>
        </mc:Choice>
        <mc:Fallback xmlns="">
          <p:sp>
            <p:nvSpPr>
              <p:cNvPr id="11" name="TextBox 10">
                <a:extLst>
                  <a:ext uri="{FF2B5EF4-FFF2-40B4-BE49-F238E27FC236}">
                    <a16:creationId xmlns:a16="http://schemas.microsoft.com/office/drawing/2014/main" id="{AC1BE09D-8F81-4CC5-A73F-E840B8CBAD16}"/>
                  </a:ext>
                </a:extLst>
              </p:cNvPr>
              <p:cNvSpPr txBox="1">
                <a:spLocks noRot="1" noChangeAspect="1" noMove="1" noResize="1" noEditPoints="1" noAdjustHandles="1" noChangeArrowheads="1" noChangeShapeType="1" noTextEdit="1"/>
              </p:cNvSpPr>
              <p:nvPr/>
            </p:nvSpPr>
            <p:spPr>
              <a:xfrm>
                <a:off x="4556735" y="2769574"/>
                <a:ext cx="2827069" cy="93339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3932C88-637E-4A32-9CCB-D2A855F8B245}"/>
                  </a:ext>
                </a:extLst>
              </p:cNvPr>
              <p:cNvSpPr txBox="1"/>
              <p:nvPr/>
            </p:nvSpPr>
            <p:spPr>
              <a:xfrm>
                <a:off x="7117092" y="3169624"/>
                <a:ext cx="4463415" cy="5624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𝛿</m:t>
                          </m:r>
                        </m:e>
                        <m:sub>
                          <m:r>
                            <a:rPr lang="en-US" sz="2400" b="0" i="1" smtClean="0">
                              <a:latin typeface="Cambria Math" panose="02040503050406030204" pitchFamily="18" charset="0"/>
                            </a:rPr>
                            <m:t>𝑖</m:t>
                          </m:r>
                        </m:sub>
                        <m:sup>
                          <m:r>
                            <a:rPr lang="en-US" sz="2400" b="0" i="1" smtClean="0">
                              <a:latin typeface="Cambria Math" panose="02040503050406030204" pitchFamily="18" charset="0"/>
                            </a:rPr>
                            <m:t>(</m:t>
                          </m:r>
                          <m:r>
                            <a:rPr lang="en-US" sz="2400" b="0" i="1" smtClean="0">
                              <a:latin typeface="Cambria Math" panose="02040503050406030204" pitchFamily="18" charset="0"/>
                            </a:rPr>
                            <m:t>𝑙</m:t>
                          </m:r>
                          <m:r>
                            <a:rPr lang="en-US" sz="2400" b="0" i="1" smtClean="0">
                              <a:latin typeface="Cambria Math" panose="02040503050406030204" pitchFamily="18" charset="0"/>
                            </a:rPr>
                            <m:t>+1)</m:t>
                          </m:r>
                        </m:sup>
                      </m:sSubSup>
                      <m:r>
                        <a:rPr lang="en-US" sz="2400" b="0" i="1" smtClean="0">
                          <a:latin typeface="Cambria Math" panose="02040503050406030204" pitchFamily="18" charset="0"/>
                        </a:rPr>
                        <m:t>=</m:t>
                      </m:r>
                      <m:r>
                        <a:rPr lang="en-US" sz="2400" b="0" i="1" smtClean="0">
                          <a:latin typeface="Cambria Math" panose="02040503050406030204" pitchFamily="18" charset="0"/>
                        </a:rPr>
                        <m:t>𝐾</m:t>
                      </m:r>
                      <m:sSubSup>
                        <m:sSubSupPr>
                          <m:ctrlPr>
                            <a:rPr lang="en-US" sz="2400" b="0" i="1" smtClean="0">
                              <a:solidFill>
                                <a:srgbClr val="FF0000"/>
                              </a:solidFill>
                              <a:latin typeface="Cambria Math" panose="02040503050406030204" pitchFamily="18" charset="0"/>
                            </a:rPr>
                          </m:ctrlPr>
                        </m:sSubSupPr>
                        <m:e>
                          <m:r>
                            <a:rPr lang="en-US" sz="2400" b="0" i="1" smtClean="0">
                              <a:solidFill>
                                <a:srgbClr val="FF0000"/>
                              </a:solidFill>
                              <a:latin typeface="Cambria Math" panose="02040503050406030204" pitchFamily="18" charset="0"/>
                              <a:ea typeface="Cambria Math" panose="02040503050406030204" pitchFamily="18" charset="0"/>
                            </a:rPr>
                            <m:t>𝜑</m:t>
                          </m:r>
                          <m:r>
                            <a:rPr lang="en-US" sz="2400" b="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rPr>
                            <m:t>𝑎</m:t>
                          </m:r>
                        </m:e>
                        <m:sub>
                          <m:r>
                            <a:rPr lang="en-US" sz="2400" b="0" i="1" smtClean="0">
                              <a:solidFill>
                                <a:srgbClr val="FF0000"/>
                              </a:solidFill>
                              <a:latin typeface="Cambria Math" panose="02040503050406030204" pitchFamily="18" charset="0"/>
                            </a:rPr>
                            <m:t>𝑖</m:t>
                          </m:r>
                        </m:sub>
                        <m:sup>
                          <m:d>
                            <m:dPr>
                              <m:ctrlPr>
                                <a:rPr lang="en-US" sz="2400" b="0" i="1" smtClean="0">
                                  <a:solidFill>
                                    <a:srgbClr val="FF0000"/>
                                  </a:solidFill>
                                  <a:latin typeface="Cambria Math" panose="02040503050406030204" pitchFamily="18" charset="0"/>
                                </a:rPr>
                              </m:ctrlPr>
                            </m:dPr>
                            <m:e>
                              <m:r>
                                <a:rPr lang="en-US" sz="2400" b="0" i="1" smtClean="0">
                                  <a:solidFill>
                                    <a:srgbClr val="FF0000"/>
                                  </a:solidFill>
                                  <a:latin typeface="Cambria Math" panose="02040503050406030204" pitchFamily="18" charset="0"/>
                                </a:rPr>
                                <m:t>𝑙</m:t>
                              </m:r>
                              <m:r>
                                <a:rPr lang="en-US" sz="2400" b="0" i="1" smtClean="0">
                                  <a:solidFill>
                                    <a:srgbClr val="FF0000"/>
                                  </a:solidFill>
                                  <a:latin typeface="Cambria Math" panose="02040503050406030204" pitchFamily="18" charset="0"/>
                                </a:rPr>
                                <m:t>+1</m:t>
                              </m:r>
                            </m:e>
                          </m:d>
                        </m:sup>
                      </m:sSubSup>
                      <m:r>
                        <a:rPr lang="en-US" sz="2400" b="0" i="1" smtClean="0">
                          <a:solidFill>
                            <a:srgbClr val="FF0000"/>
                          </a:solidFill>
                          <a:latin typeface="Cambria Math" panose="02040503050406030204" pitchFamily="18" charset="0"/>
                        </a:rPr>
                        <m:t>)</m:t>
                      </m:r>
                    </m:oMath>
                  </m:oMathPara>
                </a14:m>
                <a:endParaRPr lang="en-US" sz="2400" dirty="0"/>
              </a:p>
            </p:txBody>
          </p:sp>
        </mc:Choice>
        <mc:Fallback xmlns="">
          <p:sp>
            <p:nvSpPr>
              <p:cNvPr id="13" name="TextBox 12">
                <a:extLst>
                  <a:ext uri="{FF2B5EF4-FFF2-40B4-BE49-F238E27FC236}">
                    <a16:creationId xmlns:a16="http://schemas.microsoft.com/office/drawing/2014/main" id="{83932C88-637E-4A32-9CCB-D2A855F8B245}"/>
                  </a:ext>
                </a:extLst>
              </p:cNvPr>
              <p:cNvSpPr txBox="1">
                <a:spLocks noRot="1" noChangeAspect="1" noMove="1" noResize="1" noEditPoints="1" noAdjustHandles="1" noChangeArrowheads="1" noChangeShapeType="1" noTextEdit="1"/>
              </p:cNvSpPr>
              <p:nvPr/>
            </p:nvSpPr>
            <p:spPr>
              <a:xfrm>
                <a:off x="7117092" y="3169624"/>
                <a:ext cx="4463415" cy="562462"/>
              </a:xfrm>
              <a:prstGeom prst="rect">
                <a:avLst/>
              </a:prstGeom>
              <a:blipFill>
                <a:blip r:embed="rId7"/>
                <a:stretch>
                  <a:fillRect/>
                </a:stretch>
              </a:blipFill>
            </p:spPr>
            <p:txBody>
              <a:bodyPr/>
              <a:lstStyle/>
              <a:p>
                <a:r>
                  <a:rPr lang="en-US">
                    <a:noFill/>
                  </a:rPr>
                  <a:t> </a:t>
                </a:r>
              </a:p>
            </p:txBody>
          </p:sp>
        </mc:Fallback>
      </mc:AlternateContent>
      <p:sp>
        <p:nvSpPr>
          <p:cNvPr id="15" name="Oval 14">
            <a:extLst>
              <a:ext uri="{FF2B5EF4-FFF2-40B4-BE49-F238E27FC236}">
                <a16:creationId xmlns:a16="http://schemas.microsoft.com/office/drawing/2014/main" id="{D4233B7E-1602-456D-B402-4230E37AD658}"/>
              </a:ext>
            </a:extLst>
          </p:cNvPr>
          <p:cNvSpPr/>
          <p:nvPr/>
        </p:nvSpPr>
        <p:spPr>
          <a:xfrm>
            <a:off x="1411960" y="4048783"/>
            <a:ext cx="584627" cy="59389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F303B21-513D-467B-83AD-87DE3B4A2C14}"/>
                  </a:ext>
                </a:extLst>
              </p:cNvPr>
              <p:cNvSpPr txBox="1"/>
              <p:nvPr/>
            </p:nvSpPr>
            <p:spPr>
              <a:xfrm>
                <a:off x="1538180" y="4131724"/>
                <a:ext cx="402482" cy="3584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bSup>
                    </m:oMath>
                  </m:oMathPara>
                </a14:m>
                <a:endParaRPr lang="en-US" dirty="0"/>
              </a:p>
            </p:txBody>
          </p:sp>
        </mc:Choice>
        <mc:Fallback xmlns="">
          <p:sp>
            <p:nvSpPr>
              <p:cNvPr id="19" name="TextBox 18">
                <a:extLst>
                  <a:ext uri="{FF2B5EF4-FFF2-40B4-BE49-F238E27FC236}">
                    <a16:creationId xmlns:a16="http://schemas.microsoft.com/office/drawing/2014/main" id="{DF303B21-513D-467B-83AD-87DE3B4A2C14}"/>
                  </a:ext>
                </a:extLst>
              </p:cNvPr>
              <p:cNvSpPr txBox="1">
                <a:spLocks noRot="1" noChangeAspect="1" noMove="1" noResize="1" noEditPoints="1" noAdjustHandles="1" noChangeArrowheads="1" noChangeShapeType="1" noTextEdit="1"/>
              </p:cNvSpPr>
              <p:nvPr/>
            </p:nvSpPr>
            <p:spPr>
              <a:xfrm>
                <a:off x="1538180" y="4131724"/>
                <a:ext cx="402482" cy="358431"/>
              </a:xfrm>
              <a:prstGeom prst="rect">
                <a:avLst/>
              </a:prstGeom>
              <a:blipFill>
                <a:blip r:embed="rId8"/>
                <a:stretch>
                  <a:fillRect l="-7576" t="-3390" r="-12121" b="-13559"/>
                </a:stretch>
              </a:blipFill>
            </p:spPr>
            <p:txBody>
              <a:bodyPr/>
              <a:lstStyle/>
              <a:p>
                <a:r>
                  <a:rPr lang="en-US">
                    <a:noFill/>
                  </a:rPr>
                  <a:t> </a:t>
                </a:r>
              </a:p>
            </p:txBody>
          </p:sp>
        </mc:Fallback>
      </mc:AlternateContent>
      <p:cxnSp>
        <p:nvCxnSpPr>
          <p:cNvPr id="20" name="Straight Arrow Connector 19">
            <a:extLst>
              <a:ext uri="{FF2B5EF4-FFF2-40B4-BE49-F238E27FC236}">
                <a16:creationId xmlns:a16="http://schemas.microsoft.com/office/drawing/2014/main" id="{F09C4A4F-4481-48FB-B106-E7C4E3D49A26}"/>
              </a:ext>
            </a:extLst>
          </p:cNvPr>
          <p:cNvCxnSpPr>
            <a:cxnSpLocks/>
            <a:stCxn id="15" idx="6"/>
          </p:cNvCxnSpPr>
          <p:nvPr/>
        </p:nvCxnSpPr>
        <p:spPr>
          <a:xfrm flipV="1">
            <a:off x="1996587" y="3716864"/>
            <a:ext cx="1182368" cy="62886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FD7FDF2-F564-4299-84B6-09A05075EC19}"/>
                  </a:ext>
                </a:extLst>
              </p:cNvPr>
              <p:cNvSpPr txBox="1"/>
              <p:nvPr/>
            </p:nvSpPr>
            <p:spPr>
              <a:xfrm>
                <a:off x="2430146" y="4017559"/>
                <a:ext cx="409663" cy="352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it-IT" i="1" smtClean="0">
                              <a:latin typeface="Cambria Math" panose="02040503050406030204" pitchFamily="18" charset="0"/>
                            </a:rPr>
                          </m:ctrlPr>
                        </m:sSubSupPr>
                        <m:e>
                          <m:r>
                            <a:rPr lang="it-IT"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𝑖𝑘</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bSup>
                    </m:oMath>
                  </m:oMathPara>
                </a14:m>
                <a:endParaRPr lang="it-IT" dirty="0"/>
              </a:p>
            </p:txBody>
          </p:sp>
        </mc:Choice>
        <mc:Fallback xmlns="">
          <p:sp>
            <p:nvSpPr>
              <p:cNvPr id="25" name="TextBox 24">
                <a:extLst>
                  <a:ext uri="{FF2B5EF4-FFF2-40B4-BE49-F238E27FC236}">
                    <a16:creationId xmlns:a16="http://schemas.microsoft.com/office/drawing/2014/main" id="{2FD7FDF2-F564-4299-84B6-09A05075EC19}"/>
                  </a:ext>
                </a:extLst>
              </p:cNvPr>
              <p:cNvSpPr txBox="1">
                <a:spLocks noRot="1" noChangeAspect="1" noMove="1" noResize="1" noEditPoints="1" noAdjustHandles="1" noChangeArrowheads="1" noChangeShapeType="1" noTextEdit="1"/>
              </p:cNvSpPr>
              <p:nvPr/>
            </p:nvSpPr>
            <p:spPr>
              <a:xfrm>
                <a:off x="2430146" y="4017559"/>
                <a:ext cx="409663" cy="352597"/>
              </a:xfrm>
              <a:prstGeom prst="rect">
                <a:avLst/>
              </a:prstGeom>
              <a:blipFill>
                <a:blip r:embed="rId9"/>
                <a:stretch>
                  <a:fillRect l="-13433" t="-3448" r="-11940" b="-189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88A6709-1754-4C8C-B8F7-D719FFDF30B0}"/>
                  </a:ext>
                </a:extLst>
              </p:cNvPr>
              <p:cNvSpPr txBox="1"/>
              <p:nvPr/>
            </p:nvSpPr>
            <p:spPr>
              <a:xfrm>
                <a:off x="4556734" y="3844240"/>
                <a:ext cx="2827069" cy="89159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𝐽</m:t>
                          </m:r>
                          <m:r>
                            <a:rPr lang="en-US" sz="2400" i="1">
                              <a:latin typeface="Cambria Math" panose="02040503050406030204" pitchFamily="18" charset="0"/>
                              <a:ea typeface="Cambria Math" panose="02040503050406030204" pitchFamily="18" charset="0"/>
                            </a:rPr>
                            <m:t>(</m:t>
                          </m:r>
                          <m:r>
                            <m:rPr>
                              <m:sty m:val="p"/>
                            </m:rPr>
                            <a:rPr lang="el-GR" sz="2400" i="1" smtClean="0">
                              <a:latin typeface="Cambria Math" panose="02040503050406030204" pitchFamily="18" charset="0"/>
                              <a:ea typeface="Cambria Math" panose="02040503050406030204" pitchFamily="18" charset="0"/>
                            </a:rPr>
                            <m:t>Θ</m:t>
                          </m:r>
                          <m:r>
                            <a:rPr lang="en-US" sz="2400" b="0" i="1" smtClean="0">
                              <a:latin typeface="Cambria Math" panose="02040503050406030204" pitchFamily="18" charset="0"/>
                              <a:ea typeface="Cambria Math" panose="02040503050406030204" pitchFamily="18" charset="0"/>
                            </a:rPr>
                            <m:t>)</m:t>
                          </m:r>
                        </m:num>
                        <m:den>
                          <m:r>
                            <a:rPr lang="en-US" sz="2400" i="1" smtClean="0">
                              <a:latin typeface="Cambria Math" panose="02040503050406030204" pitchFamily="18" charset="0"/>
                              <a:ea typeface="Cambria Math" panose="02040503050406030204" pitchFamily="18" charset="0"/>
                            </a:rPr>
                            <m:t>𝜕</m:t>
                          </m:r>
                          <m:sSubSup>
                            <m:sSubSupPr>
                              <m:ctrlPr>
                                <a:rPr lang="en-US" sz="2400" i="1" smtClean="0">
                                  <a:latin typeface="Cambria Math" panose="02040503050406030204" pitchFamily="18" charset="0"/>
                                  <a:ea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ea typeface="Cambria Math" panose="02040503050406030204" pitchFamily="18" charset="0"/>
                                </a:rPr>
                                <m:t>𝑖𝑘</m:t>
                              </m:r>
                            </m:sub>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𝑙</m:t>
                              </m:r>
                              <m:r>
                                <a:rPr lang="en-US" sz="2400" b="0" i="1" smtClean="0">
                                  <a:latin typeface="Cambria Math" panose="02040503050406030204" pitchFamily="18" charset="0"/>
                                  <a:ea typeface="Cambria Math" panose="02040503050406030204" pitchFamily="18" charset="0"/>
                                </a:rPr>
                                <m:t>)</m:t>
                              </m:r>
                            </m:sup>
                          </m:sSubSup>
                        </m:den>
                      </m:f>
                      <m:r>
                        <a:rPr lang="en-US" sz="2400" b="0" i="1" smtClean="0">
                          <a:latin typeface="Cambria Math" panose="02040503050406030204" pitchFamily="18" charset="0"/>
                          <a:ea typeface="Cambria Math" panose="02040503050406030204" pitchFamily="18" charset="0"/>
                        </a:rPr>
                        <m:t>=</m:t>
                      </m:r>
                      <m:sSubSup>
                        <m:sSubSupPr>
                          <m:ctrlPr>
                            <a:rPr lang="en-GB" sz="2400" i="1" smtClean="0">
                              <a:solidFill>
                                <a:schemeClr val="tx1"/>
                              </a:solidFill>
                              <a:latin typeface="Cambria Math" panose="02040503050406030204" pitchFamily="18" charset="0"/>
                              <a:ea typeface="Cambria Math" panose="02040503050406030204" pitchFamily="18" charset="0"/>
                            </a:rPr>
                          </m:ctrlPr>
                        </m:sSubSupPr>
                        <m:e>
                          <m:r>
                            <a:rPr lang="en-GB" sz="2400" i="1">
                              <a:solidFill>
                                <a:schemeClr val="tx1"/>
                              </a:solidFill>
                              <a:latin typeface="Cambria Math" panose="02040503050406030204" pitchFamily="18" charset="0"/>
                              <a:ea typeface="Cambria Math" panose="02040503050406030204" pitchFamily="18" charset="0"/>
                            </a:rPr>
                            <m:t>𝑎</m:t>
                          </m:r>
                        </m:e>
                        <m:sub>
                          <m:r>
                            <a:rPr lang="en-US" sz="2400" b="0" i="1" smtClean="0">
                              <a:solidFill>
                                <a:schemeClr val="tx1"/>
                              </a:solidFill>
                              <a:latin typeface="Cambria Math" panose="02040503050406030204" pitchFamily="18" charset="0"/>
                              <a:ea typeface="Cambria Math" panose="02040503050406030204" pitchFamily="18" charset="0"/>
                            </a:rPr>
                            <m:t>𝑘</m:t>
                          </m:r>
                        </m:sub>
                        <m:sup>
                          <m:r>
                            <a:rPr lang="en-GB" sz="2400" i="1">
                              <a:solidFill>
                                <a:schemeClr val="tx1"/>
                              </a:solidFill>
                              <a:latin typeface="Cambria Math" panose="02040503050406030204" pitchFamily="18" charset="0"/>
                              <a:ea typeface="Cambria Math" panose="02040503050406030204" pitchFamily="18" charset="0"/>
                            </a:rPr>
                            <m:t>(</m:t>
                          </m:r>
                          <m:r>
                            <a:rPr lang="en-GB" sz="2400" i="1">
                              <a:solidFill>
                                <a:schemeClr val="tx1"/>
                              </a:solidFill>
                              <a:latin typeface="Cambria Math" panose="02040503050406030204" pitchFamily="18" charset="0"/>
                              <a:ea typeface="Cambria Math" panose="02040503050406030204" pitchFamily="18" charset="0"/>
                            </a:rPr>
                            <m:t>𝑙</m:t>
                          </m:r>
                          <m:r>
                            <a:rPr lang="en-GB" sz="2400" i="1">
                              <a:solidFill>
                                <a:schemeClr val="tx1"/>
                              </a:solidFill>
                              <a:latin typeface="Cambria Math" panose="02040503050406030204" pitchFamily="18" charset="0"/>
                              <a:ea typeface="Cambria Math" panose="02040503050406030204" pitchFamily="18" charset="0"/>
                            </a:rPr>
                            <m:t>)</m:t>
                          </m:r>
                        </m:sup>
                      </m:sSubSup>
                      <m:sSubSup>
                        <m:sSubSupPr>
                          <m:ctrlPr>
                            <a:rPr lang="en-GB" sz="2400" i="1" smtClean="0">
                              <a:solidFill>
                                <a:srgbClr val="FF0000"/>
                              </a:solidFill>
                              <a:latin typeface="Cambria Math" panose="02040503050406030204" pitchFamily="18" charset="0"/>
                              <a:ea typeface="Cambria Math" panose="02040503050406030204" pitchFamily="18" charset="0"/>
                            </a:rPr>
                          </m:ctrlPr>
                        </m:sSubSupPr>
                        <m:e>
                          <m:r>
                            <a:rPr lang="en-GB" sz="2400" i="1">
                              <a:solidFill>
                                <a:srgbClr val="FF0000"/>
                              </a:solidFill>
                              <a:latin typeface="Cambria Math" panose="02040503050406030204" pitchFamily="18" charset="0"/>
                              <a:ea typeface="Cambria Math" panose="02040503050406030204" pitchFamily="18" charset="0"/>
                            </a:rPr>
                            <m:t>𝛿</m:t>
                          </m:r>
                        </m:e>
                        <m:sub>
                          <m:r>
                            <a:rPr lang="en-GB" sz="2400" i="1">
                              <a:solidFill>
                                <a:srgbClr val="FF0000"/>
                              </a:solidFill>
                              <a:latin typeface="Cambria Math" panose="02040503050406030204" pitchFamily="18" charset="0"/>
                              <a:ea typeface="Cambria Math" panose="02040503050406030204" pitchFamily="18" charset="0"/>
                            </a:rPr>
                            <m:t>𝑖</m:t>
                          </m:r>
                        </m:sub>
                        <m:sup>
                          <m:r>
                            <a:rPr lang="en-GB" sz="2400" i="1">
                              <a:solidFill>
                                <a:srgbClr val="FF0000"/>
                              </a:solidFill>
                              <a:latin typeface="Cambria Math" panose="02040503050406030204" pitchFamily="18" charset="0"/>
                              <a:ea typeface="Cambria Math" panose="02040503050406030204" pitchFamily="18" charset="0"/>
                            </a:rPr>
                            <m:t>(</m:t>
                          </m:r>
                          <m:r>
                            <a:rPr lang="en-GB" sz="2400" i="1">
                              <a:solidFill>
                                <a:srgbClr val="FF0000"/>
                              </a:solidFill>
                              <a:latin typeface="Cambria Math" panose="02040503050406030204" pitchFamily="18" charset="0"/>
                              <a:ea typeface="Cambria Math" panose="02040503050406030204" pitchFamily="18" charset="0"/>
                            </a:rPr>
                            <m:t>𝑙</m:t>
                          </m:r>
                          <m:r>
                            <a:rPr lang="en-GB" sz="2400" i="1">
                              <a:solidFill>
                                <a:srgbClr val="FF0000"/>
                              </a:solidFill>
                              <a:latin typeface="Cambria Math" panose="02040503050406030204" pitchFamily="18" charset="0"/>
                              <a:ea typeface="Cambria Math" panose="02040503050406030204" pitchFamily="18" charset="0"/>
                            </a:rPr>
                            <m:t>+1)</m:t>
                          </m:r>
                        </m:sup>
                      </m:sSubSup>
                    </m:oMath>
                  </m:oMathPara>
                </a14:m>
                <a:endParaRPr lang="en-US" sz="2400" dirty="0"/>
              </a:p>
            </p:txBody>
          </p:sp>
        </mc:Choice>
        <mc:Fallback xmlns="">
          <p:sp>
            <p:nvSpPr>
              <p:cNvPr id="27" name="TextBox 26">
                <a:extLst>
                  <a:ext uri="{FF2B5EF4-FFF2-40B4-BE49-F238E27FC236}">
                    <a16:creationId xmlns:a16="http://schemas.microsoft.com/office/drawing/2014/main" id="{188A6709-1754-4C8C-B8F7-D719FFDF30B0}"/>
                  </a:ext>
                </a:extLst>
              </p:cNvPr>
              <p:cNvSpPr txBox="1">
                <a:spLocks noRot="1" noChangeAspect="1" noMove="1" noResize="1" noEditPoints="1" noAdjustHandles="1" noChangeArrowheads="1" noChangeShapeType="1" noTextEdit="1"/>
              </p:cNvSpPr>
              <p:nvPr/>
            </p:nvSpPr>
            <p:spPr>
              <a:xfrm>
                <a:off x="4556734" y="3844240"/>
                <a:ext cx="2827069" cy="891591"/>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57086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634E-FFA3-45D1-9364-2310206606F9}"/>
              </a:ext>
            </a:extLst>
          </p:cNvPr>
          <p:cNvSpPr>
            <a:spLocks noGrp="1"/>
          </p:cNvSpPr>
          <p:nvPr>
            <p:ph type="title"/>
          </p:nvPr>
        </p:nvSpPr>
        <p:spPr/>
        <p:txBody>
          <a:bodyPr/>
          <a:lstStyle/>
          <a:p>
            <a:r>
              <a:rPr lang="en-US" dirty="0"/>
              <a:t>Sigmoid functions: issues</a:t>
            </a:r>
          </a:p>
        </p:txBody>
      </p:sp>
      <p:sp>
        <p:nvSpPr>
          <p:cNvPr id="3" name="Content Placeholder 2">
            <a:extLst>
              <a:ext uri="{FF2B5EF4-FFF2-40B4-BE49-F238E27FC236}">
                <a16:creationId xmlns:a16="http://schemas.microsoft.com/office/drawing/2014/main" id="{EABB1CD1-C0C1-4E92-9B6F-5ECF36EC5200}"/>
              </a:ext>
            </a:extLst>
          </p:cNvPr>
          <p:cNvSpPr>
            <a:spLocks noGrp="1"/>
          </p:cNvSpPr>
          <p:nvPr>
            <p:ph idx="1"/>
          </p:nvPr>
        </p:nvSpPr>
        <p:spPr/>
        <p:txBody>
          <a:bodyPr/>
          <a:lstStyle/>
          <a:p>
            <a:r>
              <a:rPr lang="en-US" u="sng" dirty="0"/>
              <a:t>Sparsity</a:t>
            </a:r>
            <a:r>
              <a:rPr lang="en-US" dirty="0"/>
              <a:t>: means that in a large network (many layers and many hidden units), several neurons are not activated</a:t>
            </a:r>
          </a:p>
          <a:p>
            <a:r>
              <a:rPr lang="en-US" dirty="0"/>
              <a:t>If the networks is large, it is reasonable that specific parts will be devoted to specific tasks, thus when an input is processed, only the neurons devoted to the recognition of such an input should be activated (in a non-deep NN since only a limited number of neurons are available, they should be able to process many types of input, so sparsity is not required)</a:t>
            </a:r>
          </a:p>
          <a:p>
            <a:r>
              <a:rPr lang="en-US" dirty="0"/>
              <a:t>Sigmoid functions are never exactly equal to 0, thus neurons are never </a:t>
            </a:r>
            <a:r>
              <a:rPr lang="en-US"/>
              <a:t>totally deactivated.</a:t>
            </a:r>
            <a:endParaRPr lang="en-US" dirty="0"/>
          </a:p>
        </p:txBody>
      </p:sp>
    </p:spTree>
    <p:extLst>
      <p:ext uri="{BB962C8B-B14F-4D97-AF65-F5344CB8AC3E}">
        <p14:creationId xmlns:p14="http://schemas.microsoft.com/office/powerpoint/2010/main" val="4265272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83443-453B-467E-B212-957C1572B4C7}"/>
              </a:ext>
            </a:extLst>
          </p:cNvPr>
          <p:cNvSpPr>
            <a:spLocks noGrp="1"/>
          </p:cNvSpPr>
          <p:nvPr>
            <p:ph type="title"/>
          </p:nvPr>
        </p:nvSpPr>
        <p:spPr/>
        <p:txBody>
          <a:bodyPr/>
          <a:lstStyle/>
          <a:p>
            <a:r>
              <a:rPr lang="en-US" dirty="0"/>
              <a:t>Rectified Linear Unit (</a:t>
            </a:r>
            <a:r>
              <a:rPr lang="en-US" dirty="0" err="1"/>
              <a:t>ReLU</a:t>
            </a:r>
            <a:r>
              <a:rPr lang="en-US" dirty="0"/>
              <a:t>)</a:t>
            </a:r>
          </a:p>
        </p:txBody>
      </p:sp>
      <p:sp>
        <p:nvSpPr>
          <p:cNvPr id="3" name="Content Placeholder 2">
            <a:extLst>
              <a:ext uri="{FF2B5EF4-FFF2-40B4-BE49-F238E27FC236}">
                <a16:creationId xmlns:a16="http://schemas.microsoft.com/office/drawing/2014/main" id="{AAAAF99B-6393-4556-8B22-C037AA4B4A80}"/>
              </a:ext>
            </a:extLst>
          </p:cNvPr>
          <p:cNvSpPr>
            <a:spLocks noGrp="1"/>
          </p:cNvSpPr>
          <p:nvPr>
            <p:ph idx="1"/>
          </p:nvPr>
        </p:nvSpPr>
        <p:spPr/>
        <p:txBody>
          <a:bodyPr>
            <a:normAutofit lnSpcReduction="10000"/>
          </a:bodyPr>
          <a:lstStyle/>
          <a:p>
            <a:r>
              <a:rPr lang="en-US" dirty="0"/>
              <a:t>Computationally simple (also the derivative)</a:t>
            </a:r>
          </a:p>
          <a:p>
            <a:r>
              <a:rPr lang="en-US" dirty="0"/>
              <a:t>It acts partly as a linear function but is</a:t>
            </a:r>
            <a:br>
              <a:rPr lang="en-US" dirty="0"/>
            </a:br>
            <a:r>
              <a:rPr lang="en-US" dirty="0" err="1"/>
              <a:t>is</a:t>
            </a:r>
            <a:r>
              <a:rPr lang="en-US" dirty="0"/>
              <a:t> not linear</a:t>
            </a:r>
          </a:p>
          <a:p>
            <a:r>
              <a:rPr lang="en-US" dirty="0"/>
              <a:t>May output an actual 0 value (sparsity)</a:t>
            </a:r>
          </a:p>
          <a:p>
            <a:r>
              <a:rPr lang="en-US" dirty="0"/>
              <a:t>No saturation </a:t>
            </a:r>
            <a:r>
              <a:rPr lang="en-US" dirty="0">
                <a:sym typeface="Wingdings" panose="05000000000000000000" pitchFamily="2" charset="2"/>
              </a:rPr>
              <a:t> gradient flows well (it</a:t>
            </a:r>
            <a:br>
              <a:rPr lang="en-US" dirty="0">
                <a:sym typeface="Wingdings" panose="05000000000000000000" pitchFamily="2" charset="2"/>
              </a:rPr>
            </a:br>
            <a:r>
              <a:rPr lang="en-US" dirty="0">
                <a:sym typeface="Wingdings" panose="05000000000000000000" pitchFamily="2" charset="2"/>
              </a:rPr>
              <a:t>remains proportional to node’s activation)</a:t>
            </a:r>
          </a:p>
          <a:p>
            <a:r>
              <a:rPr lang="en-US" dirty="0">
                <a:sym typeface="Wingdings" panose="05000000000000000000" pitchFamily="2" charset="2"/>
              </a:rPr>
              <a:t>To control sparsity (output and gradient =0 or dying </a:t>
            </a:r>
            <a:r>
              <a:rPr lang="en-US" dirty="0" err="1">
                <a:sym typeface="Wingdings" panose="05000000000000000000" pitchFamily="2" charset="2"/>
              </a:rPr>
              <a:t>ReLU</a:t>
            </a:r>
            <a:r>
              <a:rPr lang="en-US" dirty="0">
                <a:sym typeface="Wingdings" panose="05000000000000000000" pitchFamily="2" charset="2"/>
              </a:rPr>
              <a:t> problem) Leaky </a:t>
            </a:r>
            <a:r>
              <a:rPr lang="en-US" dirty="0" err="1">
                <a:sym typeface="Wingdings" panose="05000000000000000000" pitchFamily="2" charset="2"/>
              </a:rPr>
              <a:t>ReLU</a:t>
            </a:r>
            <a:r>
              <a:rPr lang="en-US" dirty="0">
                <a:sym typeface="Wingdings" panose="05000000000000000000" pitchFamily="2" charset="2"/>
              </a:rPr>
              <a:t> or Exponential </a:t>
            </a:r>
            <a:r>
              <a:rPr lang="en-US" dirty="0" err="1">
                <a:sym typeface="Wingdings" panose="05000000000000000000" pitchFamily="2" charset="2"/>
              </a:rPr>
              <a:t>ReLu</a:t>
            </a:r>
            <a:endParaRPr lang="en-US" dirty="0">
              <a:sym typeface="Wingdings" panose="05000000000000000000" pitchFamily="2" charset="2"/>
            </a:endParaRPr>
          </a:p>
          <a:p>
            <a:r>
              <a:rPr lang="en-US" dirty="0">
                <a:sym typeface="Wingdings" panose="05000000000000000000" pitchFamily="2" charset="2"/>
              </a:rPr>
              <a:t>Together with He initialization is a way to avoid unstable gradient (more in the following)</a:t>
            </a:r>
            <a:endParaRPr lang="en-US" dirty="0"/>
          </a:p>
        </p:txBody>
      </p:sp>
      <p:pic>
        <p:nvPicPr>
          <p:cNvPr id="1026" name="Picture 2" descr="Risultato immagini per relu activation function">
            <a:extLst>
              <a:ext uri="{FF2B5EF4-FFF2-40B4-BE49-F238E27FC236}">
                <a16:creationId xmlns:a16="http://schemas.microsoft.com/office/drawing/2014/main" id="{06F04CBF-662E-4B89-A33E-E5AE1FA4B9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2996" y="887844"/>
            <a:ext cx="3400425" cy="264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0723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6F9EA-89DA-4FCC-83DD-3C043CE8CAD6}"/>
              </a:ext>
            </a:extLst>
          </p:cNvPr>
          <p:cNvSpPr>
            <a:spLocks noGrp="1"/>
          </p:cNvSpPr>
          <p:nvPr>
            <p:ph type="title"/>
          </p:nvPr>
        </p:nvSpPr>
        <p:spPr/>
        <p:txBody>
          <a:bodyPr/>
          <a:lstStyle/>
          <a:p>
            <a:r>
              <a:rPr lang="en-US" dirty="0"/>
              <a:t>Deep-L Neural Nets</a:t>
            </a:r>
          </a:p>
        </p:txBody>
      </p:sp>
      <p:sp>
        <p:nvSpPr>
          <p:cNvPr id="3" name="Content Placeholder 2">
            <a:extLst>
              <a:ext uri="{FF2B5EF4-FFF2-40B4-BE49-F238E27FC236}">
                <a16:creationId xmlns:a16="http://schemas.microsoft.com/office/drawing/2014/main" id="{FAC68D28-7EAA-4708-991A-800E43D9CBD5}"/>
              </a:ext>
            </a:extLst>
          </p:cNvPr>
          <p:cNvSpPr>
            <a:spLocks noGrp="1"/>
          </p:cNvSpPr>
          <p:nvPr>
            <p:ph idx="1"/>
          </p:nvPr>
        </p:nvSpPr>
        <p:spPr/>
        <p:txBody>
          <a:bodyPr/>
          <a:lstStyle/>
          <a:p>
            <a:r>
              <a:rPr lang="en-US" dirty="0"/>
              <a:t>L= number of </a:t>
            </a:r>
            <a:r>
              <a:rPr lang="en-US" dirty="0" err="1"/>
              <a:t>hidden+output</a:t>
            </a:r>
            <a:r>
              <a:rPr lang="en-US" dirty="0"/>
              <a:t> layers</a:t>
            </a:r>
          </a:p>
        </p:txBody>
      </p:sp>
      <p:pic>
        <p:nvPicPr>
          <p:cNvPr id="5" name="Picture 4">
            <a:extLst>
              <a:ext uri="{FF2B5EF4-FFF2-40B4-BE49-F238E27FC236}">
                <a16:creationId xmlns:a16="http://schemas.microsoft.com/office/drawing/2014/main" id="{2B004180-7E2B-403E-821D-D0B6DE3E4E37}"/>
              </a:ext>
            </a:extLst>
          </p:cNvPr>
          <p:cNvPicPr>
            <a:picLocks noChangeAspect="1"/>
          </p:cNvPicPr>
          <p:nvPr/>
        </p:nvPicPr>
        <p:blipFill>
          <a:blip r:embed="rId2"/>
          <a:stretch>
            <a:fillRect/>
          </a:stretch>
        </p:blipFill>
        <p:spPr>
          <a:xfrm>
            <a:off x="2233612" y="2498407"/>
            <a:ext cx="7724775" cy="3895725"/>
          </a:xfrm>
          <a:prstGeom prst="rect">
            <a:avLst/>
          </a:prstGeom>
        </p:spPr>
      </p:pic>
      <p:sp>
        <p:nvSpPr>
          <p:cNvPr id="6" name="TextBox 5">
            <a:extLst>
              <a:ext uri="{FF2B5EF4-FFF2-40B4-BE49-F238E27FC236}">
                <a16:creationId xmlns:a16="http://schemas.microsoft.com/office/drawing/2014/main" id="{35BE9D14-9B9A-45CC-81B2-09CDBA7463CC}"/>
              </a:ext>
            </a:extLst>
          </p:cNvPr>
          <p:cNvSpPr txBox="1"/>
          <p:nvPr/>
        </p:nvSpPr>
        <p:spPr>
          <a:xfrm>
            <a:off x="8012430" y="5492115"/>
            <a:ext cx="1218603" cy="369332"/>
          </a:xfrm>
          <a:prstGeom prst="rect">
            <a:avLst/>
          </a:prstGeom>
          <a:noFill/>
        </p:spPr>
        <p:txBody>
          <a:bodyPr wrap="none" rtlCol="0">
            <a:spAutoFit/>
          </a:bodyPr>
          <a:lstStyle/>
          <a:p>
            <a:r>
              <a:rPr lang="en-US" dirty="0"/>
              <a:t>Deep-4 NN</a:t>
            </a:r>
          </a:p>
        </p:txBody>
      </p:sp>
    </p:spTree>
    <p:extLst>
      <p:ext uri="{BB962C8B-B14F-4D97-AF65-F5344CB8AC3E}">
        <p14:creationId xmlns:p14="http://schemas.microsoft.com/office/powerpoint/2010/main" val="5178553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B1CF8-51FF-44E8-8148-7EB87EF85446}"/>
              </a:ext>
            </a:extLst>
          </p:cNvPr>
          <p:cNvSpPr>
            <a:spLocks noGrp="1"/>
          </p:cNvSpPr>
          <p:nvPr>
            <p:ph type="title"/>
          </p:nvPr>
        </p:nvSpPr>
        <p:spPr/>
        <p:txBody>
          <a:bodyPr/>
          <a:lstStyle/>
          <a:p>
            <a:r>
              <a:rPr lang="en-US" dirty="0"/>
              <a:t>Deep-L NN: why</a:t>
            </a:r>
          </a:p>
        </p:txBody>
      </p:sp>
      <p:sp>
        <p:nvSpPr>
          <p:cNvPr id="3" name="Content Placeholder 2">
            <a:extLst>
              <a:ext uri="{FF2B5EF4-FFF2-40B4-BE49-F238E27FC236}">
                <a16:creationId xmlns:a16="http://schemas.microsoft.com/office/drawing/2014/main" id="{C4833F2A-0CF8-413C-A1B2-3AE66A80786C}"/>
              </a:ext>
            </a:extLst>
          </p:cNvPr>
          <p:cNvSpPr>
            <a:spLocks noGrp="1"/>
          </p:cNvSpPr>
          <p:nvPr>
            <p:ph idx="1"/>
          </p:nvPr>
        </p:nvSpPr>
        <p:spPr/>
        <p:txBody>
          <a:bodyPr/>
          <a:lstStyle/>
          <a:p>
            <a:r>
              <a:rPr lang="en-US" dirty="0"/>
              <a:t>Hierarchical style of learning (e.g. vision, </a:t>
            </a:r>
            <a:r>
              <a:rPr lang="en-US" dirty="0" err="1"/>
              <a:t>sound,etc</a:t>
            </a:r>
            <a:r>
              <a:rPr lang="en-US" dirty="0"/>
              <a:t>…)</a:t>
            </a:r>
          </a:p>
        </p:txBody>
      </p:sp>
      <p:pic>
        <p:nvPicPr>
          <p:cNvPr id="5" name="Picture 4">
            <a:extLst>
              <a:ext uri="{FF2B5EF4-FFF2-40B4-BE49-F238E27FC236}">
                <a16:creationId xmlns:a16="http://schemas.microsoft.com/office/drawing/2014/main" id="{7F625F09-6E03-4A2E-9E3F-BFFA435C17BC}"/>
              </a:ext>
            </a:extLst>
          </p:cNvPr>
          <p:cNvPicPr>
            <a:picLocks noChangeAspect="1"/>
          </p:cNvPicPr>
          <p:nvPr/>
        </p:nvPicPr>
        <p:blipFill>
          <a:blip r:embed="rId2"/>
          <a:stretch>
            <a:fillRect/>
          </a:stretch>
        </p:blipFill>
        <p:spPr>
          <a:xfrm>
            <a:off x="1089661" y="2400300"/>
            <a:ext cx="2145030" cy="2221913"/>
          </a:xfrm>
          <a:prstGeom prst="rect">
            <a:avLst/>
          </a:prstGeom>
        </p:spPr>
      </p:pic>
      <p:pic>
        <p:nvPicPr>
          <p:cNvPr id="7" name="Picture 6">
            <a:extLst>
              <a:ext uri="{FF2B5EF4-FFF2-40B4-BE49-F238E27FC236}">
                <a16:creationId xmlns:a16="http://schemas.microsoft.com/office/drawing/2014/main" id="{0DD740BC-A8EB-4206-B772-C94B14BAF464}"/>
              </a:ext>
            </a:extLst>
          </p:cNvPr>
          <p:cNvPicPr>
            <a:picLocks noChangeAspect="1"/>
          </p:cNvPicPr>
          <p:nvPr/>
        </p:nvPicPr>
        <p:blipFill>
          <a:blip r:embed="rId3"/>
          <a:stretch>
            <a:fillRect/>
          </a:stretch>
        </p:blipFill>
        <p:spPr>
          <a:xfrm>
            <a:off x="3420428" y="2480310"/>
            <a:ext cx="1660207" cy="2927620"/>
          </a:xfrm>
          <a:prstGeom prst="rect">
            <a:avLst/>
          </a:prstGeom>
        </p:spPr>
      </p:pic>
      <p:sp>
        <p:nvSpPr>
          <p:cNvPr id="8" name="TextBox 7">
            <a:extLst>
              <a:ext uri="{FF2B5EF4-FFF2-40B4-BE49-F238E27FC236}">
                <a16:creationId xmlns:a16="http://schemas.microsoft.com/office/drawing/2014/main" id="{85A03FF4-687E-44B1-8824-46ADD297C710}"/>
              </a:ext>
            </a:extLst>
          </p:cNvPr>
          <p:cNvSpPr txBox="1"/>
          <p:nvPr/>
        </p:nvSpPr>
        <p:spPr>
          <a:xfrm>
            <a:off x="3360420" y="5422426"/>
            <a:ext cx="1576842" cy="369332"/>
          </a:xfrm>
          <a:prstGeom prst="rect">
            <a:avLst/>
          </a:prstGeom>
          <a:noFill/>
        </p:spPr>
        <p:txBody>
          <a:bodyPr wrap="none" rtlCol="0">
            <a:spAutoFit/>
          </a:bodyPr>
          <a:lstStyle/>
          <a:p>
            <a:r>
              <a:rPr lang="en-US" dirty="0"/>
              <a:t>Edge detectors</a:t>
            </a:r>
          </a:p>
        </p:txBody>
      </p:sp>
      <p:pic>
        <p:nvPicPr>
          <p:cNvPr id="12" name="Picture 11">
            <a:extLst>
              <a:ext uri="{FF2B5EF4-FFF2-40B4-BE49-F238E27FC236}">
                <a16:creationId xmlns:a16="http://schemas.microsoft.com/office/drawing/2014/main" id="{833163B5-7C68-410B-9AAA-4861F44EB528}"/>
              </a:ext>
            </a:extLst>
          </p:cNvPr>
          <p:cNvPicPr>
            <a:picLocks noChangeAspect="1"/>
          </p:cNvPicPr>
          <p:nvPr/>
        </p:nvPicPr>
        <p:blipFill>
          <a:blip r:embed="rId4"/>
          <a:stretch>
            <a:fillRect/>
          </a:stretch>
        </p:blipFill>
        <p:spPr>
          <a:xfrm>
            <a:off x="4027223" y="2480310"/>
            <a:ext cx="2145030" cy="1697467"/>
          </a:xfrm>
          <a:prstGeom prst="rect">
            <a:avLst/>
          </a:prstGeom>
        </p:spPr>
      </p:pic>
      <p:pic>
        <p:nvPicPr>
          <p:cNvPr id="14" name="Picture 13">
            <a:extLst>
              <a:ext uri="{FF2B5EF4-FFF2-40B4-BE49-F238E27FC236}">
                <a16:creationId xmlns:a16="http://schemas.microsoft.com/office/drawing/2014/main" id="{CFEC7DBD-663D-4C8C-B131-636632E2BD36}"/>
              </a:ext>
            </a:extLst>
          </p:cNvPr>
          <p:cNvPicPr>
            <a:picLocks noChangeAspect="1"/>
          </p:cNvPicPr>
          <p:nvPr/>
        </p:nvPicPr>
        <p:blipFill>
          <a:blip r:embed="rId5"/>
          <a:stretch>
            <a:fillRect/>
          </a:stretch>
        </p:blipFill>
        <p:spPr>
          <a:xfrm>
            <a:off x="5413044" y="4255154"/>
            <a:ext cx="1546756" cy="1167959"/>
          </a:xfrm>
          <a:prstGeom prst="rect">
            <a:avLst/>
          </a:prstGeom>
        </p:spPr>
      </p:pic>
      <p:sp>
        <p:nvSpPr>
          <p:cNvPr id="15" name="TextBox 14">
            <a:extLst>
              <a:ext uri="{FF2B5EF4-FFF2-40B4-BE49-F238E27FC236}">
                <a16:creationId xmlns:a16="http://schemas.microsoft.com/office/drawing/2014/main" id="{801262B1-7FF3-4121-BCB5-39362BD44E03}"/>
              </a:ext>
            </a:extLst>
          </p:cNvPr>
          <p:cNvSpPr txBox="1"/>
          <p:nvPr/>
        </p:nvSpPr>
        <p:spPr>
          <a:xfrm>
            <a:off x="5132609" y="5430706"/>
            <a:ext cx="2079287" cy="369332"/>
          </a:xfrm>
          <a:prstGeom prst="rect">
            <a:avLst/>
          </a:prstGeom>
          <a:noFill/>
        </p:spPr>
        <p:txBody>
          <a:bodyPr wrap="none" rtlCol="0">
            <a:spAutoFit/>
          </a:bodyPr>
          <a:lstStyle/>
          <a:p>
            <a:r>
              <a:rPr lang="en-US" dirty="0"/>
              <a:t>Face parts detectors</a:t>
            </a:r>
          </a:p>
        </p:txBody>
      </p:sp>
      <p:pic>
        <p:nvPicPr>
          <p:cNvPr id="17" name="Picture 16">
            <a:extLst>
              <a:ext uri="{FF2B5EF4-FFF2-40B4-BE49-F238E27FC236}">
                <a16:creationId xmlns:a16="http://schemas.microsoft.com/office/drawing/2014/main" id="{10847036-CD20-4D53-B690-EEDB2832CF14}"/>
              </a:ext>
            </a:extLst>
          </p:cNvPr>
          <p:cNvPicPr>
            <a:picLocks noChangeAspect="1"/>
          </p:cNvPicPr>
          <p:nvPr/>
        </p:nvPicPr>
        <p:blipFill>
          <a:blip r:embed="rId6"/>
          <a:stretch>
            <a:fillRect/>
          </a:stretch>
        </p:blipFill>
        <p:spPr>
          <a:xfrm>
            <a:off x="4027223" y="2480310"/>
            <a:ext cx="5728951" cy="1697467"/>
          </a:xfrm>
          <a:prstGeom prst="rect">
            <a:avLst/>
          </a:prstGeom>
        </p:spPr>
      </p:pic>
      <p:pic>
        <p:nvPicPr>
          <p:cNvPr id="19" name="Picture 18">
            <a:extLst>
              <a:ext uri="{FF2B5EF4-FFF2-40B4-BE49-F238E27FC236}">
                <a16:creationId xmlns:a16="http://schemas.microsoft.com/office/drawing/2014/main" id="{39A8C2CC-74EF-4BA4-9139-9E730DF0D0F1}"/>
              </a:ext>
            </a:extLst>
          </p:cNvPr>
          <p:cNvPicPr>
            <a:picLocks noChangeAspect="1"/>
          </p:cNvPicPr>
          <p:nvPr/>
        </p:nvPicPr>
        <p:blipFill>
          <a:blip r:embed="rId7"/>
          <a:stretch>
            <a:fillRect/>
          </a:stretch>
        </p:blipFill>
        <p:spPr>
          <a:xfrm>
            <a:off x="7246987" y="4248646"/>
            <a:ext cx="1605949" cy="1164184"/>
          </a:xfrm>
          <a:prstGeom prst="rect">
            <a:avLst/>
          </a:prstGeom>
        </p:spPr>
      </p:pic>
      <p:sp>
        <p:nvSpPr>
          <p:cNvPr id="20" name="TextBox 19">
            <a:extLst>
              <a:ext uri="{FF2B5EF4-FFF2-40B4-BE49-F238E27FC236}">
                <a16:creationId xmlns:a16="http://schemas.microsoft.com/office/drawing/2014/main" id="{18D6EE0E-6115-4C16-BF8A-5B5353BE6520}"/>
              </a:ext>
            </a:extLst>
          </p:cNvPr>
          <p:cNvSpPr txBox="1"/>
          <p:nvPr/>
        </p:nvSpPr>
        <p:spPr>
          <a:xfrm>
            <a:off x="7246987" y="5430706"/>
            <a:ext cx="1547090" cy="369332"/>
          </a:xfrm>
          <a:prstGeom prst="rect">
            <a:avLst/>
          </a:prstGeom>
          <a:noFill/>
        </p:spPr>
        <p:txBody>
          <a:bodyPr wrap="none" rtlCol="0">
            <a:spAutoFit/>
          </a:bodyPr>
          <a:lstStyle/>
          <a:p>
            <a:r>
              <a:rPr lang="en-US" dirty="0"/>
              <a:t>Face detectors</a:t>
            </a:r>
          </a:p>
        </p:txBody>
      </p:sp>
      <p:sp>
        <p:nvSpPr>
          <p:cNvPr id="21" name="TextBox 20">
            <a:extLst>
              <a:ext uri="{FF2B5EF4-FFF2-40B4-BE49-F238E27FC236}">
                <a16:creationId xmlns:a16="http://schemas.microsoft.com/office/drawing/2014/main" id="{072DB9AF-6A70-42B5-885C-01961634D7A1}"/>
              </a:ext>
            </a:extLst>
          </p:cNvPr>
          <p:cNvSpPr txBox="1"/>
          <p:nvPr/>
        </p:nvSpPr>
        <p:spPr>
          <a:xfrm>
            <a:off x="8852936" y="3702871"/>
            <a:ext cx="1946751" cy="369332"/>
          </a:xfrm>
          <a:prstGeom prst="rect">
            <a:avLst/>
          </a:prstGeom>
          <a:noFill/>
        </p:spPr>
        <p:txBody>
          <a:bodyPr wrap="none" rtlCol="0">
            <a:spAutoFit/>
          </a:bodyPr>
          <a:lstStyle/>
          <a:p>
            <a:r>
              <a:rPr lang="en-US" dirty="0"/>
              <a:t>Class (e.g. women)</a:t>
            </a:r>
          </a:p>
        </p:txBody>
      </p:sp>
      <p:sp>
        <p:nvSpPr>
          <p:cNvPr id="22" name="TextBox 21">
            <a:extLst>
              <a:ext uri="{FF2B5EF4-FFF2-40B4-BE49-F238E27FC236}">
                <a16:creationId xmlns:a16="http://schemas.microsoft.com/office/drawing/2014/main" id="{E865D6A5-4FED-42BA-B785-5ACC97A9CF68}"/>
              </a:ext>
            </a:extLst>
          </p:cNvPr>
          <p:cNvSpPr txBox="1"/>
          <p:nvPr/>
        </p:nvSpPr>
        <p:spPr>
          <a:xfrm>
            <a:off x="1295401" y="6127234"/>
            <a:ext cx="8554201" cy="461665"/>
          </a:xfrm>
          <a:prstGeom prst="rect">
            <a:avLst/>
          </a:prstGeom>
          <a:noFill/>
        </p:spPr>
        <p:txBody>
          <a:bodyPr wrap="none" rtlCol="0">
            <a:spAutoFit/>
          </a:bodyPr>
          <a:lstStyle/>
          <a:p>
            <a:r>
              <a:rPr lang="en-US" sz="2400" dirty="0"/>
              <a:t>Audio </a:t>
            </a:r>
            <a:r>
              <a:rPr lang="en-US" sz="2400" dirty="0">
                <a:sym typeface="Wingdings" panose="05000000000000000000" pitchFamily="2" charset="2"/>
              </a:rPr>
              <a:t> low level waveforms  phonemes  words  sentences</a:t>
            </a:r>
            <a:endParaRPr lang="en-US" sz="2400" dirty="0"/>
          </a:p>
        </p:txBody>
      </p:sp>
    </p:spTree>
    <p:extLst>
      <p:ext uri="{BB962C8B-B14F-4D97-AF65-F5344CB8AC3E}">
        <p14:creationId xmlns:p14="http://schemas.microsoft.com/office/powerpoint/2010/main" val="1273115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P spid="20" grpId="0"/>
      <p:bldP spid="21"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6CF5-DFC4-4B05-961D-04D1A5D0479A}"/>
              </a:ext>
            </a:extLst>
          </p:cNvPr>
          <p:cNvSpPr>
            <a:spLocks noGrp="1"/>
          </p:cNvSpPr>
          <p:nvPr>
            <p:ph type="title"/>
          </p:nvPr>
        </p:nvSpPr>
        <p:spPr/>
        <p:txBody>
          <a:bodyPr/>
          <a:lstStyle/>
          <a:p>
            <a:r>
              <a:rPr lang="en-US" dirty="0"/>
              <a:t>Deep-L NN: why</a:t>
            </a:r>
          </a:p>
        </p:txBody>
      </p:sp>
      <p:sp>
        <p:nvSpPr>
          <p:cNvPr id="3" name="Content Placeholder 2">
            <a:extLst>
              <a:ext uri="{FF2B5EF4-FFF2-40B4-BE49-F238E27FC236}">
                <a16:creationId xmlns:a16="http://schemas.microsoft.com/office/drawing/2014/main" id="{28879267-AE33-4CF9-B78D-C7B178F4FF8E}"/>
              </a:ext>
            </a:extLst>
          </p:cNvPr>
          <p:cNvSpPr>
            <a:spLocks noGrp="1"/>
          </p:cNvSpPr>
          <p:nvPr>
            <p:ph idx="1"/>
          </p:nvPr>
        </p:nvSpPr>
        <p:spPr/>
        <p:txBody>
          <a:bodyPr/>
          <a:lstStyle/>
          <a:p>
            <a:r>
              <a:rPr lang="en-US" dirty="0" err="1"/>
              <a:t>Circuirt</a:t>
            </a:r>
            <a:r>
              <a:rPr lang="en-US" dirty="0"/>
              <a:t> theory (shallow net requires exponentially large number of units than deeper smaller nets)</a:t>
            </a:r>
          </a:p>
        </p:txBody>
      </p:sp>
      <p:pic>
        <p:nvPicPr>
          <p:cNvPr id="7" name="Picture 6">
            <a:extLst>
              <a:ext uri="{FF2B5EF4-FFF2-40B4-BE49-F238E27FC236}">
                <a16:creationId xmlns:a16="http://schemas.microsoft.com/office/drawing/2014/main" id="{0D665FCA-13F0-44BC-A3E3-5BEC04F24492}"/>
              </a:ext>
            </a:extLst>
          </p:cNvPr>
          <p:cNvPicPr>
            <a:picLocks noChangeAspect="1"/>
          </p:cNvPicPr>
          <p:nvPr/>
        </p:nvPicPr>
        <p:blipFill>
          <a:blip r:embed="rId2"/>
          <a:stretch>
            <a:fillRect/>
          </a:stretch>
        </p:blipFill>
        <p:spPr>
          <a:xfrm>
            <a:off x="564377" y="3316061"/>
            <a:ext cx="4941372" cy="3039220"/>
          </a:xfrm>
          <a:prstGeom prst="rect">
            <a:avLst/>
          </a:prstGeom>
        </p:spPr>
      </p:pic>
      <p:sp>
        <p:nvSpPr>
          <p:cNvPr id="8" name="TextBox 7">
            <a:extLst>
              <a:ext uri="{FF2B5EF4-FFF2-40B4-BE49-F238E27FC236}">
                <a16:creationId xmlns:a16="http://schemas.microsoft.com/office/drawing/2014/main" id="{1AA167BD-EF39-4F94-9923-F2312984FDD4}"/>
              </a:ext>
            </a:extLst>
          </p:cNvPr>
          <p:cNvSpPr txBox="1"/>
          <p:nvPr/>
        </p:nvSpPr>
        <p:spPr>
          <a:xfrm>
            <a:off x="691515" y="3714750"/>
            <a:ext cx="508635" cy="462915"/>
          </a:xfrm>
          <a:prstGeom prst="rect">
            <a:avLst/>
          </a:prstGeom>
          <a:solidFill>
            <a:schemeClr val="bg1"/>
          </a:solidFill>
        </p:spPr>
        <p:txBody>
          <a:bodyPr wrap="square" rtlCol="0">
            <a:spAutoFit/>
          </a:bodyPr>
          <a:lstStyle/>
          <a:p>
            <a:endParaRPr lang="en-US" dirty="0"/>
          </a:p>
        </p:txBody>
      </p:sp>
      <p:pic>
        <p:nvPicPr>
          <p:cNvPr id="10" name="Picture 9">
            <a:extLst>
              <a:ext uri="{FF2B5EF4-FFF2-40B4-BE49-F238E27FC236}">
                <a16:creationId xmlns:a16="http://schemas.microsoft.com/office/drawing/2014/main" id="{1B663146-EA18-4AE3-BF9B-C392763743BD}"/>
              </a:ext>
            </a:extLst>
          </p:cNvPr>
          <p:cNvPicPr>
            <a:picLocks noChangeAspect="1"/>
          </p:cNvPicPr>
          <p:nvPr/>
        </p:nvPicPr>
        <p:blipFill>
          <a:blip r:embed="rId3"/>
          <a:stretch>
            <a:fillRect/>
          </a:stretch>
        </p:blipFill>
        <p:spPr>
          <a:xfrm>
            <a:off x="6363859" y="5723294"/>
            <a:ext cx="4425837" cy="495817"/>
          </a:xfrm>
          <a:prstGeom prst="rect">
            <a:avLst/>
          </a:prstGeom>
        </p:spPr>
      </p:pic>
      <p:cxnSp>
        <p:nvCxnSpPr>
          <p:cNvPr id="12" name="Straight Connector 11">
            <a:extLst>
              <a:ext uri="{FF2B5EF4-FFF2-40B4-BE49-F238E27FC236}">
                <a16:creationId xmlns:a16="http://schemas.microsoft.com/office/drawing/2014/main" id="{F88BE0C3-6254-4BBA-9138-F71BE1ED0F5C}"/>
              </a:ext>
            </a:extLst>
          </p:cNvPr>
          <p:cNvCxnSpPr/>
          <p:nvPr/>
        </p:nvCxnSpPr>
        <p:spPr>
          <a:xfrm flipV="1">
            <a:off x="6537960" y="4835671"/>
            <a:ext cx="302895" cy="65072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F52AC3E-BB46-4DF7-9D05-F75E61CB3047}"/>
              </a:ext>
            </a:extLst>
          </p:cNvPr>
          <p:cNvCxnSpPr>
            <a:cxnSpLocks/>
          </p:cNvCxnSpPr>
          <p:nvPr/>
        </p:nvCxnSpPr>
        <p:spPr>
          <a:xfrm flipH="1" flipV="1">
            <a:off x="6840855" y="4909185"/>
            <a:ext cx="207397" cy="6014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9ADF4B-557C-4B8F-8CC2-AEECDD9E454C}"/>
              </a:ext>
            </a:extLst>
          </p:cNvPr>
          <p:cNvCxnSpPr>
            <a:cxnSpLocks/>
          </p:cNvCxnSpPr>
          <p:nvPr/>
        </p:nvCxnSpPr>
        <p:spPr>
          <a:xfrm flipH="1" flipV="1">
            <a:off x="6840856" y="4909186"/>
            <a:ext cx="782954" cy="63579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E39EAF3-CFCE-4F8C-BC08-EBE55969093F}"/>
              </a:ext>
            </a:extLst>
          </p:cNvPr>
          <p:cNvCxnSpPr>
            <a:cxnSpLocks/>
          </p:cNvCxnSpPr>
          <p:nvPr/>
        </p:nvCxnSpPr>
        <p:spPr>
          <a:xfrm flipH="1" flipV="1">
            <a:off x="6840854" y="4909184"/>
            <a:ext cx="3640456" cy="77977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8050D4-2495-4778-921A-1BF106C71CA7}"/>
              </a:ext>
            </a:extLst>
          </p:cNvPr>
          <p:cNvCxnSpPr>
            <a:cxnSpLocks/>
          </p:cNvCxnSpPr>
          <p:nvPr/>
        </p:nvCxnSpPr>
        <p:spPr>
          <a:xfrm flipH="1" flipV="1">
            <a:off x="6857753" y="4909183"/>
            <a:ext cx="1388993" cy="77977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B11EE3-FCC7-4753-97F0-B9BDA94CD805}"/>
              </a:ext>
            </a:extLst>
          </p:cNvPr>
          <p:cNvCxnSpPr>
            <a:cxnSpLocks/>
          </p:cNvCxnSpPr>
          <p:nvPr/>
        </p:nvCxnSpPr>
        <p:spPr>
          <a:xfrm flipH="1" flipV="1">
            <a:off x="6840853" y="4874851"/>
            <a:ext cx="1820229" cy="77073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7FDC24B-67F0-477B-BCFC-6064012B24ED}"/>
              </a:ext>
            </a:extLst>
          </p:cNvPr>
          <p:cNvCxnSpPr>
            <a:cxnSpLocks/>
          </p:cNvCxnSpPr>
          <p:nvPr/>
        </p:nvCxnSpPr>
        <p:spPr>
          <a:xfrm flipH="1" flipV="1">
            <a:off x="6801742" y="4867035"/>
            <a:ext cx="2458588" cy="81287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E2618F9-CF94-4F6A-9D52-F2D7D6CD2971}"/>
              </a:ext>
            </a:extLst>
          </p:cNvPr>
          <p:cNvCxnSpPr>
            <a:cxnSpLocks/>
          </p:cNvCxnSpPr>
          <p:nvPr/>
        </p:nvCxnSpPr>
        <p:spPr>
          <a:xfrm flipH="1" flipV="1">
            <a:off x="6801741" y="4874850"/>
            <a:ext cx="3155335" cy="81288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FE6691A2-A5BF-4B6F-B0C9-F7BE27376D4B}"/>
              </a:ext>
            </a:extLst>
          </p:cNvPr>
          <p:cNvSpPr/>
          <p:nvPr/>
        </p:nvSpPr>
        <p:spPr>
          <a:xfrm>
            <a:off x="6725914" y="4707853"/>
            <a:ext cx="151654" cy="14859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8A690124-BE22-4DA7-927A-CDF9A8C9BCD4}"/>
              </a:ext>
            </a:extLst>
          </p:cNvPr>
          <p:cNvSpPr/>
          <p:nvPr/>
        </p:nvSpPr>
        <p:spPr>
          <a:xfrm>
            <a:off x="7467970" y="4696532"/>
            <a:ext cx="151654" cy="14859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A8F5C7B-79F5-45EE-82DC-19FCD7A202C7}"/>
              </a:ext>
            </a:extLst>
          </p:cNvPr>
          <p:cNvSpPr/>
          <p:nvPr/>
        </p:nvSpPr>
        <p:spPr>
          <a:xfrm>
            <a:off x="10395824" y="4784744"/>
            <a:ext cx="151654" cy="14859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C0AC0870-5D2A-42FD-A829-6A5172543C70}"/>
              </a:ext>
            </a:extLst>
          </p:cNvPr>
          <p:cNvSpPr/>
          <p:nvPr/>
        </p:nvSpPr>
        <p:spPr>
          <a:xfrm>
            <a:off x="8303581" y="3946207"/>
            <a:ext cx="151654" cy="14859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2E5C2EAC-FBBF-464B-861D-5473DF14AC63}"/>
              </a:ext>
            </a:extLst>
          </p:cNvPr>
          <p:cNvCxnSpPr>
            <a:cxnSpLocks/>
            <a:stCxn id="35" idx="3"/>
            <a:endCxn id="38" idx="2"/>
          </p:cNvCxnSpPr>
          <p:nvPr/>
        </p:nvCxnSpPr>
        <p:spPr>
          <a:xfrm flipV="1">
            <a:off x="6748123" y="4020502"/>
            <a:ext cx="1555458" cy="8141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C3F1631-0485-4325-B3AD-4A7FD766D4E1}"/>
              </a:ext>
            </a:extLst>
          </p:cNvPr>
          <p:cNvCxnSpPr>
            <a:cxnSpLocks/>
            <a:stCxn id="36" idx="7"/>
            <a:endCxn id="38" idx="4"/>
          </p:cNvCxnSpPr>
          <p:nvPr/>
        </p:nvCxnSpPr>
        <p:spPr>
          <a:xfrm flipV="1">
            <a:off x="7597415" y="4094797"/>
            <a:ext cx="781993" cy="62349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76BB31F-EE08-467C-8ED4-F1A28A94D211}"/>
              </a:ext>
            </a:extLst>
          </p:cNvPr>
          <p:cNvCxnSpPr>
            <a:cxnSpLocks/>
            <a:stCxn id="37" idx="0"/>
            <a:endCxn id="38" idx="5"/>
          </p:cNvCxnSpPr>
          <p:nvPr/>
        </p:nvCxnSpPr>
        <p:spPr>
          <a:xfrm flipH="1" flipV="1">
            <a:off x="8433026" y="4073036"/>
            <a:ext cx="2038625" cy="71170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C12B54C-E05F-4C35-B0E0-4A599C26A7EA}"/>
              </a:ext>
            </a:extLst>
          </p:cNvPr>
          <p:cNvSpPr txBox="1"/>
          <p:nvPr/>
        </p:nvSpPr>
        <p:spPr>
          <a:xfrm>
            <a:off x="8611964" y="4554414"/>
            <a:ext cx="623889" cy="461665"/>
          </a:xfrm>
          <a:prstGeom prst="rect">
            <a:avLst/>
          </a:prstGeom>
          <a:noFill/>
        </p:spPr>
        <p:txBody>
          <a:bodyPr wrap="none" rtlCol="0">
            <a:spAutoFit/>
          </a:bodyPr>
          <a:lstStyle/>
          <a:p>
            <a:r>
              <a:rPr lang="en-US" sz="2400" b="1" dirty="0"/>
              <a:t>……</a:t>
            </a:r>
          </a:p>
        </p:txBody>
      </p:sp>
      <p:cxnSp>
        <p:nvCxnSpPr>
          <p:cNvPr id="52" name="Straight Connector 51">
            <a:extLst>
              <a:ext uri="{FF2B5EF4-FFF2-40B4-BE49-F238E27FC236}">
                <a16:creationId xmlns:a16="http://schemas.microsoft.com/office/drawing/2014/main" id="{35675A50-8D6D-4DDB-BCE0-02D275EE6036}"/>
              </a:ext>
            </a:extLst>
          </p:cNvPr>
          <p:cNvCxnSpPr>
            <a:cxnSpLocks/>
            <a:endCxn id="36" idx="3"/>
          </p:cNvCxnSpPr>
          <p:nvPr/>
        </p:nvCxnSpPr>
        <p:spPr>
          <a:xfrm flipV="1">
            <a:off x="6521062" y="4823361"/>
            <a:ext cx="969117" cy="68144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27434B8-EEDD-4DBD-AEA8-6BD22BFBBAAC}"/>
              </a:ext>
            </a:extLst>
          </p:cNvPr>
          <p:cNvCxnSpPr>
            <a:cxnSpLocks/>
            <a:endCxn id="36" idx="4"/>
          </p:cNvCxnSpPr>
          <p:nvPr/>
        </p:nvCxnSpPr>
        <p:spPr>
          <a:xfrm flipV="1">
            <a:off x="7048252" y="4845122"/>
            <a:ext cx="495545" cy="60173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531BE41-63CE-48DB-8D98-BE754B9330E7}"/>
              </a:ext>
            </a:extLst>
          </p:cNvPr>
          <p:cNvCxnSpPr>
            <a:cxnSpLocks/>
            <a:endCxn id="36" idx="5"/>
          </p:cNvCxnSpPr>
          <p:nvPr/>
        </p:nvCxnSpPr>
        <p:spPr>
          <a:xfrm flipH="1" flipV="1">
            <a:off x="7597415" y="4823361"/>
            <a:ext cx="22210" cy="69779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16C3AC43-5DD3-47AE-8EAA-74FC30BBCD0B}"/>
              </a:ext>
            </a:extLst>
          </p:cNvPr>
          <p:cNvSpPr txBox="1"/>
          <p:nvPr/>
        </p:nvSpPr>
        <p:spPr>
          <a:xfrm>
            <a:off x="564377" y="4177665"/>
            <a:ext cx="973343"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O(log n)</a:t>
            </a: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A02C7F1-B2BE-43F6-AB4C-3BE21D7D5FF3}"/>
                  </a:ext>
                </a:extLst>
              </p:cNvPr>
              <p:cNvSpPr txBox="1"/>
              <p:nvPr/>
            </p:nvSpPr>
            <p:spPr>
              <a:xfrm>
                <a:off x="10698326" y="4497452"/>
                <a:ext cx="754950"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O(</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dirty="0">
                    <a:latin typeface="Times New Roman" panose="02020603050405020304" pitchFamily="18" charset="0"/>
                    <a:cs typeface="Times New Roman" panose="02020603050405020304" pitchFamily="18" charset="0"/>
                  </a:rPr>
                  <a:t>)</a:t>
                </a:r>
              </a:p>
            </p:txBody>
          </p:sp>
        </mc:Choice>
        <mc:Fallback xmlns="">
          <p:sp>
            <p:nvSpPr>
              <p:cNvPr id="62" name="TextBox 61">
                <a:extLst>
                  <a:ext uri="{FF2B5EF4-FFF2-40B4-BE49-F238E27FC236}">
                    <a16:creationId xmlns:a16="http://schemas.microsoft.com/office/drawing/2014/main" id="{6A02C7F1-B2BE-43F6-AB4C-3BE21D7D5FF3}"/>
                  </a:ext>
                </a:extLst>
              </p:cNvPr>
              <p:cNvSpPr txBox="1">
                <a:spLocks noRot="1" noChangeAspect="1" noMove="1" noResize="1" noEditPoints="1" noAdjustHandles="1" noChangeArrowheads="1" noChangeShapeType="1" noTextEdit="1"/>
              </p:cNvSpPr>
              <p:nvPr/>
            </p:nvSpPr>
            <p:spPr>
              <a:xfrm>
                <a:off x="10698326" y="4497452"/>
                <a:ext cx="754950" cy="369332"/>
              </a:xfrm>
              <a:prstGeom prst="rect">
                <a:avLst/>
              </a:prstGeom>
              <a:blipFill>
                <a:blip r:embed="rId4"/>
                <a:stretch>
                  <a:fillRect l="-7258" t="-10000" r="-6452" b="-26667"/>
                </a:stretch>
              </a:blipFill>
            </p:spPr>
            <p:txBody>
              <a:bodyPr/>
              <a:lstStyle/>
              <a:p>
                <a:r>
                  <a:rPr lang="en-US">
                    <a:noFill/>
                  </a:rPr>
                  <a:t> </a:t>
                </a:r>
              </a:p>
            </p:txBody>
          </p:sp>
        </mc:Fallback>
      </mc:AlternateContent>
    </p:spTree>
    <p:extLst>
      <p:ext uri="{BB962C8B-B14F-4D97-AF65-F5344CB8AC3E}">
        <p14:creationId xmlns:p14="http://schemas.microsoft.com/office/powerpoint/2010/main" val="2691259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D8FD0-8A22-4CB0-B64B-4A1319F54390}"/>
              </a:ext>
            </a:extLst>
          </p:cNvPr>
          <p:cNvSpPr>
            <a:spLocks noGrp="1"/>
          </p:cNvSpPr>
          <p:nvPr>
            <p:ph type="title"/>
          </p:nvPr>
        </p:nvSpPr>
        <p:spPr/>
        <p:txBody>
          <a:bodyPr/>
          <a:lstStyle/>
          <a:p>
            <a:r>
              <a:rPr lang="en-US" dirty="0"/>
              <a:t>Regularization in NN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DC06304-9C54-48F2-BAE8-1C18272DA3F8}"/>
                  </a:ext>
                </a:extLst>
              </p:cNvPr>
              <p:cNvSpPr>
                <a:spLocks noGrp="1"/>
              </p:cNvSpPr>
              <p:nvPr>
                <p:ph idx="1"/>
              </p:nvPr>
            </p:nvSpPr>
            <p:spPr>
              <a:xfrm>
                <a:off x="838198" y="1681061"/>
                <a:ext cx="10677525" cy="4351338"/>
              </a:xfrm>
            </p:spPr>
            <p:txBody>
              <a:bodyPr/>
              <a:lstStyle/>
              <a:p>
                <a:r>
                  <a:rPr lang="en-US" dirty="0"/>
                  <a:t>Remember (from ML course): </a:t>
                </a:r>
              </a:p>
              <a:p>
                <a:pPr lvl="1"/>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𝑦</m:t>
                            </m:r>
                          </m:e>
                        </m:acc>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m:t>
                        </m:r>
                      </m:sup>
                    </m:sSup>
                  </m:oMath>
                </a14:m>
                <a:r>
                  <a:rPr lang="en-US" dirty="0"/>
                  <a:t>: predicted value of </a:t>
                </a:r>
                <a:r>
                  <a:rPr lang="en-US" i="1" dirty="0" err="1">
                    <a:latin typeface="Times New Roman" panose="02020603050405020304" pitchFamily="18" charset="0"/>
                    <a:cs typeface="Times New Roman" panose="02020603050405020304" pitchFamily="18" charset="0"/>
                  </a:rPr>
                  <a:t>i</a:t>
                </a:r>
                <a:r>
                  <a:rPr lang="en-US" dirty="0" err="1"/>
                  <a:t>-</a:t>
                </a:r>
                <a:r>
                  <a:rPr lang="en-US" dirty="0" err="1">
                    <a:latin typeface="Times New Roman" panose="02020603050405020304" pitchFamily="18" charset="0"/>
                    <a:cs typeface="Times New Roman" panose="02020603050405020304" pitchFamily="18" charset="0"/>
                  </a:rPr>
                  <a:t>th</a:t>
                </a:r>
                <a:r>
                  <a:rPr lang="en-US" dirty="0"/>
                  <a:t> example; </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𝑦</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m:t>
                        </m:r>
                      </m:sup>
                    </m:sSup>
                  </m:oMath>
                </a14:m>
                <a:r>
                  <a:rPr lang="en-US" dirty="0"/>
                  <a:t>: expected output of </a:t>
                </a:r>
                <a:r>
                  <a:rPr lang="en-US" i="1" dirty="0" err="1">
                    <a:latin typeface="Times New Roman" panose="02020603050405020304" pitchFamily="18" charset="0"/>
                    <a:cs typeface="Times New Roman" panose="02020603050405020304" pitchFamily="18" charset="0"/>
                  </a:rPr>
                  <a:t>i-</a:t>
                </a:r>
                <a:r>
                  <a:rPr lang="en-US" dirty="0" err="1">
                    <a:latin typeface="Times New Roman" panose="02020603050405020304" pitchFamily="18" charset="0"/>
                    <a:cs typeface="Times New Roman" panose="02020603050405020304" pitchFamily="18" charset="0"/>
                  </a:rPr>
                  <a:t>th</a:t>
                </a:r>
                <a:r>
                  <a:rPr lang="en-US" dirty="0"/>
                  <a:t> example</a:t>
                </a:r>
                <a:br>
                  <a:rPr lang="en-US" dirty="0"/>
                </a:br>
                <a14:m>
                  <m:oMath xmlns:m="http://schemas.openxmlformats.org/officeDocument/2006/math">
                    <m:r>
                      <a:rPr lang="en-US" b="0" i="1" smtClean="0">
                        <a:latin typeface="Cambria Math" panose="02040503050406030204" pitchFamily="18" charset="0"/>
                      </a:rPr>
                      <m:t>𝐽</m:t>
                    </m:r>
                    <m:d>
                      <m:dPr>
                        <m:ctrlPr>
                          <a:rPr lang="en-US" b="0" i="1" smtClean="0">
                            <a:latin typeface="Cambria Math" panose="02040503050406030204" pitchFamily="18" charset="0"/>
                          </a:rPr>
                        </m:ctrlPr>
                      </m:dPr>
                      <m:e>
                        <m:r>
                          <m:rPr>
                            <m:sty m:val="p"/>
                          </m:rPr>
                          <a:rPr lang="el-GR" b="0" i="1" smtClean="0">
                            <a:latin typeface="Cambria Math" panose="02040503050406030204" pitchFamily="18" charset="0"/>
                            <a:ea typeface="Cambria Math" panose="02040503050406030204" pitchFamily="18" charset="0"/>
                          </a:rPr>
                          <m:t>Θ</m:t>
                        </m:r>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𝑚</m:t>
                        </m:r>
                      </m:den>
                    </m:f>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𝑚</m:t>
                        </m:r>
                      </m:sup>
                      <m:e>
                        <m:r>
                          <a:rPr lang="en-US" b="0" i="1" smtClean="0">
                            <a:latin typeface="Cambria Math" panose="02040503050406030204" pitchFamily="18" charset="0"/>
                            <a:ea typeface="Cambria Math" panose="02040503050406030204" pitchFamily="18" charset="0"/>
                          </a:rPr>
                          <m:t>ℓ(</m:t>
                        </m:r>
                      </m:e>
                    </m:nary>
                    <m:sSup>
                      <m:sSupPr>
                        <m:ctrlPr>
                          <a:rPr lang="en-US" b="0" i="1" smtClean="0">
                            <a:latin typeface="Cambria Math" panose="02040503050406030204" pitchFamily="18" charset="0"/>
                            <a:ea typeface="Cambria Math" panose="02040503050406030204" pitchFamily="18" charset="0"/>
                          </a:rPr>
                        </m:ctrlPr>
                      </m:sSupPr>
                      <m:e>
                        <m:acc>
                          <m:accPr>
                            <m:chr m:val="̂"/>
                            <m:ctrlPr>
                              <a:rPr lang="en-US" b="0" i="1" smtClean="0">
                                <a:latin typeface="Cambria Math" panose="02040503050406030204" pitchFamily="18" charset="0"/>
                                <a:ea typeface="Cambria Math" panose="02040503050406030204" pitchFamily="18" charset="0"/>
                              </a:rPr>
                            </m:ctrlPr>
                          </m:accPr>
                          <m:e>
                            <m:r>
                              <a:rPr lang="en-US" b="0" i="1" smtClean="0">
                                <a:latin typeface="Cambria Math" panose="02040503050406030204" pitchFamily="18" charset="0"/>
                                <a:ea typeface="Cambria Math" panose="02040503050406030204" pitchFamily="18" charset="0"/>
                              </a:rPr>
                              <m:t>𝑦</m:t>
                            </m:r>
                          </m:e>
                        </m:acc>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𝑦</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𝜆</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𝑚</m:t>
                        </m:r>
                      </m:den>
                    </m:f>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𝑙</m:t>
                        </m:r>
                        <m:r>
                          <a:rPr lang="en-US" b="0" i="1" smtClean="0">
                            <a:latin typeface="Cambria Math" panose="02040503050406030204" pitchFamily="18" charset="0"/>
                            <a:ea typeface="Cambria Math" panose="02040503050406030204" pitchFamily="18" charset="0"/>
                          </a:rPr>
                          <m:t>=1</m:t>
                        </m:r>
                      </m:sub>
                      <m:sup>
                        <m:r>
                          <a:rPr lang="en-US" b="0" i="1" smtClean="0">
                            <a:latin typeface="Cambria Math" panose="02040503050406030204" pitchFamily="18" charset="0"/>
                            <a:ea typeface="Cambria Math" panose="02040503050406030204" pitchFamily="18" charset="0"/>
                          </a:rPr>
                          <m:t>𝐿</m:t>
                        </m:r>
                      </m:sup>
                      <m:e>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m:rPr>
                                        <m:sty m:val="p"/>
                                      </m:rPr>
                                      <a:rPr lang="el-GR" b="0" i="1" smtClean="0">
                                        <a:latin typeface="Cambria Math" panose="02040503050406030204" pitchFamily="18" charset="0"/>
                                        <a:ea typeface="Cambria Math" panose="02040503050406030204" pitchFamily="18" charset="0"/>
                                      </a:rPr>
                                      <m:t>Θ</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𝑙</m:t>
                                    </m:r>
                                    <m:r>
                                      <a:rPr lang="en-US" b="0" i="1" smtClean="0">
                                        <a:latin typeface="Cambria Math" panose="02040503050406030204" pitchFamily="18" charset="0"/>
                                        <a:ea typeface="Cambria Math" panose="02040503050406030204" pitchFamily="18" charset="0"/>
                                      </a:rPr>
                                      <m:t>)</m:t>
                                    </m:r>
                                  </m:sup>
                                </m:sSup>
                              </m:e>
                            </m:d>
                          </m:e>
                          <m:sup>
                            <m:r>
                              <a:rPr lang="en-US" b="0" i="1" smtClean="0">
                                <a:latin typeface="Cambria Math" panose="02040503050406030204" pitchFamily="18" charset="0"/>
                                <a:ea typeface="Cambria Math" panose="02040503050406030204" pitchFamily="18" charset="0"/>
                              </a:rPr>
                              <m:t>2</m:t>
                            </m:r>
                          </m:sup>
                        </m:sSup>
                      </m:e>
                    </m:nary>
                  </m:oMath>
                </a14:m>
                <a:endParaRPr lang="en-US" dirty="0"/>
              </a:p>
              <a:p>
                <a:r>
                  <a:rPr lang="en-US" dirty="0"/>
                  <a:t>Regularization reduces overfitting </a:t>
                </a:r>
                <a:r>
                  <a:rPr lang="en-US" dirty="0">
                    <a:sym typeface="Wingdings" panose="05000000000000000000" pitchFamily="2" charset="2"/>
                  </a:rPr>
                  <a:t> really important in deep learning!</a:t>
                </a:r>
                <a:endParaRPr lang="en-US" dirty="0"/>
              </a:p>
            </p:txBody>
          </p:sp>
        </mc:Choice>
        <mc:Fallback xmlns="">
          <p:sp>
            <p:nvSpPr>
              <p:cNvPr id="3" name="Content Placeholder 2">
                <a:extLst>
                  <a:ext uri="{FF2B5EF4-FFF2-40B4-BE49-F238E27FC236}">
                    <a16:creationId xmlns:a16="http://schemas.microsoft.com/office/drawing/2014/main" id="{DDC06304-9C54-48F2-BAE8-1C18272DA3F8}"/>
                  </a:ext>
                </a:extLst>
              </p:cNvPr>
              <p:cNvSpPr>
                <a:spLocks noGrp="1" noRot="1" noChangeAspect="1" noMove="1" noResize="1" noEditPoints="1" noAdjustHandles="1" noChangeArrowheads="1" noChangeShapeType="1" noTextEdit="1"/>
              </p:cNvSpPr>
              <p:nvPr>
                <p:ph idx="1"/>
              </p:nvPr>
            </p:nvSpPr>
            <p:spPr>
              <a:xfrm>
                <a:off x="838198" y="1681061"/>
                <a:ext cx="10677525" cy="4351338"/>
              </a:xfrm>
              <a:blipFill>
                <a:blip r:embed="rId2"/>
                <a:stretch>
                  <a:fillRect l="-970" t="-2381" r="-457"/>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22523FCA-312E-4367-BD6D-0645DA027E75}"/>
              </a:ext>
            </a:extLst>
          </p:cNvPr>
          <p:cNvPicPr>
            <a:picLocks noChangeAspect="1"/>
          </p:cNvPicPr>
          <p:nvPr/>
        </p:nvPicPr>
        <p:blipFill>
          <a:blip r:embed="rId3"/>
          <a:stretch>
            <a:fillRect/>
          </a:stretch>
        </p:blipFill>
        <p:spPr>
          <a:xfrm>
            <a:off x="1510663" y="4640124"/>
            <a:ext cx="4666298" cy="1596495"/>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8417E0A-DA2F-4555-9288-AB86133AB99F}"/>
                  </a:ext>
                </a:extLst>
              </p:cNvPr>
              <p:cNvSpPr txBox="1"/>
              <p:nvPr/>
            </p:nvSpPr>
            <p:spPr>
              <a:xfrm>
                <a:off x="7255190" y="4549140"/>
                <a:ext cx="1523050" cy="5119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𝜆</m:t>
                      </m:r>
                      <m:r>
                        <a:rPr lang="en-US" sz="2400" i="1" smtClean="0">
                          <a:latin typeface="Cambria Math" panose="02040503050406030204" pitchFamily="18" charset="0"/>
                          <a:ea typeface="Cambria Math" panose="02040503050406030204" pitchFamily="18" charset="0"/>
                        </a:rPr>
                        <m:t>↑⇒</m:t>
                      </m:r>
                      <m:sSubSup>
                        <m:sSubSupPr>
                          <m:ctrlPr>
                            <a:rPr lang="en-US" sz="2400" i="1" smtClean="0">
                              <a:latin typeface="Cambria Math" panose="02040503050406030204" pitchFamily="18" charset="0"/>
                              <a:ea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ea typeface="Cambria Math" panose="02040503050406030204" pitchFamily="18" charset="0"/>
                            </a:rPr>
                            <m:t>𝑖𝑗</m:t>
                          </m:r>
                        </m:sub>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𝑙</m:t>
                          </m:r>
                          <m:r>
                            <a:rPr lang="en-US" sz="2400" b="0" i="1" smtClean="0">
                              <a:latin typeface="Cambria Math" panose="02040503050406030204" pitchFamily="18" charset="0"/>
                              <a:ea typeface="Cambria Math" panose="02040503050406030204" pitchFamily="18" charset="0"/>
                            </a:rPr>
                            <m:t>)</m:t>
                          </m:r>
                        </m:sup>
                      </m:sSubSup>
                      <m:r>
                        <a:rPr lang="en-US" sz="2400" i="1" smtClean="0">
                          <a:latin typeface="Cambria Math" panose="02040503050406030204" pitchFamily="18" charset="0"/>
                          <a:ea typeface="Cambria Math" panose="02040503050406030204" pitchFamily="18" charset="0"/>
                        </a:rPr>
                        <m:t>↓</m:t>
                      </m:r>
                    </m:oMath>
                  </m:oMathPara>
                </a14:m>
                <a:endParaRPr lang="en-US" sz="2400" dirty="0"/>
              </a:p>
            </p:txBody>
          </p:sp>
        </mc:Choice>
        <mc:Fallback xmlns="">
          <p:sp>
            <p:nvSpPr>
              <p:cNvPr id="6" name="TextBox 5">
                <a:extLst>
                  <a:ext uri="{FF2B5EF4-FFF2-40B4-BE49-F238E27FC236}">
                    <a16:creationId xmlns:a16="http://schemas.microsoft.com/office/drawing/2014/main" id="{D8417E0A-DA2F-4555-9288-AB86133AB99F}"/>
                  </a:ext>
                </a:extLst>
              </p:cNvPr>
              <p:cNvSpPr txBox="1">
                <a:spLocks noRot="1" noChangeAspect="1" noMove="1" noResize="1" noEditPoints="1" noAdjustHandles="1" noChangeArrowheads="1" noChangeShapeType="1" noTextEdit="1"/>
              </p:cNvSpPr>
              <p:nvPr/>
            </p:nvSpPr>
            <p:spPr>
              <a:xfrm>
                <a:off x="7255190" y="4549140"/>
                <a:ext cx="1523050" cy="511935"/>
              </a:xfrm>
              <a:prstGeom prst="rect">
                <a:avLst/>
              </a:prstGeom>
              <a:blipFill>
                <a:blip r:embed="rId4"/>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D494D19C-A79C-4BCC-9C08-F2B89902D302}"/>
              </a:ext>
            </a:extLst>
          </p:cNvPr>
          <p:cNvSpPr txBox="1"/>
          <p:nvPr/>
        </p:nvSpPr>
        <p:spPr>
          <a:xfrm>
            <a:off x="5888270" y="5785576"/>
            <a:ext cx="6199326" cy="830997"/>
          </a:xfrm>
          <a:prstGeom prst="rect">
            <a:avLst/>
          </a:prstGeom>
          <a:noFill/>
        </p:spPr>
        <p:txBody>
          <a:bodyPr wrap="none" rtlCol="0">
            <a:spAutoFit/>
          </a:bodyPr>
          <a:lstStyle/>
          <a:p>
            <a:r>
              <a:rPr lang="en-US" sz="2400" dirty="0"/>
              <a:t>Large </a:t>
            </a:r>
            <a:r>
              <a:rPr lang="en-US" sz="2400" i="1" dirty="0">
                <a:latin typeface="Symbol" panose="05050102010706020507" pitchFamily="18" charset="2"/>
              </a:rPr>
              <a:t>l</a:t>
            </a:r>
            <a:r>
              <a:rPr lang="en-US" sz="2400" dirty="0"/>
              <a:t> improve sparsity (i.e., less complex nets)</a:t>
            </a:r>
            <a:br>
              <a:rPr lang="en-US" sz="2400" dirty="0"/>
            </a:br>
            <a:r>
              <a:rPr lang="en-US" sz="2400" dirty="0">
                <a:sym typeface="Wingdings" panose="05000000000000000000" pitchFamily="2" charset="2"/>
              </a:rPr>
              <a:t> less prone to overfitting</a:t>
            </a:r>
            <a:endParaRPr lang="en-US" sz="2400" dirty="0"/>
          </a:p>
        </p:txBody>
      </p:sp>
      <p:grpSp>
        <p:nvGrpSpPr>
          <p:cNvPr id="11" name="Group 10">
            <a:extLst>
              <a:ext uri="{FF2B5EF4-FFF2-40B4-BE49-F238E27FC236}">
                <a16:creationId xmlns:a16="http://schemas.microsoft.com/office/drawing/2014/main" id="{004B3346-ABD4-49CB-AC1E-DC118CD4F9CE}"/>
              </a:ext>
            </a:extLst>
          </p:cNvPr>
          <p:cNvGrpSpPr/>
          <p:nvPr/>
        </p:nvGrpSpPr>
        <p:grpSpPr>
          <a:xfrm>
            <a:off x="3443567" y="5328583"/>
            <a:ext cx="261844" cy="231917"/>
            <a:chOff x="5200650" y="6242790"/>
            <a:chExt cx="360046" cy="360045"/>
          </a:xfrm>
        </p:grpSpPr>
        <p:cxnSp>
          <p:nvCxnSpPr>
            <p:cNvPr id="9" name="Straight Connector 8">
              <a:extLst>
                <a:ext uri="{FF2B5EF4-FFF2-40B4-BE49-F238E27FC236}">
                  <a16:creationId xmlns:a16="http://schemas.microsoft.com/office/drawing/2014/main" id="{C1201279-2F49-4085-93B6-D242E30E4A67}"/>
                </a:ext>
              </a:extLst>
            </p:cNvPr>
            <p:cNvCxnSpPr/>
            <p:nvPr/>
          </p:nvCxnSpPr>
          <p:spPr>
            <a:xfrm flipV="1">
              <a:off x="5200650" y="6242790"/>
              <a:ext cx="360045" cy="34089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3EE63F8F-C16A-4B52-8DDA-39DC089D2758}"/>
                </a:ext>
              </a:extLst>
            </p:cNvPr>
            <p:cNvCxnSpPr>
              <a:cxnSpLocks/>
            </p:cNvCxnSpPr>
            <p:nvPr/>
          </p:nvCxnSpPr>
          <p:spPr>
            <a:xfrm rot="5400000" flipV="1">
              <a:off x="5210228" y="6252368"/>
              <a:ext cx="360045" cy="34089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grpSp>
      <p:grpSp>
        <p:nvGrpSpPr>
          <p:cNvPr id="12" name="Group 11">
            <a:extLst>
              <a:ext uri="{FF2B5EF4-FFF2-40B4-BE49-F238E27FC236}">
                <a16:creationId xmlns:a16="http://schemas.microsoft.com/office/drawing/2014/main" id="{DF55D8B3-E3DE-48AC-9300-AB9C87B73531}"/>
              </a:ext>
            </a:extLst>
          </p:cNvPr>
          <p:cNvGrpSpPr/>
          <p:nvPr/>
        </p:nvGrpSpPr>
        <p:grpSpPr>
          <a:xfrm>
            <a:off x="3443566" y="5800482"/>
            <a:ext cx="261844" cy="231917"/>
            <a:chOff x="5200650" y="6242790"/>
            <a:chExt cx="360046" cy="360045"/>
          </a:xfrm>
        </p:grpSpPr>
        <p:cxnSp>
          <p:nvCxnSpPr>
            <p:cNvPr id="13" name="Straight Connector 12">
              <a:extLst>
                <a:ext uri="{FF2B5EF4-FFF2-40B4-BE49-F238E27FC236}">
                  <a16:creationId xmlns:a16="http://schemas.microsoft.com/office/drawing/2014/main" id="{374E5851-FC6A-4A5E-A9F4-024142C6DC7A}"/>
                </a:ext>
              </a:extLst>
            </p:cNvPr>
            <p:cNvCxnSpPr/>
            <p:nvPr/>
          </p:nvCxnSpPr>
          <p:spPr>
            <a:xfrm flipV="1">
              <a:off x="5200650" y="6242790"/>
              <a:ext cx="360045" cy="34089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CE273246-F5AB-40F8-B938-8EB0AB85F4A9}"/>
                </a:ext>
              </a:extLst>
            </p:cNvPr>
            <p:cNvCxnSpPr>
              <a:cxnSpLocks/>
            </p:cNvCxnSpPr>
            <p:nvPr/>
          </p:nvCxnSpPr>
          <p:spPr>
            <a:xfrm rot="5400000" flipV="1">
              <a:off x="5210228" y="6252368"/>
              <a:ext cx="360045" cy="34089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grpSp>
      <p:grpSp>
        <p:nvGrpSpPr>
          <p:cNvPr id="15" name="Group 14">
            <a:extLst>
              <a:ext uri="{FF2B5EF4-FFF2-40B4-BE49-F238E27FC236}">
                <a16:creationId xmlns:a16="http://schemas.microsoft.com/office/drawing/2014/main" id="{EF41C8BC-AA14-4BC1-894B-6B6074763569}"/>
              </a:ext>
            </a:extLst>
          </p:cNvPr>
          <p:cNvGrpSpPr/>
          <p:nvPr/>
        </p:nvGrpSpPr>
        <p:grpSpPr>
          <a:xfrm>
            <a:off x="2609849" y="5785576"/>
            <a:ext cx="261844" cy="231917"/>
            <a:chOff x="5200650" y="6242790"/>
            <a:chExt cx="360046" cy="360045"/>
          </a:xfrm>
        </p:grpSpPr>
        <p:cxnSp>
          <p:nvCxnSpPr>
            <p:cNvPr id="16" name="Straight Connector 15">
              <a:extLst>
                <a:ext uri="{FF2B5EF4-FFF2-40B4-BE49-F238E27FC236}">
                  <a16:creationId xmlns:a16="http://schemas.microsoft.com/office/drawing/2014/main" id="{11C1974B-1639-4A37-AB7B-10614BF3E754}"/>
                </a:ext>
              </a:extLst>
            </p:cNvPr>
            <p:cNvCxnSpPr/>
            <p:nvPr/>
          </p:nvCxnSpPr>
          <p:spPr>
            <a:xfrm flipV="1">
              <a:off x="5200650" y="6242790"/>
              <a:ext cx="360045" cy="34089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17" name="Straight Connector 16">
              <a:extLst>
                <a:ext uri="{FF2B5EF4-FFF2-40B4-BE49-F238E27FC236}">
                  <a16:creationId xmlns:a16="http://schemas.microsoft.com/office/drawing/2014/main" id="{3DB0B161-607F-49D0-8D41-593EA89DD376}"/>
                </a:ext>
              </a:extLst>
            </p:cNvPr>
            <p:cNvCxnSpPr>
              <a:cxnSpLocks/>
            </p:cNvCxnSpPr>
            <p:nvPr/>
          </p:nvCxnSpPr>
          <p:spPr>
            <a:xfrm rot="5400000" flipV="1">
              <a:off x="5210228" y="6252368"/>
              <a:ext cx="360045" cy="34089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grpSp>
      <p:grpSp>
        <p:nvGrpSpPr>
          <p:cNvPr id="18" name="Group 17">
            <a:extLst>
              <a:ext uri="{FF2B5EF4-FFF2-40B4-BE49-F238E27FC236}">
                <a16:creationId xmlns:a16="http://schemas.microsoft.com/office/drawing/2014/main" id="{87AE23FB-ECE5-48BF-A548-42E2AF6900F7}"/>
              </a:ext>
            </a:extLst>
          </p:cNvPr>
          <p:cNvGrpSpPr/>
          <p:nvPr/>
        </p:nvGrpSpPr>
        <p:grpSpPr>
          <a:xfrm>
            <a:off x="4277282" y="5800482"/>
            <a:ext cx="261844" cy="231917"/>
            <a:chOff x="5200650" y="6242790"/>
            <a:chExt cx="360046" cy="360045"/>
          </a:xfrm>
        </p:grpSpPr>
        <p:cxnSp>
          <p:nvCxnSpPr>
            <p:cNvPr id="19" name="Straight Connector 18">
              <a:extLst>
                <a:ext uri="{FF2B5EF4-FFF2-40B4-BE49-F238E27FC236}">
                  <a16:creationId xmlns:a16="http://schemas.microsoft.com/office/drawing/2014/main" id="{1E80CA13-937A-4E91-9C0A-0B5EE0284B0F}"/>
                </a:ext>
              </a:extLst>
            </p:cNvPr>
            <p:cNvCxnSpPr/>
            <p:nvPr/>
          </p:nvCxnSpPr>
          <p:spPr>
            <a:xfrm flipV="1">
              <a:off x="5200650" y="6242790"/>
              <a:ext cx="360045" cy="34089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F86577DD-361C-4EB8-912D-888428AEAA0E}"/>
                </a:ext>
              </a:extLst>
            </p:cNvPr>
            <p:cNvCxnSpPr>
              <a:cxnSpLocks/>
            </p:cNvCxnSpPr>
            <p:nvPr/>
          </p:nvCxnSpPr>
          <p:spPr>
            <a:xfrm rot="5400000" flipV="1">
              <a:off x="5210228" y="6252368"/>
              <a:ext cx="360045" cy="340890"/>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grpSp>
      <mc:AlternateContent xmlns:mc="http://schemas.openxmlformats.org/markup-compatibility/2006" xmlns:p14="http://schemas.microsoft.com/office/powerpoint/2010/main">
        <mc:Choice Requires="p14">
          <p:contentPart p14:bwMode="auto" r:id="rId5">
            <p14:nvContentPartPr>
              <p14:cNvPr id="22" name="Ink 21">
                <a:extLst>
                  <a:ext uri="{FF2B5EF4-FFF2-40B4-BE49-F238E27FC236}">
                    <a16:creationId xmlns:a16="http://schemas.microsoft.com/office/drawing/2014/main" id="{91A41DDA-7AC0-4F01-B533-75C9EFEEDECB}"/>
                  </a:ext>
                </a:extLst>
              </p14:cNvPr>
              <p14:cNvContentPartPr/>
              <p14:nvPr/>
            </p14:nvContentPartPr>
            <p14:xfrm>
              <a:off x="1183230" y="4576095"/>
              <a:ext cx="4982040" cy="1799640"/>
            </p14:xfrm>
          </p:contentPart>
        </mc:Choice>
        <mc:Fallback xmlns="">
          <p:pic>
            <p:nvPicPr>
              <p:cNvPr id="22" name="Ink 21">
                <a:extLst>
                  <a:ext uri="{FF2B5EF4-FFF2-40B4-BE49-F238E27FC236}">
                    <a16:creationId xmlns:a16="http://schemas.microsoft.com/office/drawing/2014/main" id="{91A41DDA-7AC0-4F01-B533-75C9EFEEDECB}"/>
                  </a:ext>
                </a:extLst>
              </p:cNvPr>
              <p:cNvPicPr/>
              <p:nvPr/>
            </p:nvPicPr>
            <p:blipFill>
              <a:blip r:embed="rId6"/>
              <a:stretch>
                <a:fillRect/>
              </a:stretch>
            </p:blipFill>
            <p:spPr>
              <a:xfrm>
                <a:off x="1174590" y="4567455"/>
                <a:ext cx="4999680" cy="1817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3" name="Ink 22">
                <a:extLst>
                  <a:ext uri="{FF2B5EF4-FFF2-40B4-BE49-F238E27FC236}">
                    <a16:creationId xmlns:a16="http://schemas.microsoft.com/office/drawing/2014/main" id="{50A10AD7-7D1F-4D02-8AD2-E1DB7216C061}"/>
                  </a:ext>
                </a:extLst>
              </p14:cNvPr>
              <p14:cNvContentPartPr/>
              <p14:nvPr/>
            </p14:nvContentPartPr>
            <p14:xfrm>
              <a:off x="4926150" y="4851855"/>
              <a:ext cx="360" cy="360"/>
            </p14:xfrm>
          </p:contentPart>
        </mc:Choice>
        <mc:Fallback xmlns="">
          <p:pic>
            <p:nvPicPr>
              <p:cNvPr id="23" name="Ink 22">
                <a:extLst>
                  <a:ext uri="{FF2B5EF4-FFF2-40B4-BE49-F238E27FC236}">
                    <a16:creationId xmlns:a16="http://schemas.microsoft.com/office/drawing/2014/main" id="{50A10AD7-7D1F-4D02-8AD2-E1DB7216C061}"/>
                  </a:ext>
                </a:extLst>
              </p:cNvPr>
              <p:cNvPicPr/>
              <p:nvPr/>
            </p:nvPicPr>
            <p:blipFill>
              <a:blip r:embed="rId8"/>
              <a:stretch>
                <a:fillRect/>
              </a:stretch>
            </p:blipFill>
            <p:spPr>
              <a:xfrm>
                <a:off x="4917510" y="484285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4" name="Ink 23">
                <a:extLst>
                  <a:ext uri="{FF2B5EF4-FFF2-40B4-BE49-F238E27FC236}">
                    <a16:creationId xmlns:a16="http://schemas.microsoft.com/office/drawing/2014/main" id="{81193C83-9405-4B0A-81DD-207EA1DE8968}"/>
                  </a:ext>
                </a:extLst>
              </p14:cNvPr>
              <p14:cNvContentPartPr/>
              <p14:nvPr/>
            </p14:nvContentPartPr>
            <p14:xfrm>
              <a:off x="5240430" y="5794695"/>
              <a:ext cx="360" cy="360"/>
            </p14:xfrm>
          </p:contentPart>
        </mc:Choice>
        <mc:Fallback xmlns="">
          <p:pic>
            <p:nvPicPr>
              <p:cNvPr id="24" name="Ink 23">
                <a:extLst>
                  <a:ext uri="{FF2B5EF4-FFF2-40B4-BE49-F238E27FC236}">
                    <a16:creationId xmlns:a16="http://schemas.microsoft.com/office/drawing/2014/main" id="{81193C83-9405-4B0A-81DD-207EA1DE8968}"/>
                  </a:ext>
                </a:extLst>
              </p:cNvPr>
              <p:cNvPicPr/>
              <p:nvPr/>
            </p:nvPicPr>
            <p:blipFill>
              <a:blip r:embed="rId8"/>
              <a:stretch>
                <a:fillRect/>
              </a:stretch>
            </p:blipFill>
            <p:spPr>
              <a:xfrm>
                <a:off x="5231790" y="5785695"/>
                <a:ext cx="18000" cy="18000"/>
              </a:xfrm>
              <a:prstGeom prst="rect">
                <a:avLst/>
              </a:prstGeom>
            </p:spPr>
          </p:pic>
        </mc:Fallback>
      </mc:AlternateContent>
    </p:spTree>
    <p:extLst>
      <p:ext uri="{BB962C8B-B14F-4D97-AF65-F5344CB8AC3E}">
        <p14:creationId xmlns:p14="http://schemas.microsoft.com/office/powerpoint/2010/main" val="102814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7DDD5-6995-40AE-B929-D935D0B8848C}"/>
              </a:ext>
            </a:extLst>
          </p:cNvPr>
          <p:cNvSpPr>
            <a:spLocks noGrp="1"/>
          </p:cNvSpPr>
          <p:nvPr>
            <p:ph type="title"/>
          </p:nvPr>
        </p:nvSpPr>
        <p:spPr>
          <a:xfrm>
            <a:off x="816318" y="102160"/>
            <a:ext cx="10515600" cy="1325563"/>
          </a:xfrm>
        </p:spPr>
        <p:txBody>
          <a:bodyPr/>
          <a:lstStyle/>
          <a:p>
            <a:r>
              <a:rPr lang="en-US" dirty="0"/>
              <a:t>Regularization effect on activation function</a:t>
            </a:r>
          </a:p>
        </p:txBody>
      </p:sp>
      <p:sp>
        <p:nvSpPr>
          <p:cNvPr id="3" name="Content Placeholder 2">
            <a:extLst>
              <a:ext uri="{FF2B5EF4-FFF2-40B4-BE49-F238E27FC236}">
                <a16:creationId xmlns:a16="http://schemas.microsoft.com/office/drawing/2014/main" id="{4741A54E-D5B5-40A2-919F-0B8B622C89B0}"/>
              </a:ext>
            </a:extLst>
          </p:cNvPr>
          <p:cNvSpPr>
            <a:spLocks noGrp="1"/>
          </p:cNvSpPr>
          <p:nvPr>
            <p:ph idx="1"/>
          </p:nvPr>
        </p:nvSpPr>
        <p:spPr>
          <a:xfrm>
            <a:off x="766482" y="4748119"/>
            <a:ext cx="10515600" cy="1790140"/>
          </a:xfrm>
        </p:spPr>
        <p:txBody>
          <a:bodyPr>
            <a:normAutofit lnSpcReduction="10000"/>
          </a:bodyPr>
          <a:lstStyle/>
          <a:p>
            <a:r>
              <a:rPr lang="en-US" dirty="0"/>
              <a:t>If the function argument is small (near 0), the function is nearly linear</a:t>
            </a:r>
          </a:p>
          <a:p>
            <a:r>
              <a:rPr lang="en-US" dirty="0"/>
              <a:t>If the weights are small we are in this situation</a:t>
            </a:r>
          </a:p>
          <a:p>
            <a:r>
              <a:rPr lang="en-US" dirty="0"/>
              <a:t> the net can approximate less complex functions, reducing the risk of overfitting</a:t>
            </a:r>
          </a:p>
        </p:txBody>
      </p:sp>
      <p:pic>
        <p:nvPicPr>
          <p:cNvPr id="5" name="Picture 4" descr="Image for post">
            <a:extLst>
              <a:ext uri="{FF2B5EF4-FFF2-40B4-BE49-F238E27FC236}">
                <a16:creationId xmlns:a16="http://schemas.microsoft.com/office/drawing/2014/main" id="{4DF0F79F-E140-4277-9895-2C26A91B10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3588" y="1192352"/>
            <a:ext cx="5279682" cy="3329923"/>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0021B074-0D50-4DCD-834E-91536DA35816}"/>
              </a:ext>
            </a:extLst>
          </p:cNvPr>
          <p:cNvCxnSpPr>
            <a:cxnSpLocks/>
          </p:cNvCxnSpPr>
          <p:nvPr/>
        </p:nvCxnSpPr>
        <p:spPr>
          <a:xfrm flipV="1">
            <a:off x="5673429" y="2143125"/>
            <a:ext cx="422571" cy="1240155"/>
          </a:xfrm>
          <a:prstGeom prst="line">
            <a:avLst/>
          </a:prstGeom>
          <a:ln w="3810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6116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8A06D-04A4-4516-8D01-F57719715F58}"/>
              </a:ext>
            </a:extLst>
          </p:cNvPr>
          <p:cNvSpPr>
            <a:spLocks noGrp="1"/>
          </p:cNvSpPr>
          <p:nvPr>
            <p:ph type="title"/>
          </p:nvPr>
        </p:nvSpPr>
        <p:spPr/>
        <p:txBody>
          <a:bodyPr/>
          <a:lstStyle/>
          <a:p>
            <a:r>
              <a:rPr lang="en-US" dirty="0"/>
              <a:t>Drop-out Regularization</a:t>
            </a:r>
          </a:p>
        </p:txBody>
      </p:sp>
      <p:sp>
        <p:nvSpPr>
          <p:cNvPr id="3" name="Content Placeholder 2">
            <a:extLst>
              <a:ext uri="{FF2B5EF4-FFF2-40B4-BE49-F238E27FC236}">
                <a16:creationId xmlns:a16="http://schemas.microsoft.com/office/drawing/2014/main" id="{05C94CA9-ED61-40B0-B3D9-72CABBE020FB}"/>
              </a:ext>
            </a:extLst>
          </p:cNvPr>
          <p:cNvSpPr>
            <a:spLocks noGrp="1"/>
          </p:cNvSpPr>
          <p:nvPr>
            <p:ph idx="1"/>
          </p:nvPr>
        </p:nvSpPr>
        <p:spPr/>
        <p:txBody>
          <a:bodyPr/>
          <a:lstStyle/>
          <a:p>
            <a:r>
              <a:rPr lang="en-US" dirty="0"/>
              <a:t>An alternative to L2 regularization</a:t>
            </a:r>
          </a:p>
          <a:p>
            <a:r>
              <a:rPr lang="en-US" dirty="0"/>
              <a:t>Going through the layers of the net, setting a </a:t>
            </a:r>
            <a:r>
              <a:rPr lang="en-US" i="1" dirty="0"/>
              <a:t>drop-out probability </a:t>
            </a:r>
            <a:r>
              <a:rPr lang="en-US" i="1" dirty="0">
                <a:latin typeface="Times New Roman" panose="02020603050405020304" pitchFamily="18" charset="0"/>
                <a:cs typeface="Times New Roman" panose="02020603050405020304" pitchFamily="18" charset="0"/>
              </a:rPr>
              <a:t>p</a:t>
            </a:r>
            <a:r>
              <a:rPr lang="en-US" i="1" dirty="0"/>
              <a:t> </a:t>
            </a:r>
            <a:r>
              <a:rPr lang="en-US" dirty="0"/>
              <a:t>for each node (probability of eliminating the node), and deciding whether to keep or remove the node in accordance to </a:t>
            </a:r>
            <a:r>
              <a:rPr lang="en-US" i="1" dirty="0">
                <a:latin typeface="Times New Roman" panose="02020603050405020304" pitchFamily="18" charset="0"/>
                <a:cs typeface="Times New Roman" panose="02020603050405020304" pitchFamily="18" charset="0"/>
              </a:rPr>
              <a:t>p</a:t>
            </a:r>
            <a:r>
              <a:rPr lang="en-US" dirty="0"/>
              <a:t>.</a:t>
            </a:r>
          </a:p>
        </p:txBody>
      </p:sp>
      <p:pic>
        <p:nvPicPr>
          <p:cNvPr id="5" name="Picture 4">
            <a:extLst>
              <a:ext uri="{FF2B5EF4-FFF2-40B4-BE49-F238E27FC236}">
                <a16:creationId xmlns:a16="http://schemas.microsoft.com/office/drawing/2014/main" id="{AF5EB7A7-5CEB-4EFB-BE59-F769B1C3E643}"/>
              </a:ext>
            </a:extLst>
          </p:cNvPr>
          <p:cNvPicPr>
            <a:picLocks noChangeAspect="1"/>
          </p:cNvPicPr>
          <p:nvPr/>
        </p:nvPicPr>
        <p:blipFill>
          <a:blip r:embed="rId2"/>
          <a:stretch>
            <a:fillRect/>
          </a:stretch>
        </p:blipFill>
        <p:spPr>
          <a:xfrm>
            <a:off x="838200" y="4108059"/>
            <a:ext cx="4094292" cy="2203841"/>
          </a:xfrm>
          <a:prstGeom prst="rect">
            <a:avLst/>
          </a:prstGeom>
        </p:spPr>
      </p:pic>
      <p:pic>
        <p:nvPicPr>
          <p:cNvPr id="9" name="Picture 8">
            <a:extLst>
              <a:ext uri="{FF2B5EF4-FFF2-40B4-BE49-F238E27FC236}">
                <a16:creationId xmlns:a16="http://schemas.microsoft.com/office/drawing/2014/main" id="{1F2DC25B-5138-452C-BB6B-857CDAB1FC0C}"/>
              </a:ext>
            </a:extLst>
          </p:cNvPr>
          <p:cNvPicPr>
            <a:picLocks noChangeAspect="1"/>
          </p:cNvPicPr>
          <p:nvPr/>
        </p:nvPicPr>
        <p:blipFill>
          <a:blip r:embed="rId3"/>
          <a:stretch>
            <a:fillRect/>
          </a:stretch>
        </p:blipFill>
        <p:spPr>
          <a:xfrm>
            <a:off x="6512766" y="4108059"/>
            <a:ext cx="4158076" cy="2203841"/>
          </a:xfrm>
          <a:prstGeom prst="rect">
            <a:avLst/>
          </a:prstGeom>
        </p:spPr>
      </p:pic>
      <p:pic>
        <p:nvPicPr>
          <p:cNvPr id="11" name="Picture 10">
            <a:extLst>
              <a:ext uri="{FF2B5EF4-FFF2-40B4-BE49-F238E27FC236}">
                <a16:creationId xmlns:a16="http://schemas.microsoft.com/office/drawing/2014/main" id="{5DA472F5-687E-4730-A901-4C5974AC51FF}"/>
              </a:ext>
            </a:extLst>
          </p:cNvPr>
          <p:cNvPicPr>
            <a:picLocks noChangeAspect="1"/>
          </p:cNvPicPr>
          <p:nvPr/>
        </p:nvPicPr>
        <p:blipFill>
          <a:blip r:embed="rId4"/>
          <a:stretch>
            <a:fillRect/>
          </a:stretch>
        </p:blipFill>
        <p:spPr>
          <a:xfrm>
            <a:off x="6512767" y="4069266"/>
            <a:ext cx="4158076" cy="2242634"/>
          </a:xfrm>
          <a:prstGeom prst="rect">
            <a:avLst/>
          </a:prstGeom>
        </p:spPr>
      </p:pic>
    </p:spTree>
    <p:extLst>
      <p:ext uri="{BB962C8B-B14F-4D97-AF65-F5344CB8AC3E}">
        <p14:creationId xmlns:p14="http://schemas.microsoft.com/office/powerpoint/2010/main" val="1719980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19E9F-6E45-4369-B72A-7354F289D443}"/>
              </a:ext>
            </a:extLst>
          </p:cNvPr>
          <p:cNvSpPr>
            <a:spLocks noGrp="1"/>
          </p:cNvSpPr>
          <p:nvPr>
            <p:ph type="title"/>
          </p:nvPr>
        </p:nvSpPr>
        <p:spPr/>
        <p:txBody>
          <a:bodyPr/>
          <a:lstStyle/>
          <a:p>
            <a:r>
              <a:rPr lang="en-US" dirty="0"/>
              <a:t>Drop-out</a:t>
            </a:r>
          </a:p>
        </p:txBody>
      </p:sp>
      <p:sp>
        <p:nvSpPr>
          <p:cNvPr id="3" name="Content Placeholder 2">
            <a:extLst>
              <a:ext uri="{FF2B5EF4-FFF2-40B4-BE49-F238E27FC236}">
                <a16:creationId xmlns:a16="http://schemas.microsoft.com/office/drawing/2014/main" id="{6816C9E9-A83C-48B8-8ADA-A0E106D6B180}"/>
              </a:ext>
            </a:extLst>
          </p:cNvPr>
          <p:cNvSpPr>
            <a:spLocks noGrp="1"/>
          </p:cNvSpPr>
          <p:nvPr>
            <p:ph idx="1"/>
          </p:nvPr>
        </p:nvSpPr>
        <p:spPr/>
        <p:txBody>
          <a:bodyPr>
            <a:normAutofit lnSpcReduction="10000"/>
          </a:bodyPr>
          <a:lstStyle/>
          <a:p>
            <a:r>
              <a:rPr lang="en-US" dirty="0"/>
              <a:t>Alternatives: </a:t>
            </a:r>
          </a:p>
          <a:p>
            <a:pPr lvl="1"/>
            <a:r>
              <a:rPr lang="en-US" dirty="0"/>
              <a:t>set a single drop-out probability for each node in any layer</a:t>
            </a:r>
          </a:p>
          <a:p>
            <a:pPr lvl="1"/>
            <a:r>
              <a:rPr lang="en-US" dirty="0"/>
              <a:t>set a different drop-out probability for each layer: larger layers should have larger drop-out</a:t>
            </a:r>
          </a:p>
          <a:p>
            <a:pPr lvl="1"/>
            <a:r>
              <a:rPr lang="en-US" dirty="0"/>
              <a:t>set a single drop-out probability for a set of layer, then using drop-out only for those layers (no drop-out for others)</a:t>
            </a:r>
          </a:p>
          <a:p>
            <a:r>
              <a:rPr lang="en-US" dirty="0"/>
              <a:t>NB: No dropout at test time</a:t>
            </a:r>
          </a:p>
          <a:p>
            <a:r>
              <a:rPr lang="en-US" dirty="0"/>
              <a:t>Why it works:</a:t>
            </a:r>
          </a:p>
          <a:p>
            <a:pPr lvl="1"/>
            <a:r>
              <a:rPr lang="en-US" dirty="0"/>
              <a:t>Simpler nets (less nodes and connections)</a:t>
            </a:r>
          </a:p>
          <a:p>
            <a:pPr lvl="1"/>
            <a:r>
              <a:rPr lang="en-US" dirty="0"/>
              <a:t>Since (some) nodes are randomly removed, inner units cannot rely on any one feature (or specific subset of features), so weights have to be spread out across the network</a:t>
            </a:r>
          </a:p>
        </p:txBody>
      </p:sp>
    </p:spTree>
    <p:extLst>
      <p:ext uri="{BB962C8B-B14F-4D97-AF65-F5344CB8AC3E}">
        <p14:creationId xmlns:p14="http://schemas.microsoft.com/office/powerpoint/2010/main" val="719838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DED43-0A80-45FA-BBED-4B12CA85CB41}"/>
              </a:ext>
            </a:extLst>
          </p:cNvPr>
          <p:cNvSpPr>
            <a:spLocks noGrp="1"/>
          </p:cNvSpPr>
          <p:nvPr>
            <p:ph type="title"/>
          </p:nvPr>
        </p:nvSpPr>
        <p:spPr/>
        <p:txBody>
          <a:bodyPr/>
          <a:lstStyle/>
          <a:p>
            <a:r>
              <a:rPr lang="en-US" dirty="0"/>
              <a:t>Data Augmentation</a:t>
            </a:r>
          </a:p>
        </p:txBody>
      </p:sp>
      <p:sp>
        <p:nvSpPr>
          <p:cNvPr id="3" name="Content Placeholder 2">
            <a:extLst>
              <a:ext uri="{FF2B5EF4-FFF2-40B4-BE49-F238E27FC236}">
                <a16:creationId xmlns:a16="http://schemas.microsoft.com/office/drawing/2014/main" id="{A84C9C9A-C876-4775-989A-D0B74964A6F8}"/>
              </a:ext>
            </a:extLst>
          </p:cNvPr>
          <p:cNvSpPr>
            <a:spLocks noGrp="1"/>
          </p:cNvSpPr>
          <p:nvPr>
            <p:ph idx="1"/>
          </p:nvPr>
        </p:nvSpPr>
        <p:spPr/>
        <p:txBody>
          <a:bodyPr/>
          <a:lstStyle/>
          <a:p>
            <a:r>
              <a:rPr lang="en-US" dirty="0"/>
              <a:t>Helps reducing overfitting</a:t>
            </a:r>
          </a:p>
          <a:p>
            <a:r>
              <a:rPr lang="en-US" dirty="0"/>
              <a:t>Quite natural in computer vision applications: flipping, cropping, zooming, rotating, distortion, ….</a:t>
            </a:r>
          </a:p>
        </p:txBody>
      </p:sp>
      <p:pic>
        <p:nvPicPr>
          <p:cNvPr id="5" name="Picture 4">
            <a:extLst>
              <a:ext uri="{FF2B5EF4-FFF2-40B4-BE49-F238E27FC236}">
                <a16:creationId xmlns:a16="http://schemas.microsoft.com/office/drawing/2014/main" id="{69388262-601D-4E15-83B0-6D2256677196}"/>
              </a:ext>
            </a:extLst>
          </p:cNvPr>
          <p:cNvPicPr>
            <a:picLocks noChangeAspect="1"/>
          </p:cNvPicPr>
          <p:nvPr/>
        </p:nvPicPr>
        <p:blipFill>
          <a:blip r:embed="rId2"/>
          <a:stretch>
            <a:fillRect/>
          </a:stretch>
        </p:blipFill>
        <p:spPr>
          <a:xfrm flipH="1">
            <a:off x="1224915" y="3429000"/>
            <a:ext cx="2729865" cy="1870135"/>
          </a:xfrm>
          <a:prstGeom prst="rect">
            <a:avLst/>
          </a:prstGeom>
        </p:spPr>
      </p:pic>
      <p:pic>
        <p:nvPicPr>
          <p:cNvPr id="8" name="Picture 7">
            <a:extLst>
              <a:ext uri="{FF2B5EF4-FFF2-40B4-BE49-F238E27FC236}">
                <a16:creationId xmlns:a16="http://schemas.microsoft.com/office/drawing/2014/main" id="{19EB8EFA-2477-45AF-8DFA-050A7D772D0F}"/>
              </a:ext>
            </a:extLst>
          </p:cNvPr>
          <p:cNvPicPr>
            <a:picLocks noChangeAspect="1"/>
          </p:cNvPicPr>
          <p:nvPr/>
        </p:nvPicPr>
        <p:blipFill>
          <a:blip r:embed="rId2"/>
          <a:stretch>
            <a:fillRect/>
          </a:stretch>
        </p:blipFill>
        <p:spPr>
          <a:xfrm>
            <a:off x="4606290" y="3486149"/>
            <a:ext cx="2729865" cy="1870135"/>
          </a:xfrm>
          <a:prstGeom prst="rect">
            <a:avLst/>
          </a:prstGeom>
        </p:spPr>
      </p:pic>
      <p:pic>
        <p:nvPicPr>
          <p:cNvPr id="13" name="Picture 12">
            <a:extLst>
              <a:ext uri="{FF2B5EF4-FFF2-40B4-BE49-F238E27FC236}">
                <a16:creationId xmlns:a16="http://schemas.microsoft.com/office/drawing/2014/main" id="{CCBAA88A-0AB9-4657-8675-628653E40E80}"/>
              </a:ext>
            </a:extLst>
          </p:cNvPr>
          <p:cNvPicPr>
            <a:picLocks noChangeAspect="1"/>
          </p:cNvPicPr>
          <p:nvPr/>
        </p:nvPicPr>
        <p:blipFill>
          <a:blip r:embed="rId3"/>
          <a:stretch>
            <a:fillRect/>
          </a:stretch>
        </p:blipFill>
        <p:spPr>
          <a:xfrm>
            <a:off x="8195309" y="3409210"/>
            <a:ext cx="2680335" cy="1889924"/>
          </a:xfrm>
          <a:prstGeom prst="rect">
            <a:avLst/>
          </a:prstGeom>
        </p:spPr>
      </p:pic>
      <p:pic>
        <p:nvPicPr>
          <p:cNvPr id="15" name="Picture 14">
            <a:extLst>
              <a:ext uri="{FF2B5EF4-FFF2-40B4-BE49-F238E27FC236}">
                <a16:creationId xmlns:a16="http://schemas.microsoft.com/office/drawing/2014/main" id="{93BF2A53-43C1-4E92-BA2E-8ECD63CA7513}"/>
              </a:ext>
            </a:extLst>
          </p:cNvPr>
          <p:cNvPicPr>
            <a:picLocks noChangeAspect="1"/>
          </p:cNvPicPr>
          <p:nvPr/>
        </p:nvPicPr>
        <p:blipFill>
          <a:blip r:embed="rId4"/>
          <a:stretch>
            <a:fillRect/>
          </a:stretch>
        </p:blipFill>
        <p:spPr>
          <a:xfrm>
            <a:off x="3268980" y="5721729"/>
            <a:ext cx="5737860" cy="910467"/>
          </a:xfrm>
          <a:prstGeom prst="rect">
            <a:avLst/>
          </a:prstGeom>
        </p:spPr>
      </p:pic>
    </p:spTree>
    <p:extLst>
      <p:ext uri="{BB962C8B-B14F-4D97-AF65-F5344CB8AC3E}">
        <p14:creationId xmlns:p14="http://schemas.microsoft.com/office/powerpoint/2010/main" val="828850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EDD0D-3675-4273-B8BA-03FE59FBD690}"/>
              </a:ext>
            </a:extLst>
          </p:cNvPr>
          <p:cNvSpPr>
            <a:spLocks noGrp="1"/>
          </p:cNvSpPr>
          <p:nvPr>
            <p:ph type="title"/>
          </p:nvPr>
        </p:nvSpPr>
        <p:spPr>
          <a:xfrm>
            <a:off x="655320" y="-5840"/>
            <a:ext cx="10515600" cy="1325563"/>
          </a:xfrm>
        </p:spPr>
        <p:txBody>
          <a:bodyPr/>
          <a:lstStyle/>
          <a:p>
            <a:r>
              <a:rPr lang="en-US" dirty="0"/>
              <a:t>Early stopping</a:t>
            </a:r>
          </a:p>
        </p:txBody>
      </p:sp>
      <p:sp>
        <p:nvSpPr>
          <p:cNvPr id="15" name="Content Placeholder 14">
            <a:extLst>
              <a:ext uri="{FF2B5EF4-FFF2-40B4-BE49-F238E27FC236}">
                <a16:creationId xmlns:a16="http://schemas.microsoft.com/office/drawing/2014/main" id="{28223486-4051-42A8-886B-06ACD2192698}"/>
              </a:ext>
            </a:extLst>
          </p:cNvPr>
          <p:cNvSpPr>
            <a:spLocks noGrp="1"/>
          </p:cNvSpPr>
          <p:nvPr>
            <p:ph idx="1"/>
          </p:nvPr>
        </p:nvSpPr>
        <p:spPr>
          <a:xfrm>
            <a:off x="655320" y="5212089"/>
            <a:ext cx="10515600" cy="1341900"/>
          </a:xfrm>
        </p:spPr>
        <p:txBody>
          <a:bodyPr>
            <a:normAutofit fontScale="92500"/>
          </a:bodyPr>
          <a:lstStyle/>
          <a:p>
            <a:r>
              <a:rPr lang="en-US" dirty="0"/>
              <a:t>Downside of ES: optimize cost function and reduce variance simultaneously</a:t>
            </a:r>
          </a:p>
          <a:p>
            <a:r>
              <a:rPr lang="en-US" dirty="0"/>
              <a:t>This breaks the </a:t>
            </a:r>
            <a:r>
              <a:rPr lang="en-US" dirty="0" err="1"/>
              <a:t>ortyhogonality</a:t>
            </a:r>
            <a:r>
              <a:rPr lang="en-US" dirty="0"/>
              <a:t> of ML techniques where the two tasks are usually dealt with independently (</a:t>
            </a:r>
            <a:r>
              <a:rPr lang="en-US" dirty="0" err="1"/>
              <a:t>e.g</a:t>
            </a:r>
            <a:r>
              <a:rPr lang="en-US" dirty="0"/>
              <a:t> L2 regularization)</a:t>
            </a:r>
          </a:p>
        </p:txBody>
      </p:sp>
      <p:grpSp>
        <p:nvGrpSpPr>
          <p:cNvPr id="14" name="Group 13">
            <a:extLst>
              <a:ext uri="{FF2B5EF4-FFF2-40B4-BE49-F238E27FC236}">
                <a16:creationId xmlns:a16="http://schemas.microsoft.com/office/drawing/2014/main" id="{2141F44A-A5BF-4999-B144-507B8A339C13}"/>
              </a:ext>
            </a:extLst>
          </p:cNvPr>
          <p:cNvGrpSpPr/>
          <p:nvPr/>
        </p:nvGrpSpPr>
        <p:grpSpPr>
          <a:xfrm>
            <a:off x="1598295" y="1090455"/>
            <a:ext cx="7782622" cy="3990180"/>
            <a:chOff x="1529715" y="1827690"/>
            <a:chExt cx="7782622" cy="3990180"/>
          </a:xfrm>
        </p:grpSpPr>
        <p:pic>
          <p:nvPicPr>
            <p:cNvPr id="5" name="Picture 4">
              <a:extLst>
                <a:ext uri="{FF2B5EF4-FFF2-40B4-BE49-F238E27FC236}">
                  <a16:creationId xmlns:a16="http://schemas.microsoft.com/office/drawing/2014/main" id="{87667237-2A63-4E1D-848B-CB640B04FDC2}"/>
                </a:ext>
              </a:extLst>
            </p:cNvPr>
            <p:cNvPicPr>
              <a:picLocks noChangeAspect="1"/>
            </p:cNvPicPr>
            <p:nvPr/>
          </p:nvPicPr>
          <p:blipFill>
            <a:blip r:embed="rId2"/>
            <a:stretch>
              <a:fillRect/>
            </a:stretch>
          </p:blipFill>
          <p:spPr>
            <a:xfrm>
              <a:off x="1529715" y="1827690"/>
              <a:ext cx="7782622" cy="3876515"/>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43352ADC-1C67-4485-968F-95C88798A649}"/>
                    </a:ext>
                  </a:extLst>
                </p14:cNvPr>
                <p14:cNvContentPartPr/>
                <p14:nvPr/>
              </p14:nvContentPartPr>
              <p14:xfrm>
                <a:off x="2597670" y="2043495"/>
                <a:ext cx="5568120" cy="3006720"/>
              </p14:xfrm>
            </p:contentPart>
          </mc:Choice>
          <mc:Fallback xmlns="">
            <p:pic>
              <p:nvPicPr>
                <p:cNvPr id="7" name="Ink 6">
                  <a:extLst>
                    <a:ext uri="{FF2B5EF4-FFF2-40B4-BE49-F238E27FC236}">
                      <a16:creationId xmlns:a16="http://schemas.microsoft.com/office/drawing/2014/main" id="{43352ADC-1C67-4485-968F-95C88798A649}"/>
                    </a:ext>
                  </a:extLst>
                </p:cNvPr>
                <p:cNvPicPr/>
                <p:nvPr/>
              </p:nvPicPr>
              <p:blipFill>
                <a:blip r:embed="rId4"/>
                <a:stretch>
                  <a:fillRect/>
                </a:stretch>
              </p:blipFill>
              <p:spPr>
                <a:xfrm>
                  <a:off x="2588670" y="2034855"/>
                  <a:ext cx="5585760" cy="3024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1A036057-76CC-42FC-8012-70555E9D1B75}"/>
                    </a:ext>
                  </a:extLst>
                </p14:cNvPr>
                <p14:cNvContentPartPr/>
                <p14:nvPr/>
              </p14:nvContentPartPr>
              <p14:xfrm>
                <a:off x="2630070" y="2024055"/>
                <a:ext cx="4731120" cy="2527200"/>
              </p14:xfrm>
            </p:contentPart>
          </mc:Choice>
          <mc:Fallback xmlns="">
            <p:pic>
              <p:nvPicPr>
                <p:cNvPr id="8" name="Ink 7">
                  <a:extLst>
                    <a:ext uri="{FF2B5EF4-FFF2-40B4-BE49-F238E27FC236}">
                      <a16:creationId xmlns:a16="http://schemas.microsoft.com/office/drawing/2014/main" id="{1A036057-76CC-42FC-8012-70555E9D1B75}"/>
                    </a:ext>
                  </a:extLst>
                </p:cNvPr>
                <p:cNvPicPr/>
                <p:nvPr/>
              </p:nvPicPr>
              <p:blipFill>
                <a:blip r:embed="rId6"/>
                <a:stretch>
                  <a:fillRect/>
                </a:stretch>
              </p:blipFill>
              <p:spPr>
                <a:xfrm>
                  <a:off x="2621070" y="2015415"/>
                  <a:ext cx="4748760" cy="2544840"/>
                </a:xfrm>
                <a:prstGeom prst="rect">
                  <a:avLst/>
                </a:prstGeom>
              </p:spPr>
            </p:pic>
          </mc:Fallback>
        </mc:AlternateContent>
        <p:sp>
          <p:nvSpPr>
            <p:cNvPr id="9" name="TextBox 8">
              <a:extLst>
                <a:ext uri="{FF2B5EF4-FFF2-40B4-BE49-F238E27FC236}">
                  <a16:creationId xmlns:a16="http://schemas.microsoft.com/office/drawing/2014/main" id="{072DA6DA-DA48-41A4-B553-F48C3E6BEE83}"/>
                </a:ext>
              </a:extLst>
            </p:cNvPr>
            <p:cNvSpPr txBox="1"/>
            <p:nvPr/>
          </p:nvSpPr>
          <p:spPr>
            <a:xfrm>
              <a:off x="7045440" y="4680883"/>
              <a:ext cx="1170192" cy="369332"/>
            </a:xfrm>
            <a:prstGeom prst="rect">
              <a:avLst/>
            </a:prstGeom>
            <a:noFill/>
          </p:spPr>
          <p:txBody>
            <a:bodyPr wrap="none" rtlCol="0">
              <a:spAutoFit/>
            </a:bodyPr>
            <a:lstStyle/>
            <a:p>
              <a:r>
                <a:rPr lang="en-US" dirty="0"/>
                <a:t>Train error</a:t>
              </a:r>
            </a:p>
          </p:txBody>
        </p:sp>
        <p:sp>
          <p:nvSpPr>
            <p:cNvPr id="11" name="TextBox 10">
              <a:extLst>
                <a:ext uri="{FF2B5EF4-FFF2-40B4-BE49-F238E27FC236}">
                  <a16:creationId xmlns:a16="http://schemas.microsoft.com/office/drawing/2014/main" id="{37620977-7EF3-44E4-8F16-DF8DCCA4C2EB}"/>
                </a:ext>
              </a:extLst>
            </p:cNvPr>
            <p:cNvSpPr txBox="1"/>
            <p:nvPr/>
          </p:nvSpPr>
          <p:spPr>
            <a:xfrm>
              <a:off x="7020519" y="3177523"/>
              <a:ext cx="1082797" cy="369332"/>
            </a:xfrm>
            <a:prstGeom prst="rect">
              <a:avLst/>
            </a:prstGeom>
            <a:noFill/>
          </p:spPr>
          <p:txBody>
            <a:bodyPr wrap="none" rtlCol="0">
              <a:spAutoFit/>
            </a:bodyPr>
            <a:lstStyle/>
            <a:p>
              <a:r>
                <a:rPr lang="en-US" dirty="0"/>
                <a:t>Test error</a:t>
              </a:r>
            </a:p>
          </p:txBody>
        </p:sp>
        <p:cxnSp>
          <p:nvCxnSpPr>
            <p:cNvPr id="12" name="Straight Connector 11">
              <a:extLst>
                <a:ext uri="{FF2B5EF4-FFF2-40B4-BE49-F238E27FC236}">
                  <a16:creationId xmlns:a16="http://schemas.microsoft.com/office/drawing/2014/main" id="{BDCC7F71-BC60-4FA2-ADD0-4246279A354F}"/>
                </a:ext>
              </a:extLst>
            </p:cNvPr>
            <p:cNvCxnSpPr/>
            <p:nvPr/>
          </p:nvCxnSpPr>
          <p:spPr>
            <a:xfrm>
              <a:off x="5040630" y="3851910"/>
              <a:ext cx="0" cy="1965960"/>
            </a:xfrm>
            <a:prstGeom prst="line">
              <a:avLst/>
            </a:prstGeom>
            <a:ln>
              <a:prstDash val="dash"/>
            </a:ln>
          </p:spPr>
          <p:style>
            <a:lnRef idx="3">
              <a:schemeClr val="accent1"/>
            </a:lnRef>
            <a:fillRef idx="0">
              <a:schemeClr val="accent1"/>
            </a:fillRef>
            <a:effectRef idx="2">
              <a:schemeClr val="accent1"/>
            </a:effectRef>
            <a:fontRef idx="minor">
              <a:schemeClr val="tx1"/>
            </a:fontRef>
          </p:style>
        </p:cxnSp>
        <p:sp>
          <p:nvSpPr>
            <p:cNvPr id="13" name="TextBox 12">
              <a:extLst>
                <a:ext uri="{FF2B5EF4-FFF2-40B4-BE49-F238E27FC236}">
                  <a16:creationId xmlns:a16="http://schemas.microsoft.com/office/drawing/2014/main" id="{3F00779B-2707-4C3D-9BA7-59B5AB449949}"/>
                </a:ext>
              </a:extLst>
            </p:cNvPr>
            <p:cNvSpPr txBox="1"/>
            <p:nvPr/>
          </p:nvSpPr>
          <p:spPr>
            <a:xfrm>
              <a:off x="4745517" y="4865549"/>
              <a:ext cx="598241" cy="369332"/>
            </a:xfrm>
            <a:prstGeom prst="rect">
              <a:avLst/>
            </a:prstGeom>
            <a:noFill/>
          </p:spPr>
          <p:txBody>
            <a:bodyPr wrap="none" rtlCol="0">
              <a:spAutoFit/>
            </a:bodyPr>
            <a:lstStyle/>
            <a:p>
              <a:r>
                <a:rPr lang="en-US" b="1" dirty="0"/>
                <a:t>stop</a:t>
              </a:r>
            </a:p>
          </p:txBody>
        </p:sp>
      </p:grpSp>
    </p:spTree>
    <p:extLst>
      <p:ext uri="{BB962C8B-B14F-4D97-AF65-F5344CB8AC3E}">
        <p14:creationId xmlns:p14="http://schemas.microsoft.com/office/powerpoint/2010/main" val="2881048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B83FF-6945-4CDD-B236-FAF8D0D711FF}"/>
              </a:ext>
            </a:extLst>
          </p:cNvPr>
          <p:cNvSpPr>
            <a:spLocks noGrp="1"/>
          </p:cNvSpPr>
          <p:nvPr>
            <p:ph type="title"/>
          </p:nvPr>
        </p:nvSpPr>
        <p:spPr>
          <a:xfrm>
            <a:off x="75923" y="-49774"/>
            <a:ext cx="11235170" cy="1143346"/>
          </a:xfrm>
        </p:spPr>
        <p:txBody>
          <a:bodyPr>
            <a:normAutofit/>
          </a:bodyPr>
          <a:lstStyle/>
          <a:p>
            <a:r>
              <a:rPr lang="en-US" dirty="0"/>
              <a:t>Unstable gradient: vanishing and exploding</a:t>
            </a:r>
          </a:p>
        </p:txBody>
      </p:sp>
      <p:sp>
        <p:nvSpPr>
          <p:cNvPr id="3" name="Content Placeholder 2">
            <a:extLst>
              <a:ext uri="{FF2B5EF4-FFF2-40B4-BE49-F238E27FC236}">
                <a16:creationId xmlns:a16="http://schemas.microsoft.com/office/drawing/2014/main" id="{A6CA48B8-B10D-4BD8-8C47-EDCFDCA8F4B4}"/>
              </a:ext>
            </a:extLst>
          </p:cNvPr>
          <p:cNvSpPr>
            <a:spLocks noGrp="1"/>
          </p:cNvSpPr>
          <p:nvPr>
            <p:ph idx="1"/>
          </p:nvPr>
        </p:nvSpPr>
        <p:spPr>
          <a:xfrm>
            <a:off x="367128" y="3776671"/>
            <a:ext cx="10515600" cy="2915594"/>
          </a:xfrm>
        </p:spPr>
        <p:txBody>
          <a:bodyPr>
            <a:normAutofit/>
          </a:bodyPr>
          <a:lstStyle/>
          <a:p>
            <a:r>
              <a:rPr lang="en-US" sz="2000" dirty="0"/>
              <a:t>Each gradient is a product depending on </a:t>
            </a:r>
            <a:r>
              <a:rPr lang="en-US" sz="2000" b="1" dirty="0" err="1"/>
              <a:t>weigths</a:t>
            </a:r>
            <a:r>
              <a:rPr lang="en-US" sz="2000" dirty="0"/>
              <a:t> and on </a:t>
            </a:r>
            <a:r>
              <a:rPr lang="en-US" sz="2000" b="1" dirty="0"/>
              <a:t>derivative of activation function</a:t>
            </a:r>
          </a:p>
          <a:p>
            <a:r>
              <a:rPr lang="en-US" sz="2000" dirty="0"/>
              <a:t>Shallow layer will have larger products</a:t>
            </a:r>
          </a:p>
          <a:p>
            <a:r>
              <a:rPr lang="en-US" sz="2000" dirty="0"/>
              <a:t>If weights and derivative of activation functions are small, the gradient tends to vanish (large product of small values): this may happen when using </a:t>
            </a:r>
            <a:r>
              <a:rPr lang="en-US" sz="2000" dirty="0" err="1"/>
              <a:t>sigmoids</a:t>
            </a:r>
            <a:r>
              <a:rPr lang="en-US" sz="2000" dirty="0"/>
              <a:t> functions (derivative between 0 and 1, with several small values), and weights not properly initialized (es: </a:t>
            </a:r>
            <a:r>
              <a:rPr lang="en-US" sz="2000" i="1" dirty="0">
                <a:latin typeface="Symbol" panose="05050102010706020507" pitchFamily="18" charset="2"/>
              </a:rPr>
              <a:t>N</a:t>
            </a:r>
            <a:r>
              <a:rPr lang="en-US" sz="2000" dirty="0"/>
              <a:t>(0,1))</a:t>
            </a:r>
          </a:p>
          <a:p>
            <a:r>
              <a:rPr lang="en-US" sz="2000" dirty="0"/>
              <a:t>If weights are initialized as very large, they may dominate in the product and the gradient tends to explode (becomes larger and larger towards shallow layers)</a:t>
            </a:r>
          </a:p>
          <a:p>
            <a:r>
              <a:rPr lang="en-US" sz="2000" dirty="0"/>
              <a:t>In both cases different layers learn parameter at different speed (unstable learning)</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2EE4131-E26C-4E26-87CC-C2F331A4E4C9}"/>
                  </a:ext>
                </a:extLst>
              </p:cNvPr>
              <p:cNvSpPr txBox="1"/>
              <p:nvPr/>
            </p:nvSpPr>
            <p:spPr>
              <a:xfrm>
                <a:off x="6888455" y="2547232"/>
                <a:ext cx="2827069" cy="93339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𝐽</m:t>
                          </m:r>
                          <m:r>
                            <a:rPr lang="en-US" sz="2400" i="1">
                              <a:latin typeface="Cambria Math" panose="02040503050406030204" pitchFamily="18" charset="0"/>
                              <a:ea typeface="Cambria Math" panose="02040503050406030204" pitchFamily="18" charset="0"/>
                            </a:rPr>
                            <m:t>(</m:t>
                          </m:r>
                          <m:r>
                            <m:rPr>
                              <m:sty m:val="p"/>
                            </m:rPr>
                            <a:rPr lang="el-GR" sz="2400" i="1" smtClean="0">
                              <a:latin typeface="Cambria Math" panose="02040503050406030204" pitchFamily="18" charset="0"/>
                              <a:ea typeface="Cambria Math" panose="02040503050406030204" pitchFamily="18" charset="0"/>
                            </a:rPr>
                            <m:t>Θ</m:t>
                          </m:r>
                          <m:r>
                            <a:rPr lang="en-US" sz="2400" b="0" i="1" smtClean="0">
                              <a:latin typeface="Cambria Math" panose="02040503050406030204" pitchFamily="18" charset="0"/>
                              <a:ea typeface="Cambria Math" panose="02040503050406030204" pitchFamily="18" charset="0"/>
                            </a:rPr>
                            <m:t>)</m:t>
                          </m:r>
                        </m:num>
                        <m:den>
                          <m:r>
                            <a:rPr lang="en-US" sz="2400" i="1" smtClean="0">
                              <a:latin typeface="Cambria Math" panose="02040503050406030204" pitchFamily="18" charset="0"/>
                              <a:ea typeface="Cambria Math" panose="02040503050406030204" pitchFamily="18" charset="0"/>
                            </a:rPr>
                            <m:t>𝜕</m:t>
                          </m:r>
                          <m:sSubSup>
                            <m:sSubSupPr>
                              <m:ctrlPr>
                                <a:rPr lang="en-US" sz="2400" i="1" smtClean="0">
                                  <a:latin typeface="Cambria Math" panose="02040503050406030204" pitchFamily="18" charset="0"/>
                                  <a:ea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ea typeface="Cambria Math" panose="02040503050406030204" pitchFamily="18" charset="0"/>
                                </a:rPr>
                                <m:t>𝑖𝑗</m:t>
                              </m:r>
                            </m:sub>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𝑙</m:t>
                              </m:r>
                              <m:r>
                                <a:rPr lang="en-US" sz="2400" b="0" i="1" smtClean="0">
                                  <a:latin typeface="Cambria Math" panose="02040503050406030204" pitchFamily="18" charset="0"/>
                                  <a:ea typeface="Cambria Math" panose="02040503050406030204" pitchFamily="18" charset="0"/>
                                </a:rPr>
                                <m:t>)</m:t>
                              </m:r>
                            </m:sup>
                          </m:sSubSup>
                        </m:den>
                      </m:f>
                      <m:r>
                        <a:rPr lang="en-US" sz="2400" b="0" i="1" smtClean="0">
                          <a:latin typeface="Cambria Math" panose="02040503050406030204" pitchFamily="18" charset="0"/>
                          <a:ea typeface="Cambria Math" panose="02040503050406030204" pitchFamily="18" charset="0"/>
                        </a:rPr>
                        <m:t>=</m:t>
                      </m:r>
                      <m:sSubSup>
                        <m:sSubSupPr>
                          <m:ctrlPr>
                            <a:rPr lang="en-GB" sz="2400" i="1" smtClean="0">
                              <a:solidFill>
                                <a:schemeClr val="tx1"/>
                              </a:solidFill>
                              <a:latin typeface="Cambria Math" panose="02040503050406030204" pitchFamily="18" charset="0"/>
                              <a:ea typeface="Cambria Math" panose="02040503050406030204" pitchFamily="18" charset="0"/>
                            </a:rPr>
                          </m:ctrlPr>
                        </m:sSubSupPr>
                        <m:e>
                          <m:r>
                            <a:rPr lang="en-GB" sz="2400" i="1">
                              <a:solidFill>
                                <a:schemeClr val="tx1"/>
                              </a:solidFill>
                              <a:latin typeface="Cambria Math" panose="02040503050406030204" pitchFamily="18" charset="0"/>
                              <a:ea typeface="Cambria Math" panose="02040503050406030204" pitchFamily="18" charset="0"/>
                            </a:rPr>
                            <m:t>𝑎</m:t>
                          </m:r>
                        </m:e>
                        <m:sub>
                          <m:r>
                            <a:rPr lang="en-GB" sz="2400" i="1">
                              <a:solidFill>
                                <a:schemeClr val="tx1"/>
                              </a:solidFill>
                              <a:latin typeface="Cambria Math" panose="02040503050406030204" pitchFamily="18" charset="0"/>
                              <a:ea typeface="Cambria Math" panose="02040503050406030204" pitchFamily="18" charset="0"/>
                            </a:rPr>
                            <m:t>𝑗</m:t>
                          </m:r>
                        </m:sub>
                        <m:sup>
                          <m:r>
                            <a:rPr lang="en-GB" sz="2400" i="1">
                              <a:solidFill>
                                <a:schemeClr val="tx1"/>
                              </a:solidFill>
                              <a:latin typeface="Cambria Math" panose="02040503050406030204" pitchFamily="18" charset="0"/>
                              <a:ea typeface="Cambria Math" panose="02040503050406030204" pitchFamily="18" charset="0"/>
                            </a:rPr>
                            <m:t>(</m:t>
                          </m:r>
                          <m:r>
                            <a:rPr lang="en-GB" sz="2400" i="1">
                              <a:solidFill>
                                <a:schemeClr val="tx1"/>
                              </a:solidFill>
                              <a:latin typeface="Cambria Math" panose="02040503050406030204" pitchFamily="18" charset="0"/>
                              <a:ea typeface="Cambria Math" panose="02040503050406030204" pitchFamily="18" charset="0"/>
                            </a:rPr>
                            <m:t>𝑙</m:t>
                          </m:r>
                          <m:r>
                            <a:rPr lang="en-GB" sz="2400" i="1">
                              <a:solidFill>
                                <a:schemeClr val="tx1"/>
                              </a:solidFill>
                              <a:latin typeface="Cambria Math" panose="02040503050406030204" pitchFamily="18" charset="0"/>
                              <a:ea typeface="Cambria Math" panose="02040503050406030204" pitchFamily="18" charset="0"/>
                            </a:rPr>
                            <m:t>)</m:t>
                          </m:r>
                        </m:sup>
                      </m:sSubSup>
                      <m:sSubSup>
                        <m:sSubSupPr>
                          <m:ctrlPr>
                            <a:rPr lang="en-GB" sz="2400" i="1" smtClean="0">
                              <a:solidFill>
                                <a:srgbClr val="FF0000"/>
                              </a:solidFill>
                              <a:latin typeface="Cambria Math" panose="02040503050406030204" pitchFamily="18" charset="0"/>
                              <a:ea typeface="Cambria Math" panose="02040503050406030204" pitchFamily="18" charset="0"/>
                            </a:rPr>
                          </m:ctrlPr>
                        </m:sSubSupPr>
                        <m:e>
                          <m:r>
                            <a:rPr lang="en-GB" sz="2400" i="1">
                              <a:solidFill>
                                <a:srgbClr val="FF0000"/>
                              </a:solidFill>
                              <a:latin typeface="Cambria Math" panose="02040503050406030204" pitchFamily="18" charset="0"/>
                              <a:ea typeface="Cambria Math" panose="02040503050406030204" pitchFamily="18" charset="0"/>
                            </a:rPr>
                            <m:t>𝛿</m:t>
                          </m:r>
                        </m:e>
                        <m:sub>
                          <m:r>
                            <a:rPr lang="en-GB" sz="2400" i="1">
                              <a:solidFill>
                                <a:srgbClr val="FF0000"/>
                              </a:solidFill>
                              <a:latin typeface="Cambria Math" panose="02040503050406030204" pitchFamily="18" charset="0"/>
                              <a:ea typeface="Cambria Math" panose="02040503050406030204" pitchFamily="18" charset="0"/>
                            </a:rPr>
                            <m:t>𝑖</m:t>
                          </m:r>
                        </m:sub>
                        <m:sup>
                          <m:r>
                            <a:rPr lang="en-GB" sz="2400" i="1">
                              <a:solidFill>
                                <a:srgbClr val="FF0000"/>
                              </a:solidFill>
                              <a:latin typeface="Cambria Math" panose="02040503050406030204" pitchFamily="18" charset="0"/>
                              <a:ea typeface="Cambria Math" panose="02040503050406030204" pitchFamily="18" charset="0"/>
                            </a:rPr>
                            <m:t>(</m:t>
                          </m:r>
                          <m:r>
                            <a:rPr lang="en-GB" sz="2400" i="1">
                              <a:solidFill>
                                <a:srgbClr val="FF0000"/>
                              </a:solidFill>
                              <a:latin typeface="Cambria Math" panose="02040503050406030204" pitchFamily="18" charset="0"/>
                              <a:ea typeface="Cambria Math" panose="02040503050406030204" pitchFamily="18" charset="0"/>
                            </a:rPr>
                            <m:t>𝑙</m:t>
                          </m:r>
                          <m:r>
                            <a:rPr lang="en-GB" sz="2400" i="1">
                              <a:solidFill>
                                <a:srgbClr val="FF0000"/>
                              </a:solidFill>
                              <a:latin typeface="Cambria Math" panose="02040503050406030204" pitchFamily="18" charset="0"/>
                              <a:ea typeface="Cambria Math" panose="02040503050406030204" pitchFamily="18" charset="0"/>
                            </a:rPr>
                            <m:t>+1)</m:t>
                          </m:r>
                        </m:sup>
                      </m:sSubSup>
                    </m:oMath>
                  </m:oMathPara>
                </a14:m>
                <a:endParaRPr lang="en-US" sz="2400" dirty="0"/>
              </a:p>
            </p:txBody>
          </p:sp>
        </mc:Choice>
        <mc:Fallback xmlns="">
          <p:sp>
            <p:nvSpPr>
              <p:cNvPr id="11" name="TextBox 10">
                <a:extLst>
                  <a:ext uri="{FF2B5EF4-FFF2-40B4-BE49-F238E27FC236}">
                    <a16:creationId xmlns:a16="http://schemas.microsoft.com/office/drawing/2014/main" id="{32EE4131-E26C-4E26-87CC-C2F331A4E4C9}"/>
                  </a:ext>
                </a:extLst>
              </p:cNvPr>
              <p:cNvSpPr txBox="1">
                <a:spLocks noRot="1" noChangeAspect="1" noMove="1" noResize="1" noEditPoints="1" noAdjustHandles="1" noChangeArrowheads="1" noChangeShapeType="1" noTextEdit="1"/>
              </p:cNvSpPr>
              <p:nvPr/>
            </p:nvSpPr>
            <p:spPr>
              <a:xfrm>
                <a:off x="6888455" y="2547232"/>
                <a:ext cx="2827069" cy="93339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81DC3F6-55DA-44CC-9013-C74F460F6E35}"/>
                  </a:ext>
                </a:extLst>
              </p:cNvPr>
              <p:cNvSpPr txBox="1"/>
              <p:nvPr/>
            </p:nvSpPr>
            <p:spPr>
              <a:xfrm>
                <a:off x="367128" y="2659708"/>
                <a:ext cx="6221793" cy="715260"/>
              </a:xfrm>
              <a:prstGeom prst="rect">
                <a:avLst/>
              </a:prstGeom>
              <a:noFill/>
            </p:spPr>
            <p:txBody>
              <a:bodyPr wrap="square" lIns="0" tIns="0" rIns="0" bIns="0" rtlCol="0">
                <a:spAutoFit/>
              </a:bodyPr>
              <a:lstStyle/>
              <a:p>
                <a14:m>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𝐽</m:t>
                        </m:r>
                        <m:r>
                          <a:rPr lang="en-US" sz="2400" i="1">
                            <a:latin typeface="Cambria Math" panose="02040503050406030204" pitchFamily="18" charset="0"/>
                            <a:ea typeface="Cambria Math" panose="02040503050406030204" pitchFamily="18" charset="0"/>
                          </a:rPr>
                          <m:t>(</m:t>
                        </m:r>
                        <m:r>
                          <m:rPr>
                            <m:sty m:val="p"/>
                          </m:rPr>
                          <a:rPr lang="el-GR" sz="2400" i="1" smtClean="0">
                            <a:latin typeface="Cambria Math" panose="02040503050406030204" pitchFamily="18" charset="0"/>
                            <a:ea typeface="Cambria Math" panose="02040503050406030204" pitchFamily="18" charset="0"/>
                          </a:rPr>
                          <m:t>Θ</m:t>
                        </m:r>
                        <m:r>
                          <a:rPr lang="en-US" sz="2400" b="0" i="1" smtClean="0">
                            <a:latin typeface="Cambria Math" panose="02040503050406030204" pitchFamily="18" charset="0"/>
                            <a:ea typeface="Cambria Math" panose="02040503050406030204" pitchFamily="18" charset="0"/>
                          </a:rPr>
                          <m:t>)</m:t>
                        </m:r>
                      </m:num>
                      <m:den>
                        <m:r>
                          <a:rPr lang="en-US" sz="2400" i="1" smtClean="0">
                            <a:latin typeface="Cambria Math" panose="02040503050406030204" pitchFamily="18" charset="0"/>
                            <a:ea typeface="Cambria Math" panose="02040503050406030204" pitchFamily="18" charset="0"/>
                          </a:rPr>
                          <m:t>𝜕</m:t>
                        </m:r>
                        <m:sSubSup>
                          <m:sSubSupPr>
                            <m:ctrlPr>
                              <a:rPr lang="en-US" sz="2400" i="1" smtClean="0">
                                <a:latin typeface="Cambria Math" panose="02040503050406030204" pitchFamily="18" charset="0"/>
                                <a:ea typeface="Cambria Math" panose="02040503050406030204" pitchFamily="18" charset="0"/>
                              </a:rPr>
                            </m:ctrlPr>
                          </m:sSubSupPr>
                          <m:e>
                            <m:r>
                              <a:rPr lang="en-US" sz="2400" i="1" smtClean="0">
                                <a:latin typeface="Cambria Math" panose="02040503050406030204" pitchFamily="18" charset="0"/>
                                <a:ea typeface="Cambria Math" panose="02040503050406030204" pitchFamily="18" charset="0"/>
                              </a:rPr>
                              <m:t>𝜃</m:t>
                            </m:r>
                          </m:e>
                          <m:sub>
                            <m:r>
                              <a:rPr lang="en-US" sz="2400" b="0" i="1" smtClean="0">
                                <a:latin typeface="Cambria Math" panose="02040503050406030204" pitchFamily="18" charset="0"/>
                                <a:ea typeface="Cambria Math" panose="02040503050406030204" pitchFamily="18" charset="0"/>
                              </a:rPr>
                              <m:t>𝑗𝑘</m:t>
                            </m:r>
                          </m:sub>
                          <m:sup>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𝑙</m:t>
                            </m:r>
                            <m:r>
                              <a:rPr lang="en-US" sz="2400" b="0" i="1" smtClean="0">
                                <a:latin typeface="Cambria Math" panose="02040503050406030204" pitchFamily="18" charset="0"/>
                                <a:ea typeface="Cambria Math" panose="02040503050406030204" pitchFamily="18" charset="0"/>
                              </a:rPr>
                              <m:t>−1)</m:t>
                            </m:r>
                          </m:sup>
                        </m:sSubSup>
                      </m:den>
                    </m:f>
                    <m:r>
                      <a:rPr lang="en-US" sz="2400" b="0" i="1" smtClean="0">
                        <a:latin typeface="Cambria Math" panose="02040503050406030204" pitchFamily="18" charset="0"/>
                        <a:ea typeface="Cambria Math" panose="02040503050406030204" pitchFamily="18" charset="0"/>
                      </a:rPr>
                      <m:t>=</m:t>
                    </m:r>
                    <m:sSubSup>
                      <m:sSubSupPr>
                        <m:ctrlPr>
                          <a:rPr lang="en-GB" sz="2400" i="1" smtClean="0">
                            <a:solidFill>
                              <a:schemeClr val="tx1"/>
                            </a:solidFill>
                            <a:latin typeface="Cambria Math" panose="02040503050406030204" pitchFamily="18" charset="0"/>
                            <a:ea typeface="Cambria Math" panose="02040503050406030204" pitchFamily="18" charset="0"/>
                          </a:rPr>
                        </m:ctrlPr>
                      </m:sSubSupPr>
                      <m:e>
                        <m:r>
                          <a:rPr lang="en-GB" sz="2400" i="1">
                            <a:solidFill>
                              <a:schemeClr val="tx1"/>
                            </a:solidFill>
                            <a:latin typeface="Cambria Math" panose="02040503050406030204" pitchFamily="18" charset="0"/>
                            <a:ea typeface="Cambria Math" panose="02040503050406030204" pitchFamily="18" charset="0"/>
                          </a:rPr>
                          <m:t>𝑎</m:t>
                        </m:r>
                      </m:e>
                      <m:sub>
                        <m:r>
                          <a:rPr lang="en-US" sz="2400" b="0" i="1" smtClean="0">
                            <a:solidFill>
                              <a:schemeClr val="tx1"/>
                            </a:solidFill>
                            <a:latin typeface="Cambria Math" panose="02040503050406030204" pitchFamily="18" charset="0"/>
                            <a:ea typeface="Cambria Math" panose="02040503050406030204" pitchFamily="18" charset="0"/>
                          </a:rPr>
                          <m:t>𝑘</m:t>
                        </m:r>
                      </m:sub>
                      <m:sup>
                        <m:r>
                          <a:rPr lang="en-GB" sz="2400" i="1">
                            <a:solidFill>
                              <a:schemeClr val="tx1"/>
                            </a:solidFill>
                            <a:latin typeface="Cambria Math" panose="02040503050406030204" pitchFamily="18" charset="0"/>
                            <a:ea typeface="Cambria Math" panose="02040503050406030204" pitchFamily="18" charset="0"/>
                          </a:rPr>
                          <m:t>(</m:t>
                        </m:r>
                        <m:r>
                          <a:rPr lang="en-GB" sz="2400" i="1">
                            <a:solidFill>
                              <a:schemeClr val="tx1"/>
                            </a:solidFill>
                            <a:latin typeface="Cambria Math" panose="02040503050406030204" pitchFamily="18" charset="0"/>
                            <a:ea typeface="Cambria Math" panose="02040503050406030204" pitchFamily="18" charset="0"/>
                          </a:rPr>
                          <m:t>𝑙</m:t>
                        </m:r>
                        <m:r>
                          <a:rPr lang="en-US" sz="2400" b="0" i="1" smtClean="0">
                            <a:solidFill>
                              <a:schemeClr val="tx1"/>
                            </a:solidFill>
                            <a:latin typeface="Cambria Math" panose="02040503050406030204" pitchFamily="18" charset="0"/>
                            <a:ea typeface="Cambria Math" panose="02040503050406030204" pitchFamily="18" charset="0"/>
                          </a:rPr>
                          <m:t>−1</m:t>
                        </m:r>
                        <m:r>
                          <a:rPr lang="en-GB" sz="2400" i="1">
                            <a:solidFill>
                              <a:schemeClr val="tx1"/>
                            </a:solidFill>
                            <a:latin typeface="Cambria Math" panose="02040503050406030204" pitchFamily="18" charset="0"/>
                            <a:ea typeface="Cambria Math" panose="02040503050406030204" pitchFamily="18" charset="0"/>
                          </a:rPr>
                          <m:t>)</m:t>
                        </m:r>
                      </m:sup>
                    </m:sSubSup>
                    <m:sSubSup>
                      <m:sSubSupPr>
                        <m:ctrlPr>
                          <a:rPr lang="en-GB" sz="2400" i="1" smtClean="0">
                            <a:solidFill>
                              <a:srgbClr val="FF0000"/>
                            </a:solidFill>
                            <a:latin typeface="Cambria Math" panose="02040503050406030204" pitchFamily="18" charset="0"/>
                            <a:ea typeface="Cambria Math" panose="02040503050406030204" pitchFamily="18" charset="0"/>
                          </a:rPr>
                        </m:ctrlPr>
                      </m:sSubSupPr>
                      <m:e>
                        <m:r>
                          <a:rPr lang="en-GB" sz="2400" i="1">
                            <a:solidFill>
                              <a:srgbClr val="FF0000"/>
                            </a:solidFill>
                            <a:latin typeface="Cambria Math" panose="02040503050406030204" pitchFamily="18" charset="0"/>
                            <a:ea typeface="Cambria Math" panose="02040503050406030204" pitchFamily="18" charset="0"/>
                          </a:rPr>
                          <m:t>𝛿</m:t>
                        </m:r>
                      </m:e>
                      <m:sub>
                        <m:r>
                          <a:rPr lang="en-US" sz="2400" b="0" i="1" smtClean="0">
                            <a:solidFill>
                              <a:srgbClr val="FF0000"/>
                            </a:solidFill>
                            <a:latin typeface="Cambria Math" panose="02040503050406030204" pitchFamily="18" charset="0"/>
                            <a:ea typeface="Cambria Math" panose="02040503050406030204" pitchFamily="18" charset="0"/>
                          </a:rPr>
                          <m:t>𝑗</m:t>
                        </m:r>
                      </m:sub>
                      <m:sup>
                        <m:r>
                          <a:rPr lang="en-GB" sz="2400" i="1">
                            <a:solidFill>
                              <a:srgbClr val="FF0000"/>
                            </a:solidFill>
                            <a:latin typeface="Cambria Math" panose="02040503050406030204" pitchFamily="18" charset="0"/>
                            <a:ea typeface="Cambria Math" panose="02040503050406030204" pitchFamily="18" charset="0"/>
                          </a:rPr>
                          <m:t>(</m:t>
                        </m:r>
                        <m:r>
                          <a:rPr lang="en-GB" sz="2400" i="1">
                            <a:solidFill>
                              <a:srgbClr val="FF0000"/>
                            </a:solidFill>
                            <a:latin typeface="Cambria Math" panose="02040503050406030204" pitchFamily="18" charset="0"/>
                            <a:ea typeface="Cambria Math" panose="02040503050406030204" pitchFamily="18" charset="0"/>
                          </a:rPr>
                          <m:t>𝑙</m:t>
                        </m:r>
                        <m:r>
                          <a:rPr lang="en-GB" sz="2400" i="1">
                            <a:solidFill>
                              <a:srgbClr val="FF0000"/>
                            </a:solidFill>
                            <a:latin typeface="Cambria Math" panose="02040503050406030204" pitchFamily="18" charset="0"/>
                            <a:ea typeface="Cambria Math" panose="02040503050406030204" pitchFamily="18" charset="0"/>
                          </a:rPr>
                          <m:t>)</m:t>
                        </m:r>
                      </m:sup>
                    </m:sSubSup>
                    <m:r>
                      <a:rPr lang="en-US" sz="2400" b="0" i="1" smtClean="0">
                        <a:solidFill>
                          <a:srgbClr val="FF0000"/>
                        </a:solidFill>
                        <a:latin typeface="Cambria Math" panose="02040503050406030204" pitchFamily="18" charset="0"/>
                        <a:ea typeface="Cambria Math" panose="02040503050406030204" pitchFamily="18" charset="0"/>
                      </a:rPr>
                      <m:t>= </m:t>
                    </m:r>
                    <m:sSubSup>
                      <m:sSubSupPr>
                        <m:ctrlPr>
                          <a:rPr lang="en-GB" sz="2400" i="1">
                            <a:latin typeface="Cambria Math" panose="02040503050406030204" pitchFamily="18" charset="0"/>
                            <a:ea typeface="Cambria Math" panose="02040503050406030204" pitchFamily="18" charset="0"/>
                          </a:rPr>
                        </m:ctrlPr>
                      </m:sSubSupPr>
                      <m:e>
                        <m:r>
                          <a:rPr lang="en-GB" sz="2400" i="1">
                            <a:latin typeface="Cambria Math" panose="02040503050406030204" pitchFamily="18" charset="0"/>
                            <a:ea typeface="Cambria Math" panose="02040503050406030204" pitchFamily="18" charset="0"/>
                          </a:rPr>
                          <m:t>𝑎</m:t>
                        </m:r>
                      </m:e>
                      <m:sub>
                        <m:r>
                          <a:rPr lang="en-US" sz="2400" i="1">
                            <a:latin typeface="Cambria Math" panose="02040503050406030204" pitchFamily="18" charset="0"/>
                            <a:ea typeface="Cambria Math" panose="02040503050406030204" pitchFamily="18" charset="0"/>
                          </a:rPr>
                          <m:t>𝑘</m:t>
                        </m:r>
                      </m:sub>
                      <m:sup>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𝑙</m:t>
                        </m:r>
                        <m:r>
                          <a:rPr lang="en-US" sz="2400" i="1">
                            <a:latin typeface="Cambria Math" panose="02040503050406030204" pitchFamily="18" charset="0"/>
                            <a:ea typeface="Cambria Math" panose="02040503050406030204" pitchFamily="18" charset="0"/>
                          </a:rPr>
                          <m:t>−1</m:t>
                        </m:r>
                        <m:r>
                          <a:rPr lang="en-GB" sz="2400" i="1">
                            <a:latin typeface="Cambria Math" panose="02040503050406030204" pitchFamily="18" charset="0"/>
                            <a:ea typeface="Cambria Math" panose="02040503050406030204" pitchFamily="18" charset="0"/>
                          </a:rPr>
                          <m:t>)</m:t>
                        </m:r>
                      </m:sup>
                    </m:sSubSup>
                  </m:oMath>
                </a14:m>
                <a:r>
                  <a:rPr lang="en-GB" sz="2400" dirty="0">
                    <a:solidFill>
                      <a:srgbClr val="FF0000"/>
                    </a:solidFill>
                    <a:ea typeface="Cambria Math" panose="02040503050406030204" pitchFamily="18" charset="0"/>
                  </a:rPr>
                  <a:t> </a:t>
                </a:r>
                <a14:m>
                  <m:oMath xmlns:m="http://schemas.openxmlformats.org/officeDocument/2006/math">
                    <m:sSubSup>
                      <m:sSubSupPr>
                        <m:ctrlPr>
                          <a:rPr lang="en-GB" sz="2400" i="1">
                            <a:solidFill>
                              <a:srgbClr val="FF0000"/>
                            </a:solidFill>
                            <a:latin typeface="Cambria Math" panose="02040503050406030204" pitchFamily="18" charset="0"/>
                            <a:ea typeface="Cambria Math" panose="02040503050406030204" pitchFamily="18" charset="0"/>
                          </a:rPr>
                        </m:ctrlPr>
                      </m:sSubSupPr>
                      <m:e>
                        <m:r>
                          <a:rPr lang="en-GB" sz="2400" i="1">
                            <a:solidFill>
                              <a:srgbClr val="FF0000"/>
                            </a:solidFill>
                            <a:latin typeface="Cambria Math" panose="02040503050406030204" pitchFamily="18" charset="0"/>
                            <a:ea typeface="Cambria Math" panose="02040503050406030204" pitchFamily="18" charset="0"/>
                          </a:rPr>
                          <m:t>𝛿</m:t>
                        </m:r>
                      </m:e>
                      <m:sub>
                        <m:r>
                          <a:rPr lang="en-GB" sz="2400" i="1">
                            <a:solidFill>
                              <a:srgbClr val="FF0000"/>
                            </a:solidFill>
                            <a:latin typeface="Cambria Math" panose="02040503050406030204" pitchFamily="18" charset="0"/>
                            <a:ea typeface="Cambria Math" panose="02040503050406030204" pitchFamily="18" charset="0"/>
                          </a:rPr>
                          <m:t>𝑖</m:t>
                        </m:r>
                      </m:sub>
                      <m:sup>
                        <m:r>
                          <a:rPr lang="en-GB" sz="2400" i="1">
                            <a:solidFill>
                              <a:srgbClr val="FF0000"/>
                            </a:solidFill>
                            <a:latin typeface="Cambria Math" panose="02040503050406030204" pitchFamily="18" charset="0"/>
                            <a:ea typeface="Cambria Math" panose="02040503050406030204" pitchFamily="18" charset="0"/>
                          </a:rPr>
                          <m:t>(</m:t>
                        </m:r>
                        <m:r>
                          <a:rPr lang="en-GB" sz="2400" i="1">
                            <a:solidFill>
                              <a:srgbClr val="FF0000"/>
                            </a:solidFill>
                            <a:latin typeface="Cambria Math" panose="02040503050406030204" pitchFamily="18" charset="0"/>
                            <a:ea typeface="Cambria Math" panose="02040503050406030204" pitchFamily="18" charset="0"/>
                          </a:rPr>
                          <m:t>𝑙</m:t>
                        </m:r>
                        <m:r>
                          <a:rPr lang="en-GB" sz="2400" i="1">
                            <a:solidFill>
                              <a:srgbClr val="FF0000"/>
                            </a:solidFill>
                            <a:latin typeface="Cambria Math" panose="02040503050406030204" pitchFamily="18" charset="0"/>
                            <a:ea typeface="Cambria Math" panose="02040503050406030204" pitchFamily="18" charset="0"/>
                          </a:rPr>
                          <m:t>+1)</m:t>
                        </m:r>
                      </m:sup>
                    </m:sSubSup>
                  </m:oMath>
                </a14:m>
                <a:r>
                  <a:rPr lang="en-US" sz="2400" dirty="0">
                    <a:ea typeface="Cambria Math" panose="02040503050406030204" pitchFamily="18" charset="0"/>
                  </a:rPr>
                  <a:t> </a:t>
                </a:r>
                <a14:m>
                  <m:oMath xmlns:m="http://schemas.openxmlformats.org/officeDocument/2006/math">
                    <m:sSubSup>
                      <m:sSubSupPr>
                        <m:ctrlPr>
                          <a:rPr lang="en-US" sz="2400" i="1" smtClean="0">
                            <a:solidFill>
                              <a:srgbClr val="FF0000"/>
                            </a:solidFill>
                            <a:latin typeface="Cambria Math" panose="02040503050406030204" pitchFamily="18" charset="0"/>
                            <a:ea typeface="Cambria Math" panose="02040503050406030204" pitchFamily="18" charset="0"/>
                          </a:rPr>
                        </m:ctrlPr>
                      </m:sSubSupPr>
                      <m:e>
                        <m:r>
                          <a:rPr lang="en-US" sz="2400" i="1">
                            <a:solidFill>
                              <a:srgbClr val="FF0000"/>
                            </a:solidFill>
                            <a:latin typeface="Cambria Math" panose="02040503050406030204" pitchFamily="18" charset="0"/>
                            <a:ea typeface="Cambria Math" panose="02040503050406030204" pitchFamily="18" charset="0"/>
                          </a:rPr>
                          <m:t>𝜃</m:t>
                        </m:r>
                      </m:e>
                      <m:sub>
                        <m:r>
                          <a:rPr lang="en-US" sz="2400" i="1">
                            <a:solidFill>
                              <a:srgbClr val="FF0000"/>
                            </a:solidFill>
                            <a:latin typeface="Cambria Math" panose="02040503050406030204" pitchFamily="18" charset="0"/>
                            <a:ea typeface="Cambria Math" panose="02040503050406030204" pitchFamily="18" charset="0"/>
                          </a:rPr>
                          <m:t>𝑖𝑗</m:t>
                        </m:r>
                      </m:sub>
                      <m:sup>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𝑙</m:t>
                        </m:r>
                        <m:r>
                          <a:rPr lang="en-US" sz="2400" i="1">
                            <a:solidFill>
                              <a:srgbClr val="FF0000"/>
                            </a:solidFill>
                            <a:latin typeface="Cambria Math" panose="02040503050406030204" pitchFamily="18" charset="0"/>
                            <a:ea typeface="Cambria Math" panose="02040503050406030204" pitchFamily="18" charset="0"/>
                          </a:rPr>
                          <m:t>)</m:t>
                        </m:r>
                      </m:sup>
                    </m:sSubSup>
                  </m:oMath>
                </a14:m>
                <a:r>
                  <a:rPr lang="en-US" sz="2400" dirty="0">
                    <a:solidFill>
                      <a:srgbClr val="FF0000"/>
                    </a:solidFill>
                  </a:rPr>
                  <a:t> </a:t>
                </a:r>
                <a14:m>
                  <m:oMath xmlns:m="http://schemas.openxmlformats.org/officeDocument/2006/math">
                    <m:sSubSup>
                      <m:sSubSupPr>
                        <m:ctrlPr>
                          <a:rPr lang="en-US" sz="2400" i="1">
                            <a:solidFill>
                              <a:srgbClr val="FF0000"/>
                            </a:solidFill>
                            <a:latin typeface="Cambria Math" panose="02040503050406030204" pitchFamily="18" charset="0"/>
                          </a:rPr>
                        </m:ctrlPr>
                      </m:sSubSupPr>
                      <m:e>
                        <m:r>
                          <a:rPr lang="en-US" sz="2400" i="1">
                            <a:solidFill>
                              <a:srgbClr val="FF0000"/>
                            </a:solidFill>
                            <a:latin typeface="Cambria Math" panose="02040503050406030204" pitchFamily="18" charset="0"/>
                            <a:ea typeface="Cambria Math" panose="02040503050406030204" pitchFamily="18" charset="0"/>
                          </a:rPr>
                          <m:t>𝜑</m:t>
                        </m:r>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rPr>
                          <m:t>𝑎</m:t>
                        </m:r>
                      </m:e>
                      <m:sub>
                        <m:r>
                          <a:rPr lang="en-US" sz="2400" b="0" i="1" smtClean="0">
                            <a:solidFill>
                              <a:srgbClr val="FF0000"/>
                            </a:solidFill>
                            <a:latin typeface="Cambria Math" panose="02040503050406030204" pitchFamily="18" charset="0"/>
                          </a:rPr>
                          <m:t>𝑗</m:t>
                        </m:r>
                      </m:sub>
                      <m:sup>
                        <m:d>
                          <m:dPr>
                            <m:ctrlPr>
                              <a:rPr lang="en-US" sz="2400" i="1">
                                <a:solidFill>
                                  <a:srgbClr val="FF0000"/>
                                </a:solidFill>
                                <a:latin typeface="Cambria Math" panose="02040503050406030204" pitchFamily="18" charset="0"/>
                              </a:rPr>
                            </m:ctrlPr>
                          </m:dPr>
                          <m:e>
                            <m:r>
                              <a:rPr lang="en-US" sz="2400" i="1">
                                <a:solidFill>
                                  <a:srgbClr val="FF0000"/>
                                </a:solidFill>
                                <a:latin typeface="Cambria Math" panose="02040503050406030204" pitchFamily="18" charset="0"/>
                              </a:rPr>
                              <m:t>𝑙</m:t>
                            </m:r>
                          </m:e>
                        </m:d>
                      </m:sup>
                    </m:sSubSup>
                    <m:r>
                      <a:rPr lang="en-US" sz="2400" i="1">
                        <a:solidFill>
                          <a:srgbClr val="FF0000"/>
                        </a:solidFill>
                        <a:latin typeface="Cambria Math" panose="02040503050406030204" pitchFamily="18" charset="0"/>
                      </a:rPr>
                      <m:t>)</m:t>
                    </m:r>
                  </m:oMath>
                </a14:m>
                <a:endParaRPr lang="en-US" sz="2400" dirty="0"/>
              </a:p>
            </p:txBody>
          </p:sp>
        </mc:Choice>
        <mc:Fallback xmlns="">
          <p:sp>
            <p:nvSpPr>
              <p:cNvPr id="12" name="TextBox 11">
                <a:extLst>
                  <a:ext uri="{FF2B5EF4-FFF2-40B4-BE49-F238E27FC236}">
                    <a16:creationId xmlns:a16="http://schemas.microsoft.com/office/drawing/2014/main" id="{681DC3F6-55DA-44CC-9013-C74F460F6E35}"/>
                  </a:ext>
                </a:extLst>
              </p:cNvPr>
              <p:cNvSpPr txBox="1">
                <a:spLocks noRot="1" noChangeAspect="1" noMove="1" noResize="1" noEditPoints="1" noAdjustHandles="1" noChangeArrowheads="1" noChangeShapeType="1" noTextEdit="1"/>
              </p:cNvSpPr>
              <p:nvPr/>
            </p:nvSpPr>
            <p:spPr>
              <a:xfrm>
                <a:off x="367128" y="2659708"/>
                <a:ext cx="6221793" cy="715260"/>
              </a:xfrm>
              <a:prstGeom prst="rect">
                <a:avLst/>
              </a:prstGeom>
              <a:blipFill>
                <a:blip r:embed="rId3"/>
                <a:stretch>
                  <a:fillRect/>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6F6FF84A-452E-427D-9556-85DD21B064E9}"/>
              </a:ext>
            </a:extLst>
          </p:cNvPr>
          <p:cNvGrpSpPr/>
          <p:nvPr/>
        </p:nvGrpSpPr>
        <p:grpSpPr>
          <a:xfrm>
            <a:off x="3594556" y="1739743"/>
            <a:ext cx="4195728" cy="672517"/>
            <a:chOff x="-251639" y="1679582"/>
            <a:chExt cx="4195728" cy="672517"/>
          </a:xfrm>
        </p:grpSpPr>
        <p:sp>
          <p:nvSpPr>
            <p:cNvPr id="5" name="Oval 4">
              <a:extLst>
                <a:ext uri="{FF2B5EF4-FFF2-40B4-BE49-F238E27FC236}">
                  <a16:creationId xmlns:a16="http://schemas.microsoft.com/office/drawing/2014/main" id="{B32CC8D6-E331-4F58-A3C3-D1C9259196E9}"/>
                </a:ext>
              </a:extLst>
            </p:cNvPr>
            <p:cNvSpPr/>
            <p:nvPr/>
          </p:nvSpPr>
          <p:spPr>
            <a:xfrm>
              <a:off x="1555000" y="1758201"/>
              <a:ext cx="584627" cy="59389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9582845-0620-46A5-8710-56A6AB3D5B69}"/>
                    </a:ext>
                  </a:extLst>
                </p:cNvPr>
                <p:cNvSpPr txBox="1"/>
                <p:nvPr/>
              </p:nvSpPr>
              <p:spPr>
                <a:xfrm>
                  <a:off x="2525979" y="1690688"/>
                  <a:ext cx="409664" cy="38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it-IT" i="1" smtClean="0">
                                <a:latin typeface="Cambria Math" panose="02040503050406030204" pitchFamily="18" charset="0"/>
                              </a:rPr>
                            </m:ctrlPr>
                          </m:sSubSupPr>
                          <m:e>
                            <m:r>
                              <a:rPr lang="it-IT"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𝑖𝑗</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bSup>
                      </m:oMath>
                    </m:oMathPara>
                  </a14:m>
                  <a:endParaRPr lang="it-IT" dirty="0"/>
                </a:p>
              </p:txBody>
            </p:sp>
          </mc:Choice>
          <mc:Fallback xmlns="">
            <p:sp>
              <p:nvSpPr>
                <p:cNvPr id="6" name="TextBox 5">
                  <a:extLst>
                    <a:ext uri="{FF2B5EF4-FFF2-40B4-BE49-F238E27FC236}">
                      <a16:creationId xmlns:a16="http://schemas.microsoft.com/office/drawing/2014/main" id="{59582845-0620-46A5-8710-56A6AB3D5B69}"/>
                    </a:ext>
                  </a:extLst>
                </p:cNvPr>
                <p:cNvSpPr txBox="1">
                  <a:spLocks noRot="1" noChangeAspect="1" noMove="1" noResize="1" noEditPoints="1" noAdjustHandles="1" noChangeArrowheads="1" noChangeShapeType="1" noTextEdit="1"/>
                </p:cNvSpPr>
                <p:nvPr/>
              </p:nvSpPr>
              <p:spPr>
                <a:xfrm>
                  <a:off x="2525979" y="1690688"/>
                  <a:ext cx="409664" cy="383888"/>
                </a:xfrm>
                <a:prstGeom prst="rect">
                  <a:avLst/>
                </a:prstGeom>
                <a:blipFill>
                  <a:blip r:embed="rId4"/>
                  <a:stretch>
                    <a:fillRect l="-11765" t="-3175" r="-11765" b="-20635"/>
                  </a:stretch>
                </a:blipFill>
              </p:spPr>
              <p:txBody>
                <a:bodyPr/>
                <a:lstStyle/>
                <a:p>
                  <a:r>
                    <a:rPr lang="en-US">
                      <a:noFill/>
                    </a:rPr>
                    <a:t> </a:t>
                  </a:r>
                </a:p>
              </p:txBody>
            </p:sp>
          </mc:Fallback>
        </mc:AlternateContent>
        <p:sp>
          <p:nvSpPr>
            <p:cNvPr id="7" name="Oval 6">
              <a:extLst>
                <a:ext uri="{FF2B5EF4-FFF2-40B4-BE49-F238E27FC236}">
                  <a16:creationId xmlns:a16="http://schemas.microsoft.com/office/drawing/2014/main" id="{D5901360-9A75-4DB0-A776-5D660592ECDE}"/>
                </a:ext>
              </a:extLst>
            </p:cNvPr>
            <p:cNvSpPr/>
            <p:nvPr/>
          </p:nvSpPr>
          <p:spPr>
            <a:xfrm>
              <a:off x="3321995" y="1769505"/>
              <a:ext cx="622093" cy="56572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6CA2E8D-FCFB-4D21-8DA4-F871093177D0}"/>
                </a:ext>
              </a:extLst>
            </p:cNvPr>
            <p:cNvCxnSpPr>
              <a:cxnSpLocks/>
            </p:cNvCxnSpPr>
            <p:nvPr/>
          </p:nvCxnSpPr>
          <p:spPr>
            <a:xfrm>
              <a:off x="2139627" y="2052365"/>
              <a:ext cx="1182368" cy="2221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7F05878-06B1-4608-B8DE-EC1DB7C99145}"/>
                    </a:ext>
                  </a:extLst>
                </p:cNvPr>
                <p:cNvSpPr txBox="1"/>
                <p:nvPr/>
              </p:nvSpPr>
              <p:spPr>
                <a:xfrm>
                  <a:off x="1677613" y="1822055"/>
                  <a:ext cx="402482" cy="38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𝑗</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bSup>
                      </m:oMath>
                    </m:oMathPara>
                  </a14:m>
                  <a:endParaRPr lang="en-US" dirty="0"/>
                </a:p>
              </p:txBody>
            </p:sp>
          </mc:Choice>
          <mc:Fallback xmlns="">
            <p:sp>
              <p:nvSpPr>
                <p:cNvPr id="9" name="TextBox 8">
                  <a:extLst>
                    <a:ext uri="{FF2B5EF4-FFF2-40B4-BE49-F238E27FC236}">
                      <a16:creationId xmlns:a16="http://schemas.microsoft.com/office/drawing/2014/main" id="{B7F05878-06B1-4608-B8DE-EC1DB7C99145}"/>
                    </a:ext>
                  </a:extLst>
                </p:cNvPr>
                <p:cNvSpPr txBox="1">
                  <a:spLocks noRot="1" noChangeAspect="1" noMove="1" noResize="1" noEditPoints="1" noAdjustHandles="1" noChangeArrowheads="1" noChangeShapeType="1" noTextEdit="1"/>
                </p:cNvSpPr>
                <p:nvPr/>
              </p:nvSpPr>
              <p:spPr>
                <a:xfrm>
                  <a:off x="1677613" y="1822055"/>
                  <a:ext cx="402482" cy="383888"/>
                </a:xfrm>
                <a:prstGeom prst="rect">
                  <a:avLst/>
                </a:prstGeom>
                <a:blipFill>
                  <a:blip r:embed="rId5"/>
                  <a:stretch>
                    <a:fillRect l="-7576" t="-3175" r="-12121" b="-206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003F066-63D9-40C0-B7C4-665420843320}"/>
                    </a:ext>
                  </a:extLst>
                </p:cNvPr>
                <p:cNvSpPr txBox="1"/>
                <p:nvPr/>
              </p:nvSpPr>
              <p:spPr>
                <a:xfrm>
                  <a:off x="3321996" y="1854378"/>
                  <a:ext cx="622093" cy="3525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𝑖</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+1)</m:t>
                            </m:r>
                          </m:sup>
                        </m:sSubSup>
                      </m:oMath>
                    </m:oMathPara>
                  </a14:m>
                  <a:endParaRPr lang="en-US" dirty="0"/>
                </a:p>
              </p:txBody>
            </p:sp>
          </mc:Choice>
          <mc:Fallback xmlns="">
            <p:sp>
              <p:nvSpPr>
                <p:cNvPr id="10" name="TextBox 9">
                  <a:extLst>
                    <a:ext uri="{FF2B5EF4-FFF2-40B4-BE49-F238E27FC236}">
                      <a16:creationId xmlns:a16="http://schemas.microsoft.com/office/drawing/2014/main" id="{2003F066-63D9-40C0-B7C4-665420843320}"/>
                    </a:ext>
                  </a:extLst>
                </p:cNvPr>
                <p:cNvSpPr txBox="1">
                  <a:spLocks noRot="1" noChangeAspect="1" noMove="1" noResize="1" noEditPoints="1" noAdjustHandles="1" noChangeArrowheads="1" noChangeShapeType="1" noTextEdit="1"/>
                </p:cNvSpPr>
                <p:nvPr/>
              </p:nvSpPr>
              <p:spPr>
                <a:xfrm>
                  <a:off x="3321996" y="1854378"/>
                  <a:ext cx="622093" cy="352597"/>
                </a:xfrm>
                <a:prstGeom prst="rect">
                  <a:avLst/>
                </a:prstGeom>
                <a:blipFill>
                  <a:blip r:embed="rId6"/>
                  <a:stretch>
                    <a:fillRect l="-4902" t="-3448" r="-7843" b="-18966"/>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59BD057D-0EB0-4784-9497-9EEE258D4A7B}"/>
                </a:ext>
              </a:extLst>
            </p:cNvPr>
            <p:cNvSpPr/>
            <p:nvPr/>
          </p:nvSpPr>
          <p:spPr>
            <a:xfrm>
              <a:off x="-211996" y="1741327"/>
              <a:ext cx="584627" cy="59389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9A73EAD7-B007-44A5-81E9-9D6BECED18DA}"/>
                </a:ext>
              </a:extLst>
            </p:cNvPr>
            <p:cNvCxnSpPr>
              <a:cxnSpLocks/>
            </p:cNvCxnSpPr>
            <p:nvPr/>
          </p:nvCxnSpPr>
          <p:spPr>
            <a:xfrm>
              <a:off x="372632" y="2052365"/>
              <a:ext cx="1182368" cy="2221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F6CD840-53CD-4F42-9407-25A558DFE61D}"/>
                    </a:ext>
                  </a:extLst>
                </p:cNvPr>
                <p:cNvSpPr txBox="1"/>
                <p:nvPr/>
              </p:nvSpPr>
              <p:spPr>
                <a:xfrm>
                  <a:off x="747328" y="1679582"/>
                  <a:ext cx="629275" cy="38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it-IT" i="1" smtClean="0">
                                <a:latin typeface="Cambria Math" panose="02040503050406030204" pitchFamily="18" charset="0"/>
                              </a:rPr>
                            </m:ctrlPr>
                          </m:sSubSupPr>
                          <m:e>
                            <m:r>
                              <a:rPr lang="it-IT" i="1">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ea typeface="Cambria Math" panose="02040503050406030204" pitchFamily="18" charset="0"/>
                              </a:rPr>
                              <m:t>𝑗𝑘</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−1)</m:t>
                            </m:r>
                          </m:sup>
                        </m:sSubSup>
                      </m:oMath>
                    </m:oMathPara>
                  </a14:m>
                  <a:endParaRPr lang="it-IT" dirty="0"/>
                </a:p>
              </p:txBody>
            </p:sp>
          </mc:Choice>
          <mc:Fallback xmlns="">
            <p:sp>
              <p:nvSpPr>
                <p:cNvPr id="16" name="TextBox 15">
                  <a:extLst>
                    <a:ext uri="{FF2B5EF4-FFF2-40B4-BE49-F238E27FC236}">
                      <a16:creationId xmlns:a16="http://schemas.microsoft.com/office/drawing/2014/main" id="{2F6CD840-53CD-4F42-9407-25A558DFE61D}"/>
                    </a:ext>
                  </a:extLst>
                </p:cNvPr>
                <p:cNvSpPr txBox="1">
                  <a:spLocks noRot="1" noChangeAspect="1" noMove="1" noResize="1" noEditPoints="1" noAdjustHandles="1" noChangeArrowheads="1" noChangeShapeType="1" noTextEdit="1"/>
                </p:cNvSpPr>
                <p:nvPr/>
              </p:nvSpPr>
              <p:spPr>
                <a:xfrm>
                  <a:off x="747328" y="1679582"/>
                  <a:ext cx="629275" cy="383888"/>
                </a:xfrm>
                <a:prstGeom prst="rect">
                  <a:avLst/>
                </a:prstGeom>
                <a:blipFill>
                  <a:blip r:embed="rId7"/>
                  <a:stretch>
                    <a:fillRect l="-8738" t="-3175" r="-7767" b="-206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15D5545-CA73-4208-BC6C-21D091146BA3}"/>
                    </a:ext>
                  </a:extLst>
                </p:cNvPr>
                <p:cNvSpPr txBox="1"/>
                <p:nvPr/>
              </p:nvSpPr>
              <p:spPr>
                <a:xfrm>
                  <a:off x="-251639" y="1822055"/>
                  <a:ext cx="622093" cy="3584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𝑎</m:t>
                            </m:r>
                          </m:e>
                          <m:sub>
                            <m:r>
                              <a:rPr lang="en-US" b="0" i="1" smtClean="0">
                                <a:latin typeface="Cambria Math" panose="02040503050406030204" pitchFamily="18" charset="0"/>
                              </a:rPr>
                              <m:t>𝑘</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−1)</m:t>
                            </m:r>
                          </m:sup>
                        </m:sSubSup>
                      </m:oMath>
                    </m:oMathPara>
                  </a14:m>
                  <a:endParaRPr lang="en-US" dirty="0"/>
                </a:p>
              </p:txBody>
            </p:sp>
          </mc:Choice>
          <mc:Fallback xmlns="">
            <p:sp>
              <p:nvSpPr>
                <p:cNvPr id="17" name="TextBox 16">
                  <a:extLst>
                    <a:ext uri="{FF2B5EF4-FFF2-40B4-BE49-F238E27FC236}">
                      <a16:creationId xmlns:a16="http://schemas.microsoft.com/office/drawing/2014/main" id="{C15D5545-CA73-4208-BC6C-21D091146BA3}"/>
                    </a:ext>
                  </a:extLst>
                </p:cNvPr>
                <p:cNvSpPr txBox="1">
                  <a:spLocks noRot="1" noChangeAspect="1" noMove="1" noResize="1" noEditPoints="1" noAdjustHandles="1" noChangeArrowheads="1" noChangeShapeType="1" noTextEdit="1"/>
                </p:cNvSpPr>
                <p:nvPr/>
              </p:nvSpPr>
              <p:spPr>
                <a:xfrm>
                  <a:off x="-251639" y="1822055"/>
                  <a:ext cx="622093" cy="358431"/>
                </a:xfrm>
                <a:prstGeom prst="rect">
                  <a:avLst/>
                </a:prstGeom>
                <a:blipFill>
                  <a:blip r:embed="rId8"/>
                  <a:stretch>
                    <a:fillRect l="-4902" t="-3390" r="-7843" b="-1355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0B7D948-D96D-416C-952F-A004FA5124E5}"/>
                  </a:ext>
                </a:extLst>
              </p:cNvPr>
              <p:cNvSpPr txBox="1"/>
              <p:nvPr/>
            </p:nvSpPr>
            <p:spPr>
              <a:xfrm>
                <a:off x="4688847" y="995533"/>
                <a:ext cx="438626" cy="4720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GB" sz="1800" i="1" smtClean="0">
                              <a:solidFill>
                                <a:srgbClr val="FF0000"/>
                              </a:solidFill>
                              <a:latin typeface="Cambria Math" panose="02040503050406030204" pitchFamily="18" charset="0"/>
                              <a:ea typeface="Cambria Math" panose="02040503050406030204" pitchFamily="18" charset="0"/>
                            </a:rPr>
                          </m:ctrlPr>
                        </m:sSubSupPr>
                        <m:e>
                          <m:r>
                            <a:rPr lang="en-GB" sz="1800" i="1">
                              <a:solidFill>
                                <a:srgbClr val="FF0000"/>
                              </a:solidFill>
                              <a:latin typeface="Cambria Math" panose="02040503050406030204" pitchFamily="18" charset="0"/>
                              <a:ea typeface="Cambria Math" panose="02040503050406030204" pitchFamily="18" charset="0"/>
                            </a:rPr>
                            <m:t>𝛿</m:t>
                          </m:r>
                        </m:e>
                        <m:sub>
                          <m:r>
                            <a:rPr lang="en-US" sz="1800" b="0" i="1" smtClean="0">
                              <a:solidFill>
                                <a:srgbClr val="FF0000"/>
                              </a:solidFill>
                              <a:latin typeface="Cambria Math" panose="02040503050406030204" pitchFamily="18" charset="0"/>
                              <a:ea typeface="Cambria Math" panose="02040503050406030204" pitchFamily="18" charset="0"/>
                            </a:rPr>
                            <m:t>𝑗</m:t>
                          </m:r>
                        </m:sub>
                        <m:sup>
                          <m:r>
                            <a:rPr lang="en-GB" sz="1800" i="1">
                              <a:solidFill>
                                <a:srgbClr val="FF0000"/>
                              </a:solidFill>
                              <a:latin typeface="Cambria Math" panose="02040503050406030204" pitchFamily="18" charset="0"/>
                              <a:ea typeface="Cambria Math" panose="02040503050406030204" pitchFamily="18" charset="0"/>
                            </a:rPr>
                            <m:t>(</m:t>
                          </m:r>
                          <m:r>
                            <a:rPr lang="en-GB" sz="1800" i="1">
                              <a:solidFill>
                                <a:srgbClr val="FF0000"/>
                              </a:solidFill>
                              <a:latin typeface="Cambria Math" panose="02040503050406030204" pitchFamily="18" charset="0"/>
                              <a:ea typeface="Cambria Math" panose="02040503050406030204" pitchFamily="18" charset="0"/>
                            </a:rPr>
                            <m:t>𝑙</m:t>
                          </m:r>
                          <m:r>
                            <a:rPr lang="en-GB" sz="1800" i="1">
                              <a:solidFill>
                                <a:srgbClr val="FF0000"/>
                              </a:solidFill>
                              <a:latin typeface="Cambria Math" panose="02040503050406030204" pitchFamily="18" charset="0"/>
                              <a:ea typeface="Cambria Math" panose="02040503050406030204" pitchFamily="18" charset="0"/>
                            </a:rPr>
                            <m:t>)</m:t>
                          </m:r>
                        </m:sup>
                      </m:sSubSup>
                    </m:oMath>
                  </m:oMathPara>
                </a14:m>
                <a:endParaRPr lang="en-US" dirty="0"/>
              </a:p>
            </p:txBody>
          </p:sp>
        </mc:Choice>
        <mc:Fallback xmlns="">
          <p:sp>
            <p:nvSpPr>
              <p:cNvPr id="21" name="TextBox 20">
                <a:extLst>
                  <a:ext uri="{FF2B5EF4-FFF2-40B4-BE49-F238E27FC236}">
                    <a16:creationId xmlns:a16="http://schemas.microsoft.com/office/drawing/2014/main" id="{A0B7D948-D96D-416C-952F-A004FA5124E5}"/>
                  </a:ext>
                </a:extLst>
              </p:cNvPr>
              <p:cNvSpPr txBox="1">
                <a:spLocks noRot="1" noChangeAspect="1" noMove="1" noResize="1" noEditPoints="1" noAdjustHandles="1" noChangeArrowheads="1" noChangeShapeType="1" noTextEdit="1"/>
              </p:cNvSpPr>
              <p:nvPr/>
            </p:nvSpPr>
            <p:spPr>
              <a:xfrm>
                <a:off x="4688847" y="995533"/>
                <a:ext cx="438626" cy="472087"/>
              </a:xfrm>
              <a:prstGeom prst="rect">
                <a:avLst/>
              </a:prstGeom>
              <a:blipFill>
                <a:blip r:embed="rId9"/>
                <a:stretch>
                  <a:fillRect r="-18056" b="-7692"/>
                </a:stretch>
              </a:blipFill>
            </p:spPr>
            <p:txBody>
              <a:bodyPr/>
              <a:lstStyle/>
              <a:p>
                <a:r>
                  <a:rPr lang="en-US">
                    <a:noFill/>
                  </a:rPr>
                  <a:t> </a:t>
                </a:r>
              </a:p>
            </p:txBody>
          </p:sp>
        </mc:Fallback>
      </mc:AlternateContent>
      <p:sp>
        <p:nvSpPr>
          <p:cNvPr id="22" name="Arrow: Curved Down 21">
            <a:extLst>
              <a:ext uri="{FF2B5EF4-FFF2-40B4-BE49-F238E27FC236}">
                <a16:creationId xmlns:a16="http://schemas.microsoft.com/office/drawing/2014/main" id="{0A330319-5766-4AA7-8E24-50605E104997}"/>
              </a:ext>
            </a:extLst>
          </p:cNvPr>
          <p:cNvSpPr/>
          <p:nvPr/>
        </p:nvSpPr>
        <p:spPr>
          <a:xfrm flipH="1">
            <a:off x="4023360" y="1456667"/>
            <a:ext cx="1559040" cy="277523"/>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690DFD3-A872-4186-B48C-7D15C24DC87C}"/>
                  </a:ext>
                </a:extLst>
              </p:cNvPr>
              <p:cNvSpPr txBox="1"/>
              <p:nvPr/>
            </p:nvSpPr>
            <p:spPr>
              <a:xfrm>
                <a:off x="6271235" y="1000941"/>
                <a:ext cx="438626" cy="45076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GB" sz="1800" i="1" smtClean="0">
                              <a:solidFill>
                                <a:srgbClr val="FF0000"/>
                              </a:solidFill>
                              <a:latin typeface="Cambria Math" panose="02040503050406030204" pitchFamily="18" charset="0"/>
                              <a:ea typeface="Cambria Math" panose="02040503050406030204" pitchFamily="18" charset="0"/>
                            </a:rPr>
                          </m:ctrlPr>
                        </m:sSubSupPr>
                        <m:e>
                          <m:r>
                            <a:rPr lang="en-GB" sz="1800" i="1">
                              <a:solidFill>
                                <a:srgbClr val="FF0000"/>
                              </a:solidFill>
                              <a:latin typeface="Cambria Math" panose="02040503050406030204" pitchFamily="18" charset="0"/>
                              <a:ea typeface="Cambria Math" panose="02040503050406030204" pitchFamily="18" charset="0"/>
                            </a:rPr>
                            <m:t>𝛿</m:t>
                          </m:r>
                        </m:e>
                        <m:sub>
                          <m:r>
                            <a:rPr lang="en-US" sz="1800" b="0" i="1" smtClean="0">
                              <a:solidFill>
                                <a:srgbClr val="FF0000"/>
                              </a:solidFill>
                              <a:latin typeface="Cambria Math" panose="02040503050406030204" pitchFamily="18" charset="0"/>
                              <a:ea typeface="Cambria Math" panose="02040503050406030204" pitchFamily="18" charset="0"/>
                            </a:rPr>
                            <m:t>𝑖</m:t>
                          </m:r>
                        </m:sub>
                        <m:sup>
                          <m:r>
                            <a:rPr lang="en-GB" sz="1800" i="1">
                              <a:solidFill>
                                <a:srgbClr val="FF0000"/>
                              </a:solidFill>
                              <a:latin typeface="Cambria Math" panose="02040503050406030204" pitchFamily="18" charset="0"/>
                              <a:ea typeface="Cambria Math" panose="02040503050406030204" pitchFamily="18" charset="0"/>
                            </a:rPr>
                            <m:t>(</m:t>
                          </m:r>
                          <m:r>
                            <a:rPr lang="en-GB" sz="1800" i="1">
                              <a:solidFill>
                                <a:srgbClr val="FF0000"/>
                              </a:solidFill>
                              <a:latin typeface="Cambria Math" panose="02040503050406030204" pitchFamily="18" charset="0"/>
                              <a:ea typeface="Cambria Math" panose="02040503050406030204" pitchFamily="18" charset="0"/>
                            </a:rPr>
                            <m:t>𝑙</m:t>
                          </m:r>
                          <m:r>
                            <a:rPr lang="en-US" sz="1800" b="0" i="1" smtClean="0">
                              <a:solidFill>
                                <a:srgbClr val="FF0000"/>
                              </a:solidFill>
                              <a:latin typeface="Cambria Math" panose="02040503050406030204" pitchFamily="18" charset="0"/>
                              <a:ea typeface="Cambria Math" panose="02040503050406030204" pitchFamily="18" charset="0"/>
                            </a:rPr>
                            <m:t>+1</m:t>
                          </m:r>
                          <m:r>
                            <a:rPr lang="en-GB" sz="1800" i="1">
                              <a:solidFill>
                                <a:srgbClr val="FF0000"/>
                              </a:solidFill>
                              <a:latin typeface="Cambria Math" panose="02040503050406030204" pitchFamily="18" charset="0"/>
                              <a:ea typeface="Cambria Math" panose="02040503050406030204" pitchFamily="18" charset="0"/>
                            </a:rPr>
                            <m:t>)</m:t>
                          </m:r>
                        </m:sup>
                      </m:sSubSup>
                    </m:oMath>
                  </m:oMathPara>
                </a14:m>
                <a:endParaRPr lang="en-US" dirty="0"/>
              </a:p>
            </p:txBody>
          </p:sp>
        </mc:Choice>
        <mc:Fallback xmlns="">
          <p:sp>
            <p:nvSpPr>
              <p:cNvPr id="23" name="TextBox 22">
                <a:extLst>
                  <a:ext uri="{FF2B5EF4-FFF2-40B4-BE49-F238E27FC236}">
                    <a16:creationId xmlns:a16="http://schemas.microsoft.com/office/drawing/2014/main" id="{A690DFD3-A872-4186-B48C-7D15C24DC87C}"/>
                  </a:ext>
                </a:extLst>
              </p:cNvPr>
              <p:cNvSpPr txBox="1">
                <a:spLocks noRot="1" noChangeAspect="1" noMove="1" noResize="1" noEditPoints="1" noAdjustHandles="1" noChangeArrowheads="1" noChangeShapeType="1" noTextEdit="1"/>
              </p:cNvSpPr>
              <p:nvPr/>
            </p:nvSpPr>
            <p:spPr>
              <a:xfrm>
                <a:off x="6271235" y="1000941"/>
                <a:ext cx="438626" cy="450764"/>
              </a:xfrm>
              <a:prstGeom prst="rect">
                <a:avLst/>
              </a:prstGeom>
              <a:blipFill>
                <a:blip r:embed="rId10"/>
                <a:stretch>
                  <a:fillRect r="-66667" b="-2703"/>
                </a:stretch>
              </a:blipFill>
            </p:spPr>
            <p:txBody>
              <a:bodyPr/>
              <a:lstStyle/>
              <a:p>
                <a:r>
                  <a:rPr lang="en-US">
                    <a:noFill/>
                  </a:rPr>
                  <a:t> </a:t>
                </a:r>
              </a:p>
            </p:txBody>
          </p:sp>
        </mc:Fallback>
      </mc:AlternateContent>
      <p:sp>
        <p:nvSpPr>
          <p:cNvPr id="24" name="Arrow: Curved Down 23">
            <a:extLst>
              <a:ext uri="{FF2B5EF4-FFF2-40B4-BE49-F238E27FC236}">
                <a16:creationId xmlns:a16="http://schemas.microsoft.com/office/drawing/2014/main" id="{8E2E85C9-1B6F-40DC-A195-C2408DB2DDC6}"/>
              </a:ext>
            </a:extLst>
          </p:cNvPr>
          <p:cNvSpPr/>
          <p:nvPr/>
        </p:nvSpPr>
        <p:spPr>
          <a:xfrm flipH="1">
            <a:off x="5729510" y="1441399"/>
            <a:ext cx="1559040" cy="277523"/>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26" name="Straight Arrow Connector 25">
            <a:extLst>
              <a:ext uri="{FF2B5EF4-FFF2-40B4-BE49-F238E27FC236}">
                <a16:creationId xmlns:a16="http://schemas.microsoft.com/office/drawing/2014/main" id="{1F10D18F-9EE1-4416-84E8-99BDA1AA4FCC}"/>
              </a:ext>
            </a:extLst>
          </p:cNvPr>
          <p:cNvCxnSpPr/>
          <p:nvPr/>
        </p:nvCxnSpPr>
        <p:spPr>
          <a:xfrm flipH="1" flipV="1">
            <a:off x="6629400" y="2266104"/>
            <a:ext cx="388620" cy="522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859673C-BE68-4718-BFEA-D117B13A13FE}"/>
              </a:ext>
            </a:extLst>
          </p:cNvPr>
          <p:cNvCxnSpPr>
            <a:cxnSpLocks/>
          </p:cNvCxnSpPr>
          <p:nvPr/>
        </p:nvCxnSpPr>
        <p:spPr>
          <a:xfrm flipV="1">
            <a:off x="1308170" y="2188770"/>
            <a:ext cx="3449447" cy="522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74053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94A66-0C89-4A91-BFE0-258C4FAC1A9C}"/>
              </a:ext>
            </a:extLst>
          </p:cNvPr>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C243B4-0604-47E3-BC2F-8D6B8799825C}"/>
                  </a:ext>
                </a:extLst>
              </p:cNvPr>
              <p:cNvSpPr>
                <a:spLocks noGrp="1"/>
              </p:cNvSpPr>
              <p:nvPr>
                <p:ph idx="1"/>
              </p:nvPr>
            </p:nvSpPr>
            <p:spPr>
              <a:xfrm>
                <a:off x="641126" y="3297517"/>
                <a:ext cx="10515600" cy="4351338"/>
              </a:xfrm>
            </p:spPr>
            <p:txBody>
              <a:bodyPr/>
              <a:lstStyle/>
              <a:p>
                <a:r>
                  <a:rPr lang="en-US" dirty="0"/>
                  <a:t>If </a:t>
                </a:r>
                <a:r>
                  <a:rPr lang="en-US" dirty="0">
                    <a:latin typeface="Symbol" panose="05050102010706020507" pitchFamily="18" charset="2"/>
                  </a:rPr>
                  <a:t>s</a:t>
                </a:r>
                <a:r>
                  <a:rPr lang="en-US" dirty="0"/>
                  <a:t> is the logistic function then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0</m:t>
                        </m:r>
                        <m:r>
                          <a:rPr lang="en-US" b="0"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≤0.25</m:t>
                    </m:r>
                  </m:oMath>
                </a14:m>
                <a:endParaRPr lang="en-US" dirty="0"/>
              </a:p>
              <a:p>
                <a:endParaRPr lang="en-US" dirty="0"/>
              </a:p>
              <a:p>
                <a:endParaRPr lang="en-US" dirty="0"/>
              </a:p>
              <a:p>
                <a:endParaRPr lang="en-US" dirty="0"/>
              </a:p>
              <a:p>
                <a:r>
                  <a:rPr lang="en-US" dirty="0"/>
                  <a:t>If each product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e>
                    </m:d>
                    <m:r>
                      <a:rPr lang="en-US" b="0" i="1" smtClean="0">
                        <a:latin typeface="Cambria Math" panose="02040503050406030204" pitchFamily="18" charset="0"/>
                      </a:rPr>
                      <m:t>&lt;1</m:t>
                    </m:r>
                  </m:oMath>
                </a14:m>
                <a:r>
                  <a:rPr lang="en-US" dirty="0"/>
                  <a:t> then the gradient tends to vanish</a:t>
                </a:r>
              </a:p>
              <a:p>
                <a:r>
                  <a:rPr lang="en-US" dirty="0"/>
                  <a:t>If each product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𝑖</m:t>
                        </m:r>
                      </m:sub>
                    </m:sSub>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m:t>
                        </m:r>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e>
                    </m:d>
                    <m:r>
                      <a:rPr lang="en-US" b="0" i="1" smtClean="0">
                        <a:latin typeface="Cambria Math" panose="02040503050406030204" pitchFamily="18" charset="0"/>
                      </a:rPr>
                      <m:t>&gt;1</m:t>
                    </m:r>
                  </m:oMath>
                </a14:m>
                <a:r>
                  <a:rPr lang="en-US" dirty="0"/>
                  <a:t> then the gradient tends to explode</a:t>
                </a:r>
              </a:p>
            </p:txBody>
          </p:sp>
        </mc:Choice>
        <mc:Fallback xmlns="">
          <p:sp>
            <p:nvSpPr>
              <p:cNvPr id="3" name="Content Placeholder 2">
                <a:extLst>
                  <a:ext uri="{FF2B5EF4-FFF2-40B4-BE49-F238E27FC236}">
                    <a16:creationId xmlns:a16="http://schemas.microsoft.com/office/drawing/2014/main" id="{3AC243B4-0604-47E3-BC2F-8D6B8799825C}"/>
                  </a:ext>
                </a:extLst>
              </p:cNvPr>
              <p:cNvSpPr>
                <a:spLocks noGrp="1" noRot="1" noChangeAspect="1" noMove="1" noResize="1" noEditPoints="1" noAdjustHandles="1" noChangeArrowheads="1" noChangeShapeType="1" noTextEdit="1"/>
              </p:cNvSpPr>
              <p:nvPr>
                <p:ph idx="1"/>
              </p:nvPr>
            </p:nvSpPr>
            <p:spPr>
              <a:xfrm>
                <a:off x="641126" y="3297517"/>
                <a:ext cx="10515600" cy="4351338"/>
              </a:xfrm>
              <a:blipFill>
                <a:blip r:embed="rId2"/>
                <a:stretch>
                  <a:fillRect l="-1043" t="-2801"/>
                </a:stretch>
              </a:blipFill>
            </p:spPr>
            <p:txBody>
              <a:bodyPr/>
              <a:lstStyle/>
              <a:p>
                <a:r>
                  <a:rPr lang="en-US">
                    <a:noFill/>
                  </a:rPr>
                  <a:t> </a:t>
                </a:r>
              </a:p>
            </p:txBody>
          </p:sp>
        </mc:Fallback>
      </mc:AlternateContent>
      <p:pic>
        <p:nvPicPr>
          <p:cNvPr id="1026" name="Picture 2">
            <a:extLst>
              <a:ext uri="{FF2B5EF4-FFF2-40B4-BE49-F238E27FC236}">
                <a16:creationId xmlns:a16="http://schemas.microsoft.com/office/drawing/2014/main" id="{8FEAEE0C-3230-48C5-9521-18B428C687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651" y="1520191"/>
            <a:ext cx="8424245" cy="146508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1EE10B3B-1DC2-4DC7-9A0F-FFEFFFABC82F}"/>
                  </a:ext>
                </a:extLst>
              </p:cNvPr>
              <p:cNvSpPr txBox="1"/>
              <p:nvPr/>
            </p:nvSpPr>
            <p:spPr>
              <a:xfrm>
                <a:off x="8972699" y="537489"/>
                <a:ext cx="2664191" cy="1200329"/>
              </a:xfrm>
              <a:prstGeom prst="rect">
                <a:avLst/>
              </a:prstGeom>
              <a:noFill/>
            </p:spPr>
            <p:txBody>
              <a:bodyPr wrap="none" rtlCol="0">
                <a:spAutoFit/>
              </a:bodyPr>
              <a:lstStyle/>
              <a:p>
                <a:r>
                  <a:rPr lang="en-US" dirty="0"/>
                  <a:t>Let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𝑖</m:t>
                        </m:r>
                      </m:sub>
                    </m:sSub>
                  </m:oMath>
                </a14:m>
                <a:r>
                  <a:rPr lang="en-US" dirty="0"/>
                  <a:t> be the bias of layer </a:t>
                </a:r>
                <a:r>
                  <a:rPr lang="en-US" i="1" dirty="0" err="1">
                    <a:latin typeface="Times New Roman" panose="02020603050405020304" pitchFamily="18" charset="0"/>
                    <a:cs typeface="Times New Roman" panose="02020603050405020304" pitchFamily="18" charset="0"/>
                  </a:rPr>
                  <a:t>i</a:t>
                </a:r>
                <a:endParaRPr lang="en-US" i="1" dirty="0">
                  <a:latin typeface="Times New Roman" panose="02020603050405020304" pitchFamily="18" charset="0"/>
                  <a:cs typeface="Times New Roman" panose="02020603050405020304" pitchFamily="18" charset="0"/>
                </a:endParaRPr>
              </a:p>
              <a:p>
                <a:r>
                  <a:rPr lang="en-US" i="1" dirty="0" err="1">
                    <a:latin typeface="Times New Roman" panose="02020603050405020304" pitchFamily="18" charset="0"/>
                    <a:cs typeface="Times New Roman" panose="02020603050405020304" pitchFamily="18" charset="0"/>
                  </a:rPr>
                  <a:t>w</a:t>
                </a:r>
                <a:r>
                  <a:rPr lang="en-US" sz="1050" i="1" dirty="0" err="1">
                    <a:latin typeface="Times New Roman" panose="02020603050405020304" pitchFamily="18" charset="0"/>
                    <a:cs typeface="Times New Roman" panose="02020603050405020304" pitchFamily="18" charset="0"/>
                  </a:rPr>
                  <a:t>i</a:t>
                </a:r>
                <a:r>
                  <a:rPr lang="en-US" i="1"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the weights</a:t>
                </a:r>
                <a:br>
                  <a:rPr lang="en-US" dirty="0"/>
                </a:br>
                <a:r>
                  <a:rPr lang="en-US" i="1" dirty="0">
                    <a:latin typeface="Times New Roman" panose="02020603050405020304" pitchFamily="18" charset="0"/>
                    <a:cs typeface="Times New Roman" panose="02020603050405020304" pitchFamily="18" charset="0"/>
                  </a:rPr>
                  <a:t>C</a:t>
                </a:r>
                <a:r>
                  <a:rPr lang="en-US" dirty="0"/>
                  <a:t> the loss/cost function</a:t>
                </a:r>
              </a:p>
              <a:p>
                <a:r>
                  <a:rPr lang="en-US" dirty="0">
                    <a:latin typeface="Symbol" panose="05050102010706020507" pitchFamily="18" charset="2"/>
                  </a:rPr>
                  <a:t>s</a:t>
                </a:r>
                <a:r>
                  <a:rPr lang="en-US" dirty="0"/>
                  <a:t> the activation function</a:t>
                </a:r>
              </a:p>
            </p:txBody>
          </p:sp>
        </mc:Choice>
        <mc:Fallback xmlns="">
          <p:sp>
            <p:nvSpPr>
              <p:cNvPr id="4" name="TextBox 3">
                <a:extLst>
                  <a:ext uri="{FF2B5EF4-FFF2-40B4-BE49-F238E27FC236}">
                    <a16:creationId xmlns:a16="http://schemas.microsoft.com/office/drawing/2014/main" id="{1EE10B3B-1DC2-4DC7-9A0F-FFEFFFABC82F}"/>
                  </a:ext>
                </a:extLst>
              </p:cNvPr>
              <p:cNvSpPr txBox="1">
                <a:spLocks noRot="1" noChangeAspect="1" noMove="1" noResize="1" noEditPoints="1" noAdjustHandles="1" noChangeArrowheads="1" noChangeShapeType="1" noTextEdit="1"/>
              </p:cNvSpPr>
              <p:nvPr/>
            </p:nvSpPr>
            <p:spPr>
              <a:xfrm>
                <a:off x="8972699" y="537489"/>
                <a:ext cx="2664191" cy="1200329"/>
              </a:xfrm>
              <a:prstGeom prst="rect">
                <a:avLst/>
              </a:prstGeom>
              <a:blipFill>
                <a:blip r:embed="rId4"/>
                <a:stretch>
                  <a:fillRect l="-2059" t="-3046" r="-1373" b="-710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257DDE69-8505-4CA7-B358-0B73AE57CC83}"/>
              </a:ext>
            </a:extLst>
          </p:cNvPr>
          <p:cNvPicPr>
            <a:picLocks noChangeAspect="1"/>
          </p:cNvPicPr>
          <p:nvPr/>
        </p:nvPicPr>
        <p:blipFill>
          <a:blip r:embed="rId5"/>
          <a:stretch>
            <a:fillRect/>
          </a:stretch>
        </p:blipFill>
        <p:spPr>
          <a:xfrm>
            <a:off x="8432800" y="3263545"/>
            <a:ext cx="2844801" cy="1930898"/>
          </a:xfrm>
          <a:prstGeom prst="rect">
            <a:avLst/>
          </a:prstGeom>
        </p:spPr>
      </p:pic>
      <p:sp>
        <p:nvSpPr>
          <p:cNvPr id="7" name="TextBox 6">
            <a:extLst>
              <a:ext uri="{FF2B5EF4-FFF2-40B4-BE49-F238E27FC236}">
                <a16:creationId xmlns:a16="http://schemas.microsoft.com/office/drawing/2014/main" id="{F616F8FA-2A22-4BE4-808C-89625C22692C}"/>
              </a:ext>
            </a:extLst>
          </p:cNvPr>
          <p:cNvSpPr txBox="1"/>
          <p:nvPr/>
        </p:nvSpPr>
        <p:spPr>
          <a:xfrm>
            <a:off x="8790193" y="3112851"/>
            <a:ext cx="2920287" cy="369332"/>
          </a:xfrm>
          <a:prstGeom prst="rect">
            <a:avLst/>
          </a:prstGeom>
          <a:solidFill>
            <a:schemeClr val="bg1"/>
          </a:solidFill>
        </p:spPr>
        <p:txBody>
          <a:bodyPr wrap="none" rtlCol="0">
            <a:spAutoFit/>
          </a:bodyPr>
          <a:lstStyle/>
          <a:p>
            <a:r>
              <a:rPr lang="en-US" dirty="0"/>
              <a:t>Derivative of logistic function</a:t>
            </a:r>
          </a:p>
        </p:txBody>
      </p:sp>
    </p:spTree>
    <p:extLst>
      <p:ext uri="{BB962C8B-B14F-4D97-AF65-F5344CB8AC3E}">
        <p14:creationId xmlns:p14="http://schemas.microsoft.com/office/powerpoint/2010/main" val="3372213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2D9BD-32D7-45DA-B6B0-433E4FF13A1B}"/>
              </a:ext>
            </a:extLst>
          </p:cNvPr>
          <p:cNvSpPr>
            <a:spLocks noGrp="1"/>
          </p:cNvSpPr>
          <p:nvPr>
            <p:ph type="title"/>
          </p:nvPr>
        </p:nvSpPr>
        <p:spPr>
          <a:xfrm>
            <a:off x="838199" y="-92075"/>
            <a:ext cx="10515600" cy="1325563"/>
          </a:xfrm>
        </p:spPr>
        <p:txBody>
          <a:bodyPr/>
          <a:lstStyle/>
          <a:p>
            <a:r>
              <a:rPr lang="en-US" dirty="0"/>
              <a:t>Weight initialization</a:t>
            </a:r>
          </a:p>
        </p:txBody>
      </p:sp>
      <p:sp>
        <p:nvSpPr>
          <p:cNvPr id="3" name="Content Placeholder 2">
            <a:extLst>
              <a:ext uri="{FF2B5EF4-FFF2-40B4-BE49-F238E27FC236}">
                <a16:creationId xmlns:a16="http://schemas.microsoft.com/office/drawing/2014/main" id="{CB0C7C55-DE16-47CE-95E0-F1A09F37C723}"/>
              </a:ext>
            </a:extLst>
          </p:cNvPr>
          <p:cNvSpPr>
            <a:spLocks noGrp="1"/>
          </p:cNvSpPr>
          <p:nvPr>
            <p:ph idx="1"/>
          </p:nvPr>
        </p:nvSpPr>
        <p:spPr>
          <a:xfrm>
            <a:off x="838199" y="1122680"/>
            <a:ext cx="10515600" cy="4351338"/>
          </a:xfrm>
        </p:spPr>
        <p:txBody>
          <a:bodyPr/>
          <a:lstStyle/>
          <a:p>
            <a:r>
              <a:rPr lang="en-US" dirty="0"/>
              <a:t>Good initialization to avoid unstable gradient</a:t>
            </a:r>
          </a:p>
        </p:txBody>
      </p:sp>
      <p:pic>
        <p:nvPicPr>
          <p:cNvPr id="5" name="Picture 4">
            <a:extLst>
              <a:ext uri="{FF2B5EF4-FFF2-40B4-BE49-F238E27FC236}">
                <a16:creationId xmlns:a16="http://schemas.microsoft.com/office/drawing/2014/main" id="{1C2AD066-FB9A-4445-8ABB-5EB3A5CB9310}"/>
              </a:ext>
            </a:extLst>
          </p:cNvPr>
          <p:cNvPicPr>
            <a:picLocks noChangeAspect="1"/>
          </p:cNvPicPr>
          <p:nvPr/>
        </p:nvPicPr>
        <p:blipFill>
          <a:blip r:embed="rId3"/>
          <a:stretch>
            <a:fillRect/>
          </a:stretch>
        </p:blipFill>
        <p:spPr>
          <a:xfrm>
            <a:off x="615314" y="1714500"/>
            <a:ext cx="3219161" cy="2213609"/>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B19A4B4-29C7-46C9-B93A-64FE78F9BF8F}"/>
                  </a:ext>
                </a:extLst>
              </p:cNvPr>
              <p:cNvSpPr txBox="1"/>
              <p:nvPr/>
            </p:nvSpPr>
            <p:spPr>
              <a:xfrm>
                <a:off x="661034" y="4255232"/>
                <a:ext cx="3398366" cy="307777"/>
              </a:xfrm>
              <a:prstGeom prst="rect">
                <a:avLst/>
              </a:prstGeom>
              <a:noFill/>
            </p:spPr>
            <p:txBody>
              <a:bodyPr wrap="none" lIns="0" tIns="0" rIns="0" bIns="0" rtlCol="0">
                <a:spAutoFit/>
              </a:bodyPr>
              <a:lstStyle/>
              <a:p>
                <a14:m>
                  <m:oMath xmlns:m="http://schemas.openxmlformats.org/officeDocument/2006/math">
                    <m:r>
                      <a:rPr lang="en-US" sz="2000" b="0" i="1" smtClean="0">
                        <a:latin typeface="Cambria Math" panose="02040503050406030204" pitchFamily="18" charset="0"/>
                      </a:rPr>
                      <m:t>𝑧</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𝜃</m:t>
                        </m:r>
                      </m:e>
                      <m:sub>
                        <m:r>
                          <a:rPr lang="en-US" sz="2000" b="0" i="1" smtClean="0">
                            <a:latin typeface="Cambria Math" panose="02040503050406030204" pitchFamily="18" charset="0"/>
                          </a:rPr>
                          <m:t>1</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𝜃</m:t>
                        </m:r>
                      </m:e>
                      <m:sub>
                        <m:r>
                          <a:rPr lang="en-US" sz="2000" b="0" i="1" smtClean="0">
                            <a:latin typeface="Cambria Math" panose="02040503050406030204" pitchFamily="18" charset="0"/>
                          </a:rPr>
                          <m:t>2</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𝜃</m:t>
                        </m:r>
                      </m:e>
                      <m:sub>
                        <m:r>
                          <a:rPr lang="en-US" sz="2000" b="0" i="1" smtClean="0">
                            <a:latin typeface="Cambria Math" panose="02040503050406030204" pitchFamily="18" charset="0"/>
                            <a:ea typeface="Cambria Math" panose="02040503050406030204" pitchFamily="18" charset="0"/>
                          </a:rPr>
                          <m:t>3</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3</m:t>
                        </m:r>
                      </m:sub>
                    </m:sSub>
                    <m:r>
                      <a:rPr lang="en-US" sz="2000" i="1">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𝜃</m:t>
                        </m:r>
                      </m:e>
                      <m:sub>
                        <m:r>
                          <a:rPr lang="en-US" sz="2000" b="0" i="1" smtClean="0">
                            <a:latin typeface="Cambria Math" panose="02040503050406030204" pitchFamily="18" charset="0"/>
                            <a:ea typeface="Cambria Math" panose="02040503050406030204" pitchFamily="18" charset="0"/>
                          </a:rPr>
                          <m:t>4</m:t>
                        </m:r>
                      </m:sub>
                    </m:sSub>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4</m:t>
                        </m:r>
                      </m:sub>
                    </m:sSub>
                  </m:oMath>
                </a14:m>
                <a:endParaRPr lang="en-US" sz="2000" dirty="0"/>
              </a:p>
            </p:txBody>
          </p:sp>
        </mc:Choice>
        <mc:Fallback xmlns="">
          <p:sp>
            <p:nvSpPr>
              <p:cNvPr id="6" name="TextBox 5">
                <a:extLst>
                  <a:ext uri="{FF2B5EF4-FFF2-40B4-BE49-F238E27FC236}">
                    <a16:creationId xmlns:a16="http://schemas.microsoft.com/office/drawing/2014/main" id="{4B19A4B4-29C7-46C9-B93A-64FE78F9BF8F}"/>
                  </a:ext>
                </a:extLst>
              </p:cNvPr>
              <p:cNvSpPr txBox="1">
                <a:spLocks noRot="1" noChangeAspect="1" noMove="1" noResize="1" noEditPoints="1" noAdjustHandles="1" noChangeArrowheads="1" noChangeShapeType="1" noTextEdit="1"/>
              </p:cNvSpPr>
              <p:nvPr/>
            </p:nvSpPr>
            <p:spPr>
              <a:xfrm>
                <a:off x="661034" y="4255232"/>
                <a:ext cx="3398366" cy="307777"/>
              </a:xfrm>
              <a:prstGeom prst="rect">
                <a:avLst/>
              </a:prstGeom>
              <a:blipFill>
                <a:blip r:embed="rId4"/>
                <a:stretch>
                  <a:fillRect l="-1792" r="-717" b="-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9904943-C452-444F-8DC7-418484648312}"/>
                  </a:ext>
                </a:extLst>
              </p:cNvPr>
              <p:cNvSpPr txBox="1"/>
              <p:nvPr/>
            </p:nvSpPr>
            <p:spPr>
              <a:xfrm>
                <a:off x="4470822" y="1683469"/>
                <a:ext cx="6021705" cy="5451301"/>
              </a:xfrm>
              <a:prstGeom prst="rect">
                <a:avLst/>
              </a:prstGeom>
              <a:noFill/>
            </p:spPr>
            <p:txBody>
              <a:bodyPr wrap="square" rtlCol="0">
                <a:spAutoFit/>
              </a:bodyPr>
              <a:lstStyle/>
              <a:p>
                <a:pPr marL="285750" indent="-285750">
                  <a:buFont typeface="Arial" panose="020B0604020202020204" pitchFamily="34" charset="0"/>
                  <a:buChar char="•"/>
                </a:pPr>
                <a:r>
                  <a:rPr lang="en-US" dirty="0"/>
                  <a:t>Suppose we standardized input </a:t>
                </a:r>
                <a:r>
                  <a:rPr lang="en-US" i="1" dirty="0">
                    <a:latin typeface="Times New Roman" panose="02020603050405020304" pitchFamily="18" charset="0"/>
                    <a:cs typeface="Times New Roman" panose="02020603050405020304" pitchFamily="18" charset="0"/>
                  </a:rPr>
                  <a:t>x</a:t>
                </a:r>
                <a:r>
                  <a:rPr lang="en-US" sz="1200" i="1" dirty="0">
                    <a:latin typeface="Times New Roman" panose="02020603050405020304" pitchFamily="18" charset="0"/>
                    <a:cs typeface="Times New Roman" panose="02020603050405020304" pitchFamily="18" charset="0"/>
                  </a:rPr>
                  <a:t>i</a:t>
                </a:r>
                <a:r>
                  <a:rPr lang="en-US" dirty="0"/>
                  <a:t> and we also initialize the weights </a:t>
                </a:r>
                <a:r>
                  <a:rPr lang="en-US" sz="1600" dirty="0">
                    <a:latin typeface="Symbol" panose="05050102010706020507" pitchFamily="18" charset="2"/>
                  </a:rPr>
                  <a:t>q</a:t>
                </a:r>
                <a:r>
                  <a:rPr lang="en-US" sz="1200" dirty="0"/>
                  <a:t>i</a:t>
                </a:r>
                <a:r>
                  <a:rPr lang="en-US" sz="1600" dirty="0"/>
                  <a:t>  </a:t>
                </a:r>
                <a:r>
                  <a:rPr lang="en-US" dirty="0"/>
                  <a:t>randomly from </a:t>
                </a:r>
                <a:r>
                  <a:rPr lang="en-US" i="1" dirty="0">
                    <a:latin typeface="Times New Roman" panose="02020603050405020304" pitchFamily="18" charset="0"/>
                    <a:cs typeface="Times New Roman" panose="02020603050405020304" pitchFamily="18" charset="0"/>
                  </a:rPr>
                  <a:t>N</a:t>
                </a:r>
                <a:r>
                  <a:rPr lang="en-US" dirty="0"/>
                  <a:t>(0,1):</a:t>
                </a:r>
              </a:p>
              <a:p>
                <a:pPr marL="742950" lvl="1" indent="-285750">
                  <a:buFont typeface="Arial" panose="020B0604020202020204" pitchFamily="34" charset="0"/>
                  <a:buChar char="•"/>
                </a:pPr>
                <a:r>
                  <a:rPr lang="en-US" dirty="0"/>
                  <a:t>We sum 4 products having </a:t>
                </a:r>
                <a:r>
                  <a:rPr lang="en-US" i="1" dirty="0">
                    <a:latin typeface="Times New Roman" panose="02020603050405020304" pitchFamily="18" charset="0"/>
                    <a:cs typeface="Times New Roman" panose="02020603050405020304" pitchFamily="18" charset="0"/>
                  </a:rPr>
                  <a:t>mean=0</a:t>
                </a:r>
                <a:r>
                  <a:rPr lang="en-US" dirty="0"/>
                  <a:t> and </a:t>
                </a:r>
                <a:r>
                  <a:rPr lang="en-US" i="1" dirty="0">
                    <a:latin typeface="Times New Roman" panose="02020603050405020304" pitchFamily="18" charset="0"/>
                    <a:cs typeface="Times New Roman" panose="02020603050405020304" pitchFamily="18" charset="0"/>
                  </a:rPr>
                  <a:t>var=1</a:t>
                </a:r>
                <a:r>
                  <a:rPr lang="en-US" dirty="0"/>
                  <a:t>; </a:t>
                </a:r>
                <a:r>
                  <a:rPr lang="en-US" i="1" dirty="0">
                    <a:latin typeface="Times New Roman" panose="02020603050405020304" pitchFamily="18" charset="0"/>
                    <a:cs typeface="Times New Roman" panose="02020603050405020304" pitchFamily="18" charset="0"/>
                  </a:rPr>
                  <a:t>z</a:t>
                </a:r>
                <a:r>
                  <a:rPr lang="en-US" dirty="0"/>
                  <a:t> will have </a:t>
                </a:r>
                <a:r>
                  <a:rPr lang="en-US" i="1" dirty="0">
                    <a:latin typeface="Times New Roman" panose="02020603050405020304" pitchFamily="18" charset="0"/>
                    <a:cs typeface="Times New Roman" panose="02020603050405020304" pitchFamily="18" charset="0"/>
                  </a:rPr>
                  <a:t>mean=0</a:t>
                </a:r>
                <a:r>
                  <a:rPr lang="en-US" dirty="0"/>
                  <a:t> and </a:t>
                </a:r>
                <a:r>
                  <a:rPr lang="en-US" i="1" dirty="0">
                    <a:latin typeface="Times New Roman" panose="02020603050405020304" pitchFamily="18" charset="0"/>
                    <a:cs typeface="Times New Roman" panose="02020603050405020304" pitchFamily="18" charset="0"/>
                  </a:rPr>
                  <a:t>var=4</a:t>
                </a:r>
              </a:p>
              <a:p>
                <a:pPr marL="742950" lvl="1" indent="-285750">
                  <a:buFont typeface="Arial" panose="020B0604020202020204" pitchFamily="34" charset="0"/>
                  <a:buChar char="•"/>
                </a:pPr>
                <a:r>
                  <a:rPr lang="en-US" dirty="0"/>
                  <a:t>In general if </a:t>
                </a:r>
                <a:r>
                  <a:rPr lang="en-US" i="1" dirty="0">
                    <a:latin typeface="Times New Roman" panose="02020603050405020304" pitchFamily="18" charset="0"/>
                    <a:cs typeface="Times New Roman" panose="02020603050405020304" pitchFamily="18" charset="0"/>
                  </a:rPr>
                  <a:t>n</a:t>
                </a:r>
                <a:r>
                  <a:rPr lang="en-US" dirty="0"/>
                  <a:t> is the number of inputs, </a:t>
                </a:r>
                <a:r>
                  <a:rPr lang="en-US" i="1" dirty="0">
                    <a:latin typeface="Times New Roman" panose="02020603050405020304" pitchFamily="18" charset="0"/>
                    <a:cs typeface="Times New Roman" panose="02020603050405020304" pitchFamily="18" charset="0"/>
                  </a:rPr>
                  <a:t>z</a:t>
                </a:r>
                <a:r>
                  <a:rPr lang="en-US" dirty="0"/>
                  <a:t> will have </a:t>
                </a:r>
                <a:r>
                  <a:rPr lang="en-US" i="1" dirty="0">
                    <a:latin typeface="Times New Roman" panose="02020603050405020304" pitchFamily="18" charset="0"/>
                    <a:cs typeface="Times New Roman" panose="02020603050405020304" pitchFamily="18" charset="0"/>
                  </a:rPr>
                  <a:t>mean=0</a:t>
                </a:r>
                <a:r>
                  <a:rPr lang="en-US" dirty="0"/>
                  <a:t> and </a:t>
                </a:r>
                <a:r>
                  <a:rPr lang="en-US" i="1" dirty="0">
                    <a:latin typeface="Times New Roman" panose="02020603050405020304" pitchFamily="18" charset="0"/>
                    <a:cs typeface="Times New Roman" panose="02020603050405020304" pitchFamily="18" charset="0"/>
                  </a:rPr>
                  <a:t>var=n</a:t>
                </a:r>
                <a:r>
                  <a:rPr lang="en-US" dirty="0"/>
                  <a:t> (</a:t>
                </a:r>
                <a:r>
                  <a:rPr lang="en-US" i="1" dirty="0">
                    <a:latin typeface="Times New Roman" panose="02020603050405020304" pitchFamily="18" charset="0"/>
                    <a:cs typeface="Times New Roman" panose="02020603050405020304" pitchFamily="18" charset="0"/>
                  </a:rPr>
                  <a:t>std=</a:t>
                </a:r>
                <a14:m>
                  <m:oMath xmlns:m="http://schemas.openxmlformats.org/officeDocument/2006/math">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𝑛</m:t>
                        </m:r>
                      </m:e>
                    </m:rad>
                    <m:r>
                      <a:rPr lang="en-US" b="0" i="1" smtClean="0">
                        <a:latin typeface="Cambria Math" panose="02040503050406030204" pitchFamily="18" charset="0"/>
                      </a:rPr>
                      <m:t>)</m:t>
                    </m:r>
                  </m:oMath>
                </a14:m>
                <a:endParaRPr lang="en-US" dirty="0"/>
              </a:p>
              <a:p>
                <a:pPr marL="742950" lvl="1" indent="-285750">
                  <a:buFont typeface="Arial" panose="020B0604020202020204" pitchFamily="34" charset="0"/>
                  <a:buChar char="•"/>
                </a:pPr>
                <a:r>
                  <a:rPr lang="en-US" dirty="0"/>
                  <a:t>So for large </a:t>
                </a:r>
                <a:r>
                  <a:rPr lang="en-US" i="1" dirty="0">
                    <a:latin typeface="Times New Roman" panose="02020603050405020304" pitchFamily="18" charset="0"/>
                    <a:cs typeface="Times New Roman" panose="02020603050405020304" pitchFamily="18" charset="0"/>
                  </a:rPr>
                  <a:t>n</a:t>
                </a:r>
                <a:r>
                  <a:rPr lang="en-US" dirty="0"/>
                  <a:t>, the variance is too big and </a:t>
                </a:r>
                <a:r>
                  <a:rPr lang="en-US" i="1" dirty="0">
                    <a:latin typeface="Times New Roman" panose="02020603050405020304" pitchFamily="18" charset="0"/>
                    <a:cs typeface="Times New Roman" panose="02020603050405020304" pitchFamily="18" charset="0"/>
                  </a:rPr>
                  <a:t>z</a:t>
                </a:r>
                <a:r>
                  <a:rPr lang="en-US" dirty="0"/>
                  <a:t> tends to explode or vanish</a:t>
                </a:r>
              </a:p>
              <a:p>
                <a:pPr marL="285750" indent="-285750">
                  <a:buFont typeface="Arial" panose="020B0604020202020204" pitchFamily="34" charset="0"/>
                  <a:buChar char="•"/>
                </a:pPr>
                <a:r>
                  <a:rPr lang="en-US" dirty="0"/>
                  <a:t>We can keep </a:t>
                </a:r>
                <a:r>
                  <a:rPr lang="en-US" i="1" dirty="0">
                    <a:latin typeface="Times New Roman" panose="02020603050405020304" pitchFamily="18" charset="0"/>
                    <a:cs typeface="Times New Roman" panose="02020603050405020304" pitchFamily="18" charset="0"/>
                  </a:rPr>
                  <a:t>std=1</a:t>
                </a:r>
                <a:r>
                  <a:rPr lang="en-US" dirty="0"/>
                  <a:t> in each layer by rescaling weights of a factor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i="1" smtClean="0">
                                <a:latin typeface="Cambria Math" panose="02040503050406030204" pitchFamily="18" charset="0"/>
                              </a:rPr>
                            </m:ctrlPr>
                          </m:radPr>
                          <m:deg/>
                          <m:e>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−1)</m:t>
                                </m:r>
                              </m:sup>
                            </m:sSup>
                          </m:e>
                        </m:rad>
                      </m:den>
                    </m:f>
                  </m:oMath>
                </a14:m>
                <a:r>
                  <a:rPr lang="en-US" dirty="0"/>
                  <a:t> where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−1)</m:t>
                        </m:r>
                      </m:sup>
                    </m:sSup>
                  </m:oMath>
                </a14:m>
                <a:r>
                  <a:rPr lang="en-US" dirty="0"/>
                  <a:t> is the number of neurons at level </a:t>
                </a:r>
                <a:r>
                  <a:rPr lang="en-US" i="1" dirty="0">
                    <a:latin typeface="Times New Roman" panose="02020603050405020304" pitchFamily="18" charset="0"/>
                    <a:cs typeface="Times New Roman" panose="02020603050405020304" pitchFamily="18" charset="0"/>
                  </a:rPr>
                  <a:t>l-1</a:t>
                </a:r>
                <a:r>
                  <a:rPr lang="en-US" dirty="0"/>
                  <a:t>  (# inputs at layer </a:t>
                </a:r>
                <a:r>
                  <a:rPr lang="en-US" i="1" dirty="0">
                    <a:latin typeface="Times New Roman" panose="02020603050405020304" pitchFamily="18" charset="0"/>
                    <a:cs typeface="Times New Roman" panose="02020603050405020304" pitchFamily="18" charset="0"/>
                  </a:rPr>
                  <a:t>l</a:t>
                </a:r>
                <a:r>
                  <a:rPr lang="en-US" dirty="0"/>
                  <a:t>)</a:t>
                </a:r>
              </a:p>
              <a:p>
                <a:pPr marL="742950" lvl="1" indent="-285750">
                  <a:buFont typeface="Arial" panose="020B0604020202020204" pitchFamily="34" charset="0"/>
                  <a:buChar char="•"/>
                </a:pPr>
                <a14:m>
                  <m:oMath xmlns:m="http://schemas.openxmlformats.org/officeDocument/2006/math">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𝑖𝑗</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bSup>
                    <m:r>
                      <a:rPr lang="en-US" b="0" i="1" smtClean="0">
                        <a:latin typeface="Cambria Math" panose="02040503050406030204" pitchFamily="18" charset="0"/>
                      </a:rPr>
                      <m:t>=</m:t>
                    </m:r>
                    <m:r>
                      <a:rPr lang="en-US" b="0" i="1" smtClean="0">
                        <a:latin typeface="Cambria Math" panose="02040503050406030204" pitchFamily="18" charset="0"/>
                      </a:rPr>
                      <m:t>𝑟𝑎𝑛𝑑</m:t>
                    </m:r>
                    <m:r>
                      <a:rPr lang="en-US" b="0" i="1" smtClean="0">
                        <a:latin typeface="Cambria Math" panose="02040503050406030204" pitchFamily="18" charset="0"/>
                      </a:rPr>
                      <m:t>_</m:t>
                    </m:r>
                    <m:r>
                      <a:rPr lang="en-US" b="0" i="1" smtClean="0">
                        <a:latin typeface="Cambria Math" panose="02040503050406030204" pitchFamily="18" charset="0"/>
                      </a:rPr>
                      <m:t>𝑛𝑜𝑟𝑚</m:t>
                    </m:r>
                    <m:r>
                      <a:rPr lang="en-US" b="0" i="1" smtClean="0">
                        <a:latin typeface="Cambria Math" panose="02040503050406030204" pitchFamily="18" charset="0"/>
                      </a:rPr>
                      <m:t>(0,1)</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−1)</m:t>
                                </m:r>
                              </m:sup>
                            </m:sSup>
                          </m:e>
                        </m:rad>
                      </m:den>
                    </m:f>
                  </m:oMath>
                </a14:m>
                <a:r>
                  <a:rPr lang="en-US" dirty="0"/>
                  <a:t>  (</a:t>
                </a:r>
                <a:r>
                  <a:rPr lang="en-US" i="1" dirty="0"/>
                  <a:t>linear</a:t>
                </a:r>
                <a:r>
                  <a:rPr lang="en-US" dirty="0"/>
                  <a:t> activation)</a:t>
                </a:r>
              </a:p>
              <a:p>
                <a:pPr marL="742950" lvl="1" indent="-285750">
                  <a:buFont typeface="Arial" panose="020B0604020202020204" pitchFamily="34" charset="0"/>
                  <a:buChar char="•"/>
                </a:pPr>
                <a14:m>
                  <m:oMath xmlns:m="http://schemas.openxmlformats.org/officeDocument/2006/math">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𝑖𝑗</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bSup>
                    <m:r>
                      <a:rPr lang="en-US" b="0" i="1" smtClean="0">
                        <a:latin typeface="Cambria Math" panose="02040503050406030204" pitchFamily="18" charset="0"/>
                      </a:rPr>
                      <m:t>=</m:t>
                    </m:r>
                    <m:r>
                      <a:rPr lang="en-US" b="0" i="1" smtClean="0">
                        <a:latin typeface="Cambria Math" panose="02040503050406030204" pitchFamily="18" charset="0"/>
                      </a:rPr>
                      <m:t>𝑟𝑎𝑛𝑑</m:t>
                    </m:r>
                    <m:r>
                      <a:rPr lang="en-US" b="0" i="1" smtClean="0">
                        <a:latin typeface="Cambria Math" panose="02040503050406030204" pitchFamily="18" charset="0"/>
                      </a:rPr>
                      <m:t>_</m:t>
                    </m:r>
                    <m:r>
                      <a:rPr lang="en-US" b="0" i="1" smtClean="0">
                        <a:latin typeface="Cambria Math" panose="02040503050406030204" pitchFamily="18" charset="0"/>
                      </a:rPr>
                      <m:t>𝑛𝑜𝑟𝑚</m:t>
                    </m:r>
                    <m:r>
                      <a:rPr lang="en-US" b="0" i="1" smtClean="0">
                        <a:latin typeface="Cambria Math" panose="02040503050406030204" pitchFamily="18" charset="0"/>
                      </a:rPr>
                      <m:t>(0,1)</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−1)</m:t>
                                </m:r>
                              </m:sup>
                            </m:sSup>
                          </m:den>
                        </m:f>
                      </m:e>
                    </m:rad>
                  </m:oMath>
                </a14:m>
                <a:r>
                  <a:rPr lang="en-US" dirty="0"/>
                  <a:t>  (</a:t>
                </a:r>
                <a:r>
                  <a:rPr lang="en-US" i="1" dirty="0" err="1"/>
                  <a:t>Relu</a:t>
                </a:r>
                <a:r>
                  <a:rPr lang="en-US" dirty="0"/>
                  <a:t> activation)</a:t>
                </a:r>
              </a:p>
              <a:p>
                <a:pPr marL="742950" lvl="1" indent="-285750">
                  <a:buFont typeface="Arial" panose="020B0604020202020204" pitchFamily="34" charset="0"/>
                  <a:buChar char="•"/>
                </a:pPr>
                <a14:m>
                  <m:oMath xmlns:m="http://schemas.openxmlformats.org/officeDocument/2006/math">
                    <m:sSubSup>
                      <m:sSubSupPr>
                        <m:ctrlPr>
                          <a:rPr lang="en-US" i="1" smtClean="0">
                            <a:latin typeface="Cambria Math" panose="02040503050406030204" pitchFamily="18" charset="0"/>
                          </a:rPr>
                        </m:ctrlPr>
                      </m:sSubSup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𝑖𝑗</m:t>
                        </m:r>
                      </m:sub>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bSup>
                    <m:r>
                      <a:rPr lang="en-US" b="0" i="1" smtClean="0">
                        <a:latin typeface="Cambria Math" panose="02040503050406030204" pitchFamily="18" charset="0"/>
                      </a:rPr>
                      <m:t>=</m:t>
                    </m:r>
                    <m:r>
                      <a:rPr lang="en-US" b="0" i="1" smtClean="0">
                        <a:solidFill>
                          <a:schemeClr val="tx1"/>
                        </a:solidFill>
                        <a:latin typeface="Cambria Math" panose="02040503050406030204" pitchFamily="18" charset="0"/>
                      </a:rPr>
                      <m:t>𝑟𝑎𝑛𝑑</m:t>
                    </m:r>
                    <m:r>
                      <a:rPr lang="en-US" b="0" i="1" smtClean="0">
                        <a:solidFill>
                          <a:schemeClr val="tx1"/>
                        </a:solidFill>
                        <a:latin typeface="Cambria Math" panose="02040503050406030204" pitchFamily="18" charset="0"/>
                      </a:rPr>
                      <m:t>_</m:t>
                    </m:r>
                    <m:r>
                      <a:rPr lang="en-US" b="0" i="1" smtClean="0">
                        <a:solidFill>
                          <a:schemeClr val="tx1"/>
                        </a:solidFill>
                        <a:latin typeface="Cambria Math" panose="02040503050406030204" pitchFamily="18" charset="0"/>
                      </a:rPr>
                      <m:t>𝑛𝑜𝑟𝑚</m:t>
                    </m:r>
                    <m:r>
                      <a:rPr lang="en-US" b="0" i="1" smtClean="0">
                        <a:latin typeface="Cambria Math" panose="02040503050406030204" pitchFamily="18" charset="0"/>
                      </a:rPr>
                      <m:t>(0,1)</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−1)</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m:t>
                                </m:r>
                                <m:r>
                                  <a:rPr lang="en-US" b="0" i="1" smtClean="0">
                                    <a:latin typeface="Cambria Math" panose="02040503050406030204" pitchFamily="18" charset="0"/>
                                  </a:rPr>
                                  <m:t>𝑙</m:t>
                                </m:r>
                                <m:r>
                                  <a:rPr lang="en-US" b="0" i="1" smtClean="0">
                                    <a:latin typeface="Cambria Math" panose="02040503050406030204" pitchFamily="18" charset="0"/>
                                  </a:rPr>
                                  <m:t>)</m:t>
                                </m:r>
                              </m:sup>
                            </m:sSup>
                          </m:den>
                        </m:f>
                      </m:e>
                    </m:rad>
                  </m:oMath>
                </a14:m>
                <a:r>
                  <a:rPr lang="en-US" dirty="0"/>
                  <a:t>  (</a:t>
                </a:r>
                <a:r>
                  <a:rPr lang="en-US" i="1" dirty="0"/>
                  <a:t>tanh</a:t>
                </a:r>
                <a:r>
                  <a:rPr lang="en-US" dirty="0"/>
                  <a:t> activation)</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p:txBody>
          </p:sp>
        </mc:Choice>
        <mc:Fallback xmlns="">
          <p:sp>
            <p:nvSpPr>
              <p:cNvPr id="7" name="TextBox 6">
                <a:extLst>
                  <a:ext uri="{FF2B5EF4-FFF2-40B4-BE49-F238E27FC236}">
                    <a16:creationId xmlns:a16="http://schemas.microsoft.com/office/drawing/2014/main" id="{39904943-C452-444F-8DC7-418484648312}"/>
                  </a:ext>
                </a:extLst>
              </p:cNvPr>
              <p:cNvSpPr txBox="1">
                <a:spLocks noRot="1" noChangeAspect="1" noMove="1" noResize="1" noEditPoints="1" noAdjustHandles="1" noChangeArrowheads="1" noChangeShapeType="1" noTextEdit="1"/>
              </p:cNvSpPr>
              <p:nvPr/>
            </p:nvSpPr>
            <p:spPr>
              <a:xfrm>
                <a:off x="4470822" y="1683469"/>
                <a:ext cx="6021705" cy="5451301"/>
              </a:xfrm>
              <a:prstGeom prst="rect">
                <a:avLst/>
              </a:prstGeom>
              <a:blipFill>
                <a:blip r:embed="rId5"/>
                <a:stretch>
                  <a:fillRect l="-607" t="-671"/>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A609D69A-FE45-4C47-82CB-5948267BF28D}"/>
              </a:ext>
            </a:extLst>
          </p:cNvPr>
          <p:cNvSpPr txBox="1"/>
          <p:nvPr/>
        </p:nvSpPr>
        <p:spPr>
          <a:xfrm>
            <a:off x="2510221" y="5268248"/>
            <a:ext cx="1960601" cy="369332"/>
          </a:xfrm>
          <a:prstGeom prst="rect">
            <a:avLst/>
          </a:prstGeom>
          <a:noFill/>
        </p:spPr>
        <p:txBody>
          <a:bodyPr wrap="none" rtlCol="0">
            <a:spAutoFit/>
          </a:bodyPr>
          <a:lstStyle/>
          <a:p>
            <a:r>
              <a:rPr lang="en-US" dirty="0"/>
              <a:t>Xavier initialization</a:t>
            </a:r>
          </a:p>
        </p:txBody>
      </p:sp>
      <p:cxnSp>
        <p:nvCxnSpPr>
          <p:cNvPr id="10" name="Straight Arrow Connector 9">
            <a:extLst>
              <a:ext uri="{FF2B5EF4-FFF2-40B4-BE49-F238E27FC236}">
                <a16:creationId xmlns:a16="http://schemas.microsoft.com/office/drawing/2014/main" id="{7A6DEFCC-B9C8-4C56-8B65-5B726EBA5DAD}"/>
              </a:ext>
            </a:extLst>
          </p:cNvPr>
          <p:cNvCxnSpPr/>
          <p:nvPr/>
        </p:nvCxnSpPr>
        <p:spPr>
          <a:xfrm>
            <a:off x="3783330" y="5652135"/>
            <a:ext cx="1463040" cy="4514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F875871-5C52-4DDC-AC55-9D4A69976D55}"/>
              </a:ext>
            </a:extLst>
          </p:cNvPr>
          <p:cNvSpPr txBox="1"/>
          <p:nvPr/>
        </p:nvSpPr>
        <p:spPr>
          <a:xfrm>
            <a:off x="218810" y="6063908"/>
            <a:ext cx="4785669" cy="461665"/>
          </a:xfrm>
          <a:prstGeom prst="rect">
            <a:avLst/>
          </a:prstGeom>
          <a:noFill/>
        </p:spPr>
        <p:txBody>
          <a:bodyPr wrap="none" rtlCol="0">
            <a:spAutoFit/>
          </a:bodyPr>
          <a:lstStyle/>
          <a:p>
            <a:r>
              <a:rPr lang="en-US" sz="1200" b="0" i="0" dirty="0">
                <a:solidFill>
                  <a:srgbClr val="292929"/>
                </a:solidFill>
                <a:effectLst/>
                <a:latin typeface="charter"/>
              </a:rPr>
              <a:t>Xavier </a:t>
            </a:r>
            <a:r>
              <a:rPr lang="en-US" sz="1200" b="0" i="0" dirty="0" err="1">
                <a:solidFill>
                  <a:srgbClr val="292929"/>
                </a:solidFill>
                <a:effectLst/>
                <a:latin typeface="charter"/>
              </a:rPr>
              <a:t>Glorot</a:t>
            </a:r>
            <a:r>
              <a:rPr lang="en-US" sz="1200" b="0" i="0" dirty="0">
                <a:solidFill>
                  <a:srgbClr val="292929"/>
                </a:solidFill>
                <a:effectLst/>
                <a:latin typeface="charter"/>
              </a:rPr>
              <a:t> and </a:t>
            </a:r>
            <a:r>
              <a:rPr lang="en-US" sz="1200" b="0" i="0" dirty="0" err="1">
                <a:solidFill>
                  <a:srgbClr val="292929"/>
                </a:solidFill>
                <a:effectLst/>
                <a:latin typeface="charter"/>
              </a:rPr>
              <a:t>Yoshua</a:t>
            </a:r>
            <a:r>
              <a:rPr lang="en-US" sz="1200" b="0" i="0" dirty="0">
                <a:solidFill>
                  <a:srgbClr val="292929"/>
                </a:solidFill>
                <a:effectLst/>
                <a:latin typeface="charter"/>
              </a:rPr>
              <a:t> </a:t>
            </a:r>
            <a:r>
              <a:rPr lang="en-US" sz="1200" b="0" i="0" dirty="0" err="1">
                <a:solidFill>
                  <a:srgbClr val="292929"/>
                </a:solidFill>
                <a:effectLst/>
                <a:latin typeface="charter"/>
              </a:rPr>
              <a:t>Bengio</a:t>
            </a:r>
            <a:r>
              <a:rPr lang="en-US" sz="1200" dirty="0">
                <a:solidFill>
                  <a:srgbClr val="292929"/>
                </a:solidFill>
                <a:latin typeface="charter"/>
              </a:rPr>
              <a:t>:</a:t>
            </a:r>
            <a:br>
              <a:rPr lang="en-US" sz="1200" dirty="0">
                <a:solidFill>
                  <a:srgbClr val="292929"/>
                </a:solidFill>
                <a:latin typeface="charter"/>
              </a:rPr>
            </a:br>
            <a:r>
              <a:rPr lang="en-US" sz="1200" b="0" i="1" u="sng" dirty="0">
                <a:effectLst/>
                <a:latin typeface="charter"/>
                <a:hlinkClick r:id="rId6"/>
              </a:rPr>
              <a:t>Understanding the difficulty of training deep feedforward neural networks</a:t>
            </a:r>
            <a:endParaRPr lang="en-US" sz="1200" dirty="0"/>
          </a:p>
        </p:txBody>
      </p:sp>
      <p:sp>
        <p:nvSpPr>
          <p:cNvPr id="12" name="TextBox 11">
            <a:extLst>
              <a:ext uri="{FF2B5EF4-FFF2-40B4-BE49-F238E27FC236}">
                <a16:creationId xmlns:a16="http://schemas.microsoft.com/office/drawing/2014/main" id="{3C6B1B8C-71A0-4970-BC9C-A617CDAD5145}"/>
              </a:ext>
            </a:extLst>
          </p:cNvPr>
          <p:cNvSpPr txBox="1"/>
          <p:nvPr/>
        </p:nvSpPr>
        <p:spPr>
          <a:xfrm>
            <a:off x="10492527" y="4895708"/>
            <a:ext cx="1640642" cy="369332"/>
          </a:xfrm>
          <a:prstGeom prst="rect">
            <a:avLst/>
          </a:prstGeom>
          <a:noFill/>
        </p:spPr>
        <p:txBody>
          <a:bodyPr wrap="none" rtlCol="0">
            <a:spAutoFit/>
          </a:bodyPr>
          <a:lstStyle/>
          <a:p>
            <a:r>
              <a:rPr lang="en-US" dirty="0"/>
              <a:t>He initialization</a:t>
            </a:r>
          </a:p>
        </p:txBody>
      </p:sp>
      <p:cxnSp>
        <p:nvCxnSpPr>
          <p:cNvPr id="13" name="Straight Arrow Connector 12">
            <a:extLst>
              <a:ext uri="{FF2B5EF4-FFF2-40B4-BE49-F238E27FC236}">
                <a16:creationId xmlns:a16="http://schemas.microsoft.com/office/drawing/2014/main" id="{63A61A76-02F8-4755-8DCE-6AE605A234B2}"/>
              </a:ext>
            </a:extLst>
          </p:cNvPr>
          <p:cNvCxnSpPr>
            <a:cxnSpLocks/>
          </p:cNvCxnSpPr>
          <p:nvPr/>
        </p:nvCxnSpPr>
        <p:spPr>
          <a:xfrm flipH="1">
            <a:off x="8958060" y="5265040"/>
            <a:ext cx="2045018" cy="26980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4794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18696-FBCA-4DF3-A5BF-18DB98614314}"/>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E445878E-3C3A-4625-9F61-59FB9305DF28}"/>
              </a:ext>
            </a:extLst>
          </p:cNvPr>
          <p:cNvSpPr>
            <a:spLocks noGrp="1"/>
          </p:cNvSpPr>
          <p:nvPr>
            <p:ph idx="1"/>
          </p:nvPr>
        </p:nvSpPr>
        <p:spPr/>
        <p:txBody>
          <a:bodyPr/>
          <a:lstStyle/>
          <a:p>
            <a:r>
              <a:rPr lang="en-US" dirty="0"/>
              <a:t>In deep networks we need non linear activation functions</a:t>
            </a:r>
          </a:p>
          <a:p>
            <a:r>
              <a:rPr lang="en-US" dirty="0" err="1"/>
              <a:t>Sigmoids</a:t>
            </a:r>
            <a:r>
              <a:rPr lang="en-US" dirty="0"/>
              <a:t> (logistic and tanh) together with improper weight initialization may produce unstable gradient during backprop</a:t>
            </a:r>
          </a:p>
          <a:p>
            <a:r>
              <a:rPr lang="en-US" dirty="0"/>
              <a:t>Xavier initialization can be adopted if one want to use tanh</a:t>
            </a:r>
          </a:p>
          <a:p>
            <a:r>
              <a:rPr lang="en-US" dirty="0" err="1"/>
              <a:t>ReLU</a:t>
            </a:r>
            <a:r>
              <a:rPr lang="en-US" dirty="0"/>
              <a:t> and variants, together with He initialization are the state of the art in Deep FF network (and in Convolutional Networks as we will see next); they usually perform better than other alternatives</a:t>
            </a:r>
          </a:p>
          <a:p>
            <a:endParaRPr lang="en-US" dirty="0"/>
          </a:p>
        </p:txBody>
      </p:sp>
    </p:spTree>
    <p:extLst>
      <p:ext uri="{BB962C8B-B14F-4D97-AF65-F5344CB8AC3E}">
        <p14:creationId xmlns:p14="http://schemas.microsoft.com/office/powerpoint/2010/main" val="33890979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x_1&#10;$&#10;&#10;\end{document}"/>
  <p:tag name="IGUANATEXSIZE" val="2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x_2&#10;$&#10;&#10;\end{document}"/>
  <p:tag name="IGUANATEXSIZE" val="2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x_3&#10;$&#10;&#10;\end{document}"/>
  <p:tag name="IGUANATEXSIZE" val="2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usepackage{color}&#10;\pagestyle{empty}&#10;\begin{document}&#10;&#10;$&#10;h_\theta(x)&#10;$&#10;&#10;\end{document}"/>
  <p:tag name="IGUANATEXSIZE" val="2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2193</Words>
  <Application>Microsoft Office PowerPoint</Application>
  <PresentationFormat>Widescreen</PresentationFormat>
  <Paragraphs>300</Paragraphs>
  <Slides>31</Slides>
  <Notes>1</Notes>
  <HiddenSlides>7</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Arial</vt:lpstr>
      <vt:lpstr>Calibri</vt:lpstr>
      <vt:lpstr>Calibri Light</vt:lpstr>
      <vt:lpstr>Cambria Math</vt:lpstr>
      <vt:lpstr>charter</vt:lpstr>
      <vt:lpstr>Symbol</vt:lpstr>
      <vt:lpstr>Times</vt:lpstr>
      <vt:lpstr>Times New Roman</vt:lpstr>
      <vt:lpstr>Wingdings</vt:lpstr>
      <vt:lpstr>Office Theme</vt:lpstr>
      <vt:lpstr>Feedforward Multilayer Neural Network</vt:lpstr>
      <vt:lpstr>Example: predicting house price</vt:lpstr>
      <vt:lpstr>PowerPoint Presentation</vt:lpstr>
      <vt:lpstr>PowerPoint Presentation</vt:lpstr>
      <vt:lpstr>Scale drives Deep Learning</vt:lpstr>
      <vt:lpstr>NN Recap</vt:lpstr>
      <vt:lpstr>NN Recap</vt:lpstr>
      <vt:lpstr>NN Recap</vt:lpstr>
      <vt:lpstr>NN Recap</vt:lpstr>
      <vt:lpstr>Logistic as special case of soft-max</vt:lpstr>
      <vt:lpstr>NN Recap: backpropagation</vt:lpstr>
      <vt:lpstr>Why Non-linear activation functions</vt:lpstr>
      <vt:lpstr>Comparisons on activation functions pros-cons</vt:lpstr>
      <vt:lpstr>Comparisons on activation functions pros-cons</vt:lpstr>
      <vt:lpstr>Sigmoid functions: issues</vt:lpstr>
      <vt:lpstr>Sigmoids functions: issues</vt:lpstr>
      <vt:lpstr>Sigmoid functions: issues</vt:lpstr>
      <vt:lpstr>Rectified Linear Unit (ReLU)</vt:lpstr>
      <vt:lpstr>Deep-L Neural Nets</vt:lpstr>
      <vt:lpstr>Deep-L NN: why</vt:lpstr>
      <vt:lpstr>Deep-L NN: why</vt:lpstr>
      <vt:lpstr>Regularization in NN</vt:lpstr>
      <vt:lpstr>Regularization effect on activation function</vt:lpstr>
      <vt:lpstr>Drop-out Regularization</vt:lpstr>
      <vt:lpstr>Drop-out</vt:lpstr>
      <vt:lpstr>Data Augmentation</vt:lpstr>
      <vt:lpstr>Early stopping</vt:lpstr>
      <vt:lpstr>Unstable gradient: vanishing and exploding</vt:lpstr>
      <vt:lpstr>Example</vt:lpstr>
      <vt:lpstr>Weight initialization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Feedforward Multilayer Neural Network</dc:title>
  <dc:creator>Luigi Portinale</dc:creator>
  <cp:lastModifiedBy>Luigi Portinale</cp:lastModifiedBy>
  <cp:revision>124</cp:revision>
  <dcterms:created xsi:type="dcterms:W3CDTF">2020-07-23T13:32:16Z</dcterms:created>
  <dcterms:modified xsi:type="dcterms:W3CDTF">2025-04-07T13:34:52Z</dcterms:modified>
</cp:coreProperties>
</file>