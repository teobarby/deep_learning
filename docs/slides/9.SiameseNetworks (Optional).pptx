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1" r:id="rId6"/>
    <p:sldId id="263" r:id="rId7"/>
    <p:sldId id="264" r:id="rId8"/>
    <p:sldId id="265" r:id="rId9"/>
    <p:sldId id="266" r:id="rId10"/>
    <p:sldId id="267" r:id="rId11"/>
    <p:sldId id="269" r:id="rId12"/>
    <p:sldId id="268" r:id="rId13"/>
    <p:sldId id="271" r:id="rId14"/>
    <p:sldId id="272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1D8D54-E94C-4E4B-85A3-4574DEF337B6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A1B9A2-7F92-4704-A966-EDE6FB596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442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A1B9A2-7F92-4704-A966-EDE6FB5962E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889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C7028-006A-4C6C-B4B1-A20F1724AD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D74938-1530-4611-B6BE-1392C572C0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0AFB4-6091-4B4C-AA41-7164FED1B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50D-B03A-48F2-9585-F61F5A44680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12C88-7AA8-4482-9CF1-79161681C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F08CCD-35B8-4B0B-8EB4-58A981266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968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11DB7-21B2-43DB-B55F-49B3F7E35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415D4-2893-4111-A9B5-BADBB6743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73FDF2-49E8-495D-8143-8419F6D5F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50D-B03A-48F2-9585-F61F5A44680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1CEF5-5FF1-443D-B894-121A4D5BC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E9A79-8FF0-48F8-9BC3-D3C9A64D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451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D0D13-AE52-442C-8CE0-D4F47F2C0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6DB336-98A7-4A6F-A059-D7C54FF63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D3F25-B065-4557-939E-578909E5D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50D-B03A-48F2-9585-F61F5A44680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5FF89-F335-4B6F-893C-5184553E9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27C7E-D604-4816-8204-216B11E0B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25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4D6D2-C824-4567-8754-8C2D6946F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EB922-BB93-496D-9D42-376F89E06A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EF5CD5-ADF2-4568-8EC4-06FB84B0DA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E5E49B-8E9D-4E6E-AD50-7C55064DB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50D-B03A-48F2-9585-F61F5A44680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CA4584-34B2-4AF1-8465-EAF252C84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74D1DA-DD48-440F-BD3F-80EBB9D5C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97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6B3C5-F3F9-466A-83C7-1D27C6005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4F98F-F8DC-459E-9118-C1270CAFF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DC8FA0-1F58-410B-9534-6D329D5529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D09C43-871A-40CA-85FE-233CAD7554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6FD94E-330C-45DC-B3B0-50A8D3863B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DF7D48-A5C2-41DF-9F53-024509CC6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50D-B03A-48F2-9585-F61F5A44680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4A631C-68FF-4EDF-B53D-CCE849C61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FA24E0-7F6B-469C-B1EB-296333349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992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8CD14-8741-4890-BCE1-BB1EE216D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719C96-F64D-4EC4-80B5-6AAFBAC78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50D-B03A-48F2-9585-F61F5A44680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52099-B319-4D8E-A813-8E7744C59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01228F-A5B8-4DC7-B85A-69AAC04FD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67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9C8E7E-3920-4444-A61B-6909202F9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50D-B03A-48F2-9585-F61F5A44680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6CB5FE-0094-4BC3-9193-5F89B2CA4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487D74-6204-4248-94D1-AE4A66B51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923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00F48-0D18-408D-A852-CD2806992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41340-010A-4AE6-91AF-DD83936CB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D29F72-6135-4D6B-8969-6B4F1773C4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A4EEAD-57AE-4E52-A2A8-963E983E3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50D-B03A-48F2-9585-F61F5A44680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4CA5F1-E01B-4719-98FD-7DAD6D28F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B3F2A9-2748-45A4-9ED9-3E42FA9A1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410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1208E-AED5-4186-9AE1-E00A3085C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C8E83C-41D6-4792-A50E-A0FAD2F7F1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0E4E2D-77E8-4C9F-BD2C-196D0C80B4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65B51B-3C89-4D0C-BF03-70D870717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50D-B03A-48F2-9585-F61F5A44680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304DC4-3AFF-4162-9DA8-D2212744D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B208A8-139D-4F67-965A-4C732AAB4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016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2D817-D313-4587-A3EC-3FCA668FE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726F0E-932D-41A4-AC5A-0F3CE13AE4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8EF1F-CCB8-476C-8C07-C154588B0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50D-B03A-48F2-9585-F61F5A44680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EB851F-E025-4528-9A5D-0C1062943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3F473-7842-4275-9356-6C0ADFC63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74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E7CC8E-64DC-417D-9A5B-183CB60DAF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39E554-6670-4B02-A42D-16C4A1CC5B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C9813-5839-446A-8183-465A73054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50D-B03A-48F2-9585-F61F5A44680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F0CF36-FFD3-4E91-8836-DB3A31339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B49F81-ECFD-41D0-B88F-FC7D5E6D1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674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1F1627-2B15-4D9C-891C-17BBDA6AA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F4AA5-B571-4C72-8874-1CB4930B5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B120C-2861-47AE-B94B-476A58D72E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F6950D-B03A-48F2-9585-F61F5A44680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E56E5-9ED8-4569-BF1E-9727A890E0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D9A8D4-B3D7-49A8-B692-1812371AB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389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5.wmf"/><Relationship Id="rId4" Type="http://schemas.openxmlformats.org/officeDocument/2006/relationships/oleObject" Target="../embeddings/oleObject3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oleObject" Target="../embeddings/oleObject5.bin"/><Relationship Id="rId7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emf"/><Relationship Id="rId4" Type="http://schemas.openxmlformats.org/officeDocument/2006/relationships/image" Target="../media/image11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663FB-35DC-4B74-9070-1CB2537EED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Face recognition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9AAFD97-14CF-44F5-9CE3-2949A6D5FC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Siamese Networks</a:t>
            </a:r>
          </a:p>
        </p:txBody>
      </p:sp>
    </p:spTree>
    <p:extLst>
      <p:ext uri="{BB962C8B-B14F-4D97-AF65-F5344CB8AC3E}">
        <p14:creationId xmlns:p14="http://schemas.microsoft.com/office/powerpoint/2010/main" val="2730869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8DCBA-D236-44C7-9D21-8F0162580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Verification vs recognition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9160C-5F0E-4FDA-93FC-E8C0E86DE1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5932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Face verification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(1:1)</a:t>
                </a:r>
              </a:p>
              <a:p>
                <a:pPr lvl="1"/>
                <a:r>
                  <a:rPr lang="en-US" dirty="0"/>
                  <a:t>Input: Image, Name/Id</a:t>
                </a:r>
              </a:p>
              <a:p>
                <a:pPr lvl="1"/>
                <a:r>
                  <a:rPr lang="en-US" dirty="0"/>
                  <a:t>Output: yes/no the image is the claimed person</a:t>
                </a:r>
              </a:p>
              <a:p>
                <a:r>
                  <a:rPr lang="en-US" dirty="0"/>
                  <a:t>Face recognition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:k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lvl="1"/>
                <a:r>
                  <a:rPr lang="en-US" dirty="0"/>
                  <a:t>Input: a DB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dirty="0"/>
                  <a:t> persons, an input image</a:t>
                </a:r>
              </a:p>
              <a:p>
                <a:pPr lvl="1"/>
                <a:r>
                  <a:rPr lang="en-US" dirty="0"/>
                  <a:t>Output: Id of recognized person in the DB or “not recognized”</a:t>
                </a:r>
              </a:p>
              <a:p>
                <a:r>
                  <a:rPr lang="en-US" dirty="0"/>
                  <a:t>Cannot rely of verification to implement recognition</a:t>
                </a:r>
              </a:p>
              <a:p>
                <a:pPr lvl="1"/>
                <a:r>
                  <a:rPr lang="en-US" dirty="0"/>
                  <a:t>Suppose verification has 99% accuracy and you have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k=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100</a:t>
                </a: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probability getting no error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0.99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100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=0.366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Face recognition is a kind of one-shot learning (classify an object with 1 or just a few examples)</a:t>
                </a:r>
              </a:p>
              <a:p>
                <a:pPr lvl="1"/>
                <a:r>
                  <a:rPr lang="en-US" dirty="0"/>
                  <a:t>To verify if a person is in the DB having just seen one image of that person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9160C-5F0E-4FDA-93FC-E8C0E86DE1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59325"/>
              </a:xfrm>
              <a:blipFill>
                <a:blip r:embed="rId2"/>
                <a:stretch>
                  <a:fillRect l="-928" t="-25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4474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F6452-D403-49C8-958C-970D2FB21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One-shot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95F42-C9AB-4BC8-A7C6-DF0BA60974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verify if an image is in the DB having just seen that image once</a:t>
            </a:r>
          </a:p>
          <a:p>
            <a:r>
              <a:rPr lang="en-US" dirty="0"/>
              <a:t>E.g.: </a:t>
            </a:r>
          </a:p>
          <a:p>
            <a:pPr lvl="1"/>
            <a:r>
              <a:rPr lang="en-US" dirty="0"/>
              <a:t>a DB with one picture of every company’s employee (training set 1 picture for every person)</a:t>
            </a:r>
          </a:p>
          <a:p>
            <a:pPr lvl="1"/>
            <a:r>
              <a:rPr lang="en-US" dirty="0"/>
              <a:t>Given a query picture, to recognize whether it is an employee or not</a:t>
            </a:r>
          </a:p>
          <a:p>
            <a:r>
              <a:rPr lang="en-US" dirty="0"/>
              <a:t>Bad Idea:</a:t>
            </a:r>
          </a:p>
          <a:p>
            <a:pPr lvl="1"/>
            <a:r>
              <a:rPr lang="en-US" dirty="0"/>
              <a:t>Train a CNN with a </a:t>
            </a:r>
            <a:r>
              <a:rPr lang="en-US" dirty="0" err="1"/>
              <a:t>softmax</a:t>
            </a:r>
            <a:r>
              <a:rPr lang="en-US" dirty="0"/>
              <a:t> with N output if N employees</a:t>
            </a:r>
          </a:p>
          <a:p>
            <a:pPr lvl="1"/>
            <a:r>
              <a:rPr lang="en-US" dirty="0"/>
              <a:t>Training set is to small</a:t>
            </a:r>
          </a:p>
          <a:p>
            <a:pPr lvl="1"/>
            <a:r>
              <a:rPr lang="en-US" dirty="0"/>
              <a:t>When changing the number of employees, need to change the output layer</a:t>
            </a:r>
          </a:p>
          <a:p>
            <a:r>
              <a:rPr lang="en-US" dirty="0"/>
              <a:t>Alternative: learning a </a:t>
            </a:r>
            <a:r>
              <a:rPr lang="en-US" u="sng" dirty="0"/>
              <a:t>similarity function</a:t>
            </a:r>
          </a:p>
        </p:txBody>
      </p:sp>
    </p:spTree>
    <p:extLst>
      <p:ext uri="{BB962C8B-B14F-4D97-AF65-F5344CB8AC3E}">
        <p14:creationId xmlns:p14="http://schemas.microsoft.com/office/powerpoint/2010/main" val="786920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7B545-75CC-4DAE-9F61-2D96C3D75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Similarity/distance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4DE6EE-CD45-4B94-9245-520E8FE209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Learning a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such that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)&lt;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 then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and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dirty="0"/>
                  <a:t> are considered “the same”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 then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and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dirty="0"/>
                  <a:t> are considered “different”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Given a query use the above function and a given threshold to determine which of the object in the DB correspond to the query</a:t>
                </a:r>
              </a:p>
              <a:p>
                <a:r>
                  <a:rPr lang="en-US" dirty="0"/>
                  <a:t>No problem if we add/remove objects from the DB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4DE6EE-CD45-4B94-9245-520E8FE209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3410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3E829-A694-4755-ACD6-B47FC2154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Siamese networks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FAB92E9A-3777-4F6B-A26C-0E0CD3E1F8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9239524"/>
              </p:ext>
            </p:extLst>
          </p:nvPr>
        </p:nvGraphicFramePr>
        <p:xfrm>
          <a:off x="838200" y="2095500"/>
          <a:ext cx="10104438" cy="187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10104120" imgH="1878480" progId="Paint.Picture">
                  <p:embed/>
                </p:oleObj>
              </mc:Choice>
              <mc:Fallback>
                <p:oleObj name="Bitmap Image" r:id="rId3" imgW="10104120" imgH="187848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8200" y="2095500"/>
                        <a:ext cx="10104438" cy="1878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3EFFD77-66FC-4161-A107-44DC38641776}"/>
                  </a:ext>
                </a:extLst>
              </p:cNvPr>
              <p:cNvSpPr txBox="1"/>
              <p:nvPr/>
            </p:nvSpPr>
            <p:spPr>
              <a:xfrm>
                <a:off x="9213850" y="1212850"/>
                <a:ext cx="2872453" cy="3808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Feature embeddings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(1)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3EFFD77-66FC-4161-A107-44DC386417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3850" y="1212850"/>
                <a:ext cx="2872453" cy="380810"/>
              </a:xfrm>
              <a:prstGeom prst="rect">
                <a:avLst/>
              </a:prstGeom>
              <a:blipFill>
                <a:blip r:embed="rId6"/>
                <a:stretch>
                  <a:fillRect l="-1695" t="-6452" b="-25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4BFB295-C60F-4C04-88FC-8D4BF94AA03A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10650076" y="1593660"/>
            <a:ext cx="1" cy="4048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9" name="Picture 8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599D81F0-0625-4888-B6C6-D415F6ED00B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378325"/>
            <a:ext cx="10085944" cy="18632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0AF3D14-72D8-47B9-B369-7096526AD1F8}"/>
                  </a:ext>
                </a:extLst>
              </p:cNvPr>
              <p:cNvSpPr txBox="1"/>
              <p:nvPr/>
            </p:nvSpPr>
            <p:spPr>
              <a:xfrm>
                <a:off x="9061450" y="6112065"/>
                <a:ext cx="2872453" cy="3808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Feature embeddings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(2)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0AF3D14-72D8-47B9-B369-7096526AD1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1450" y="6112065"/>
                <a:ext cx="2872453" cy="380810"/>
              </a:xfrm>
              <a:prstGeom prst="rect">
                <a:avLst/>
              </a:prstGeom>
              <a:blipFill>
                <a:blip r:embed="rId8"/>
                <a:stretch>
                  <a:fillRect l="-1695" t="-6452" b="-25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068C551-1F1A-40F7-8FED-9F922958FEAB}"/>
              </a:ext>
            </a:extLst>
          </p:cNvPr>
          <p:cNvCxnSpPr/>
          <p:nvPr/>
        </p:nvCxnSpPr>
        <p:spPr>
          <a:xfrm>
            <a:off x="10688176" y="5767388"/>
            <a:ext cx="0" cy="4048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3DB822D1-5751-447F-9C33-D0E0A3A600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4399418"/>
              </p:ext>
            </p:extLst>
          </p:nvPr>
        </p:nvGraphicFramePr>
        <p:xfrm>
          <a:off x="146050" y="6495575"/>
          <a:ext cx="7353300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9" imgW="7353360" imgH="300960" progId="Paint.Picture">
                  <p:embed/>
                </p:oleObj>
              </mc:Choice>
              <mc:Fallback>
                <p:oleObj name="Bitmap Image" r:id="rId9" imgW="7353360" imgH="30096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6050" y="6495575"/>
                        <a:ext cx="7353300" cy="301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57631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98C29-AAD2-493D-9B65-EC1069579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Siamese 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1F1373-371F-4425-A757-2C30D02B17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pair of “twin” networks </a:t>
                </a:r>
                <a:r>
                  <a:rPr lang="en-US" b="1" dirty="0"/>
                  <a:t>sharing</a:t>
                </a:r>
                <a:r>
                  <a:rPr lang="en-US" dirty="0"/>
                  <a:t> the set of parameters</a:t>
                </a:r>
              </a:p>
              <a:p>
                <a:r>
                  <a:rPr lang="en-US" dirty="0"/>
                  <a:t>Each network define an encoding/embedding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of input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Goal: learning the parameters in such a way that: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if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and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are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the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same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object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if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and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are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different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object</m:t>
                    </m:r>
                  </m:oMath>
                </a14:m>
                <a:r>
                  <a:rPr lang="en-US" dirty="0"/>
                  <a:t>s</a:t>
                </a:r>
              </a:p>
              <a:p>
                <a:endParaRPr lang="en-US" dirty="0"/>
              </a:p>
              <a:p>
                <a:r>
                  <a:rPr lang="en-US" dirty="0"/>
                  <a:t>Which objective/loss function?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1F1373-371F-4425-A757-2C30D02B17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6109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1F641-A668-4E02-BE1F-CA045A304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Triplet Loss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1BBD88-40D6-49AB-8D51-332E533B69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9450" y="4227512"/>
                <a:ext cx="10515600" cy="2525713"/>
              </a:xfrm>
            </p:spPr>
            <p:txBody>
              <a:bodyPr/>
              <a:lstStyle/>
              <a:p>
                <a:r>
                  <a:rPr lang="en-US" dirty="0"/>
                  <a:t>The distance between A and N should be “sufficiently” greater than the distance between A and P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 margin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1BBD88-40D6-49AB-8D51-332E533B69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9450" y="4227512"/>
                <a:ext cx="10515600" cy="2525713"/>
              </a:xfrm>
              <a:blipFill>
                <a:blip r:embed="rId3"/>
                <a:stretch>
                  <a:fillRect l="-1043" t="-38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D73991D7-FD1D-471E-A737-06B22E5162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4256261"/>
              </p:ext>
            </p:extLst>
          </p:nvPr>
        </p:nvGraphicFramePr>
        <p:xfrm>
          <a:off x="838200" y="1587500"/>
          <a:ext cx="8869362" cy="204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4" imgW="8869680" imgH="2042280" progId="Paint.Picture">
                  <p:embed/>
                </p:oleObj>
              </mc:Choice>
              <mc:Fallback>
                <p:oleObj name="Bitmap Image" r:id="rId4" imgW="8869680" imgH="204228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38200" y="1587500"/>
                        <a:ext cx="8869362" cy="204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1BE537D4-3F6E-4116-A2A9-9340405E3E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2980020"/>
              </p:ext>
            </p:extLst>
          </p:nvPr>
        </p:nvGraphicFramePr>
        <p:xfrm>
          <a:off x="3998913" y="32544"/>
          <a:ext cx="8104187" cy="277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6" imgW="8103960" imgH="278280" progId="Paint.Picture">
                  <p:embed/>
                </p:oleObj>
              </mc:Choice>
              <mc:Fallback>
                <p:oleObj name="Bitmap Image" r:id="rId6" imgW="8103960" imgH="27828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998913" y="32544"/>
                        <a:ext cx="8104187" cy="277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07D035D-0E43-4239-89F2-D13EE89B52B8}"/>
              </a:ext>
            </a:extLst>
          </p:cNvPr>
          <p:cNvSpPr txBox="1"/>
          <p:nvPr/>
        </p:nvSpPr>
        <p:spPr>
          <a:xfrm>
            <a:off x="1435100" y="359783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45C39B-0736-45AB-B46E-A9D9B1FC02D8}"/>
              </a:ext>
            </a:extLst>
          </p:cNvPr>
          <p:cNvSpPr txBox="1"/>
          <p:nvPr/>
        </p:nvSpPr>
        <p:spPr>
          <a:xfrm>
            <a:off x="3060700" y="359783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5F68B2-B515-4BD3-83C4-411B8316225F}"/>
              </a:ext>
            </a:extLst>
          </p:cNvPr>
          <p:cNvSpPr txBox="1"/>
          <p:nvPr/>
        </p:nvSpPr>
        <p:spPr>
          <a:xfrm>
            <a:off x="7042150" y="3613428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CC4DFD-4951-4688-84D2-355C5EDE2F1F}"/>
              </a:ext>
            </a:extLst>
          </p:cNvPr>
          <p:cNvSpPr txBox="1"/>
          <p:nvPr/>
        </p:nvSpPr>
        <p:spPr>
          <a:xfrm>
            <a:off x="8952436" y="359783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461969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CC159-A73B-4ED6-AC78-A848F7038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Triplet loss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4BC742-32DC-4D30-8D82-911225EE43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want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in other words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Thus if the above quantity is less than 0, then the loss is null, otherwise it quantifies the actual loss</a:t>
                </a:r>
              </a:p>
              <a:p>
                <a:r>
                  <a:rPr lang="en-US" dirty="0"/>
                  <a:t>Given a triplet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max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,0)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Training set: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dirty="0"/>
                  <a:t> instances of objects (some of the same object) from which to extract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dirty="0"/>
                  <a:t> triplets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ℓ(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4BC742-32DC-4D30-8D82-911225EE43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6722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AFBF4-F234-48AD-8571-D332D4A9F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triplets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3B4704-D931-43DD-9A42-74FDF70D13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If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A,P,N </a:t>
                </a:r>
                <a:r>
                  <a:rPr lang="en-US" dirty="0"/>
                  <a:t>are chosen randomly, the constraint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usually satisfied quite easily</a:t>
                </a:r>
              </a:p>
              <a:p>
                <a:pPr lvl="1"/>
                <a:r>
                  <a:rPr lang="en-US" dirty="0"/>
                  <a:t>Pick a pair of pictures of the same person and then a pair of different persons, is it like that the distance constraint is satisfied</a:t>
                </a:r>
              </a:p>
              <a:p>
                <a:pPr lvl="1"/>
                <a:r>
                  <a:rPr lang="en-US" dirty="0"/>
                  <a:t>GD does not learn anything significant</a:t>
                </a:r>
              </a:p>
              <a:p>
                <a:r>
                  <a:rPr lang="en-US" dirty="0"/>
                  <a:t>Hard  triplets: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en-US" dirty="0"/>
                  <a:t>Consequence: the learning algorithm has to push this two quantities away in order to satisfy the constraint!</a:t>
                </a:r>
              </a:p>
              <a:p>
                <a:r>
                  <a:rPr lang="en-US" dirty="0"/>
                  <a:t>In face recognition there are lots of pretrained SN (transfer learning)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3B4704-D931-43DD-9A42-74FDF70D13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361" r="-191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8824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1F985-479E-4147-A40A-0DE74CF48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74400" cy="1325563"/>
          </a:xfrm>
        </p:spPr>
        <p:txBody>
          <a:bodyPr/>
          <a:lstStyle/>
          <a:p>
            <a:r>
              <a:rPr lang="en-US" dirty="0"/>
              <a:t>Object(Face) recognition as binary classification</a:t>
            </a:r>
          </a:p>
        </p:txBody>
      </p:sp>
      <p:pic>
        <p:nvPicPr>
          <p:cNvPr id="8" name="Content Placeholder 7" descr="Shape, polygon&#10;&#10;Description automatically generated">
            <a:extLst>
              <a:ext uri="{FF2B5EF4-FFF2-40B4-BE49-F238E27FC236}">
                <a16:creationId xmlns:a16="http://schemas.microsoft.com/office/drawing/2014/main" id="{28BAC2DF-AA0A-4B26-B5EE-65D939D7D2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03408"/>
            <a:ext cx="9948772" cy="2903472"/>
          </a:xfrm>
        </p:spPr>
      </p:pic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E6C8BB52-468A-44CF-AC13-D4DDE0EF46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2104065"/>
              </p:ext>
            </p:extLst>
          </p:nvPr>
        </p:nvGraphicFramePr>
        <p:xfrm>
          <a:off x="4795838" y="38100"/>
          <a:ext cx="735012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7349400" imgH="327600" progId="Paint.Picture">
                  <p:embed/>
                </p:oleObj>
              </mc:Choice>
              <mc:Fallback>
                <p:oleObj name="Bitmap Image" r:id="rId3" imgW="7349400" imgH="32760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5838" y="38100"/>
                        <a:ext cx="7350125" cy="327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988667B5-1AD0-4799-B48F-91EF35E58C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9524" y="1603408"/>
            <a:ext cx="1186415" cy="10976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6186183-A30E-4EBB-8283-0C8016072B46}"/>
                  </a:ext>
                </a:extLst>
              </p:cNvPr>
              <p:cNvSpPr txBox="1"/>
              <p:nvPr/>
            </p:nvSpPr>
            <p:spPr>
              <a:xfrm>
                <a:off x="685800" y="4546706"/>
                <a:ext cx="11226800" cy="1978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size of the embeddings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we can consider each component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 a feature for logistic regression</a:t>
                </a:r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Training set: a set of input PAIRs and the label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 </m:t>
                    </m:r>
                    <m:r>
                      <m:rPr>
                        <m:nor/>
                      </m:rPr>
                      <a:rPr lang="en-US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if</m:t>
                    </m:r>
                    <m:r>
                      <m:rPr>
                        <m:nor/>
                      </m:rPr>
                      <a:rPr lang="en-US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and</m:t>
                    </m:r>
                    <m:r>
                      <m:rPr>
                        <m:nor/>
                      </m:rPr>
                      <a:rPr lang="en-US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 </m:t>
                    </m:r>
                    <m:r>
                      <m:rPr>
                        <m:nor/>
                      </m:rPr>
                      <a:rPr lang="en-US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viceversa</m:t>
                    </m:r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6186183-A30E-4EBB-8283-0C8016072B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4546706"/>
                <a:ext cx="11226800" cy="1978619"/>
              </a:xfrm>
              <a:prstGeom prst="rect">
                <a:avLst/>
              </a:prstGeom>
              <a:blipFill>
                <a:blip r:embed="rId7"/>
                <a:stretch>
                  <a:fillRect l="-598" t="-1852" b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4E0A91C-1487-411D-93E8-6A6B8CDBCEEF}"/>
                  </a:ext>
                </a:extLst>
              </p:cNvPr>
              <p:cNvSpPr txBox="1"/>
              <p:nvPr/>
            </p:nvSpPr>
            <p:spPr>
              <a:xfrm>
                <a:off x="2723727" y="5016500"/>
                <a:ext cx="4365874" cy="8717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nary>
                        <m:naryPr>
                          <m:chr m:val="∑"/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4E0A91C-1487-411D-93E8-6A6B8CDBCE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3727" y="5016500"/>
                <a:ext cx="4365874" cy="87171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5476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CC93B-1BC3-F7B0-DAA2-EE23A6C05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Contrastive loss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05EA6E-9084-5B2B-B8A5-4B5BC2E358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 b="0" i="0" smtClean="0">
                        <a:latin typeface="Cambria Math" panose="02040503050406030204" pitchFamily="18" charset="0"/>
                      </a:rPr>
                      <m:t>Let</m:t>
                    </m:r>
                    <m:r>
                      <m:rPr>
                        <m:nor/>
                      </m:rPr>
                      <a:rPr lang="en-GB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1,</m:t>
                        </m:r>
                      </m:sub>
                    </m:sSub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 </m:t>
                    </m:r>
                    <m:r>
                      <m:rPr>
                        <m:nor/>
                      </m:rPr>
                      <a:rPr lang="en-GB" b="0" i="0" smtClean="0">
                        <a:latin typeface="Cambria Math" panose="02040503050406030204" pitchFamily="18" charset="0"/>
                      </a:rPr>
                      <m:t>be</m:t>
                    </m:r>
                    <m:r>
                      <m:rPr>
                        <m:nor/>
                      </m:rPr>
                      <a:rPr lang="en-GB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GB" b="0" i="0" smtClean="0">
                        <a:latin typeface="Cambria Math" panose="02040503050406030204" pitchFamily="18" charset="0"/>
                      </a:rPr>
                      <m:t>the</m:t>
                    </m:r>
                    <m:r>
                      <m:rPr>
                        <m:nor/>
                      </m:rPr>
                      <a:rPr lang="en-GB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GB" b="0" i="0" smtClean="0">
                        <a:latin typeface="Cambria Math" panose="02040503050406030204" pitchFamily="18" charset="0"/>
                      </a:rPr>
                      <m:t>labeled</m:t>
                    </m:r>
                    <m:r>
                      <m:rPr>
                        <m:nor/>
                      </m:rPr>
                      <a:rPr lang="en-GB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GB" b="0" i="0" smtClean="0">
                        <a:latin typeface="Cambria Math" panose="02040503050406030204" pitchFamily="18" charset="0"/>
                      </a:rPr>
                      <m:t>input</m:t>
                    </m:r>
                    <m:r>
                      <m:rPr>
                        <m:nor/>
                      </m:rPr>
                      <a:rPr lang="en-GB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GB" b="0" i="0" smtClean="0">
                        <a:latin typeface="Cambria Math" panose="02040503050406030204" pitchFamily="18" charset="0"/>
                      </a:rPr>
                      <m:t>pair</m:t>
                    </m:r>
                  </m:oMath>
                </a14:m>
                <a:endParaRPr lang="en-GB" b="0" i="0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m:rPr>
                        <m:nor/>
                      </m:rPr>
                      <a:rPr lang="en-GB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m:rPr>
                                <m:nor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m:rPr>
                                <m:nor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if</m:t>
                            </m:r>
                            <m:r>
                              <m:rPr>
                                <m:nor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nor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positive</m:t>
                            </m:r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1 </m:t>
                            </m:r>
                            <m:r>
                              <m:rPr>
                                <m:nor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if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nor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negativ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eqArr>
                      </m:e>
                    </m:d>
                    <m:r>
                      <m:rPr>
                        <m:nor/>
                      </m:rPr>
                      <a:rPr lang="en-GB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0,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func>
                  </m:oMath>
                </a14:m>
                <a:endParaRPr lang="en-GB" b="0" dirty="0"/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GB" dirty="0"/>
                  <a:t> is a margin: dissimilar (negative) pairs that are beyond this margin will not contribute to the loss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05EA6E-9084-5B2B-B8A5-4B5BC2E358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7370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621C4-79B9-4812-891A-857D5AC49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Contrastive Loss Function </a:t>
            </a:r>
            <a:r>
              <a:rPr lang="en-US"/>
              <a:t>(optional)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22318-3EDB-43B0-8B59-350B5F11A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https://medium.com/@maksym.bekuzarov/losses-explained-contrastive-loss-f8f57fe32246</a:t>
            </a:r>
          </a:p>
        </p:txBody>
      </p:sp>
    </p:spTree>
    <p:extLst>
      <p:ext uri="{BB962C8B-B14F-4D97-AF65-F5344CB8AC3E}">
        <p14:creationId xmlns:p14="http://schemas.microsoft.com/office/powerpoint/2010/main" val="7603957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6533F0-120A-928E-1630-BDFA63BBA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531" y="381000"/>
            <a:ext cx="10666788" cy="21488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FF1374-B552-EB4F-7F38-39FCC0752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931" y="3286760"/>
            <a:ext cx="11832251" cy="253492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A7853DF-2CAF-C36C-2B8E-AAA625916840}"/>
              </a:ext>
            </a:extLst>
          </p:cNvPr>
          <p:cNvSpPr txBox="1"/>
          <p:nvPr/>
        </p:nvSpPr>
        <p:spPr>
          <a:xfrm>
            <a:off x="7813548" y="5699682"/>
            <a:ext cx="26837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N-PAIR LOSS</a:t>
            </a:r>
          </a:p>
        </p:txBody>
      </p:sp>
    </p:spTree>
    <p:extLst>
      <p:ext uri="{BB962C8B-B14F-4D97-AF65-F5344CB8AC3E}">
        <p14:creationId xmlns:p14="http://schemas.microsoft.com/office/powerpoint/2010/main" val="34738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03840D-5576-C2A4-BB0D-622E9F6F1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861" y="771154"/>
            <a:ext cx="10412278" cy="531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8529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A5E8BA-6EE6-5D94-79D5-169B4D9FC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120" y="258515"/>
            <a:ext cx="6197560" cy="63409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C30FE0-7B66-BF8E-31E5-1889968A01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9430" y="4896555"/>
            <a:ext cx="5832570" cy="6101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CB41BC1-7C24-9762-933D-918E1AD32971}"/>
              </a:ext>
            </a:extLst>
          </p:cNvPr>
          <p:cNvSpPr txBox="1"/>
          <p:nvPr/>
        </p:nvSpPr>
        <p:spPr>
          <a:xfrm>
            <a:off x="8219440" y="1239520"/>
            <a:ext cx="19143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SIMCLR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44749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764</Words>
  <Application>Microsoft Office PowerPoint</Application>
  <PresentationFormat>Widescreen</PresentationFormat>
  <Paragraphs>83</Paragraphs>
  <Slides>15</Slides>
  <Notes>1</Notes>
  <HiddenSlides>1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Times New Roman</vt:lpstr>
      <vt:lpstr>Office Theme</vt:lpstr>
      <vt:lpstr>Bitmap Image</vt:lpstr>
      <vt:lpstr>Face recognition</vt:lpstr>
      <vt:lpstr>Verification vs recognition</vt:lpstr>
      <vt:lpstr>One-shot learning</vt:lpstr>
      <vt:lpstr>Similarity/distance function</vt:lpstr>
      <vt:lpstr>Siamese networks</vt:lpstr>
      <vt:lpstr>Siamese network</vt:lpstr>
      <vt:lpstr>Triplet Loss</vt:lpstr>
      <vt:lpstr>Triplet loss function</vt:lpstr>
      <vt:lpstr>Choosing triplets</vt:lpstr>
      <vt:lpstr>Object(Face) recognition as binary classification</vt:lpstr>
      <vt:lpstr>Contrastive loss</vt:lpstr>
      <vt:lpstr>Contrastive Loss Function (optional)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Transfer Learning</dc:title>
  <dc:creator>Luigi Portinale</dc:creator>
  <cp:lastModifiedBy>Luigi Portinale</cp:lastModifiedBy>
  <cp:revision>60</cp:revision>
  <dcterms:created xsi:type="dcterms:W3CDTF">2021-02-24T09:45:16Z</dcterms:created>
  <dcterms:modified xsi:type="dcterms:W3CDTF">2025-03-14T15:49:41Z</dcterms:modified>
</cp:coreProperties>
</file>