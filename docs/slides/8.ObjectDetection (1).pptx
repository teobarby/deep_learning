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72" r:id="rId15"/>
    <p:sldId id="273" r:id="rId16"/>
    <p:sldId id="275" r:id="rId17"/>
    <p:sldId id="274" r:id="rId18"/>
    <p:sldId id="269" r:id="rId19"/>
    <p:sldId id="270" r:id="rId20"/>
    <p:sldId id="281" r:id="rId21"/>
    <p:sldId id="276" r:id="rId22"/>
    <p:sldId id="271" r:id="rId23"/>
    <p:sldId id="277"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60" d="100"/>
          <a:sy n="60" d="100"/>
        </p:scale>
        <p:origin x="902" y="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1D8D54-E94C-4E4B-85A3-4574DEF337B6}" type="datetimeFigureOut">
              <a:rPr lang="en-US" smtClean="0"/>
              <a:t>5/1/2023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A1B9A2-7F92-4704-A966-EDE6FB5962E2}" type="slidenum">
              <a:rPr lang="en-US" smtClean="0"/>
              <a:t>‹N›</a:t>
            </a:fld>
            <a:endParaRPr lang="en-US"/>
          </a:p>
        </p:txBody>
      </p:sp>
    </p:spTree>
    <p:extLst>
      <p:ext uri="{BB962C8B-B14F-4D97-AF65-F5344CB8AC3E}">
        <p14:creationId xmlns:p14="http://schemas.microsoft.com/office/powerpoint/2010/main" val="2964442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 per conv  s=2 per max-pool as usual</a:t>
            </a:r>
          </a:p>
        </p:txBody>
      </p:sp>
      <p:sp>
        <p:nvSpPr>
          <p:cNvPr id="4" name="Slide Number Placeholder 3"/>
          <p:cNvSpPr>
            <a:spLocks noGrp="1"/>
          </p:cNvSpPr>
          <p:nvPr>
            <p:ph type="sldNum" sz="quarter" idx="5"/>
          </p:nvPr>
        </p:nvSpPr>
        <p:spPr/>
        <p:txBody>
          <a:bodyPr/>
          <a:lstStyle/>
          <a:p>
            <a:fld id="{A7A1B9A2-7F92-4704-A966-EDE6FB5962E2}" type="slidenum">
              <a:rPr lang="en-US" smtClean="0"/>
              <a:t>9</a:t>
            </a:fld>
            <a:endParaRPr lang="en-US"/>
          </a:p>
        </p:txBody>
      </p:sp>
    </p:spTree>
    <p:extLst>
      <p:ext uri="{BB962C8B-B14F-4D97-AF65-F5344CB8AC3E}">
        <p14:creationId xmlns:p14="http://schemas.microsoft.com/office/powerpoint/2010/main" val="1492688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C7028-006A-4C6C-B4B1-A20F1724AD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D74938-1530-4611-B6BE-1392C572C0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60AFB4-6091-4B4C-AA41-7164FED1BEEC}"/>
              </a:ext>
            </a:extLst>
          </p:cNvPr>
          <p:cNvSpPr>
            <a:spLocks noGrp="1"/>
          </p:cNvSpPr>
          <p:nvPr>
            <p:ph type="dt" sz="half" idx="10"/>
          </p:nvPr>
        </p:nvSpPr>
        <p:spPr/>
        <p:txBody>
          <a:bodyPr/>
          <a:lstStyle/>
          <a:p>
            <a:fld id="{A9F6950D-B03A-48F2-9585-F61F5A446804}" type="datetimeFigureOut">
              <a:rPr lang="en-US" smtClean="0"/>
              <a:t>5/1/2023</a:t>
            </a:fld>
            <a:endParaRPr lang="en-US"/>
          </a:p>
        </p:txBody>
      </p:sp>
      <p:sp>
        <p:nvSpPr>
          <p:cNvPr id="5" name="Footer Placeholder 4">
            <a:extLst>
              <a:ext uri="{FF2B5EF4-FFF2-40B4-BE49-F238E27FC236}">
                <a16:creationId xmlns:a16="http://schemas.microsoft.com/office/drawing/2014/main" id="{FE012C88-7AA8-4482-9CF1-79161681CF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F08CCD-35B8-4B0B-8EB4-58A9812667A5}"/>
              </a:ext>
            </a:extLst>
          </p:cNvPr>
          <p:cNvSpPr>
            <a:spLocks noGrp="1"/>
          </p:cNvSpPr>
          <p:nvPr>
            <p:ph type="sldNum" sz="quarter" idx="12"/>
          </p:nvPr>
        </p:nvSpPr>
        <p:spPr/>
        <p:txBody>
          <a:bodyPr/>
          <a:lstStyle/>
          <a:p>
            <a:fld id="{049A465F-015A-4958-97B4-BA340747EFF6}" type="slidenum">
              <a:rPr lang="en-US" smtClean="0"/>
              <a:t>‹N›</a:t>
            </a:fld>
            <a:endParaRPr lang="en-US"/>
          </a:p>
        </p:txBody>
      </p:sp>
    </p:spTree>
    <p:extLst>
      <p:ext uri="{BB962C8B-B14F-4D97-AF65-F5344CB8AC3E}">
        <p14:creationId xmlns:p14="http://schemas.microsoft.com/office/powerpoint/2010/main" val="3169968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11DB7-21B2-43DB-B55F-49B3F7E35E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3415D4-2893-4111-A9B5-BADBB6743E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73FDF2-49E8-495D-8143-8419F6D5F281}"/>
              </a:ext>
            </a:extLst>
          </p:cNvPr>
          <p:cNvSpPr>
            <a:spLocks noGrp="1"/>
          </p:cNvSpPr>
          <p:nvPr>
            <p:ph type="dt" sz="half" idx="10"/>
          </p:nvPr>
        </p:nvSpPr>
        <p:spPr/>
        <p:txBody>
          <a:bodyPr/>
          <a:lstStyle/>
          <a:p>
            <a:fld id="{A9F6950D-B03A-48F2-9585-F61F5A446804}" type="datetimeFigureOut">
              <a:rPr lang="en-US" smtClean="0"/>
              <a:t>5/1/2023</a:t>
            </a:fld>
            <a:endParaRPr lang="en-US"/>
          </a:p>
        </p:txBody>
      </p:sp>
      <p:sp>
        <p:nvSpPr>
          <p:cNvPr id="5" name="Footer Placeholder 4">
            <a:extLst>
              <a:ext uri="{FF2B5EF4-FFF2-40B4-BE49-F238E27FC236}">
                <a16:creationId xmlns:a16="http://schemas.microsoft.com/office/drawing/2014/main" id="{3F71CEF5-5FF1-443D-B894-121A4D5BC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0E9A79-8FF0-48F8-9BC3-D3C9A64D4AA9}"/>
              </a:ext>
            </a:extLst>
          </p:cNvPr>
          <p:cNvSpPr>
            <a:spLocks noGrp="1"/>
          </p:cNvSpPr>
          <p:nvPr>
            <p:ph type="sldNum" sz="quarter" idx="12"/>
          </p:nvPr>
        </p:nvSpPr>
        <p:spPr/>
        <p:txBody>
          <a:bodyPr/>
          <a:lstStyle/>
          <a:p>
            <a:fld id="{049A465F-015A-4958-97B4-BA340747EFF6}" type="slidenum">
              <a:rPr lang="en-US" smtClean="0"/>
              <a:t>‹N›</a:t>
            </a:fld>
            <a:endParaRPr lang="en-US"/>
          </a:p>
        </p:txBody>
      </p:sp>
    </p:spTree>
    <p:extLst>
      <p:ext uri="{BB962C8B-B14F-4D97-AF65-F5344CB8AC3E}">
        <p14:creationId xmlns:p14="http://schemas.microsoft.com/office/powerpoint/2010/main" val="1568451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D0D13-AE52-442C-8CE0-D4F47F2C08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66DB336-98A7-4A6F-A059-D7C54FF633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6D3F25-B065-4557-939E-578909E5D2CD}"/>
              </a:ext>
            </a:extLst>
          </p:cNvPr>
          <p:cNvSpPr>
            <a:spLocks noGrp="1"/>
          </p:cNvSpPr>
          <p:nvPr>
            <p:ph type="dt" sz="half" idx="10"/>
          </p:nvPr>
        </p:nvSpPr>
        <p:spPr/>
        <p:txBody>
          <a:bodyPr/>
          <a:lstStyle/>
          <a:p>
            <a:fld id="{A9F6950D-B03A-48F2-9585-F61F5A446804}" type="datetimeFigureOut">
              <a:rPr lang="en-US" smtClean="0"/>
              <a:t>5/1/2023</a:t>
            </a:fld>
            <a:endParaRPr lang="en-US"/>
          </a:p>
        </p:txBody>
      </p:sp>
      <p:sp>
        <p:nvSpPr>
          <p:cNvPr id="5" name="Footer Placeholder 4">
            <a:extLst>
              <a:ext uri="{FF2B5EF4-FFF2-40B4-BE49-F238E27FC236}">
                <a16:creationId xmlns:a16="http://schemas.microsoft.com/office/drawing/2014/main" id="{AE45FF89-F335-4B6F-893C-5184553E9F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27C7E-D604-4816-8204-216B11E0B8E7}"/>
              </a:ext>
            </a:extLst>
          </p:cNvPr>
          <p:cNvSpPr>
            <a:spLocks noGrp="1"/>
          </p:cNvSpPr>
          <p:nvPr>
            <p:ph type="sldNum" sz="quarter" idx="12"/>
          </p:nvPr>
        </p:nvSpPr>
        <p:spPr/>
        <p:txBody>
          <a:bodyPr/>
          <a:lstStyle/>
          <a:p>
            <a:fld id="{049A465F-015A-4958-97B4-BA340747EFF6}" type="slidenum">
              <a:rPr lang="en-US" smtClean="0"/>
              <a:t>‹N›</a:t>
            </a:fld>
            <a:endParaRPr lang="en-US"/>
          </a:p>
        </p:txBody>
      </p:sp>
    </p:spTree>
    <p:extLst>
      <p:ext uri="{BB962C8B-B14F-4D97-AF65-F5344CB8AC3E}">
        <p14:creationId xmlns:p14="http://schemas.microsoft.com/office/powerpoint/2010/main" val="16992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4D6D2-C824-4567-8754-8C2D6946FD4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0EB922-BB93-496D-9D42-376F89E06A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EF5CD5-ADF2-4568-8EC4-06FB84B0DA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E5E49B-8E9D-4E6E-AD50-7C55064DB4F7}"/>
              </a:ext>
            </a:extLst>
          </p:cNvPr>
          <p:cNvSpPr>
            <a:spLocks noGrp="1"/>
          </p:cNvSpPr>
          <p:nvPr>
            <p:ph type="dt" sz="half" idx="10"/>
          </p:nvPr>
        </p:nvSpPr>
        <p:spPr/>
        <p:txBody>
          <a:bodyPr/>
          <a:lstStyle/>
          <a:p>
            <a:fld id="{A9F6950D-B03A-48F2-9585-F61F5A446804}" type="datetimeFigureOut">
              <a:rPr lang="en-US" smtClean="0"/>
              <a:t>5/1/2023</a:t>
            </a:fld>
            <a:endParaRPr lang="en-US"/>
          </a:p>
        </p:txBody>
      </p:sp>
      <p:sp>
        <p:nvSpPr>
          <p:cNvPr id="6" name="Footer Placeholder 5">
            <a:extLst>
              <a:ext uri="{FF2B5EF4-FFF2-40B4-BE49-F238E27FC236}">
                <a16:creationId xmlns:a16="http://schemas.microsoft.com/office/drawing/2014/main" id="{F2CA4584-34B2-4AF1-8465-EAF252C849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74D1DA-DD48-440F-BD3F-80EBB9D5CAD7}"/>
              </a:ext>
            </a:extLst>
          </p:cNvPr>
          <p:cNvSpPr>
            <a:spLocks noGrp="1"/>
          </p:cNvSpPr>
          <p:nvPr>
            <p:ph type="sldNum" sz="quarter" idx="12"/>
          </p:nvPr>
        </p:nvSpPr>
        <p:spPr/>
        <p:txBody>
          <a:bodyPr/>
          <a:lstStyle/>
          <a:p>
            <a:fld id="{049A465F-015A-4958-97B4-BA340747EFF6}" type="slidenum">
              <a:rPr lang="en-US" smtClean="0"/>
              <a:t>‹N›</a:t>
            </a:fld>
            <a:endParaRPr lang="en-US"/>
          </a:p>
        </p:txBody>
      </p:sp>
    </p:spTree>
    <p:extLst>
      <p:ext uri="{BB962C8B-B14F-4D97-AF65-F5344CB8AC3E}">
        <p14:creationId xmlns:p14="http://schemas.microsoft.com/office/powerpoint/2010/main" val="290697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6B3C5-F3F9-466A-83C7-1D27C60055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74F98F-F8DC-459E-9118-C1270CAFF0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DC8FA0-1F58-410B-9534-6D329D5529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CD09C43-871A-40CA-85FE-233CAD7554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6FD94E-330C-45DC-B3B0-50A8D3863B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DF7D48-A5C2-41DF-9F53-024509CC68C5}"/>
              </a:ext>
            </a:extLst>
          </p:cNvPr>
          <p:cNvSpPr>
            <a:spLocks noGrp="1"/>
          </p:cNvSpPr>
          <p:nvPr>
            <p:ph type="dt" sz="half" idx="10"/>
          </p:nvPr>
        </p:nvSpPr>
        <p:spPr/>
        <p:txBody>
          <a:bodyPr/>
          <a:lstStyle/>
          <a:p>
            <a:fld id="{A9F6950D-B03A-48F2-9585-F61F5A446804}" type="datetimeFigureOut">
              <a:rPr lang="en-US" smtClean="0"/>
              <a:t>5/1/2023</a:t>
            </a:fld>
            <a:endParaRPr lang="en-US"/>
          </a:p>
        </p:txBody>
      </p:sp>
      <p:sp>
        <p:nvSpPr>
          <p:cNvPr id="8" name="Footer Placeholder 7">
            <a:extLst>
              <a:ext uri="{FF2B5EF4-FFF2-40B4-BE49-F238E27FC236}">
                <a16:creationId xmlns:a16="http://schemas.microsoft.com/office/drawing/2014/main" id="{764A631C-68FF-4EDF-B53D-CCE849C612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1FA24E0-7F6B-469C-B1EB-296333349C84}"/>
              </a:ext>
            </a:extLst>
          </p:cNvPr>
          <p:cNvSpPr>
            <a:spLocks noGrp="1"/>
          </p:cNvSpPr>
          <p:nvPr>
            <p:ph type="sldNum" sz="quarter" idx="12"/>
          </p:nvPr>
        </p:nvSpPr>
        <p:spPr/>
        <p:txBody>
          <a:bodyPr/>
          <a:lstStyle/>
          <a:p>
            <a:fld id="{049A465F-015A-4958-97B4-BA340747EFF6}" type="slidenum">
              <a:rPr lang="en-US" smtClean="0"/>
              <a:t>‹N›</a:t>
            </a:fld>
            <a:endParaRPr lang="en-US"/>
          </a:p>
        </p:txBody>
      </p:sp>
    </p:spTree>
    <p:extLst>
      <p:ext uri="{BB962C8B-B14F-4D97-AF65-F5344CB8AC3E}">
        <p14:creationId xmlns:p14="http://schemas.microsoft.com/office/powerpoint/2010/main" val="3877992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CD14-8741-4890-BCE1-BB1EE216DC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719C96-F64D-4EC4-80B5-6AAFBAC7875F}"/>
              </a:ext>
            </a:extLst>
          </p:cNvPr>
          <p:cNvSpPr>
            <a:spLocks noGrp="1"/>
          </p:cNvSpPr>
          <p:nvPr>
            <p:ph type="dt" sz="half" idx="10"/>
          </p:nvPr>
        </p:nvSpPr>
        <p:spPr/>
        <p:txBody>
          <a:bodyPr/>
          <a:lstStyle/>
          <a:p>
            <a:fld id="{A9F6950D-B03A-48F2-9585-F61F5A446804}" type="datetimeFigureOut">
              <a:rPr lang="en-US" smtClean="0"/>
              <a:t>5/1/2023</a:t>
            </a:fld>
            <a:endParaRPr lang="en-US"/>
          </a:p>
        </p:txBody>
      </p:sp>
      <p:sp>
        <p:nvSpPr>
          <p:cNvPr id="4" name="Footer Placeholder 3">
            <a:extLst>
              <a:ext uri="{FF2B5EF4-FFF2-40B4-BE49-F238E27FC236}">
                <a16:creationId xmlns:a16="http://schemas.microsoft.com/office/drawing/2014/main" id="{05C52099-B319-4D8E-A813-8E7744C59A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01228F-A5B8-4DC7-B85A-69AAC04FD79C}"/>
              </a:ext>
            </a:extLst>
          </p:cNvPr>
          <p:cNvSpPr>
            <a:spLocks noGrp="1"/>
          </p:cNvSpPr>
          <p:nvPr>
            <p:ph type="sldNum" sz="quarter" idx="12"/>
          </p:nvPr>
        </p:nvSpPr>
        <p:spPr/>
        <p:txBody>
          <a:bodyPr/>
          <a:lstStyle/>
          <a:p>
            <a:fld id="{049A465F-015A-4958-97B4-BA340747EFF6}" type="slidenum">
              <a:rPr lang="en-US" smtClean="0"/>
              <a:t>‹N›</a:t>
            </a:fld>
            <a:endParaRPr lang="en-US"/>
          </a:p>
        </p:txBody>
      </p:sp>
    </p:spTree>
    <p:extLst>
      <p:ext uri="{BB962C8B-B14F-4D97-AF65-F5344CB8AC3E}">
        <p14:creationId xmlns:p14="http://schemas.microsoft.com/office/powerpoint/2010/main" val="403567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9C8E7E-3920-4444-A61B-6909202F9EC2}"/>
              </a:ext>
            </a:extLst>
          </p:cNvPr>
          <p:cNvSpPr>
            <a:spLocks noGrp="1"/>
          </p:cNvSpPr>
          <p:nvPr>
            <p:ph type="dt" sz="half" idx="10"/>
          </p:nvPr>
        </p:nvSpPr>
        <p:spPr/>
        <p:txBody>
          <a:bodyPr/>
          <a:lstStyle/>
          <a:p>
            <a:fld id="{A9F6950D-B03A-48F2-9585-F61F5A446804}" type="datetimeFigureOut">
              <a:rPr lang="en-US" smtClean="0"/>
              <a:t>5/1/2023</a:t>
            </a:fld>
            <a:endParaRPr lang="en-US"/>
          </a:p>
        </p:txBody>
      </p:sp>
      <p:sp>
        <p:nvSpPr>
          <p:cNvPr id="3" name="Footer Placeholder 2">
            <a:extLst>
              <a:ext uri="{FF2B5EF4-FFF2-40B4-BE49-F238E27FC236}">
                <a16:creationId xmlns:a16="http://schemas.microsoft.com/office/drawing/2014/main" id="{A86CB5FE-0094-4BC3-9193-5F89B2CA46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D487D74-6204-4248-94D1-AE4A66B516CB}"/>
              </a:ext>
            </a:extLst>
          </p:cNvPr>
          <p:cNvSpPr>
            <a:spLocks noGrp="1"/>
          </p:cNvSpPr>
          <p:nvPr>
            <p:ph type="sldNum" sz="quarter" idx="12"/>
          </p:nvPr>
        </p:nvSpPr>
        <p:spPr/>
        <p:txBody>
          <a:bodyPr/>
          <a:lstStyle/>
          <a:p>
            <a:fld id="{049A465F-015A-4958-97B4-BA340747EFF6}" type="slidenum">
              <a:rPr lang="en-US" smtClean="0"/>
              <a:t>‹N›</a:t>
            </a:fld>
            <a:endParaRPr lang="en-US"/>
          </a:p>
        </p:txBody>
      </p:sp>
    </p:spTree>
    <p:extLst>
      <p:ext uri="{BB962C8B-B14F-4D97-AF65-F5344CB8AC3E}">
        <p14:creationId xmlns:p14="http://schemas.microsoft.com/office/powerpoint/2010/main" val="14479230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00F48-0D18-408D-A852-CD28069928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D41340-010A-4AE6-91AF-DD83936CB8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D29F72-6135-4D6B-8969-6B4F1773C4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A4EEAD-57AE-4E52-A2A8-963E983E3960}"/>
              </a:ext>
            </a:extLst>
          </p:cNvPr>
          <p:cNvSpPr>
            <a:spLocks noGrp="1"/>
          </p:cNvSpPr>
          <p:nvPr>
            <p:ph type="dt" sz="half" idx="10"/>
          </p:nvPr>
        </p:nvSpPr>
        <p:spPr/>
        <p:txBody>
          <a:bodyPr/>
          <a:lstStyle/>
          <a:p>
            <a:fld id="{A9F6950D-B03A-48F2-9585-F61F5A446804}" type="datetimeFigureOut">
              <a:rPr lang="en-US" smtClean="0"/>
              <a:t>5/1/2023</a:t>
            </a:fld>
            <a:endParaRPr lang="en-US"/>
          </a:p>
        </p:txBody>
      </p:sp>
      <p:sp>
        <p:nvSpPr>
          <p:cNvPr id="6" name="Footer Placeholder 5">
            <a:extLst>
              <a:ext uri="{FF2B5EF4-FFF2-40B4-BE49-F238E27FC236}">
                <a16:creationId xmlns:a16="http://schemas.microsoft.com/office/drawing/2014/main" id="{044CA5F1-E01B-4719-98FD-7DAD6D28F5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1B3F2A9-2748-45A4-9ED9-3E42FA9A1F73}"/>
              </a:ext>
            </a:extLst>
          </p:cNvPr>
          <p:cNvSpPr>
            <a:spLocks noGrp="1"/>
          </p:cNvSpPr>
          <p:nvPr>
            <p:ph type="sldNum" sz="quarter" idx="12"/>
          </p:nvPr>
        </p:nvSpPr>
        <p:spPr/>
        <p:txBody>
          <a:bodyPr/>
          <a:lstStyle/>
          <a:p>
            <a:fld id="{049A465F-015A-4958-97B4-BA340747EFF6}" type="slidenum">
              <a:rPr lang="en-US" smtClean="0"/>
              <a:t>‹N›</a:t>
            </a:fld>
            <a:endParaRPr lang="en-US"/>
          </a:p>
        </p:txBody>
      </p:sp>
    </p:spTree>
    <p:extLst>
      <p:ext uri="{BB962C8B-B14F-4D97-AF65-F5344CB8AC3E}">
        <p14:creationId xmlns:p14="http://schemas.microsoft.com/office/powerpoint/2010/main" val="1875410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1208E-AED5-4186-9AE1-E00A3085C0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C8E83C-41D6-4792-A50E-A0FAD2F7F1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0E4E2D-77E8-4C9F-BD2C-196D0C80B4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65B51B-3C89-4D0C-BF03-70D87071762C}"/>
              </a:ext>
            </a:extLst>
          </p:cNvPr>
          <p:cNvSpPr>
            <a:spLocks noGrp="1"/>
          </p:cNvSpPr>
          <p:nvPr>
            <p:ph type="dt" sz="half" idx="10"/>
          </p:nvPr>
        </p:nvSpPr>
        <p:spPr/>
        <p:txBody>
          <a:bodyPr/>
          <a:lstStyle/>
          <a:p>
            <a:fld id="{A9F6950D-B03A-48F2-9585-F61F5A446804}" type="datetimeFigureOut">
              <a:rPr lang="en-US" smtClean="0"/>
              <a:t>5/1/2023</a:t>
            </a:fld>
            <a:endParaRPr lang="en-US"/>
          </a:p>
        </p:txBody>
      </p:sp>
      <p:sp>
        <p:nvSpPr>
          <p:cNvPr id="6" name="Footer Placeholder 5">
            <a:extLst>
              <a:ext uri="{FF2B5EF4-FFF2-40B4-BE49-F238E27FC236}">
                <a16:creationId xmlns:a16="http://schemas.microsoft.com/office/drawing/2014/main" id="{E4304DC4-3AFF-4162-9DA8-D2212744D9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B208A8-139D-4F67-965A-4C732AAB4F75}"/>
              </a:ext>
            </a:extLst>
          </p:cNvPr>
          <p:cNvSpPr>
            <a:spLocks noGrp="1"/>
          </p:cNvSpPr>
          <p:nvPr>
            <p:ph type="sldNum" sz="quarter" idx="12"/>
          </p:nvPr>
        </p:nvSpPr>
        <p:spPr/>
        <p:txBody>
          <a:bodyPr/>
          <a:lstStyle/>
          <a:p>
            <a:fld id="{049A465F-015A-4958-97B4-BA340747EFF6}" type="slidenum">
              <a:rPr lang="en-US" smtClean="0"/>
              <a:t>‹N›</a:t>
            </a:fld>
            <a:endParaRPr lang="en-US"/>
          </a:p>
        </p:txBody>
      </p:sp>
    </p:spTree>
    <p:extLst>
      <p:ext uri="{BB962C8B-B14F-4D97-AF65-F5344CB8AC3E}">
        <p14:creationId xmlns:p14="http://schemas.microsoft.com/office/powerpoint/2010/main" val="3663016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2D817-D313-4587-A3EC-3FCA668FE0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726F0E-932D-41A4-AC5A-0F3CE13AE4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88EF1F-CCB8-476C-8C07-C154588B00BB}"/>
              </a:ext>
            </a:extLst>
          </p:cNvPr>
          <p:cNvSpPr>
            <a:spLocks noGrp="1"/>
          </p:cNvSpPr>
          <p:nvPr>
            <p:ph type="dt" sz="half" idx="10"/>
          </p:nvPr>
        </p:nvSpPr>
        <p:spPr/>
        <p:txBody>
          <a:bodyPr/>
          <a:lstStyle/>
          <a:p>
            <a:fld id="{A9F6950D-B03A-48F2-9585-F61F5A446804}" type="datetimeFigureOut">
              <a:rPr lang="en-US" smtClean="0"/>
              <a:t>5/1/2023</a:t>
            </a:fld>
            <a:endParaRPr lang="en-US"/>
          </a:p>
        </p:txBody>
      </p:sp>
      <p:sp>
        <p:nvSpPr>
          <p:cNvPr id="5" name="Footer Placeholder 4">
            <a:extLst>
              <a:ext uri="{FF2B5EF4-FFF2-40B4-BE49-F238E27FC236}">
                <a16:creationId xmlns:a16="http://schemas.microsoft.com/office/drawing/2014/main" id="{2AEB851F-E025-4528-9A5D-0C10629431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43F473-7842-4275-9356-6C0ADFC6369F}"/>
              </a:ext>
            </a:extLst>
          </p:cNvPr>
          <p:cNvSpPr>
            <a:spLocks noGrp="1"/>
          </p:cNvSpPr>
          <p:nvPr>
            <p:ph type="sldNum" sz="quarter" idx="12"/>
          </p:nvPr>
        </p:nvSpPr>
        <p:spPr/>
        <p:txBody>
          <a:bodyPr/>
          <a:lstStyle/>
          <a:p>
            <a:fld id="{049A465F-015A-4958-97B4-BA340747EFF6}" type="slidenum">
              <a:rPr lang="en-US" smtClean="0"/>
              <a:t>‹N›</a:t>
            </a:fld>
            <a:endParaRPr lang="en-US"/>
          </a:p>
        </p:txBody>
      </p:sp>
    </p:spTree>
    <p:extLst>
      <p:ext uri="{BB962C8B-B14F-4D97-AF65-F5344CB8AC3E}">
        <p14:creationId xmlns:p14="http://schemas.microsoft.com/office/powerpoint/2010/main" val="2169674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E7CC8E-64DC-417D-9A5B-183CB60DAF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39E554-6670-4B02-A42D-16C4A1CC5B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C9813-5839-446A-8183-465A7305454B}"/>
              </a:ext>
            </a:extLst>
          </p:cNvPr>
          <p:cNvSpPr>
            <a:spLocks noGrp="1"/>
          </p:cNvSpPr>
          <p:nvPr>
            <p:ph type="dt" sz="half" idx="10"/>
          </p:nvPr>
        </p:nvSpPr>
        <p:spPr/>
        <p:txBody>
          <a:bodyPr/>
          <a:lstStyle/>
          <a:p>
            <a:fld id="{A9F6950D-B03A-48F2-9585-F61F5A446804}" type="datetimeFigureOut">
              <a:rPr lang="en-US" smtClean="0"/>
              <a:t>5/1/2023</a:t>
            </a:fld>
            <a:endParaRPr lang="en-US"/>
          </a:p>
        </p:txBody>
      </p:sp>
      <p:sp>
        <p:nvSpPr>
          <p:cNvPr id="5" name="Footer Placeholder 4">
            <a:extLst>
              <a:ext uri="{FF2B5EF4-FFF2-40B4-BE49-F238E27FC236}">
                <a16:creationId xmlns:a16="http://schemas.microsoft.com/office/drawing/2014/main" id="{4EF0CF36-FFD3-4E91-8836-DB3A313394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B49F81-ECFD-41D0-B88F-FC7D5E6D1DB9}"/>
              </a:ext>
            </a:extLst>
          </p:cNvPr>
          <p:cNvSpPr>
            <a:spLocks noGrp="1"/>
          </p:cNvSpPr>
          <p:nvPr>
            <p:ph type="sldNum" sz="quarter" idx="12"/>
          </p:nvPr>
        </p:nvSpPr>
        <p:spPr/>
        <p:txBody>
          <a:bodyPr/>
          <a:lstStyle/>
          <a:p>
            <a:fld id="{049A465F-015A-4958-97B4-BA340747EFF6}" type="slidenum">
              <a:rPr lang="en-US" smtClean="0"/>
              <a:t>‹N›</a:t>
            </a:fld>
            <a:endParaRPr lang="en-US"/>
          </a:p>
        </p:txBody>
      </p:sp>
    </p:spTree>
    <p:extLst>
      <p:ext uri="{BB962C8B-B14F-4D97-AF65-F5344CB8AC3E}">
        <p14:creationId xmlns:p14="http://schemas.microsoft.com/office/powerpoint/2010/main" val="1234674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1F1627-2B15-4D9C-891C-17BBDA6AA5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FDF4AA5-B571-4C72-8874-1CB4930B51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9B120C-2861-47AE-B94B-476A58D72E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F6950D-B03A-48F2-9585-F61F5A446804}" type="datetimeFigureOut">
              <a:rPr lang="en-US" smtClean="0"/>
              <a:t>5/1/2023</a:t>
            </a:fld>
            <a:endParaRPr lang="en-US"/>
          </a:p>
        </p:txBody>
      </p:sp>
      <p:sp>
        <p:nvSpPr>
          <p:cNvPr id="5" name="Footer Placeholder 4">
            <a:extLst>
              <a:ext uri="{FF2B5EF4-FFF2-40B4-BE49-F238E27FC236}">
                <a16:creationId xmlns:a16="http://schemas.microsoft.com/office/drawing/2014/main" id="{426E56E5-9ED8-4569-BF1E-9727A890E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6D9A8D4-B3D7-49A8-B692-1812371AB8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9A465F-015A-4958-97B4-BA340747EFF6}" type="slidenum">
              <a:rPr lang="en-US" smtClean="0"/>
              <a:t>‹N›</a:t>
            </a:fld>
            <a:endParaRPr lang="en-US"/>
          </a:p>
        </p:txBody>
      </p:sp>
    </p:spTree>
    <p:extLst>
      <p:ext uri="{BB962C8B-B14F-4D97-AF65-F5344CB8AC3E}">
        <p14:creationId xmlns:p14="http://schemas.microsoft.com/office/powerpoint/2010/main" val="1521389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12.png"/><Relationship Id="rId1" Type="http://schemas.openxmlformats.org/officeDocument/2006/relationships/slideLayout" Target="../slideLayouts/slideLayout6.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 Id="rId5" Type="http://schemas.openxmlformats.org/officeDocument/2006/relationships/image" Target="../media/image37.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6.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16.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6.xml"/><Relationship Id="rId4" Type="http://schemas.openxmlformats.org/officeDocument/2006/relationships/image" Target="../media/image61.png"/></Relationships>
</file>

<file path=ppt/slides/_rels/slide1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0.png"/><Relationship Id="rId1" Type="http://schemas.openxmlformats.org/officeDocument/2006/relationships/slideLayout" Target="../slideLayouts/slideLayout6.xml"/><Relationship Id="rId4" Type="http://schemas.openxmlformats.org/officeDocument/2006/relationships/image" Target="../media/image63.png"/></Relationships>
</file>

<file path=ppt/slides/_rels/slide20.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2.png"/><Relationship Id="rId7" Type="http://schemas.openxmlformats.org/officeDocument/2006/relationships/image" Target="../media/image65.png"/><Relationship Id="rId1" Type="http://schemas.openxmlformats.org/officeDocument/2006/relationships/slideLayout" Target="../slideLayouts/slideLayout6.xml"/><Relationship Id="rId6" Type="http://schemas.openxmlformats.org/officeDocument/2006/relationships/image" Target="../media/image64.png"/><Relationship Id="rId5" Type="http://schemas.openxmlformats.org/officeDocument/2006/relationships/image" Target="../media/image30.png"/><Relationship Id="rId10" Type="http://schemas.openxmlformats.org/officeDocument/2006/relationships/image" Target="../media/image68.png"/><Relationship Id="rId4" Type="http://schemas.openxmlformats.org/officeDocument/2006/relationships/image" Target="../media/image63.png"/><Relationship Id="rId9" Type="http://schemas.openxmlformats.org/officeDocument/2006/relationships/image" Target="../media/image67.png"/></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660.png"/><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663FB-35DC-4B74-9070-1CB2537EED1B}"/>
              </a:ext>
            </a:extLst>
          </p:cNvPr>
          <p:cNvSpPr>
            <a:spLocks noGrp="1"/>
          </p:cNvSpPr>
          <p:nvPr>
            <p:ph type="ctrTitle"/>
          </p:nvPr>
        </p:nvSpPr>
        <p:spPr/>
        <p:txBody>
          <a:bodyPr/>
          <a:lstStyle/>
          <a:p>
            <a:r>
              <a:rPr lang="en-US" dirty="0"/>
              <a:t>Object Localization and Detection</a:t>
            </a:r>
          </a:p>
        </p:txBody>
      </p:sp>
      <p:sp>
        <p:nvSpPr>
          <p:cNvPr id="5" name="Subtitle 4">
            <a:extLst>
              <a:ext uri="{FF2B5EF4-FFF2-40B4-BE49-F238E27FC236}">
                <a16:creationId xmlns:a16="http://schemas.microsoft.com/office/drawing/2014/main" id="{A9AAFD97-14CF-44F5-9CE3-2949A6D5FC8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30869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Website&#10;&#10;Description automatically generated">
            <a:extLst>
              <a:ext uri="{FF2B5EF4-FFF2-40B4-BE49-F238E27FC236}">
                <a16:creationId xmlns:a16="http://schemas.microsoft.com/office/drawing/2014/main" id="{0F334777-B8FF-4B19-8745-4B2CDEF5E75D}"/>
              </a:ext>
            </a:extLst>
          </p:cNvPr>
          <p:cNvPicPr>
            <a:picLocks noChangeAspect="1"/>
          </p:cNvPicPr>
          <p:nvPr/>
        </p:nvPicPr>
        <p:blipFill>
          <a:blip r:embed="rId2"/>
          <a:stretch>
            <a:fillRect/>
          </a:stretch>
        </p:blipFill>
        <p:spPr>
          <a:xfrm>
            <a:off x="4478635" y="734376"/>
            <a:ext cx="2765860" cy="3362748"/>
          </a:xfrm>
          <a:prstGeom prst="rect">
            <a:avLst/>
          </a:prstGeom>
        </p:spPr>
      </p:pic>
      <p:pic>
        <p:nvPicPr>
          <p:cNvPr id="5" name="Picture 4" descr="A car driving on a snowy road&#10;&#10;Description automatically generated with medium confidence">
            <a:extLst>
              <a:ext uri="{FF2B5EF4-FFF2-40B4-BE49-F238E27FC236}">
                <a16:creationId xmlns:a16="http://schemas.microsoft.com/office/drawing/2014/main" id="{02AFF717-9822-466E-A664-F8D520A3670B}"/>
              </a:ext>
            </a:extLst>
          </p:cNvPr>
          <p:cNvPicPr>
            <a:picLocks noChangeAspect="1"/>
          </p:cNvPicPr>
          <p:nvPr/>
        </p:nvPicPr>
        <p:blipFill>
          <a:blip r:embed="rId3"/>
          <a:stretch>
            <a:fillRect/>
          </a:stretch>
        </p:blipFill>
        <p:spPr>
          <a:xfrm>
            <a:off x="521469" y="788669"/>
            <a:ext cx="2855528" cy="3254163"/>
          </a:xfrm>
          <a:prstGeom prst="rect">
            <a:avLst/>
          </a:prstGeom>
        </p:spPr>
      </p:pic>
      <p:pic>
        <p:nvPicPr>
          <p:cNvPr id="9" name="Picture 8">
            <a:extLst>
              <a:ext uri="{FF2B5EF4-FFF2-40B4-BE49-F238E27FC236}">
                <a16:creationId xmlns:a16="http://schemas.microsoft.com/office/drawing/2014/main" id="{DDEF7176-06A9-4BC3-8946-BB5B199BA360}"/>
              </a:ext>
            </a:extLst>
          </p:cNvPr>
          <p:cNvPicPr>
            <a:picLocks noChangeAspect="1"/>
          </p:cNvPicPr>
          <p:nvPr/>
        </p:nvPicPr>
        <p:blipFill>
          <a:blip r:embed="rId4"/>
          <a:stretch>
            <a:fillRect/>
          </a:stretch>
        </p:blipFill>
        <p:spPr>
          <a:xfrm>
            <a:off x="8525200" y="672675"/>
            <a:ext cx="2807723" cy="3424449"/>
          </a:xfrm>
          <a:prstGeom prst="rect">
            <a:avLst/>
          </a:prstGeom>
        </p:spPr>
      </p:pic>
      <p:sp>
        <p:nvSpPr>
          <p:cNvPr id="10" name="TextBox 9">
            <a:extLst>
              <a:ext uri="{FF2B5EF4-FFF2-40B4-BE49-F238E27FC236}">
                <a16:creationId xmlns:a16="http://schemas.microsoft.com/office/drawing/2014/main" id="{9C101A0E-7061-4455-894B-280531C22D39}"/>
              </a:ext>
            </a:extLst>
          </p:cNvPr>
          <p:cNvSpPr txBox="1"/>
          <p:nvPr/>
        </p:nvSpPr>
        <p:spPr>
          <a:xfrm>
            <a:off x="1331595" y="4451985"/>
            <a:ext cx="603050" cy="461665"/>
          </a:xfrm>
          <a:prstGeom prst="rect">
            <a:avLst/>
          </a:prstGeom>
          <a:noFill/>
        </p:spPr>
        <p:txBody>
          <a:bodyPr wrap="none" rtlCol="0">
            <a:spAutoFit/>
          </a:bodyPr>
          <a:lstStyle/>
          <a:p>
            <a:r>
              <a:rPr lang="en-US" sz="2400" dirty="0"/>
              <a:t>Car</a:t>
            </a:r>
            <a:endParaRPr lang="en-US" dirty="0"/>
          </a:p>
        </p:txBody>
      </p:sp>
      <p:sp>
        <p:nvSpPr>
          <p:cNvPr id="15" name="TextBox 14">
            <a:extLst>
              <a:ext uri="{FF2B5EF4-FFF2-40B4-BE49-F238E27FC236}">
                <a16:creationId xmlns:a16="http://schemas.microsoft.com/office/drawing/2014/main" id="{00B29C95-858C-481B-B645-2C9E4056215A}"/>
              </a:ext>
            </a:extLst>
          </p:cNvPr>
          <p:cNvSpPr txBox="1"/>
          <p:nvPr/>
        </p:nvSpPr>
        <p:spPr>
          <a:xfrm>
            <a:off x="4630106" y="4416445"/>
            <a:ext cx="2462918" cy="461665"/>
          </a:xfrm>
          <a:prstGeom prst="rect">
            <a:avLst/>
          </a:prstGeom>
          <a:noFill/>
        </p:spPr>
        <p:txBody>
          <a:bodyPr wrap="none" rtlCol="0">
            <a:spAutoFit/>
          </a:bodyPr>
          <a:lstStyle/>
          <a:p>
            <a:r>
              <a:rPr lang="en-US" sz="2400" dirty="0" err="1"/>
              <a:t>Car+bounding</a:t>
            </a:r>
            <a:r>
              <a:rPr lang="en-US" sz="2400" dirty="0"/>
              <a:t> box</a:t>
            </a:r>
            <a:endParaRPr lang="en-US" dirty="0"/>
          </a:p>
        </p:txBody>
      </p:sp>
      <p:sp>
        <p:nvSpPr>
          <p:cNvPr id="17" name="TextBox 16">
            <a:extLst>
              <a:ext uri="{FF2B5EF4-FFF2-40B4-BE49-F238E27FC236}">
                <a16:creationId xmlns:a16="http://schemas.microsoft.com/office/drawing/2014/main" id="{CF805BD0-2127-4347-9123-257B7D42BFBB}"/>
              </a:ext>
            </a:extLst>
          </p:cNvPr>
          <p:cNvSpPr txBox="1"/>
          <p:nvPr/>
        </p:nvSpPr>
        <p:spPr>
          <a:xfrm>
            <a:off x="8988746" y="4360545"/>
            <a:ext cx="2210862" cy="830997"/>
          </a:xfrm>
          <a:prstGeom prst="rect">
            <a:avLst/>
          </a:prstGeom>
          <a:noFill/>
        </p:spPr>
        <p:txBody>
          <a:bodyPr wrap="none" rtlCol="0">
            <a:spAutoFit/>
          </a:bodyPr>
          <a:lstStyle/>
          <a:p>
            <a:r>
              <a:rPr lang="en-US" sz="2400" dirty="0"/>
              <a:t>Multiple object/</a:t>
            </a:r>
            <a:br>
              <a:rPr lang="en-US" sz="2400" dirty="0"/>
            </a:br>
            <a:r>
              <a:rPr lang="en-US" sz="2400" dirty="0"/>
              <a:t>bounding box</a:t>
            </a:r>
            <a:endParaRPr lang="en-US" dirty="0"/>
          </a:p>
        </p:txBody>
      </p:sp>
    </p:spTree>
    <p:extLst>
      <p:ext uri="{BB962C8B-B14F-4D97-AF65-F5344CB8AC3E}">
        <p14:creationId xmlns:p14="http://schemas.microsoft.com/office/powerpoint/2010/main" val="422757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1151E0-1DBE-412E-952D-1F76EB28B83C}"/>
              </a:ext>
            </a:extLst>
          </p:cNvPr>
          <p:cNvPicPr>
            <a:picLocks noChangeAspect="1"/>
          </p:cNvPicPr>
          <p:nvPr/>
        </p:nvPicPr>
        <p:blipFill>
          <a:blip r:embed="rId2"/>
          <a:stretch>
            <a:fillRect/>
          </a:stretch>
        </p:blipFill>
        <p:spPr>
          <a:xfrm>
            <a:off x="376518" y="1645134"/>
            <a:ext cx="9078259" cy="2592152"/>
          </a:xfrm>
          <a:prstGeom prst="rect">
            <a:avLst/>
          </a:prstGeom>
        </p:spPr>
      </p:pic>
      <p:sp>
        <p:nvSpPr>
          <p:cNvPr id="4" name="Title 3">
            <a:extLst>
              <a:ext uri="{FF2B5EF4-FFF2-40B4-BE49-F238E27FC236}">
                <a16:creationId xmlns:a16="http://schemas.microsoft.com/office/drawing/2014/main" id="{6016226A-64CC-4E0D-AC9F-A8E6DAFBD67F}"/>
              </a:ext>
            </a:extLst>
          </p:cNvPr>
          <p:cNvSpPr>
            <a:spLocks noGrp="1"/>
          </p:cNvSpPr>
          <p:nvPr>
            <p:ph type="title"/>
          </p:nvPr>
        </p:nvSpPr>
        <p:spPr>
          <a:xfrm>
            <a:off x="179481" y="186939"/>
            <a:ext cx="10515600" cy="1325563"/>
          </a:xfrm>
        </p:spPr>
        <p:txBody>
          <a:bodyPr/>
          <a:lstStyle/>
          <a:p>
            <a:r>
              <a:rPr lang="en-US" dirty="0"/>
              <a:t>Classification with localization</a:t>
            </a:r>
          </a:p>
        </p:txBody>
      </p:sp>
      <p:sp>
        <p:nvSpPr>
          <p:cNvPr id="5" name="Oval 4">
            <a:extLst>
              <a:ext uri="{FF2B5EF4-FFF2-40B4-BE49-F238E27FC236}">
                <a16:creationId xmlns:a16="http://schemas.microsoft.com/office/drawing/2014/main" id="{B99BFAF8-E68B-43C6-9E35-42E87B2EC3CF}"/>
              </a:ext>
            </a:extLst>
          </p:cNvPr>
          <p:cNvSpPr/>
          <p:nvPr/>
        </p:nvSpPr>
        <p:spPr>
          <a:xfrm>
            <a:off x="10136094" y="2337174"/>
            <a:ext cx="346636" cy="31077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4E76FC5D-3057-4D41-BCB2-10CA17C53E24}"/>
              </a:ext>
            </a:extLst>
          </p:cNvPr>
          <p:cNvCxnSpPr>
            <a:stCxn id="3" idx="3"/>
            <a:endCxn id="5" idx="3"/>
          </p:cNvCxnSpPr>
          <p:nvPr/>
        </p:nvCxnSpPr>
        <p:spPr>
          <a:xfrm flipV="1">
            <a:off x="9454777" y="2602438"/>
            <a:ext cx="732081" cy="33877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9" name="Straight Arrow Connector 8">
            <a:extLst>
              <a:ext uri="{FF2B5EF4-FFF2-40B4-BE49-F238E27FC236}">
                <a16:creationId xmlns:a16="http://schemas.microsoft.com/office/drawing/2014/main" id="{4CFDFBEE-E80F-4FFE-AE6F-BDB67F074675}"/>
              </a:ext>
            </a:extLst>
          </p:cNvPr>
          <p:cNvCxnSpPr/>
          <p:nvPr/>
        </p:nvCxnSpPr>
        <p:spPr>
          <a:xfrm flipV="1">
            <a:off x="10482730" y="2066815"/>
            <a:ext cx="575795" cy="38862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1" name="Straight Arrow Connector 10">
            <a:extLst>
              <a:ext uri="{FF2B5EF4-FFF2-40B4-BE49-F238E27FC236}">
                <a16:creationId xmlns:a16="http://schemas.microsoft.com/office/drawing/2014/main" id="{BC19E02D-3D82-42ED-AC99-D2D08C498334}"/>
              </a:ext>
            </a:extLst>
          </p:cNvPr>
          <p:cNvCxnSpPr>
            <a:cxnSpLocks/>
            <a:stCxn id="5" idx="6"/>
          </p:cNvCxnSpPr>
          <p:nvPr/>
        </p:nvCxnSpPr>
        <p:spPr>
          <a:xfrm>
            <a:off x="10482730" y="2492562"/>
            <a:ext cx="621515" cy="28285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a:extLst>
              <a:ext uri="{FF2B5EF4-FFF2-40B4-BE49-F238E27FC236}">
                <a16:creationId xmlns:a16="http://schemas.microsoft.com/office/drawing/2014/main" id="{309CFBE4-8D1E-4E19-9183-E0DEA3ED1781}"/>
              </a:ext>
            </a:extLst>
          </p:cNvPr>
          <p:cNvCxnSpPr>
            <a:cxnSpLocks/>
            <a:stCxn id="5" idx="6"/>
          </p:cNvCxnSpPr>
          <p:nvPr/>
        </p:nvCxnSpPr>
        <p:spPr>
          <a:xfrm>
            <a:off x="10482730" y="2492562"/>
            <a:ext cx="512930" cy="7972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281D1692-C2E4-4DCE-AD07-0A8B3F7E8903}"/>
              </a:ext>
            </a:extLst>
          </p:cNvPr>
          <p:cNvCxnSpPr/>
          <p:nvPr/>
        </p:nvCxnSpPr>
        <p:spPr>
          <a:xfrm>
            <a:off x="10482730" y="2455435"/>
            <a:ext cx="130025" cy="96583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6" name="TextBox 15">
            <a:extLst>
              <a:ext uri="{FF2B5EF4-FFF2-40B4-BE49-F238E27FC236}">
                <a16:creationId xmlns:a16="http://schemas.microsoft.com/office/drawing/2014/main" id="{E7C93400-D449-4624-AC70-A335FAAA081F}"/>
              </a:ext>
            </a:extLst>
          </p:cNvPr>
          <p:cNvSpPr txBox="1"/>
          <p:nvPr/>
        </p:nvSpPr>
        <p:spPr>
          <a:xfrm>
            <a:off x="11109887" y="1882149"/>
            <a:ext cx="295274" cy="369332"/>
          </a:xfrm>
          <a:prstGeom prst="rect">
            <a:avLst/>
          </a:prstGeom>
          <a:noFill/>
        </p:spPr>
        <p:txBody>
          <a:bodyPr wrap="none" rtlCol="0">
            <a:spAutoFit/>
          </a:bodyPr>
          <a:lstStyle/>
          <a:p>
            <a:r>
              <a:rPr lang="en-US" dirty="0"/>
              <a:t>a</a:t>
            </a:r>
          </a:p>
        </p:txBody>
      </p:sp>
      <p:sp>
        <p:nvSpPr>
          <p:cNvPr id="17" name="TextBox 16">
            <a:extLst>
              <a:ext uri="{FF2B5EF4-FFF2-40B4-BE49-F238E27FC236}">
                <a16:creationId xmlns:a16="http://schemas.microsoft.com/office/drawing/2014/main" id="{DD5A4BCE-F2D5-413C-B7C1-957865C3FDE9}"/>
              </a:ext>
            </a:extLst>
          </p:cNvPr>
          <p:cNvSpPr txBox="1"/>
          <p:nvPr/>
        </p:nvSpPr>
        <p:spPr>
          <a:xfrm>
            <a:off x="11096478" y="2569020"/>
            <a:ext cx="306494" cy="369332"/>
          </a:xfrm>
          <a:prstGeom prst="rect">
            <a:avLst/>
          </a:prstGeom>
          <a:noFill/>
        </p:spPr>
        <p:txBody>
          <a:bodyPr wrap="none" rtlCol="0">
            <a:spAutoFit/>
          </a:bodyPr>
          <a:lstStyle/>
          <a:p>
            <a:r>
              <a:rPr lang="en-US" dirty="0"/>
              <a:t>b</a:t>
            </a:r>
          </a:p>
        </p:txBody>
      </p:sp>
      <p:sp>
        <p:nvSpPr>
          <p:cNvPr id="18" name="TextBox 17">
            <a:extLst>
              <a:ext uri="{FF2B5EF4-FFF2-40B4-BE49-F238E27FC236}">
                <a16:creationId xmlns:a16="http://schemas.microsoft.com/office/drawing/2014/main" id="{3C2DD7A6-A6A0-40CA-9B72-EA32E49F01A5}"/>
              </a:ext>
            </a:extLst>
          </p:cNvPr>
          <p:cNvSpPr txBox="1"/>
          <p:nvPr/>
        </p:nvSpPr>
        <p:spPr>
          <a:xfrm>
            <a:off x="10943231" y="3164040"/>
            <a:ext cx="282450" cy="369332"/>
          </a:xfrm>
          <a:prstGeom prst="rect">
            <a:avLst/>
          </a:prstGeom>
          <a:noFill/>
        </p:spPr>
        <p:txBody>
          <a:bodyPr wrap="none" rtlCol="0">
            <a:spAutoFit/>
          </a:bodyPr>
          <a:lstStyle/>
          <a:p>
            <a:r>
              <a:rPr lang="en-US" dirty="0"/>
              <a:t>c</a:t>
            </a:r>
          </a:p>
        </p:txBody>
      </p:sp>
      <p:sp>
        <p:nvSpPr>
          <p:cNvPr id="19" name="TextBox 18">
            <a:extLst>
              <a:ext uri="{FF2B5EF4-FFF2-40B4-BE49-F238E27FC236}">
                <a16:creationId xmlns:a16="http://schemas.microsoft.com/office/drawing/2014/main" id="{27B9588B-F18C-4224-BF51-8C843D6A57E5}"/>
              </a:ext>
            </a:extLst>
          </p:cNvPr>
          <p:cNvSpPr txBox="1"/>
          <p:nvPr/>
        </p:nvSpPr>
        <p:spPr>
          <a:xfrm>
            <a:off x="10553856" y="3348706"/>
            <a:ext cx="306494" cy="369332"/>
          </a:xfrm>
          <a:prstGeom prst="rect">
            <a:avLst/>
          </a:prstGeom>
          <a:noFill/>
        </p:spPr>
        <p:txBody>
          <a:bodyPr wrap="none" rtlCol="0">
            <a:spAutoFit/>
          </a:bodyPr>
          <a:lstStyle/>
          <a:p>
            <a:r>
              <a:rPr lang="en-US" dirty="0"/>
              <a:t>d</a:t>
            </a:r>
          </a:p>
        </p:txBody>
      </p:sp>
      <p:cxnSp>
        <p:nvCxnSpPr>
          <p:cNvPr id="21" name="Straight Arrow Connector 20">
            <a:extLst>
              <a:ext uri="{FF2B5EF4-FFF2-40B4-BE49-F238E27FC236}">
                <a16:creationId xmlns:a16="http://schemas.microsoft.com/office/drawing/2014/main" id="{F05B7C2E-EF25-4E8E-A932-281DB9594979}"/>
              </a:ext>
            </a:extLst>
          </p:cNvPr>
          <p:cNvCxnSpPr>
            <a:stCxn id="3" idx="3"/>
          </p:cNvCxnSpPr>
          <p:nvPr/>
        </p:nvCxnSpPr>
        <p:spPr>
          <a:xfrm>
            <a:off x="9454777" y="2941210"/>
            <a:ext cx="732081" cy="15965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4" name="TextBox 23">
            <a:extLst>
              <a:ext uri="{FF2B5EF4-FFF2-40B4-BE49-F238E27FC236}">
                <a16:creationId xmlns:a16="http://schemas.microsoft.com/office/drawing/2014/main" id="{2BBAD886-DEAC-4C0D-B224-8166D17BE8B3}"/>
              </a:ext>
            </a:extLst>
          </p:cNvPr>
          <p:cNvSpPr txBox="1"/>
          <p:nvPr/>
        </p:nvSpPr>
        <p:spPr>
          <a:xfrm>
            <a:off x="9550420" y="1923171"/>
            <a:ext cx="1022524" cy="369332"/>
          </a:xfrm>
          <a:prstGeom prst="rect">
            <a:avLst/>
          </a:prstGeom>
          <a:noFill/>
        </p:spPr>
        <p:txBody>
          <a:bodyPr wrap="none" rtlCol="0">
            <a:spAutoFit/>
          </a:bodyPr>
          <a:lstStyle/>
          <a:p>
            <a:r>
              <a:rPr lang="en-US" dirty="0"/>
              <a:t>Soft-max</a:t>
            </a:r>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5B206339-05A3-4262-9346-F3997AB02E5C}"/>
                  </a:ext>
                </a:extLst>
              </p:cNvPr>
              <p:cNvSpPr txBox="1"/>
              <p:nvPr/>
            </p:nvSpPr>
            <p:spPr>
              <a:xfrm>
                <a:off x="10309412" y="4388246"/>
                <a:ext cx="1711687" cy="398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𝑥</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𝑦</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h</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𝑤</m:t>
                          </m:r>
                        </m:sub>
                      </m:sSub>
                    </m:oMath>
                  </m:oMathPara>
                </a14:m>
                <a:endParaRPr lang="en-US" sz="2400" dirty="0"/>
              </a:p>
            </p:txBody>
          </p:sp>
        </mc:Choice>
        <mc:Fallback xmlns="">
          <p:sp>
            <p:nvSpPr>
              <p:cNvPr id="25" name="TextBox 24">
                <a:extLst>
                  <a:ext uri="{FF2B5EF4-FFF2-40B4-BE49-F238E27FC236}">
                    <a16:creationId xmlns:a16="http://schemas.microsoft.com/office/drawing/2014/main" id="{5B206339-05A3-4262-9346-F3997AB02E5C}"/>
                  </a:ext>
                </a:extLst>
              </p:cNvPr>
              <p:cNvSpPr txBox="1">
                <a:spLocks noRot="1" noChangeAspect="1" noMove="1" noResize="1" noEditPoints="1" noAdjustHandles="1" noChangeArrowheads="1" noChangeShapeType="1" noTextEdit="1"/>
              </p:cNvSpPr>
              <p:nvPr/>
            </p:nvSpPr>
            <p:spPr>
              <a:xfrm>
                <a:off x="10309412" y="4388246"/>
                <a:ext cx="1711687" cy="398507"/>
              </a:xfrm>
              <a:prstGeom prst="rect">
                <a:avLst/>
              </a:prstGeom>
              <a:blipFill>
                <a:blip r:embed="rId3"/>
                <a:stretch>
                  <a:fillRect l="-3915" b="-20000"/>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EEE879FE-119C-4384-A558-F35A768CA29A}"/>
              </a:ext>
            </a:extLst>
          </p:cNvPr>
          <p:cNvSpPr txBox="1"/>
          <p:nvPr/>
        </p:nvSpPr>
        <p:spPr>
          <a:xfrm>
            <a:off x="10237883" y="5273668"/>
            <a:ext cx="1641283" cy="1200329"/>
          </a:xfrm>
          <a:prstGeom prst="rect">
            <a:avLst/>
          </a:prstGeom>
          <a:noFill/>
        </p:spPr>
        <p:txBody>
          <a:bodyPr wrap="none" rtlCol="0">
            <a:spAutoFit/>
          </a:bodyPr>
          <a:lstStyle/>
          <a:p>
            <a:pPr marL="342900" indent="-342900">
              <a:buFont typeface="+mj-lt"/>
              <a:buAutoNum type="alphaLcPeriod"/>
            </a:pPr>
            <a:r>
              <a:rPr lang="en-US" dirty="0"/>
              <a:t>Pedestrian</a:t>
            </a:r>
          </a:p>
          <a:p>
            <a:pPr marL="342900" indent="-342900">
              <a:buFont typeface="+mj-lt"/>
              <a:buAutoNum type="alphaLcPeriod"/>
            </a:pPr>
            <a:r>
              <a:rPr lang="en-US" dirty="0"/>
              <a:t>Car</a:t>
            </a:r>
          </a:p>
          <a:p>
            <a:pPr marL="342900" indent="-342900">
              <a:buFont typeface="+mj-lt"/>
              <a:buAutoNum type="alphaLcPeriod"/>
            </a:pPr>
            <a:r>
              <a:rPr lang="en-US" dirty="0"/>
              <a:t>Bike</a:t>
            </a:r>
          </a:p>
          <a:p>
            <a:pPr marL="342900" indent="-342900">
              <a:buFont typeface="+mj-lt"/>
              <a:buAutoNum type="alphaLcPeriod"/>
            </a:pPr>
            <a:r>
              <a:rPr lang="en-US" dirty="0"/>
              <a:t>Background</a:t>
            </a:r>
          </a:p>
        </p:txBody>
      </p:sp>
      <p:sp>
        <p:nvSpPr>
          <p:cNvPr id="29" name="Rectangle 28">
            <a:extLst>
              <a:ext uri="{FF2B5EF4-FFF2-40B4-BE49-F238E27FC236}">
                <a16:creationId xmlns:a16="http://schemas.microsoft.com/office/drawing/2014/main" id="{1B42613D-C4B0-4716-9CBE-9456F2C04B93}"/>
              </a:ext>
            </a:extLst>
          </p:cNvPr>
          <p:cNvSpPr/>
          <p:nvPr/>
        </p:nvSpPr>
        <p:spPr>
          <a:xfrm>
            <a:off x="1045846" y="4786753"/>
            <a:ext cx="1303020" cy="1104641"/>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30" name="TextBox 29">
            <a:extLst>
              <a:ext uri="{FF2B5EF4-FFF2-40B4-BE49-F238E27FC236}">
                <a16:creationId xmlns:a16="http://schemas.microsoft.com/office/drawing/2014/main" id="{BC2C0BE1-B95B-4D4A-A7AF-12388DC0BACC}"/>
              </a:ext>
            </a:extLst>
          </p:cNvPr>
          <p:cNvSpPr txBox="1"/>
          <p:nvPr/>
        </p:nvSpPr>
        <p:spPr>
          <a:xfrm>
            <a:off x="1508041" y="4629150"/>
            <a:ext cx="378630" cy="1015663"/>
          </a:xfrm>
          <a:prstGeom prst="rect">
            <a:avLst/>
          </a:prstGeom>
          <a:noFill/>
        </p:spPr>
        <p:txBody>
          <a:bodyPr wrap="none" rtlCol="0">
            <a:spAutoFit/>
          </a:bodyPr>
          <a:lstStyle/>
          <a:p>
            <a:r>
              <a:rPr lang="en-US" sz="6000" dirty="0"/>
              <a:t>.</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94C6809-393C-471A-ABC2-94DA674EB867}"/>
                  </a:ext>
                </a:extLst>
              </p:cNvPr>
              <p:cNvSpPr txBox="1"/>
              <p:nvPr/>
            </p:nvSpPr>
            <p:spPr>
              <a:xfrm>
                <a:off x="3003232" y="5797294"/>
                <a:ext cx="801758" cy="2989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𝑏</m:t>
                          </m:r>
                        </m:e>
                        <m:sub>
                          <m:r>
                            <a:rPr lang="en-US" b="0" i="1" smtClean="0">
                              <a:latin typeface="Cambria Math" panose="02040503050406030204" pitchFamily="18" charset="0"/>
                            </a:rPr>
                            <m:t>𝑥</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𝑦</m:t>
                          </m:r>
                        </m:sub>
                      </m:sSub>
                      <m:r>
                        <a:rPr lang="en-US" b="0" i="1" smtClean="0">
                          <a:latin typeface="Cambria Math" panose="02040503050406030204" pitchFamily="18" charset="0"/>
                        </a:rPr>
                        <m:t>)</m:t>
                      </m:r>
                    </m:oMath>
                  </m:oMathPara>
                </a14:m>
                <a:endParaRPr lang="en-US" dirty="0"/>
              </a:p>
            </p:txBody>
          </p:sp>
        </mc:Choice>
        <mc:Fallback xmlns="">
          <p:sp>
            <p:nvSpPr>
              <p:cNvPr id="31" name="TextBox 30">
                <a:extLst>
                  <a:ext uri="{FF2B5EF4-FFF2-40B4-BE49-F238E27FC236}">
                    <a16:creationId xmlns:a16="http://schemas.microsoft.com/office/drawing/2014/main" id="{494C6809-393C-471A-ABC2-94DA674EB867}"/>
                  </a:ext>
                </a:extLst>
              </p:cNvPr>
              <p:cNvSpPr txBox="1">
                <a:spLocks noRot="1" noChangeAspect="1" noMove="1" noResize="1" noEditPoints="1" noAdjustHandles="1" noChangeArrowheads="1" noChangeShapeType="1" noTextEdit="1"/>
              </p:cNvSpPr>
              <p:nvPr/>
            </p:nvSpPr>
            <p:spPr>
              <a:xfrm>
                <a:off x="3003232" y="5797294"/>
                <a:ext cx="801758" cy="298928"/>
              </a:xfrm>
              <a:prstGeom prst="rect">
                <a:avLst/>
              </a:prstGeom>
              <a:blipFill>
                <a:blip r:embed="rId4"/>
                <a:stretch>
                  <a:fillRect l="-9924" r="-11450" b="-26531"/>
                </a:stretch>
              </a:blipFill>
            </p:spPr>
            <p:txBody>
              <a:bodyPr/>
              <a:lstStyle/>
              <a:p>
                <a:r>
                  <a:rPr lang="en-US">
                    <a:noFill/>
                  </a:rPr>
                  <a:t> </a:t>
                </a:r>
              </a:p>
            </p:txBody>
          </p:sp>
        </mc:Fallback>
      </mc:AlternateContent>
      <p:cxnSp>
        <p:nvCxnSpPr>
          <p:cNvPr id="33" name="Straight Arrow Connector 32">
            <a:extLst>
              <a:ext uri="{FF2B5EF4-FFF2-40B4-BE49-F238E27FC236}">
                <a16:creationId xmlns:a16="http://schemas.microsoft.com/office/drawing/2014/main" id="{0B062EFB-48B8-406E-9ADC-2A0030325BAF}"/>
              </a:ext>
            </a:extLst>
          </p:cNvPr>
          <p:cNvCxnSpPr>
            <a:cxnSpLocks/>
            <a:stCxn id="31" idx="1"/>
          </p:cNvCxnSpPr>
          <p:nvPr/>
        </p:nvCxnSpPr>
        <p:spPr>
          <a:xfrm flipH="1" flipV="1">
            <a:off x="1788795" y="5434965"/>
            <a:ext cx="1214437" cy="51179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D33A413E-89BD-4CD1-AE47-83D36ACFD537}"/>
              </a:ext>
            </a:extLst>
          </p:cNvPr>
          <p:cNvCxnSpPr/>
          <p:nvPr/>
        </p:nvCxnSpPr>
        <p:spPr>
          <a:xfrm>
            <a:off x="1045846" y="5327643"/>
            <a:ext cx="1325880" cy="0"/>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a:extLst>
              <a:ext uri="{FF2B5EF4-FFF2-40B4-BE49-F238E27FC236}">
                <a16:creationId xmlns:a16="http://schemas.microsoft.com/office/drawing/2014/main" id="{B96A2BF9-E717-4E53-AAF3-C0567C9DD281}"/>
              </a:ext>
            </a:extLst>
          </p:cNvPr>
          <p:cNvCxnSpPr>
            <a:cxnSpLocks/>
            <a:endCxn id="29" idx="2"/>
          </p:cNvCxnSpPr>
          <p:nvPr/>
        </p:nvCxnSpPr>
        <p:spPr>
          <a:xfrm>
            <a:off x="1697356" y="4786753"/>
            <a:ext cx="0" cy="110464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8F882CC2-55A1-49D2-98F1-7CFBA5BE4F4A}"/>
                  </a:ext>
                </a:extLst>
              </p:cNvPr>
              <p:cNvSpPr txBox="1"/>
              <p:nvPr/>
            </p:nvSpPr>
            <p:spPr>
              <a:xfrm rot="16200000">
                <a:off x="1340846" y="5500921"/>
                <a:ext cx="2886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h</m:t>
                          </m:r>
                        </m:sub>
                      </m:sSub>
                    </m:oMath>
                  </m:oMathPara>
                </a14:m>
                <a:endParaRPr lang="en-US" dirty="0"/>
              </a:p>
            </p:txBody>
          </p:sp>
        </mc:Choice>
        <mc:Fallback xmlns="">
          <p:sp>
            <p:nvSpPr>
              <p:cNvPr id="41" name="TextBox 40">
                <a:extLst>
                  <a:ext uri="{FF2B5EF4-FFF2-40B4-BE49-F238E27FC236}">
                    <a16:creationId xmlns:a16="http://schemas.microsoft.com/office/drawing/2014/main" id="{8F882CC2-55A1-49D2-98F1-7CFBA5BE4F4A}"/>
                  </a:ext>
                </a:extLst>
              </p:cNvPr>
              <p:cNvSpPr txBox="1">
                <a:spLocks noRot="1" noChangeAspect="1" noMove="1" noResize="1" noEditPoints="1" noAdjustHandles="1" noChangeArrowheads="1" noChangeShapeType="1" noTextEdit="1"/>
              </p:cNvSpPr>
              <p:nvPr/>
            </p:nvSpPr>
            <p:spPr>
              <a:xfrm rot="16200000">
                <a:off x="1340846" y="5500921"/>
                <a:ext cx="288669" cy="276999"/>
              </a:xfrm>
              <a:prstGeom prst="rect">
                <a:avLst/>
              </a:prstGeom>
              <a:blipFill>
                <a:blip r:embed="rId5"/>
                <a:stretch>
                  <a:fillRect t="-4167" r="-17778" b="-208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0A777A00-CC9C-4412-95ED-979A0B3E4BC1}"/>
                  </a:ext>
                </a:extLst>
              </p:cNvPr>
              <p:cNvSpPr txBox="1"/>
              <p:nvPr/>
            </p:nvSpPr>
            <p:spPr>
              <a:xfrm>
                <a:off x="2037965" y="5009376"/>
                <a:ext cx="3223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𝑤</m:t>
                          </m:r>
                        </m:sub>
                      </m:sSub>
                    </m:oMath>
                  </m:oMathPara>
                </a14:m>
                <a:endParaRPr lang="en-US" dirty="0"/>
              </a:p>
            </p:txBody>
          </p:sp>
        </mc:Choice>
        <mc:Fallback xmlns="">
          <p:sp>
            <p:nvSpPr>
              <p:cNvPr id="42" name="TextBox 41">
                <a:extLst>
                  <a:ext uri="{FF2B5EF4-FFF2-40B4-BE49-F238E27FC236}">
                    <a16:creationId xmlns:a16="http://schemas.microsoft.com/office/drawing/2014/main" id="{0A777A00-CC9C-4412-95ED-979A0B3E4BC1}"/>
                  </a:ext>
                </a:extLst>
              </p:cNvPr>
              <p:cNvSpPr txBox="1">
                <a:spLocks noRot="1" noChangeAspect="1" noMove="1" noResize="1" noEditPoints="1" noAdjustHandles="1" noChangeArrowheads="1" noChangeShapeType="1" noTextEdit="1"/>
              </p:cNvSpPr>
              <p:nvPr/>
            </p:nvSpPr>
            <p:spPr>
              <a:xfrm>
                <a:off x="2037965" y="5009376"/>
                <a:ext cx="322331" cy="276999"/>
              </a:xfrm>
              <a:prstGeom prst="rect">
                <a:avLst/>
              </a:prstGeom>
              <a:blipFill>
                <a:blip r:embed="rId6"/>
                <a:stretch>
                  <a:fillRect l="-16981" r="-3774" b="-11111"/>
                </a:stretch>
              </a:blipFill>
            </p:spPr>
            <p:txBody>
              <a:bodyPr/>
              <a:lstStyle/>
              <a:p>
                <a:r>
                  <a:rPr lang="en-US">
                    <a:noFill/>
                  </a:rPr>
                  <a:t> </a:t>
                </a:r>
              </a:p>
            </p:txBody>
          </p:sp>
        </mc:Fallback>
      </mc:AlternateContent>
      <p:sp>
        <p:nvSpPr>
          <p:cNvPr id="43" name="Rectangle 42">
            <a:extLst>
              <a:ext uri="{FF2B5EF4-FFF2-40B4-BE49-F238E27FC236}">
                <a16:creationId xmlns:a16="http://schemas.microsoft.com/office/drawing/2014/main" id="{11CDF469-095E-4089-AE9D-1386CAF18780}"/>
              </a:ext>
            </a:extLst>
          </p:cNvPr>
          <p:cNvSpPr/>
          <p:nvPr/>
        </p:nvSpPr>
        <p:spPr>
          <a:xfrm>
            <a:off x="972170" y="2854098"/>
            <a:ext cx="1303020" cy="1104641"/>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20D6C140-C0FF-46FA-901C-2DAF5272E6C7}"/>
                  </a:ext>
                </a:extLst>
              </p:cNvPr>
              <p:cNvSpPr txBox="1"/>
              <p:nvPr/>
            </p:nvSpPr>
            <p:spPr>
              <a:xfrm>
                <a:off x="101602" y="1440837"/>
                <a:ext cx="5498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(0,0)</m:t>
                      </m:r>
                    </m:oMath>
                  </m:oMathPara>
                </a14:m>
                <a:endParaRPr lang="en-US" dirty="0"/>
              </a:p>
            </p:txBody>
          </p:sp>
        </mc:Choice>
        <mc:Fallback xmlns="">
          <p:sp>
            <p:nvSpPr>
              <p:cNvPr id="44" name="TextBox 43">
                <a:extLst>
                  <a:ext uri="{FF2B5EF4-FFF2-40B4-BE49-F238E27FC236}">
                    <a16:creationId xmlns:a16="http://schemas.microsoft.com/office/drawing/2014/main" id="{20D6C140-C0FF-46FA-901C-2DAF5272E6C7}"/>
                  </a:ext>
                </a:extLst>
              </p:cNvPr>
              <p:cNvSpPr txBox="1">
                <a:spLocks noRot="1" noChangeAspect="1" noMove="1" noResize="1" noEditPoints="1" noAdjustHandles="1" noChangeArrowheads="1" noChangeShapeType="1" noTextEdit="1"/>
              </p:cNvSpPr>
              <p:nvPr/>
            </p:nvSpPr>
            <p:spPr>
              <a:xfrm>
                <a:off x="101602" y="1440837"/>
                <a:ext cx="549831" cy="276999"/>
              </a:xfrm>
              <a:prstGeom prst="rect">
                <a:avLst/>
              </a:prstGeom>
              <a:blipFill>
                <a:blip r:embed="rId7"/>
                <a:stretch>
                  <a:fillRect l="-14444" t="-2174" r="-15556"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B5E6249E-8F32-4145-8DDF-12CF792F21A4}"/>
                  </a:ext>
                </a:extLst>
              </p:cNvPr>
              <p:cNvSpPr txBox="1"/>
              <p:nvPr/>
            </p:nvSpPr>
            <p:spPr>
              <a:xfrm>
                <a:off x="2608582" y="4218600"/>
                <a:ext cx="5498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(1,1)</m:t>
                      </m:r>
                    </m:oMath>
                  </m:oMathPara>
                </a14:m>
                <a:endParaRPr lang="en-US" dirty="0"/>
              </a:p>
            </p:txBody>
          </p:sp>
        </mc:Choice>
        <mc:Fallback xmlns="">
          <p:sp>
            <p:nvSpPr>
              <p:cNvPr id="47" name="TextBox 46">
                <a:extLst>
                  <a:ext uri="{FF2B5EF4-FFF2-40B4-BE49-F238E27FC236}">
                    <a16:creationId xmlns:a16="http://schemas.microsoft.com/office/drawing/2014/main" id="{B5E6249E-8F32-4145-8DDF-12CF792F21A4}"/>
                  </a:ext>
                </a:extLst>
              </p:cNvPr>
              <p:cNvSpPr txBox="1">
                <a:spLocks noRot="1" noChangeAspect="1" noMove="1" noResize="1" noEditPoints="1" noAdjustHandles="1" noChangeArrowheads="1" noChangeShapeType="1" noTextEdit="1"/>
              </p:cNvSpPr>
              <p:nvPr/>
            </p:nvSpPr>
            <p:spPr>
              <a:xfrm>
                <a:off x="2608582" y="4218600"/>
                <a:ext cx="549831" cy="276999"/>
              </a:xfrm>
              <a:prstGeom prst="rect">
                <a:avLst/>
              </a:prstGeom>
              <a:blipFill>
                <a:blip r:embed="rId8"/>
                <a:stretch>
                  <a:fillRect l="-14444" t="-2222" r="-15556"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9F4590FC-8BCB-48A4-8D95-E4CA1176CC70}"/>
                  </a:ext>
                </a:extLst>
              </p:cNvPr>
              <p:cNvSpPr txBox="1"/>
              <p:nvPr/>
            </p:nvSpPr>
            <p:spPr>
              <a:xfrm>
                <a:off x="5865005" y="4439799"/>
                <a:ext cx="1231234" cy="150650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𝑥</m:t>
                          </m:r>
                        </m:sub>
                      </m:sSub>
                      <m:r>
                        <a:rPr lang="en-US" sz="2400" b="0" i="1" smtClean="0">
                          <a:latin typeface="Cambria Math" panose="02040503050406030204" pitchFamily="18" charset="0"/>
                        </a:rPr>
                        <m:t>=0.5</m:t>
                      </m:r>
                    </m:oMath>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𝑦</m:t>
                          </m:r>
                        </m:sub>
                      </m:sSub>
                      <m:r>
                        <a:rPr lang="en-US" sz="2400" b="0" i="1" smtClean="0">
                          <a:latin typeface="Cambria Math" panose="02040503050406030204" pitchFamily="18" charset="0"/>
                        </a:rPr>
                        <m:t>=0.7</m:t>
                      </m:r>
                    </m:oMath>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h</m:t>
                          </m:r>
                        </m:sub>
                      </m:sSub>
                      <m:r>
                        <a:rPr lang="en-US" sz="2400" b="0" i="1" smtClean="0">
                          <a:latin typeface="Cambria Math" panose="02040503050406030204" pitchFamily="18" charset="0"/>
                        </a:rPr>
                        <m:t>=</m:t>
                      </m:r>
                      <m:r>
                        <a:rPr lang="en-US" sz="2400" b="0" i="0" smtClean="0">
                          <a:latin typeface="Cambria Math" panose="02040503050406030204" pitchFamily="18" charset="0"/>
                        </a:rPr>
                        <m:t>0.3</m:t>
                      </m:r>
                    </m:oMath>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𝑤</m:t>
                          </m:r>
                        </m:sub>
                      </m:sSub>
                      <m:r>
                        <a:rPr lang="en-US" sz="2400" b="0" i="1" smtClean="0">
                          <a:latin typeface="Cambria Math" panose="02040503050406030204" pitchFamily="18" charset="0"/>
                        </a:rPr>
                        <m:t>=0.4</m:t>
                      </m:r>
                    </m:oMath>
                  </m:oMathPara>
                </a14:m>
                <a:endParaRPr lang="en-US" sz="2400" dirty="0"/>
              </a:p>
            </p:txBody>
          </p:sp>
        </mc:Choice>
        <mc:Fallback xmlns="">
          <p:sp>
            <p:nvSpPr>
              <p:cNvPr id="50" name="TextBox 49">
                <a:extLst>
                  <a:ext uri="{FF2B5EF4-FFF2-40B4-BE49-F238E27FC236}">
                    <a16:creationId xmlns:a16="http://schemas.microsoft.com/office/drawing/2014/main" id="{9F4590FC-8BCB-48A4-8D95-E4CA1176CC70}"/>
                  </a:ext>
                </a:extLst>
              </p:cNvPr>
              <p:cNvSpPr txBox="1">
                <a:spLocks noRot="1" noChangeAspect="1" noMove="1" noResize="1" noEditPoints="1" noAdjustHandles="1" noChangeArrowheads="1" noChangeShapeType="1" noTextEdit="1"/>
              </p:cNvSpPr>
              <p:nvPr/>
            </p:nvSpPr>
            <p:spPr>
              <a:xfrm>
                <a:off x="5865005" y="4439799"/>
                <a:ext cx="1231234" cy="1506503"/>
              </a:xfrm>
              <a:prstGeom prst="rect">
                <a:avLst/>
              </a:prstGeom>
              <a:blipFill>
                <a:blip r:embed="rId9"/>
                <a:stretch>
                  <a:fillRect l="-5446" r="-5941" b="-2024"/>
                </a:stretch>
              </a:blipFill>
            </p:spPr>
            <p:txBody>
              <a:bodyPr/>
              <a:lstStyle/>
              <a:p>
                <a:r>
                  <a:rPr lang="en-US">
                    <a:noFill/>
                  </a:rPr>
                  <a:t> </a:t>
                </a:r>
              </a:p>
            </p:txBody>
          </p:sp>
        </mc:Fallback>
      </mc:AlternateContent>
    </p:spTree>
    <p:extLst>
      <p:ext uri="{BB962C8B-B14F-4D97-AF65-F5344CB8AC3E}">
        <p14:creationId xmlns:p14="http://schemas.microsoft.com/office/powerpoint/2010/main" val="2279038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29"/>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30"/>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31"/>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33"/>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36"/>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37"/>
                                        </p:tgtEl>
                                        <p:attrNameLst>
                                          <p:attrName>style.visibility</p:attrName>
                                        </p:attrNameLst>
                                      </p:cBhvr>
                                      <p:to>
                                        <p:strVal val="hidden"/>
                                      </p:to>
                                    </p:set>
                                  </p:childTnLst>
                                </p:cTn>
                              </p:par>
                              <p:par>
                                <p:cTn id="71" presetID="1" presetClass="exit" presetSubtype="0" fill="hold" grpId="1" nodeType="withEffect">
                                  <p:stCondLst>
                                    <p:cond delay="0"/>
                                  </p:stCondLst>
                                  <p:childTnLst>
                                    <p:set>
                                      <p:cBhvr>
                                        <p:cTn id="72" dur="1" fill="hold">
                                          <p:stCondLst>
                                            <p:cond delay="0"/>
                                          </p:stCondLst>
                                        </p:cTn>
                                        <p:tgtEl>
                                          <p:spTgt spid="41"/>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42"/>
                                        </p:tgtEl>
                                        <p:attrNameLst>
                                          <p:attrName>style.visibility</p:attrName>
                                        </p:attrNameLst>
                                      </p:cBhvr>
                                      <p:to>
                                        <p:strVal val="hidden"/>
                                      </p:to>
                                    </p:set>
                                  </p:childTnLst>
                                </p:cTn>
                              </p:par>
                              <p:par>
                                <p:cTn id="75" presetID="2" presetClass="entr" presetSubtype="4"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 calcmode="lin" valueType="num">
                                      <p:cBhvr additive="base">
                                        <p:cTn id="77" dur="500" fill="hold"/>
                                        <p:tgtEl>
                                          <p:spTgt spid="43"/>
                                        </p:tgtEl>
                                        <p:attrNameLst>
                                          <p:attrName>ppt_x</p:attrName>
                                        </p:attrNameLst>
                                      </p:cBhvr>
                                      <p:tavLst>
                                        <p:tav tm="0">
                                          <p:val>
                                            <p:strVal val="#ppt_x"/>
                                          </p:val>
                                        </p:tav>
                                        <p:tav tm="100000">
                                          <p:val>
                                            <p:strVal val="#ppt_x"/>
                                          </p:val>
                                        </p:tav>
                                      </p:tavLst>
                                    </p:anim>
                                    <p:anim calcmode="lin" valueType="num">
                                      <p:cBhvr additive="base">
                                        <p:cTn id="7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4"/>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p:bldP spid="17" grpId="0"/>
      <p:bldP spid="18" grpId="0"/>
      <p:bldP spid="19" grpId="0"/>
      <p:bldP spid="24" grpId="0"/>
      <p:bldP spid="25" grpId="0"/>
      <p:bldP spid="28" grpId="0"/>
      <p:bldP spid="29" grpId="0" animBg="1"/>
      <p:bldP spid="29" grpId="1" animBg="1"/>
      <p:bldP spid="30" grpId="0"/>
      <p:bldP spid="30" grpId="1"/>
      <p:bldP spid="31" grpId="0"/>
      <p:bldP spid="31" grpId="1"/>
      <p:bldP spid="41" grpId="0"/>
      <p:bldP spid="41" grpId="1"/>
      <p:bldP spid="42" grpId="0"/>
      <p:bldP spid="42" grpId="1"/>
      <p:bldP spid="43" grpId="0" animBg="1"/>
      <p:bldP spid="44" grpId="0"/>
      <p:bldP spid="47" grpId="0"/>
      <p:bldP spid="5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21EAF-8CB0-4E4B-8DAB-E6AACD982777}"/>
              </a:ext>
            </a:extLst>
          </p:cNvPr>
          <p:cNvSpPr>
            <a:spLocks noGrp="1"/>
          </p:cNvSpPr>
          <p:nvPr>
            <p:ph type="title"/>
          </p:nvPr>
        </p:nvSpPr>
        <p:spPr>
          <a:xfrm>
            <a:off x="541020" y="129314"/>
            <a:ext cx="10515600" cy="1325563"/>
          </a:xfrm>
        </p:spPr>
        <p:txBody>
          <a:bodyPr/>
          <a:lstStyle/>
          <a:p>
            <a:r>
              <a:rPr lang="en-US" dirty="0"/>
              <a:t>Defining the target label</a:t>
            </a:r>
          </a:p>
        </p:txBody>
      </p:sp>
      <p:pic>
        <p:nvPicPr>
          <p:cNvPr id="4" name="Picture 3">
            <a:extLst>
              <a:ext uri="{FF2B5EF4-FFF2-40B4-BE49-F238E27FC236}">
                <a16:creationId xmlns:a16="http://schemas.microsoft.com/office/drawing/2014/main" id="{F5085164-C91A-4BAE-B9D3-7A8B3B0A57BE}"/>
              </a:ext>
            </a:extLst>
          </p:cNvPr>
          <p:cNvPicPr>
            <a:picLocks noChangeAspect="1"/>
          </p:cNvPicPr>
          <p:nvPr/>
        </p:nvPicPr>
        <p:blipFill>
          <a:blip r:embed="rId2"/>
          <a:stretch>
            <a:fillRect/>
          </a:stretch>
        </p:blipFill>
        <p:spPr>
          <a:xfrm>
            <a:off x="9628094" y="1946578"/>
            <a:ext cx="2129508" cy="2108214"/>
          </a:xfrm>
          <a:prstGeom prst="rect">
            <a:avLst/>
          </a:prstGeom>
        </p:spPr>
      </p:pic>
      <p:pic>
        <p:nvPicPr>
          <p:cNvPr id="6" name="Picture 5">
            <a:extLst>
              <a:ext uri="{FF2B5EF4-FFF2-40B4-BE49-F238E27FC236}">
                <a16:creationId xmlns:a16="http://schemas.microsoft.com/office/drawing/2014/main" id="{726B30E0-E631-4DD6-BD36-F2ED0A3C5BA7}"/>
              </a:ext>
            </a:extLst>
          </p:cNvPr>
          <p:cNvPicPr>
            <a:picLocks noChangeAspect="1"/>
          </p:cNvPicPr>
          <p:nvPr/>
        </p:nvPicPr>
        <p:blipFill>
          <a:blip r:embed="rId3"/>
          <a:stretch>
            <a:fillRect/>
          </a:stretch>
        </p:blipFill>
        <p:spPr>
          <a:xfrm>
            <a:off x="7167190" y="1973113"/>
            <a:ext cx="2073912" cy="2081679"/>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AF52FA0-716A-439B-AF92-0B647776618C}"/>
                  </a:ext>
                </a:extLst>
              </p:cNvPr>
              <p:cNvSpPr txBox="1"/>
              <p:nvPr/>
            </p:nvSpPr>
            <p:spPr>
              <a:xfrm>
                <a:off x="328900" y="1452083"/>
                <a:ext cx="1221104" cy="28372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m>
                            <m:mPr>
                              <m:mcs>
                                <m:mc>
                                  <m:mcPr>
                                    <m:count m:val="1"/>
                                    <m:mcJc m:val="center"/>
                                  </m:mcPr>
                                </m:mc>
                              </m:mcs>
                              <m:ctrlPr>
                                <a:rPr lang="en-US" sz="2400" b="0" i="1" smtClean="0">
                                  <a:latin typeface="Cambria Math" panose="02040503050406030204" pitchFamily="18" charset="0"/>
                                </a:rPr>
                              </m:ctrlPr>
                            </m:mPr>
                            <m:mr>
                              <m:e>
                                <m:m>
                                  <m:mPr>
                                    <m:mcs>
                                      <m:mc>
                                        <m:mcPr>
                                          <m:count m:val="1"/>
                                          <m:mcJc m:val="center"/>
                                        </m:mcPr>
                                      </m:mc>
                                    </m:mcs>
                                    <m:ctrlPr>
                                      <a:rPr lang="en-US" sz="2400" b="0" i="1" smtClean="0">
                                        <a:latin typeface="Cambria Math" panose="02040503050406030204" pitchFamily="18" charset="0"/>
                                      </a:rPr>
                                    </m:ctrlPr>
                                  </m:mPr>
                                  <m:m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𝑐</m:t>
                                          </m:r>
                                        </m:sub>
                                      </m:sSub>
                                    </m:e>
                                  </m:mr>
                                  <m:m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𝑥</m:t>
                                          </m:r>
                                        </m:sub>
                                      </m:sSub>
                                    </m:e>
                                  </m:mr>
                                </m:m>
                              </m:e>
                            </m:mr>
                            <m:mr>
                              <m:e>
                                <m:m>
                                  <m:mPr>
                                    <m:mcs>
                                      <m:mc>
                                        <m:mcPr>
                                          <m:count m:val="1"/>
                                          <m:mcJc m:val="center"/>
                                        </m:mcPr>
                                      </m:mc>
                                    </m:mcs>
                                    <m:ctrlPr>
                                      <a:rPr lang="en-US" sz="2400" b="0" i="1" smtClean="0">
                                        <a:latin typeface="Cambria Math" panose="02040503050406030204" pitchFamily="18" charset="0"/>
                                      </a:rPr>
                                    </m:ctrlPr>
                                  </m:mPr>
                                  <m:m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𝑦</m:t>
                                          </m:r>
                                        </m:sub>
                                      </m:sSub>
                                    </m:e>
                                  </m:mr>
                                  <m:mr>
                                    <m:e>
                                      <m:m>
                                        <m:mPr>
                                          <m:mcs>
                                            <m:mc>
                                              <m:mcPr>
                                                <m:count m:val="1"/>
                                                <m:mcJc m:val="center"/>
                                              </m:mcPr>
                                            </m:mc>
                                          </m:mcs>
                                          <m:ctrlPr>
                                            <a:rPr lang="en-US" sz="2400" b="0" i="1" smtClean="0">
                                              <a:latin typeface="Cambria Math" panose="02040503050406030204" pitchFamily="18" charset="0"/>
                                            </a:rPr>
                                          </m:ctrlPr>
                                        </m:mPr>
                                        <m:m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h</m:t>
                                                </m:r>
                                              </m:sub>
                                            </m:sSub>
                                          </m:e>
                                        </m:mr>
                                        <m:mr>
                                          <m:e>
                                            <m:m>
                                              <m:mPr>
                                                <m:mcs>
                                                  <m:mc>
                                                    <m:mcPr>
                                                      <m:count m:val="1"/>
                                                      <m:mcJc m:val="center"/>
                                                    </m:mcPr>
                                                  </m:mc>
                                                </m:mcs>
                                                <m:ctrlPr>
                                                  <a:rPr lang="en-US" sz="2400" b="0" i="1" smtClean="0">
                                                    <a:latin typeface="Cambria Math" panose="02040503050406030204" pitchFamily="18" charset="0"/>
                                                  </a:rPr>
                                                </m:ctrlPr>
                                              </m:mPr>
                                              <m:m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𝑤</m:t>
                                                      </m:r>
                                                    </m:sub>
                                                  </m:sSub>
                                                </m:e>
                                              </m:mr>
                                              <m:m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1</m:t>
                                                      </m:r>
                                                    </m:sub>
                                                  </m:sSub>
                                                </m:e>
                                              </m:mr>
                                              <m:mr>
                                                <m:e>
                                                  <m:m>
                                                    <m:mPr>
                                                      <m:mcs>
                                                        <m:mc>
                                                          <m:mcPr>
                                                            <m:count m:val="1"/>
                                                            <m:mcJc m:val="center"/>
                                                          </m:mcPr>
                                                        </m:mc>
                                                      </m:mcs>
                                                      <m:ctrlPr>
                                                        <a:rPr lang="en-US" sz="2400" b="0" i="1" smtClean="0">
                                                          <a:latin typeface="Cambria Math" panose="02040503050406030204" pitchFamily="18" charset="0"/>
                                                        </a:rPr>
                                                      </m:ctrlPr>
                                                    </m:mPr>
                                                    <m:m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2</m:t>
                                                            </m:r>
                                                          </m:sub>
                                                        </m:sSub>
                                                      </m:e>
                                                    </m:mr>
                                                    <m:m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𝑐</m:t>
                                                            </m:r>
                                                          </m:e>
                                                          <m:sub>
                                                            <m:r>
                                                              <a:rPr lang="en-US" sz="2400" b="0" i="1" smtClean="0">
                                                                <a:latin typeface="Cambria Math" panose="02040503050406030204" pitchFamily="18" charset="0"/>
                                                              </a:rPr>
                                                              <m:t>3</m:t>
                                                            </m:r>
                                                          </m:sub>
                                                        </m:sSub>
                                                      </m:e>
                                                    </m:mr>
                                                  </m:m>
                                                </m:e>
                                              </m:mr>
                                            </m:m>
                                          </m:e>
                                        </m:mr>
                                      </m:m>
                                    </m:e>
                                  </m:mr>
                                </m:m>
                              </m:e>
                            </m:mr>
                          </m:m>
                        </m:e>
                      </m:d>
                    </m:oMath>
                  </m:oMathPara>
                </a14:m>
                <a:endParaRPr lang="en-US" sz="2400" dirty="0"/>
              </a:p>
            </p:txBody>
          </p:sp>
        </mc:Choice>
        <mc:Fallback xmlns="">
          <p:sp>
            <p:nvSpPr>
              <p:cNvPr id="7" name="TextBox 6">
                <a:extLst>
                  <a:ext uri="{FF2B5EF4-FFF2-40B4-BE49-F238E27FC236}">
                    <a16:creationId xmlns:a16="http://schemas.microsoft.com/office/drawing/2014/main" id="{BAF52FA0-716A-439B-AF92-0B647776618C}"/>
                  </a:ext>
                </a:extLst>
              </p:cNvPr>
              <p:cNvSpPr txBox="1">
                <a:spLocks noRot="1" noChangeAspect="1" noMove="1" noResize="1" noEditPoints="1" noAdjustHandles="1" noChangeArrowheads="1" noChangeShapeType="1" noTextEdit="1"/>
              </p:cNvSpPr>
              <p:nvPr/>
            </p:nvSpPr>
            <p:spPr>
              <a:xfrm>
                <a:off x="328900" y="1452083"/>
                <a:ext cx="1221104" cy="283725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C411AA-96EB-4EA3-BFEF-A278C22E2A75}"/>
                  </a:ext>
                </a:extLst>
              </p:cNvPr>
              <p:cNvSpPr txBox="1"/>
              <p:nvPr/>
            </p:nvSpPr>
            <p:spPr>
              <a:xfrm>
                <a:off x="7557188" y="4147302"/>
                <a:ext cx="954236" cy="19982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0.5</m:t>
                                      </m:r>
                                    </m:e>
                                  </m:mr>
                                </m:m>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r>
                                        <a:rPr lang="en-US" b="0" i="1" smtClean="0">
                                          <a:latin typeface="Cambria Math" panose="02040503050406030204" pitchFamily="18" charset="0"/>
                                        </a:rPr>
                                        <m:t>.7</m:t>
                                      </m:r>
                                    </m:e>
                                  </m:mr>
                                  <m:mr>
                                    <m:e>
                                      <m:m>
                                        <m:mPr>
                                          <m:mcs>
                                            <m:mc>
                                              <m:mcPr>
                                                <m:count m:val="1"/>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0.3</m:t>
                                            </m:r>
                                          </m:e>
                                        </m:mr>
                                        <m:mr>
                                          <m:e>
                                            <m:m>
                                              <m:mPr>
                                                <m:mcs>
                                                  <m:mc>
                                                    <m:mcPr>
                                                      <m:count m:val="1"/>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0.4</m:t>
                                                  </m:r>
                                                </m:e>
                                              </m:mr>
                                              <m:mr>
                                                <m:e>
                                                  <m:r>
                                                    <a:rPr lang="en-US" b="0" i="1" smtClean="0">
                                                      <a:latin typeface="Cambria Math" panose="02040503050406030204" pitchFamily="18" charset="0"/>
                                                    </a:rPr>
                                                    <m:t>0</m:t>
                                                  </m:r>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mr>
                                                    <m:mr>
                                                      <m:e>
                                                        <m:r>
                                                          <a:rPr lang="en-US" b="0" i="1" smtClean="0">
                                                            <a:latin typeface="Cambria Math" panose="02040503050406030204" pitchFamily="18" charset="0"/>
                                                          </a:rPr>
                                                          <m:t>0</m:t>
                                                        </m:r>
                                                      </m:e>
                                                    </m:mr>
                                                  </m:m>
                                                </m:e>
                                              </m:mr>
                                            </m:m>
                                          </m:e>
                                        </m:mr>
                                      </m:m>
                                    </m:e>
                                  </m:mr>
                                </m:m>
                              </m:e>
                            </m:mr>
                          </m:m>
                        </m:e>
                      </m:d>
                    </m:oMath>
                  </m:oMathPara>
                </a14:m>
                <a:endParaRPr lang="en-US" dirty="0"/>
              </a:p>
            </p:txBody>
          </p:sp>
        </mc:Choice>
        <mc:Fallback xmlns="">
          <p:sp>
            <p:nvSpPr>
              <p:cNvPr id="8" name="TextBox 7">
                <a:extLst>
                  <a:ext uri="{FF2B5EF4-FFF2-40B4-BE49-F238E27FC236}">
                    <a16:creationId xmlns:a16="http://schemas.microsoft.com/office/drawing/2014/main" id="{E5C411AA-96EB-4EA3-BFEF-A278C22E2A75}"/>
                  </a:ext>
                </a:extLst>
              </p:cNvPr>
              <p:cNvSpPr txBox="1">
                <a:spLocks noRot="1" noChangeAspect="1" noMove="1" noResize="1" noEditPoints="1" noAdjustHandles="1" noChangeArrowheads="1" noChangeShapeType="1" noTextEdit="1"/>
              </p:cNvSpPr>
              <p:nvPr/>
            </p:nvSpPr>
            <p:spPr>
              <a:xfrm>
                <a:off x="7557188" y="4147302"/>
                <a:ext cx="954236" cy="199823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D1E17D-D691-4C35-B11D-54E7C0D08C4E}"/>
                  </a:ext>
                </a:extLst>
              </p:cNvPr>
              <p:cNvSpPr txBox="1"/>
              <p:nvPr/>
            </p:nvSpPr>
            <p:spPr>
              <a:xfrm>
                <a:off x="10138463" y="4147302"/>
                <a:ext cx="777905" cy="19186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mr>
                                  <m:mr>
                                    <m:e>
                                      <m:r>
                                        <a:rPr lang="en-US" b="0" i="1" smtClean="0">
                                          <a:latin typeface="Cambria Math" panose="02040503050406030204" pitchFamily="18" charset="0"/>
                                        </a:rPr>
                                        <m:t>?</m:t>
                                      </m:r>
                                    </m:e>
                                  </m:mr>
                                </m:m>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e>
                                              </m:mr>
                                              <m:mr>
                                                <m:e>
                                                  <m:r>
                                                    <a:rPr lang="en-US" b="0" i="1" smtClean="0">
                                                      <a:latin typeface="Cambria Math" panose="02040503050406030204" pitchFamily="18" charset="0"/>
                                                    </a:rPr>
                                                    <m:t>?</m:t>
                                                  </m:r>
                                                </m:e>
                                              </m:mr>
                                              <m:m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m:t>
                                                        </m:r>
                                                      </m:e>
                                                    </m:mr>
                                                    <m:mr>
                                                      <m:e>
                                                        <m:r>
                                                          <a:rPr lang="en-US" b="0" i="1" smtClean="0">
                                                            <a:latin typeface="Cambria Math" panose="02040503050406030204" pitchFamily="18" charset="0"/>
                                                          </a:rPr>
                                                          <m:t>?</m:t>
                                                        </m:r>
                                                      </m:e>
                                                    </m:mr>
                                                  </m:m>
                                                </m:e>
                                              </m:mr>
                                            </m:m>
                                          </m:e>
                                        </m:mr>
                                      </m:m>
                                    </m:e>
                                  </m:mr>
                                </m:m>
                              </m:e>
                            </m:mr>
                          </m:m>
                        </m:e>
                      </m:d>
                    </m:oMath>
                  </m:oMathPara>
                </a14:m>
                <a:endParaRPr lang="en-US" dirty="0"/>
              </a:p>
            </p:txBody>
          </p:sp>
        </mc:Choice>
        <mc:Fallback xmlns="">
          <p:sp>
            <p:nvSpPr>
              <p:cNvPr id="9" name="TextBox 8">
                <a:extLst>
                  <a:ext uri="{FF2B5EF4-FFF2-40B4-BE49-F238E27FC236}">
                    <a16:creationId xmlns:a16="http://schemas.microsoft.com/office/drawing/2014/main" id="{B7D1E17D-D691-4C35-B11D-54E7C0D08C4E}"/>
                  </a:ext>
                </a:extLst>
              </p:cNvPr>
              <p:cNvSpPr txBox="1">
                <a:spLocks noRot="1" noChangeAspect="1" noMove="1" noResize="1" noEditPoints="1" noAdjustHandles="1" noChangeArrowheads="1" noChangeShapeType="1" noTextEdit="1"/>
              </p:cNvSpPr>
              <p:nvPr/>
            </p:nvSpPr>
            <p:spPr>
              <a:xfrm>
                <a:off x="10138463" y="4147302"/>
                <a:ext cx="777905" cy="1918602"/>
              </a:xfrm>
              <a:prstGeom prst="rect">
                <a:avLst/>
              </a:prstGeom>
              <a:blipFill>
                <a:blip r:embed="rId6"/>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9EE0F3E3-959D-46FD-B10B-8FCC3C8DD3E4}"/>
              </a:ext>
            </a:extLst>
          </p:cNvPr>
          <p:cNvSpPr txBox="1"/>
          <p:nvPr/>
        </p:nvSpPr>
        <p:spPr>
          <a:xfrm>
            <a:off x="10138463" y="6246495"/>
            <a:ext cx="1359539" cy="369332"/>
          </a:xfrm>
          <a:prstGeom prst="rect">
            <a:avLst/>
          </a:prstGeom>
          <a:noFill/>
        </p:spPr>
        <p:txBody>
          <a:bodyPr wrap="none" rtlCol="0">
            <a:spAutoFit/>
          </a:bodyPr>
          <a:lstStyle/>
          <a:p>
            <a:r>
              <a:rPr lang="en-US" dirty="0"/>
              <a:t>?=don’t care</a:t>
            </a:r>
          </a:p>
        </p:txBody>
      </p:sp>
      <p:sp>
        <p:nvSpPr>
          <p:cNvPr id="11" name="TextBox 10">
            <a:extLst>
              <a:ext uri="{FF2B5EF4-FFF2-40B4-BE49-F238E27FC236}">
                <a16:creationId xmlns:a16="http://schemas.microsoft.com/office/drawing/2014/main" id="{5F8CA1FA-1926-49F5-855C-3969C569ACA2}"/>
              </a:ext>
            </a:extLst>
          </p:cNvPr>
          <p:cNvSpPr txBox="1"/>
          <p:nvPr/>
        </p:nvSpPr>
        <p:spPr>
          <a:xfrm>
            <a:off x="7818120" y="1690688"/>
            <a:ext cx="471283" cy="369332"/>
          </a:xfrm>
          <a:prstGeom prst="rect">
            <a:avLst/>
          </a:prstGeom>
          <a:noFill/>
        </p:spPr>
        <p:txBody>
          <a:bodyPr wrap="none" rtlCol="0">
            <a:spAutoFit/>
          </a:bodyPr>
          <a:lstStyle/>
          <a:p>
            <a:r>
              <a:rPr lang="en-US" dirty="0"/>
              <a:t>car</a:t>
            </a:r>
          </a:p>
        </p:txBody>
      </p:sp>
      <p:sp>
        <p:nvSpPr>
          <p:cNvPr id="12" name="TextBox 11">
            <a:extLst>
              <a:ext uri="{FF2B5EF4-FFF2-40B4-BE49-F238E27FC236}">
                <a16:creationId xmlns:a16="http://schemas.microsoft.com/office/drawing/2014/main" id="{3336F8CC-76A7-4E3E-A6EF-A6DA9C25017E}"/>
              </a:ext>
            </a:extLst>
          </p:cNvPr>
          <p:cNvSpPr txBox="1"/>
          <p:nvPr/>
        </p:nvSpPr>
        <p:spPr>
          <a:xfrm>
            <a:off x="9949815" y="1690688"/>
            <a:ext cx="1291829" cy="369332"/>
          </a:xfrm>
          <a:prstGeom prst="rect">
            <a:avLst/>
          </a:prstGeom>
          <a:noFill/>
        </p:spPr>
        <p:txBody>
          <a:bodyPr wrap="none" rtlCol="0">
            <a:spAutoFit/>
          </a:bodyPr>
          <a:lstStyle/>
          <a:p>
            <a:r>
              <a:rPr lang="en-US" dirty="0"/>
              <a:t>background</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977D6902-9D72-4A99-8970-A4D62CA3F541}"/>
                  </a:ext>
                </a:extLst>
              </p:cNvPr>
              <p:cNvSpPr txBox="1"/>
              <p:nvPr/>
            </p:nvSpPr>
            <p:spPr>
              <a:xfrm>
                <a:off x="2405329" y="1520640"/>
                <a:ext cx="2852319"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𝑐</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0</m:t>
                                </m:r>
                              </m:e>
                              <m:e>
                                <m:r>
                                  <m:rPr>
                                    <m:nor/>
                                  </m:rPr>
                                  <a:rPr lang="en-US" b="0" i="0" smtClean="0">
                                    <a:latin typeface="Cambria Math" panose="02040503050406030204" pitchFamily="18" charset="0"/>
                                  </a:rPr>
                                  <m:t>no</m:t>
                                </m:r>
                                <m:r>
                                  <m:rPr>
                                    <m:nor/>
                                  </m:rPr>
                                  <a:rPr lang="en-US" b="0" i="0" smtClean="0">
                                    <a:latin typeface="Cambria Math" panose="02040503050406030204" pitchFamily="18" charset="0"/>
                                  </a:rPr>
                                  <m:t> </m:t>
                                </m:r>
                                <m:r>
                                  <m:rPr>
                                    <m:nor/>
                                  </m:rPr>
                                  <a:rPr lang="en-US" b="0" i="0" smtClean="0">
                                    <a:latin typeface="Cambria Math" panose="02040503050406030204" pitchFamily="18" charset="0"/>
                                  </a:rPr>
                                  <m:t>object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detected</m:t>
                                </m:r>
                              </m:e>
                            </m:mr>
                            <m:mr>
                              <m:e>
                                <m:r>
                                  <a:rPr lang="en-US" b="0" i="1" smtClean="0">
                                    <a:latin typeface="Cambria Math" panose="02040503050406030204" pitchFamily="18" charset="0"/>
                                  </a:rPr>
                                  <m:t>1</m:t>
                                </m:r>
                              </m:e>
                              <m:e>
                                <m:r>
                                  <m:rPr>
                                    <m:nor/>
                                  </m:rPr>
                                  <a:rPr lang="en-US" b="0" i="0" smtClean="0">
                                    <a:latin typeface="Cambria Math" panose="02040503050406030204" pitchFamily="18" charset="0"/>
                                  </a:rPr>
                                  <m:t>object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detected</m:t>
                                </m:r>
                              </m:e>
                            </m:mr>
                          </m:m>
                        </m:e>
                      </m:d>
                    </m:oMath>
                  </m:oMathPara>
                </a14:m>
                <a:endParaRPr lang="en-US" dirty="0"/>
              </a:p>
            </p:txBody>
          </p:sp>
        </mc:Choice>
        <mc:Fallback xmlns="">
          <p:sp>
            <p:nvSpPr>
              <p:cNvPr id="13" name="TextBox 12">
                <a:extLst>
                  <a:ext uri="{FF2B5EF4-FFF2-40B4-BE49-F238E27FC236}">
                    <a16:creationId xmlns:a16="http://schemas.microsoft.com/office/drawing/2014/main" id="{977D6902-9D72-4A99-8970-A4D62CA3F541}"/>
                  </a:ext>
                </a:extLst>
              </p:cNvPr>
              <p:cNvSpPr txBox="1">
                <a:spLocks noRot="1" noChangeAspect="1" noMove="1" noResize="1" noEditPoints="1" noAdjustHandles="1" noChangeArrowheads="1" noChangeShapeType="1" noTextEdit="1"/>
              </p:cNvSpPr>
              <p:nvPr/>
            </p:nvSpPr>
            <p:spPr>
              <a:xfrm>
                <a:off x="2405329" y="1520640"/>
                <a:ext cx="2852319" cy="61786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19108BF-4360-4BF6-A092-6DAFFF75F031}"/>
                  </a:ext>
                </a:extLst>
              </p:cNvPr>
              <p:cNvSpPr txBox="1"/>
              <p:nvPr/>
            </p:nvSpPr>
            <p:spPr>
              <a:xfrm>
                <a:off x="2373419" y="2563175"/>
                <a:ext cx="3839000"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1</m:t>
                                </m:r>
                              </m:e>
                              <m:e>
                                <m:r>
                                  <m:rPr>
                                    <m:nor/>
                                  </m:rPr>
                                  <a:rPr lang="en-US" b="0" i="0" smtClean="0">
                                    <a:latin typeface="Cambria Math" panose="02040503050406030204" pitchFamily="18" charset="0"/>
                                  </a:rPr>
                                  <m:t>object</m:t>
                                </m:r>
                                <m:r>
                                  <m:rPr>
                                    <m:nor/>
                                  </m:rPr>
                                  <a:rPr lang="en-US" b="0" i="0" smtClean="0">
                                    <a:latin typeface="Cambria Math" panose="02040503050406030204" pitchFamily="18" charset="0"/>
                                  </a:rPr>
                                  <m:t> </m:t>
                                </m:r>
                                <m:r>
                                  <m:rPr>
                                    <m:nor/>
                                  </m:rPr>
                                  <a:rPr lang="en-US" b="0" i="0" smtClean="0">
                                    <a:latin typeface="Cambria Math" panose="02040503050406030204" pitchFamily="18" charset="0"/>
                                  </a:rPr>
                                  <m:t>of</m:t>
                                </m:r>
                                <m:r>
                                  <m:rPr>
                                    <m:nor/>
                                  </m:rPr>
                                  <a:rPr lang="en-US" b="0" i="0" smtClean="0">
                                    <a:latin typeface="Cambria Math" panose="02040503050406030204" pitchFamily="18" charset="0"/>
                                  </a:rPr>
                                  <m:t> </m:t>
                                </m:r>
                                <m:r>
                                  <m:rPr>
                                    <m:nor/>
                                  </m:rPr>
                                  <a:rPr lang="en-US" b="0" i="0" smtClean="0">
                                    <a:latin typeface="Cambria Math" panose="02040503050406030204" pitchFamily="18" charset="0"/>
                                  </a:rPr>
                                  <m:t>category</m:t>
                                </m:r>
                                <m:r>
                                  <m:rPr>
                                    <m:nor/>
                                  </m:rPr>
                                  <a:rPr lang="en-US" b="0" i="0" smtClean="0">
                                    <a:latin typeface="Cambria Math" panose="02040503050406030204" pitchFamily="18" charset="0"/>
                                  </a:rPr>
                                  <m:t> </m:t>
                                </m:r>
                                <m:r>
                                  <a:rPr lang="en-US" b="0" i="1" smtClean="0">
                                    <a:latin typeface="Cambria Math" panose="02040503050406030204" pitchFamily="18" charset="0"/>
                                  </a:rPr>
                                  <m:t>𝑖</m:t>
                                </m:r>
                                <m:r>
                                  <a:rPr lang="en-US" b="0" i="1" smtClean="0">
                                    <a:latin typeface="Cambria Math" panose="02040503050406030204" pitchFamily="18" charset="0"/>
                                  </a:rPr>
                                  <m:t> </m:t>
                                </m:r>
                                <m:r>
                                  <m:rPr>
                                    <m:nor/>
                                  </m:rPr>
                                  <a:rPr lang="en-US" b="0" i="0" smtClean="0">
                                    <a:latin typeface="Cambria Math" panose="02040503050406030204" pitchFamily="18" charset="0"/>
                                  </a:rPr>
                                  <m:t>detected</m:t>
                                </m:r>
                              </m:e>
                            </m:mr>
                            <m:mr>
                              <m:e>
                                <m:r>
                                  <a:rPr lang="en-US" b="0" i="1" smtClean="0">
                                    <a:latin typeface="Cambria Math" panose="02040503050406030204" pitchFamily="18" charset="0"/>
                                  </a:rPr>
                                  <m:t>0</m:t>
                                </m:r>
                              </m:e>
                              <m:e>
                                <m:r>
                                  <m:rPr>
                                    <m:nor/>
                                  </m:rPr>
                                  <a:rPr lang="en-US" b="0" i="0" smtClean="0">
                                    <a:latin typeface="Cambria Math" panose="02040503050406030204" pitchFamily="18" charset="0"/>
                                  </a:rPr>
                                  <m:t>otherwise</m:t>
                                </m:r>
                              </m:e>
                            </m:mr>
                          </m:m>
                        </m:e>
                      </m:d>
                    </m:oMath>
                  </m:oMathPara>
                </a14:m>
                <a:endParaRPr lang="en-US" dirty="0"/>
              </a:p>
            </p:txBody>
          </p:sp>
        </mc:Choice>
        <mc:Fallback xmlns="">
          <p:sp>
            <p:nvSpPr>
              <p:cNvPr id="3" name="TextBox 2">
                <a:extLst>
                  <a:ext uri="{FF2B5EF4-FFF2-40B4-BE49-F238E27FC236}">
                    <a16:creationId xmlns:a16="http://schemas.microsoft.com/office/drawing/2014/main" id="{719108BF-4360-4BF6-A092-6DAFFF75F031}"/>
                  </a:ext>
                </a:extLst>
              </p:cNvPr>
              <p:cNvSpPr txBox="1">
                <a:spLocks noRot="1" noChangeAspect="1" noMove="1" noResize="1" noEditPoints="1" noAdjustHandles="1" noChangeArrowheads="1" noChangeShapeType="1" noTextEdit="1"/>
              </p:cNvSpPr>
              <p:nvPr/>
            </p:nvSpPr>
            <p:spPr>
              <a:xfrm>
                <a:off x="2373419" y="2563175"/>
                <a:ext cx="3839000" cy="617861"/>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959EBAD-6B08-4754-B502-92E4E318AF71}"/>
                  </a:ext>
                </a:extLst>
              </p:cNvPr>
              <p:cNvSpPr txBox="1"/>
              <p:nvPr/>
            </p:nvSpPr>
            <p:spPr>
              <a:xfrm>
                <a:off x="279123" y="5337360"/>
                <a:ext cx="4460644" cy="7776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4</m:t>
                              </m:r>
                            </m:sub>
                          </m:sSub>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4</m:t>
                          </m:r>
                        </m:sup>
                        <m:e>
                          <m:sSup>
                            <m:sSupPr>
                              <m:ctrlPr>
                                <a:rPr lang="en-US" i="1">
                                  <a:latin typeface="Cambria Math" panose="02040503050406030204" pitchFamily="18" charset="0"/>
                                </a:rPr>
                              </m:ctrlPr>
                            </m:sSupPr>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r>
                                <a:rPr lang="en-US" i="1">
                                  <a:latin typeface="Cambria Math" panose="02040503050406030204" pitchFamily="18" charset="0"/>
                                </a:rPr>
                                <m:t>)</m:t>
                              </m:r>
                            </m:e>
                            <m:sup>
                              <m:r>
                                <a:rPr lang="en-US" i="1">
                                  <a:latin typeface="Cambria Math" panose="02040503050406030204" pitchFamily="18" charset="0"/>
                                </a:rPr>
                                <m:t>2</m:t>
                              </m:r>
                            </m:sup>
                          </m:sSup>
                        </m:e>
                      </m:nary>
                    </m:oMath>
                  </m:oMathPara>
                </a14:m>
                <a:endParaRPr lang="en-US" dirty="0"/>
              </a:p>
            </p:txBody>
          </p:sp>
        </mc:Choice>
        <mc:Fallback xmlns="">
          <p:sp>
            <p:nvSpPr>
              <p:cNvPr id="5" name="TextBox 4">
                <a:extLst>
                  <a:ext uri="{FF2B5EF4-FFF2-40B4-BE49-F238E27FC236}">
                    <a16:creationId xmlns:a16="http://schemas.microsoft.com/office/drawing/2014/main" id="{4959EBAD-6B08-4754-B502-92E4E318AF71}"/>
                  </a:ext>
                </a:extLst>
              </p:cNvPr>
              <p:cNvSpPr txBox="1">
                <a:spLocks noRot="1" noChangeAspect="1" noMove="1" noResize="1" noEditPoints="1" noAdjustHandles="1" noChangeArrowheads="1" noChangeShapeType="1" noTextEdit="1"/>
              </p:cNvSpPr>
              <p:nvPr/>
            </p:nvSpPr>
            <p:spPr>
              <a:xfrm>
                <a:off x="279123" y="5337360"/>
                <a:ext cx="4460644" cy="777649"/>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90379F8-475A-45D1-AE1D-B73B8E2529B8}"/>
                  </a:ext>
                </a:extLst>
              </p:cNvPr>
              <p:cNvSpPr txBox="1"/>
              <p:nvPr/>
            </p:nvSpPr>
            <p:spPr>
              <a:xfrm>
                <a:off x="279123" y="5060361"/>
                <a:ext cx="475098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0</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0</m:t>
                                  </m:r>
                                </m:sub>
                              </m:sSub>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0</m:t>
                                  </m:r>
                                </m:sub>
                              </m:sSub>
                            </m:e>
                          </m:d>
                          <m:r>
                            <m:rPr>
                              <m:sty m:val="p"/>
                            </m:rPr>
                            <a:rPr lang="en-US" b="0" i="0" smtClean="0">
                              <a:latin typeface="Cambria Math" panose="02040503050406030204" pitchFamily="18" charset="0"/>
                            </a:rPr>
                            <m:t>log</m:t>
                          </m:r>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0</m:t>
                              </m:r>
                            </m:sub>
                          </m:sSub>
                          <m:r>
                            <a:rPr lang="en-US" b="0" i="1" smtClean="0">
                              <a:latin typeface="Cambria Math" panose="02040503050406030204" pitchFamily="18" charset="0"/>
                            </a:rPr>
                            <m:t>)</m:t>
                          </m:r>
                        </m:e>
                      </m:func>
                    </m:oMath>
                  </m:oMathPara>
                </a14:m>
                <a:endParaRPr lang="en-US" dirty="0"/>
              </a:p>
            </p:txBody>
          </p:sp>
        </mc:Choice>
        <mc:Fallback xmlns="">
          <p:sp>
            <p:nvSpPr>
              <p:cNvPr id="14" name="TextBox 13">
                <a:extLst>
                  <a:ext uri="{FF2B5EF4-FFF2-40B4-BE49-F238E27FC236}">
                    <a16:creationId xmlns:a16="http://schemas.microsoft.com/office/drawing/2014/main" id="{F90379F8-475A-45D1-AE1D-B73B8E2529B8}"/>
                  </a:ext>
                </a:extLst>
              </p:cNvPr>
              <p:cNvSpPr txBox="1">
                <a:spLocks noRot="1" noChangeAspect="1" noMove="1" noResize="1" noEditPoints="1" noAdjustHandles="1" noChangeArrowheads="1" noChangeShapeType="1" noTextEdit="1"/>
              </p:cNvSpPr>
              <p:nvPr/>
            </p:nvSpPr>
            <p:spPr>
              <a:xfrm>
                <a:off x="279123" y="5060361"/>
                <a:ext cx="4750981" cy="276999"/>
              </a:xfrm>
              <a:prstGeom prst="rect">
                <a:avLst/>
              </a:prstGeom>
              <a:blipFill>
                <a:blip r:embed="rId10"/>
                <a:stretch>
                  <a:fillRect t="-23913" r="-1926"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E67DD8B0-05F6-46E4-9C77-68919C7E20CC}"/>
                  </a:ext>
                </a:extLst>
              </p:cNvPr>
              <p:cNvSpPr txBox="1"/>
              <p:nvPr/>
            </p:nvSpPr>
            <p:spPr>
              <a:xfrm>
                <a:off x="301279" y="6003312"/>
                <a:ext cx="4032129" cy="7773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3</m:t>
                          </m:r>
                        </m:sub>
                      </m:sSub>
                      <m:d>
                        <m:dPr>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5</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6</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b="0" i="1" smtClean="0">
                                  <a:latin typeface="Cambria Math" panose="02040503050406030204" pitchFamily="18" charset="0"/>
                                </a:rPr>
                                <m:t>7</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sub>
                              <m:r>
                                <a:rPr lang="en-US" b="0" i="1" smtClean="0">
                                  <a:latin typeface="Cambria Math" panose="02040503050406030204" pitchFamily="18" charset="0"/>
                                </a:rPr>
                                <m:t>5</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6</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b="0" i="1" smtClean="0">
                                  <a:latin typeface="Cambria Math" panose="02040503050406030204" pitchFamily="18" charset="0"/>
                                </a:rPr>
                                <m:t>7</m:t>
                              </m:r>
                            </m:sub>
                          </m:sSub>
                          <m:r>
                            <a:rPr lang="en-US" i="1" smtClean="0">
                              <a:latin typeface="Cambria Math" panose="02040503050406030204" pitchFamily="18" charset="0"/>
                            </a:rPr>
                            <m:t> </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=5</m:t>
                          </m:r>
                        </m:sub>
                        <m:sup>
                          <m:r>
                            <a:rPr lang="en-US" b="0" i="1" smtClean="0">
                              <a:latin typeface="Cambria Math" panose="02040503050406030204" pitchFamily="18" charset="0"/>
                            </a:rPr>
                            <m:t>7</m:t>
                          </m:r>
                        </m:sup>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r>
                            <m:rPr>
                              <m:sty m:val="p"/>
                            </m:rPr>
                            <a:rPr lang="en-US">
                              <a:latin typeface="Cambria Math" panose="02040503050406030204" pitchFamily="18" charset="0"/>
                            </a:rPr>
                            <m:t>log</m:t>
                          </m:r>
                          <m:r>
                            <a:rPr lang="en-US" i="1">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𝑦</m:t>
                                  </m:r>
                                </m:e>
                              </m:acc>
                            </m:e>
                            <m:sub>
                              <m:r>
                                <a:rPr lang="en-US" i="1">
                                  <a:latin typeface="Cambria Math" panose="02040503050406030204" pitchFamily="18" charset="0"/>
                                </a:rPr>
                                <m:t>𝑖</m:t>
                              </m:r>
                            </m:sub>
                          </m:sSub>
                          <m:r>
                            <a:rPr lang="en-US" i="1">
                              <a:latin typeface="Cambria Math" panose="02040503050406030204" pitchFamily="18" charset="0"/>
                            </a:rPr>
                            <m:t>)</m:t>
                          </m:r>
                        </m:e>
                      </m:nary>
                    </m:oMath>
                  </m:oMathPara>
                </a14:m>
                <a:endParaRPr lang="en-US" dirty="0"/>
              </a:p>
            </p:txBody>
          </p:sp>
        </mc:Choice>
        <mc:Fallback xmlns="">
          <p:sp>
            <p:nvSpPr>
              <p:cNvPr id="17" name="TextBox 16">
                <a:extLst>
                  <a:ext uri="{FF2B5EF4-FFF2-40B4-BE49-F238E27FC236}">
                    <a16:creationId xmlns:a16="http://schemas.microsoft.com/office/drawing/2014/main" id="{E67DD8B0-05F6-46E4-9C77-68919C7E20CC}"/>
                  </a:ext>
                </a:extLst>
              </p:cNvPr>
              <p:cNvSpPr txBox="1">
                <a:spLocks noRot="1" noChangeAspect="1" noMove="1" noResize="1" noEditPoints="1" noAdjustHandles="1" noChangeArrowheads="1" noChangeShapeType="1" noTextEdit="1"/>
              </p:cNvSpPr>
              <p:nvPr/>
            </p:nvSpPr>
            <p:spPr>
              <a:xfrm>
                <a:off x="301279" y="6003312"/>
                <a:ext cx="4032129" cy="777392"/>
              </a:xfrm>
              <a:prstGeom prst="rect">
                <a:avLst/>
              </a:prstGeom>
              <a:blipFill>
                <a:blip r:embed="rId11"/>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44F78295-1428-4DA8-B32C-397B942778C1}"/>
              </a:ext>
            </a:extLst>
          </p:cNvPr>
          <p:cNvSpPr txBox="1"/>
          <p:nvPr/>
        </p:nvSpPr>
        <p:spPr>
          <a:xfrm>
            <a:off x="519656" y="4526982"/>
            <a:ext cx="1988045" cy="461665"/>
          </a:xfrm>
          <a:prstGeom prst="rect">
            <a:avLst/>
          </a:prstGeom>
          <a:noFill/>
        </p:spPr>
        <p:txBody>
          <a:bodyPr wrap="none" rtlCol="0">
            <a:spAutoFit/>
          </a:bodyPr>
          <a:lstStyle/>
          <a:p>
            <a:r>
              <a:rPr lang="en-US" sz="2400" b="1" dirty="0"/>
              <a:t>Loss functions</a:t>
            </a:r>
          </a:p>
        </p:txBody>
      </p:sp>
      <p:sp>
        <p:nvSpPr>
          <p:cNvPr id="18" name="TextBox 17">
            <a:extLst>
              <a:ext uri="{FF2B5EF4-FFF2-40B4-BE49-F238E27FC236}">
                <a16:creationId xmlns:a16="http://schemas.microsoft.com/office/drawing/2014/main" id="{32FF9B04-C493-452D-9D4B-37400625295E}"/>
              </a:ext>
            </a:extLst>
          </p:cNvPr>
          <p:cNvSpPr txBox="1"/>
          <p:nvPr/>
        </p:nvSpPr>
        <p:spPr>
          <a:xfrm>
            <a:off x="4837838" y="5587685"/>
            <a:ext cx="1072281" cy="369332"/>
          </a:xfrm>
          <a:prstGeom prst="rect">
            <a:avLst/>
          </a:prstGeom>
          <a:noFill/>
        </p:spPr>
        <p:txBody>
          <a:bodyPr wrap="none" rtlCol="0">
            <a:spAutoFit/>
          </a:bodyPr>
          <a:lstStyle/>
          <a:p>
            <a:r>
              <a:rPr lang="en-US" i="1" dirty="0"/>
              <a:t>quadratic</a:t>
            </a:r>
          </a:p>
        </p:txBody>
      </p:sp>
      <p:sp>
        <p:nvSpPr>
          <p:cNvPr id="19" name="TextBox 18">
            <a:extLst>
              <a:ext uri="{FF2B5EF4-FFF2-40B4-BE49-F238E27FC236}">
                <a16:creationId xmlns:a16="http://schemas.microsoft.com/office/drawing/2014/main" id="{5096C7E2-6A41-4B43-911B-5AFF9B75175D}"/>
              </a:ext>
            </a:extLst>
          </p:cNvPr>
          <p:cNvSpPr txBox="1"/>
          <p:nvPr/>
        </p:nvSpPr>
        <p:spPr>
          <a:xfrm>
            <a:off x="5040230" y="5040388"/>
            <a:ext cx="2111540" cy="369332"/>
          </a:xfrm>
          <a:prstGeom prst="rect">
            <a:avLst/>
          </a:prstGeom>
          <a:noFill/>
        </p:spPr>
        <p:txBody>
          <a:bodyPr wrap="none" rtlCol="0">
            <a:spAutoFit/>
          </a:bodyPr>
          <a:lstStyle/>
          <a:p>
            <a:r>
              <a:rPr lang="en-US" i="1" dirty="0"/>
              <a:t>binary cross-entropy</a:t>
            </a:r>
          </a:p>
        </p:txBody>
      </p:sp>
      <p:sp>
        <p:nvSpPr>
          <p:cNvPr id="20" name="TextBox 19">
            <a:extLst>
              <a:ext uri="{FF2B5EF4-FFF2-40B4-BE49-F238E27FC236}">
                <a16:creationId xmlns:a16="http://schemas.microsoft.com/office/drawing/2014/main" id="{340CD748-E65C-47A3-ADF4-9FCC7996F019}"/>
              </a:ext>
            </a:extLst>
          </p:cNvPr>
          <p:cNvSpPr txBox="1"/>
          <p:nvPr/>
        </p:nvSpPr>
        <p:spPr>
          <a:xfrm>
            <a:off x="4499737" y="6180746"/>
            <a:ext cx="2340705" cy="369332"/>
          </a:xfrm>
          <a:prstGeom prst="rect">
            <a:avLst/>
          </a:prstGeom>
          <a:noFill/>
        </p:spPr>
        <p:txBody>
          <a:bodyPr wrap="none" rtlCol="0">
            <a:spAutoFit/>
          </a:bodyPr>
          <a:lstStyle/>
          <a:p>
            <a:r>
              <a:rPr lang="en-US" i="1" dirty="0"/>
              <a:t>soft-max cross-entropy</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3533D7C-1EF1-4B1D-A5C3-6C4A2256319C}"/>
                  </a:ext>
                </a:extLst>
              </p:cNvPr>
              <p:cNvSpPr txBox="1"/>
              <p:nvPr/>
            </p:nvSpPr>
            <p:spPr>
              <a:xfrm>
                <a:off x="3177043" y="4124239"/>
                <a:ext cx="321261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ea typeface="Cambria Math" panose="02040503050406030204" pitchFamily="18" charset="0"/>
                        </a:rPr>
                        <m:t>ℓ</m:t>
                      </m:r>
                      <m:d>
                        <m:dPr>
                          <m:ctrlPr>
                            <a:rPr lang="en-US" sz="2000" b="1" i="1" smtClean="0">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𝒚</m:t>
                          </m:r>
                          <m:r>
                            <a:rPr lang="en-US" sz="2000" b="1" i="1" smtClean="0">
                              <a:latin typeface="Cambria Math" panose="02040503050406030204" pitchFamily="18" charset="0"/>
                              <a:ea typeface="Cambria Math" panose="02040503050406030204" pitchFamily="18" charset="0"/>
                            </a:rPr>
                            <m:t>,</m:t>
                          </m:r>
                          <m:acc>
                            <m:accPr>
                              <m:chr m:val="̂"/>
                              <m:ctrlPr>
                                <a:rPr lang="en-US" sz="2000" b="1" i="1" smtClean="0">
                                  <a:latin typeface="Cambria Math" panose="02040503050406030204" pitchFamily="18" charset="0"/>
                                  <a:ea typeface="Cambria Math" panose="02040503050406030204" pitchFamily="18" charset="0"/>
                                </a:rPr>
                              </m:ctrlPr>
                            </m:accPr>
                            <m:e>
                              <m:r>
                                <a:rPr lang="en-US" sz="2000" b="1" i="1" smtClean="0">
                                  <a:latin typeface="Cambria Math" panose="02040503050406030204" pitchFamily="18" charset="0"/>
                                  <a:ea typeface="Cambria Math" panose="02040503050406030204" pitchFamily="18" charset="0"/>
                                </a:rPr>
                                <m:t>𝒚</m:t>
                              </m:r>
                            </m:e>
                          </m:acc>
                        </m:e>
                      </m:d>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𝒍</m:t>
                          </m:r>
                        </m:e>
                        <m:sub>
                          <m:r>
                            <a:rPr lang="en-US" sz="2000" b="1" i="1" smtClean="0">
                              <a:latin typeface="Cambria Math" panose="02040503050406030204" pitchFamily="18" charset="0"/>
                              <a:ea typeface="Cambria Math" panose="02040503050406030204" pitchFamily="18" charset="0"/>
                            </a:rPr>
                            <m:t>𝟏</m:t>
                          </m:r>
                        </m:sub>
                      </m:sSub>
                      <m:d>
                        <m:dPr>
                          <m:ctrlPr>
                            <a:rPr lang="en-US" sz="2000" b="1" i="1" smtClean="0">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 </m:t>
                          </m:r>
                        </m:e>
                      </m:d>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𝒍</m:t>
                          </m:r>
                        </m:e>
                        <m:sub>
                          <m:r>
                            <a:rPr lang="en-US" sz="2000" b="1" i="1" smtClean="0">
                              <a:latin typeface="Cambria Math" panose="02040503050406030204" pitchFamily="18" charset="0"/>
                              <a:ea typeface="Cambria Math" panose="02040503050406030204" pitchFamily="18" charset="0"/>
                            </a:rPr>
                            <m:t>𝟐</m:t>
                          </m:r>
                        </m:sub>
                      </m:sSub>
                      <m:d>
                        <m:dPr>
                          <m:ctrlPr>
                            <a:rPr lang="en-US" sz="2000" b="1" i="1" smtClean="0">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 </m:t>
                          </m:r>
                        </m:e>
                      </m:d>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𝒍</m:t>
                          </m:r>
                        </m:e>
                        <m:sub>
                          <m:r>
                            <a:rPr lang="en-US" sz="2000" b="1" i="1" smtClean="0">
                              <a:latin typeface="Cambria Math" panose="02040503050406030204" pitchFamily="18" charset="0"/>
                              <a:ea typeface="Cambria Math" panose="02040503050406030204" pitchFamily="18" charset="0"/>
                            </a:rPr>
                            <m:t>𝟑</m:t>
                          </m:r>
                        </m:sub>
                      </m:sSub>
                      <m:r>
                        <a:rPr lang="en-US" sz="2000" b="1" i="1" smtClean="0">
                          <a:latin typeface="Cambria Math" panose="02040503050406030204" pitchFamily="18" charset="0"/>
                          <a:ea typeface="Cambria Math" panose="02040503050406030204" pitchFamily="18" charset="0"/>
                        </a:rPr>
                        <m:t>( )</m:t>
                      </m:r>
                    </m:oMath>
                  </m:oMathPara>
                </a14:m>
                <a:endParaRPr lang="en-US" sz="2000" b="1" dirty="0"/>
              </a:p>
            </p:txBody>
          </p:sp>
        </mc:Choice>
        <mc:Fallback xmlns="">
          <p:sp>
            <p:nvSpPr>
              <p:cNvPr id="16" name="TextBox 15">
                <a:extLst>
                  <a:ext uri="{FF2B5EF4-FFF2-40B4-BE49-F238E27FC236}">
                    <a16:creationId xmlns:a16="http://schemas.microsoft.com/office/drawing/2014/main" id="{43533D7C-1EF1-4B1D-A5C3-6C4A2256319C}"/>
                  </a:ext>
                </a:extLst>
              </p:cNvPr>
              <p:cNvSpPr txBox="1">
                <a:spLocks noRot="1" noChangeAspect="1" noMove="1" noResize="1" noEditPoints="1" noAdjustHandles="1" noChangeArrowheads="1" noChangeShapeType="1" noTextEdit="1"/>
              </p:cNvSpPr>
              <p:nvPr/>
            </p:nvSpPr>
            <p:spPr>
              <a:xfrm>
                <a:off x="3177043" y="4124239"/>
                <a:ext cx="3212611" cy="307777"/>
              </a:xfrm>
              <a:prstGeom prst="rect">
                <a:avLst/>
              </a:prstGeom>
              <a:blipFill>
                <a:blip r:embed="rId12"/>
                <a:stretch>
                  <a:fillRect l="-1518" t="-26000" r="-2467" b="-3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0CD4A7FF-8F9F-436F-AF55-6725DB0FCAA7}"/>
                  </a:ext>
                </a:extLst>
              </p:cNvPr>
              <p:cNvSpPr txBox="1"/>
              <p:nvPr/>
            </p:nvSpPr>
            <p:spPr>
              <a:xfrm>
                <a:off x="1686302" y="1418933"/>
                <a:ext cx="406137" cy="290355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600" i="1" smtClean="0">
                              <a:latin typeface="Cambria Math" panose="02040503050406030204" pitchFamily="18" charset="0"/>
                            </a:rPr>
                          </m:ctrlPr>
                        </m:mPr>
                        <m:mr>
                          <m:e>
                            <m:m>
                              <m:mPr>
                                <m:mcs>
                                  <m:mc>
                                    <m:mcPr>
                                      <m:count m:val="1"/>
                                      <m:mcJc m:val="center"/>
                                    </m:mcPr>
                                  </m:mc>
                                </m:mcs>
                                <m:ctrlPr>
                                  <a:rPr lang="en-US" sz="2600" i="1" smtClean="0">
                                    <a:latin typeface="Cambria Math" panose="02040503050406030204" pitchFamily="18" charset="0"/>
                                  </a:rPr>
                                </m:ctrlPr>
                              </m:mPr>
                              <m:mr>
                                <m:e>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𝑦</m:t>
                                      </m:r>
                                    </m:e>
                                    <m:sub>
                                      <m:r>
                                        <a:rPr lang="en-US" sz="2600" b="0" i="1" smtClean="0">
                                          <a:latin typeface="Cambria Math" panose="02040503050406030204" pitchFamily="18" charset="0"/>
                                        </a:rPr>
                                        <m:t>0</m:t>
                                      </m:r>
                                    </m:sub>
                                  </m:sSub>
                                </m:e>
                              </m:mr>
                              <m:mr>
                                <m:e>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𝑦</m:t>
                                      </m:r>
                                    </m:e>
                                    <m:sub>
                                      <m:r>
                                        <a:rPr lang="en-US" sz="2600" b="0" i="1" smtClean="0">
                                          <a:latin typeface="Cambria Math" panose="02040503050406030204" pitchFamily="18" charset="0"/>
                                        </a:rPr>
                                        <m:t>1</m:t>
                                      </m:r>
                                    </m:sub>
                                  </m:sSub>
                                </m:e>
                              </m:mr>
                              <m:mr>
                                <m:e>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𝑦</m:t>
                                      </m:r>
                                    </m:e>
                                    <m:sub>
                                      <m:r>
                                        <a:rPr lang="en-US" sz="2600" b="0" i="1" smtClean="0">
                                          <a:latin typeface="Cambria Math" panose="02040503050406030204" pitchFamily="18" charset="0"/>
                                        </a:rPr>
                                        <m:t>2</m:t>
                                      </m:r>
                                    </m:sub>
                                  </m:sSub>
                                </m:e>
                              </m:mr>
                            </m:m>
                          </m:e>
                        </m:mr>
                        <m:mr>
                          <m:e>
                            <m:m>
                              <m:mPr>
                                <m:mcs>
                                  <m:mc>
                                    <m:mcPr>
                                      <m:count m:val="1"/>
                                      <m:mcJc m:val="center"/>
                                    </m:mcPr>
                                  </m:mc>
                                </m:mcs>
                                <m:ctrlPr>
                                  <a:rPr lang="en-US" sz="2600" i="1" smtClean="0">
                                    <a:latin typeface="Cambria Math" panose="02040503050406030204" pitchFamily="18" charset="0"/>
                                  </a:rPr>
                                </m:ctrlPr>
                              </m:mPr>
                              <m:mr>
                                <m:e>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𝑦</m:t>
                                      </m:r>
                                    </m:e>
                                    <m:sub>
                                      <m:r>
                                        <a:rPr lang="en-US" sz="2600" b="0" i="1" smtClean="0">
                                          <a:latin typeface="Cambria Math" panose="02040503050406030204" pitchFamily="18" charset="0"/>
                                        </a:rPr>
                                        <m:t>3</m:t>
                                      </m:r>
                                    </m:sub>
                                  </m:sSub>
                                </m:e>
                              </m:mr>
                              <m:mr>
                                <m:e>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𝑦</m:t>
                                      </m:r>
                                    </m:e>
                                    <m:sub>
                                      <m:r>
                                        <a:rPr lang="en-US" sz="2600" b="0" i="1" smtClean="0">
                                          <a:latin typeface="Cambria Math" panose="02040503050406030204" pitchFamily="18" charset="0"/>
                                        </a:rPr>
                                        <m:t>4</m:t>
                                      </m:r>
                                    </m:sub>
                                  </m:sSub>
                                </m:e>
                              </m:mr>
                              <m:mr>
                                <m:e>
                                  <m:m>
                                    <m:mPr>
                                      <m:mcs>
                                        <m:mc>
                                          <m:mcPr>
                                            <m:count m:val="1"/>
                                            <m:mcJc m:val="center"/>
                                          </m:mcPr>
                                        </m:mc>
                                      </m:mcs>
                                      <m:ctrlPr>
                                        <a:rPr lang="en-US" sz="2600" i="1" smtClean="0">
                                          <a:latin typeface="Cambria Math" panose="02040503050406030204" pitchFamily="18" charset="0"/>
                                        </a:rPr>
                                      </m:ctrlPr>
                                    </m:mPr>
                                    <m:mr>
                                      <m:e>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𝑦</m:t>
                                            </m:r>
                                          </m:e>
                                          <m:sub>
                                            <m:r>
                                              <a:rPr lang="en-US" sz="2600" b="0" i="1" smtClean="0">
                                                <a:latin typeface="Cambria Math" panose="02040503050406030204" pitchFamily="18" charset="0"/>
                                              </a:rPr>
                                              <m:t>5</m:t>
                                            </m:r>
                                          </m:sub>
                                        </m:sSub>
                                      </m:e>
                                    </m:mr>
                                    <m:mr>
                                      <m:e>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𝑦</m:t>
                                            </m:r>
                                          </m:e>
                                          <m:sub>
                                            <m:r>
                                              <a:rPr lang="en-US" sz="2600" b="0" i="1" smtClean="0">
                                                <a:latin typeface="Cambria Math" panose="02040503050406030204" pitchFamily="18" charset="0"/>
                                              </a:rPr>
                                              <m:t>6</m:t>
                                            </m:r>
                                          </m:sub>
                                        </m:sSub>
                                      </m:e>
                                    </m:mr>
                                    <m:mr>
                                      <m:e>
                                        <m:sSub>
                                          <m:sSubPr>
                                            <m:ctrlPr>
                                              <a:rPr lang="en-US" sz="2600" i="1" smtClean="0">
                                                <a:latin typeface="Cambria Math" panose="02040503050406030204" pitchFamily="18" charset="0"/>
                                              </a:rPr>
                                            </m:ctrlPr>
                                          </m:sSubPr>
                                          <m:e>
                                            <m:r>
                                              <a:rPr lang="en-US" sz="2600" b="0" i="1" smtClean="0">
                                                <a:latin typeface="Cambria Math" panose="02040503050406030204" pitchFamily="18" charset="0"/>
                                              </a:rPr>
                                              <m:t>𝑦</m:t>
                                            </m:r>
                                          </m:e>
                                          <m:sub>
                                            <m:r>
                                              <a:rPr lang="en-US" sz="2600" b="0" i="1" smtClean="0">
                                                <a:latin typeface="Cambria Math" panose="02040503050406030204" pitchFamily="18" charset="0"/>
                                              </a:rPr>
                                              <m:t>7</m:t>
                                            </m:r>
                                          </m:sub>
                                        </m:sSub>
                                      </m:e>
                                    </m:mr>
                                  </m:m>
                                </m:e>
                              </m:mr>
                            </m:m>
                          </m:e>
                        </m:mr>
                      </m:m>
                    </m:oMath>
                  </m:oMathPara>
                </a14:m>
                <a:endParaRPr lang="en-US" sz="2600" dirty="0"/>
              </a:p>
            </p:txBody>
          </p:sp>
        </mc:Choice>
        <mc:Fallback xmlns="">
          <p:sp>
            <p:nvSpPr>
              <p:cNvPr id="21" name="TextBox 20">
                <a:extLst>
                  <a:ext uri="{FF2B5EF4-FFF2-40B4-BE49-F238E27FC236}">
                    <a16:creationId xmlns:a16="http://schemas.microsoft.com/office/drawing/2014/main" id="{0CD4A7FF-8F9F-436F-AF55-6725DB0FCAA7}"/>
                  </a:ext>
                </a:extLst>
              </p:cNvPr>
              <p:cNvSpPr txBox="1">
                <a:spLocks noRot="1" noChangeAspect="1" noMove="1" noResize="1" noEditPoints="1" noAdjustHandles="1" noChangeArrowheads="1" noChangeShapeType="1" noTextEdit="1"/>
              </p:cNvSpPr>
              <p:nvPr/>
            </p:nvSpPr>
            <p:spPr>
              <a:xfrm>
                <a:off x="1686302" y="1418933"/>
                <a:ext cx="406137" cy="2903552"/>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87479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P spid="5" grpId="0"/>
      <p:bldP spid="14" grpId="0"/>
      <p:bldP spid="17" grpId="0"/>
      <p:bldP spid="15" grpId="0"/>
      <p:bldP spid="18"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3F5877B-98C7-49DD-83AB-0F6F57CB6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running on a field&#10;&#10;Description automatically generated with medium confidence">
            <a:extLst>
              <a:ext uri="{FF2B5EF4-FFF2-40B4-BE49-F238E27FC236}">
                <a16:creationId xmlns:a16="http://schemas.microsoft.com/office/drawing/2014/main" id="{DD7F59B8-205B-4E0E-963E-04EEA9A28EDF}"/>
              </a:ext>
            </a:extLst>
          </p:cNvPr>
          <p:cNvPicPr>
            <a:picLocks noChangeAspect="1"/>
          </p:cNvPicPr>
          <p:nvPr/>
        </p:nvPicPr>
        <p:blipFill rotWithShape="1">
          <a:blip r:embed="rId2"/>
          <a:srcRect l="11951" r="16760"/>
          <a:stretch/>
        </p:blipFill>
        <p:spPr>
          <a:xfrm>
            <a:off x="7364078" y="-18"/>
            <a:ext cx="4827922" cy="6857999"/>
          </a:xfrm>
          <a:custGeom>
            <a:avLst/>
            <a:gdLst/>
            <a:ahLst/>
            <a:cxnLst/>
            <a:rect l="l" t="t" r="r" b="b"/>
            <a:pathLst>
              <a:path w="4827922" h="6858000">
                <a:moveTo>
                  <a:pt x="4441" y="0"/>
                </a:moveTo>
                <a:lnTo>
                  <a:pt x="4827922" y="0"/>
                </a:lnTo>
                <a:lnTo>
                  <a:pt x="4827922"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4" name="Picture 3" descr="A person with red paint on the face&#10;&#10;Description automatically generated with low confidence">
            <a:extLst>
              <a:ext uri="{FF2B5EF4-FFF2-40B4-BE49-F238E27FC236}">
                <a16:creationId xmlns:a16="http://schemas.microsoft.com/office/drawing/2014/main" id="{1D6C5110-35A0-458F-A5AE-70A49B764B9F}"/>
              </a:ext>
            </a:extLst>
          </p:cNvPr>
          <p:cNvPicPr>
            <a:picLocks noChangeAspect="1"/>
          </p:cNvPicPr>
          <p:nvPr/>
        </p:nvPicPr>
        <p:blipFill rotWithShape="1">
          <a:blip r:embed="rId3"/>
          <a:srcRect l="13119" r="20621" b="2"/>
          <a:stretch/>
        </p:blipFill>
        <p:spPr>
          <a:xfrm>
            <a:off x="3119360" y="18"/>
            <a:ext cx="4966290" cy="6857999"/>
          </a:xfrm>
          <a:custGeom>
            <a:avLst/>
            <a:gdLst/>
            <a:ahLst/>
            <a:cxnLst/>
            <a:rect l="l" t="t" r="r" b="b"/>
            <a:pathLst>
              <a:path w="4966290" h="6857999">
                <a:moveTo>
                  <a:pt x="0" y="0"/>
                </a:moveTo>
                <a:lnTo>
                  <a:pt x="4188230" y="0"/>
                </a:lnTo>
                <a:lnTo>
                  <a:pt x="4295735" y="210478"/>
                </a:lnTo>
                <a:cubicBezTo>
                  <a:pt x="4719089" y="1127919"/>
                  <a:pt x="4966290" y="2233909"/>
                  <a:pt x="4966290" y="3424428"/>
                </a:cubicBezTo>
                <a:cubicBezTo>
                  <a:pt x="4966290" y="4614948"/>
                  <a:pt x="4719089" y="5720938"/>
                  <a:pt x="4295735" y="6638378"/>
                </a:cubicBezTo>
                <a:lnTo>
                  <a:pt x="4183560" y="6857999"/>
                </a:lnTo>
                <a:lnTo>
                  <a:pt x="53039" y="6857999"/>
                </a:lnTo>
                <a:lnTo>
                  <a:pt x="132047" y="6695338"/>
                </a:lnTo>
                <a:cubicBezTo>
                  <a:pt x="555401" y="5777898"/>
                  <a:pt x="802602" y="4671908"/>
                  <a:pt x="802602" y="3481388"/>
                </a:cubicBezTo>
                <a:cubicBezTo>
                  <a:pt x="802602" y="2191659"/>
                  <a:pt x="512484" y="1001134"/>
                  <a:pt x="22579" y="42066"/>
                </a:cubicBezTo>
                <a:close/>
              </a:path>
            </a:pathLst>
          </a:custGeom>
        </p:spPr>
      </p:pic>
      <p:sp useBgFill="1">
        <p:nvSpPr>
          <p:cNvPr id="14" name="Freeform: Shape 13">
            <a:extLst>
              <a:ext uri="{FF2B5EF4-FFF2-40B4-BE49-F238E27FC236}">
                <a16:creationId xmlns:a16="http://schemas.microsoft.com/office/drawing/2014/main" id="{4EA91930-66BC-4C41-B4F5-C31EB216F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6313CF8F-B436-401E-9575-DE0F8E8B5B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61B6265-6A88-423B-9752-A1830AB8F8AC}"/>
              </a:ext>
            </a:extLst>
          </p:cNvPr>
          <p:cNvSpPr>
            <a:spLocks noGrp="1"/>
          </p:cNvSpPr>
          <p:nvPr>
            <p:ph type="title"/>
          </p:nvPr>
        </p:nvSpPr>
        <p:spPr>
          <a:xfrm>
            <a:off x="448056" y="681038"/>
            <a:ext cx="2804504" cy="1325563"/>
          </a:xfrm>
        </p:spPr>
        <p:txBody>
          <a:bodyPr anchor="ctr">
            <a:normAutofit/>
          </a:bodyPr>
          <a:lstStyle/>
          <a:p>
            <a:r>
              <a:rPr lang="en-US" sz="2800"/>
              <a:t>Landmark detection</a:t>
            </a:r>
          </a:p>
        </p:txBody>
      </p:sp>
      <p:sp>
        <p:nvSpPr>
          <p:cNvPr id="21" name="Rectangle 17">
            <a:extLst>
              <a:ext uri="{FF2B5EF4-FFF2-40B4-BE49-F238E27FC236}">
                <a16:creationId xmlns:a16="http://schemas.microsoft.com/office/drawing/2014/main" id="{2A38CFE9-C30A-4551-ACCB-D5808FBC39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16867"/>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67EF550F-47CE-4FB2-9DAC-12AD835C8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3859E9AC-67A5-40FC-999C-B65B510EE710}"/>
                  </a:ext>
                </a:extLst>
              </p:cNvPr>
              <p:cNvSpPr>
                <a:spLocks noGrp="1"/>
              </p:cNvSpPr>
              <p:nvPr>
                <p:ph idx="1"/>
              </p:nvPr>
            </p:nvSpPr>
            <p:spPr>
              <a:xfrm>
                <a:off x="448056" y="2258171"/>
                <a:ext cx="2804504" cy="3918792"/>
              </a:xfrm>
            </p:spPr>
            <p:txBody>
              <a:bodyPr>
                <a:normAutofit/>
              </a:bodyPr>
              <a:lstStyle/>
              <a:p>
                <a:r>
                  <a:rPr lang="en-US" sz="1700" dirty="0"/>
                  <a:t>Detecting several points (landmarks) with coordinates </a:t>
                </a:r>
                <a14:m>
                  <m:oMath xmlns:m="http://schemas.openxmlformats.org/officeDocument/2006/math">
                    <m:r>
                      <a:rPr lang="en-US" sz="1700" b="0" i="0">
                        <a:latin typeface="Cambria Math" panose="02040503050406030204" pitchFamily="18" charset="0"/>
                      </a:rPr>
                      <m:t>(</m:t>
                    </m:r>
                    <m:sSub>
                      <m:sSubPr>
                        <m:ctrlPr>
                          <a:rPr lang="en-US" sz="1700" i="1">
                            <a:latin typeface="Cambria Math" panose="02040503050406030204" pitchFamily="18" charset="0"/>
                          </a:rPr>
                        </m:ctrlPr>
                      </m:sSubPr>
                      <m:e>
                        <m:r>
                          <a:rPr lang="en-US" sz="1700" b="0" i="1">
                            <a:latin typeface="Cambria Math" panose="02040503050406030204" pitchFamily="18" charset="0"/>
                          </a:rPr>
                          <m:t>𝑙</m:t>
                        </m:r>
                      </m:e>
                      <m:sub>
                        <m:r>
                          <a:rPr lang="en-US" sz="1700" b="0" i="1">
                            <a:latin typeface="Cambria Math" panose="02040503050406030204" pitchFamily="18" charset="0"/>
                          </a:rPr>
                          <m:t>𝑖𝑥</m:t>
                        </m:r>
                        <m:r>
                          <a:rPr lang="en-US" sz="1700" b="0" i="1">
                            <a:latin typeface="Cambria Math" panose="02040503050406030204" pitchFamily="18" charset="0"/>
                          </a:rPr>
                          <m:t>,</m:t>
                        </m:r>
                      </m:sub>
                    </m:sSub>
                    <m:sSub>
                      <m:sSubPr>
                        <m:ctrlPr>
                          <a:rPr lang="en-US" sz="1700" i="1">
                            <a:latin typeface="Cambria Math" panose="02040503050406030204" pitchFamily="18" charset="0"/>
                          </a:rPr>
                        </m:ctrlPr>
                      </m:sSubPr>
                      <m:e>
                        <m:r>
                          <a:rPr lang="en-US" sz="1700" b="0" i="1">
                            <a:latin typeface="Cambria Math" panose="02040503050406030204" pitchFamily="18" charset="0"/>
                          </a:rPr>
                          <m:t>𝑙</m:t>
                        </m:r>
                      </m:e>
                      <m:sub>
                        <m:r>
                          <a:rPr lang="en-US" sz="1700" b="0" i="1">
                            <a:latin typeface="Cambria Math" panose="02040503050406030204" pitchFamily="18" charset="0"/>
                          </a:rPr>
                          <m:t>𝑖𝑦</m:t>
                        </m:r>
                      </m:sub>
                    </m:sSub>
                    <m:r>
                      <a:rPr lang="en-US" sz="1700" b="0" i="1">
                        <a:latin typeface="Cambria Math" panose="02040503050406030204" pitchFamily="18" charset="0"/>
                      </a:rPr>
                      <m:t>)</m:t>
                    </m:r>
                  </m:oMath>
                </a14:m>
                <a:endParaRPr lang="en-US" sz="1700" dirty="0"/>
              </a:p>
              <a:p>
                <a:r>
                  <a:rPr lang="en-US" sz="1700" dirty="0"/>
                  <a:t>E.g.: the borders of the mouth, the corners of the yes, </a:t>
                </a:r>
                <a:r>
                  <a:rPr lang="en-US" sz="1700" dirty="0" err="1"/>
                  <a:t>etc</a:t>
                </a:r>
                <a:r>
                  <a:rPr lang="en-US" sz="1700" dirty="0"/>
                  <a:t>…</a:t>
                </a:r>
              </a:p>
              <a:p>
                <a:r>
                  <a:rPr lang="en-US" sz="1700" dirty="0"/>
                  <a:t>Useful to recognize emotions, postures, </a:t>
                </a:r>
                <a:r>
                  <a:rPr lang="en-US" sz="1700" dirty="0" err="1"/>
                  <a:t>etc</a:t>
                </a:r>
                <a:r>
                  <a:rPr lang="en-US" sz="1700" dirty="0"/>
                  <a:t>…</a:t>
                </a:r>
              </a:p>
              <a:p>
                <a:r>
                  <a:rPr lang="en-US" sz="1700" dirty="0"/>
                  <a:t>The CNN should have a final layer with a possible </a:t>
                </a:r>
                <a:r>
                  <a:rPr lang="en-US" sz="1700" dirty="0" err="1"/>
                  <a:t>softmax</a:t>
                </a:r>
                <a:r>
                  <a:rPr lang="en-US" sz="1700" dirty="0"/>
                  <a:t> (for classification – e.g. it is a face or not) and a set of coordinate pairs</a:t>
                </a:r>
              </a:p>
            </p:txBody>
          </p:sp>
        </mc:Choice>
        <mc:Fallback xmlns="">
          <p:sp>
            <p:nvSpPr>
              <p:cNvPr id="5" name="Content Placeholder 4">
                <a:extLst>
                  <a:ext uri="{FF2B5EF4-FFF2-40B4-BE49-F238E27FC236}">
                    <a16:creationId xmlns:a16="http://schemas.microsoft.com/office/drawing/2014/main" id="{3859E9AC-67A5-40FC-999C-B65B510EE710}"/>
                  </a:ext>
                </a:extLst>
              </p:cNvPr>
              <p:cNvSpPr>
                <a:spLocks noGrp="1" noRot="1" noChangeAspect="1" noMove="1" noResize="1" noEditPoints="1" noAdjustHandles="1" noChangeArrowheads="1" noChangeShapeType="1" noTextEdit="1"/>
              </p:cNvSpPr>
              <p:nvPr>
                <p:ph idx="1"/>
              </p:nvPr>
            </p:nvSpPr>
            <p:spPr>
              <a:xfrm>
                <a:off x="448056" y="2258171"/>
                <a:ext cx="2804504" cy="3918792"/>
              </a:xfrm>
              <a:blipFill>
                <a:blip r:embed="rId4"/>
                <a:stretch>
                  <a:fillRect l="-1087" t="-1089"/>
                </a:stretch>
              </a:blipFill>
            </p:spPr>
            <p:txBody>
              <a:bodyPr/>
              <a:lstStyle/>
              <a:p>
                <a:r>
                  <a:rPr lang="en-US">
                    <a:noFill/>
                  </a:rPr>
                  <a:t> </a:t>
                </a:r>
              </a:p>
            </p:txBody>
          </p:sp>
        </mc:Fallback>
      </mc:AlternateContent>
    </p:spTree>
    <p:extLst>
      <p:ext uri="{BB962C8B-B14F-4D97-AF65-F5344CB8AC3E}">
        <p14:creationId xmlns:p14="http://schemas.microsoft.com/office/powerpoint/2010/main" val="1780099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DE28D-C6C0-4842-8B84-02224D10F2C2}"/>
              </a:ext>
            </a:extLst>
          </p:cNvPr>
          <p:cNvSpPr>
            <a:spLocks noGrp="1"/>
          </p:cNvSpPr>
          <p:nvPr>
            <p:ph type="title"/>
          </p:nvPr>
        </p:nvSpPr>
        <p:spPr>
          <a:xfrm>
            <a:off x="180788" y="-95063"/>
            <a:ext cx="10515600" cy="1325563"/>
          </a:xfrm>
        </p:spPr>
        <p:txBody>
          <a:bodyPr/>
          <a:lstStyle/>
          <a:p>
            <a:r>
              <a:rPr lang="en-US" dirty="0"/>
              <a:t>(Object) Detection</a:t>
            </a:r>
          </a:p>
        </p:txBody>
      </p:sp>
      <p:pic>
        <p:nvPicPr>
          <p:cNvPr id="5" name="Picture 4">
            <a:extLst>
              <a:ext uri="{FF2B5EF4-FFF2-40B4-BE49-F238E27FC236}">
                <a16:creationId xmlns:a16="http://schemas.microsoft.com/office/drawing/2014/main" id="{A8B8D024-2113-433A-86B8-815D96BD569E}"/>
              </a:ext>
            </a:extLst>
          </p:cNvPr>
          <p:cNvPicPr>
            <a:picLocks noChangeAspect="1"/>
          </p:cNvPicPr>
          <p:nvPr/>
        </p:nvPicPr>
        <p:blipFill>
          <a:blip r:embed="rId2"/>
          <a:stretch>
            <a:fillRect/>
          </a:stretch>
        </p:blipFill>
        <p:spPr>
          <a:xfrm>
            <a:off x="180788" y="2121646"/>
            <a:ext cx="3866797" cy="3837007"/>
          </a:xfrm>
          <a:prstGeom prst="rect">
            <a:avLst/>
          </a:prstGeom>
        </p:spPr>
      </p:pic>
      <p:pic>
        <p:nvPicPr>
          <p:cNvPr id="7" name="Picture 6">
            <a:extLst>
              <a:ext uri="{FF2B5EF4-FFF2-40B4-BE49-F238E27FC236}">
                <a16:creationId xmlns:a16="http://schemas.microsoft.com/office/drawing/2014/main" id="{05AE85E0-6578-40DB-AD26-0A20564CC892}"/>
              </a:ext>
            </a:extLst>
          </p:cNvPr>
          <p:cNvPicPr>
            <a:picLocks noChangeAspect="1"/>
          </p:cNvPicPr>
          <p:nvPr/>
        </p:nvPicPr>
        <p:blipFill>
          <a:blip r:embed="rId3"/>
          <a:stretch>
            <a:fillRect/>
          </a:stretch>
        </p:blipFill>
        <p:spPr>
          <a:xfrm>
            <a:off x="4047585" y="1020479"/>
            <a:ext cx="2514580" cy="5354920"/>
          </a:xfrm>
          <a:prstGeom prst="rect">
            <a:avLst/>
          </a:prstGeom>
        </p:spPr>
      </p:pic>
      <p:pic>
        <p:nvPicPr>
          <p:cNvPr id="9" name="Picture 8">
            <a:extLst>
              <a:ext uri="{FF2B5EF4-FFF2-40B4-BE49-F238E27FC236}">
                <a16:creationId xmlns:a16="http://schemas.microsoft.com/office/drawing/2014/main" id="{326F40F2-AA84-42B7-BA47-FED73029DB71}"/>
              </a:ext>
            </a:extLst>
          </p:cNvPr>
          <p:cNvPicPr>
            <a:picLocks noChangeAspect="1"/>
          </p:cNvPicPr>
          <p:nvPr/>
        </p:nvPicPr>
        <p:blipFill>
          <a:blip r:embed="rId4"/>
          <a:stretch>
            <a:fillRect/>
          </a:stretch>
        </p:blipFill>
        <p:spPr>
          <a:xfrm>
            <a:off x="7397563" y="3344992"/>
            <a:ext cx="1525308" cy="1336170"/>
          </a:xfrm>
          <a:prstGeom prst="rect">
            <a:avLst/>
          </a:prstGeom>
        </p:spPr>
      </p:pic>
      <p:sp>
        <p:nvSpPr>
          <p:cNvPr id="10" name="TextBox 9">
            <a:extLst>
              <a:ext uri="{FF2B5EF4-FFF2-40B4-BE49-F238E27FC236}">
                <a16:creationId xmlns:a16="http://schemas.microsoft.com/office/drawing/2014/main" id="{393C5AD5-E0B5-4DAA-9C54-176892DC8215}"/>
              </a:ext>
            </a:extLst>
          </p:cNvPr>
          <p:cNvSpPr txBox="1"/>
          <p:nvPr/>
        </p:nvSpPr>
        <p:spPr>
          <a:xfrm>
            <a:off x="9006541" y="3720689"/>
            <a:ext cx="2369559" cy="584775"/>
          </a:xfrm>
          <a:prstGeom prst="rect">
            <a:avLst/>
          </a:prstGeom>
          <a:noFill/>
        </p:spPr>
        <p:txBody>
          <a:bodyPr wrap="none" rtlCol="0">
            <a:spAutoFit/>
          </a:bodyPr>
          <a:lstStyle/>
          <a:p>
            <a:r>
              <a:rPr lang="en-US" sz="3200" dirty="0">
                <a:latin typeface="Times New Roman" panose="02020603050405020304" pitchFamily="18" charset="0"/>
                <a:cs typeface="Times New Roman" panose="02020603050405020304" pitchFamily="18" charset="0"/>
                <a:sym typeface="Wingdings" panose="05000000000000000000" pitchFamily="2" charset="2"/>
              </a:rPr>
              <a:t> CNN  y</a:t>
            </a:r>
            <a:endParaRPr lang="en-US" sz="32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610DFD9-8029-4D04-BA97-5A407F00531E}"/>
              </a:ext>
            </a:extLst>
          </p:cNvPr>
          <p:cNvSpPr txBox="1"/>
          <p:nvPr/>
        </p:nvSpPr>
        <p:spPr>
          <a:xfrm>
            <a:off x="7811322" y="2366682"/>
            <a:ext cx="3417923" cy="461665"/>
          </a:xfrm>
          <a:prstGeom prst="rect">
            <a:avLst/>
          </a:prstGeom>
          <a:noFill/>
        </p:spPr>
        <p:txBody>
          <a:bodyPr wrap="none" rtlCol="0">
            <a:spAutoFit/>
          </a:bodyPr>
          <a:lstStyle/>
          <a:p>
            <a:r>
              <a:rPr lang="en-US" sz="2400" dirty="0"/>
              <a:t>Task: learn a CNN such as:</a:t>
            </a:r>
          </a:p>
        </p:txBody>
      </p:sp>
    </p:spTree>
    <p:extLst>
      <p:ext uri="{BB962C8B-B14F-4D97-AF65-F5344CB8AC3E}">
        <p14:creationId xmlns:p14="http://schemas.microsoft.com/office/powerpoint/2010/main" val="323264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35AAC669-5123-498E-945B-DF78FF7C44E0}"/>
              </a:ext>
            </a:extLst>
          </p:cNvPr>
          <p:cNvSpPr>
            <a:spLocks noGrp="1"/>
          </p:cNvSpPr>
          <p:nvPr>
            <p:ph type="title"/>
          </p:nvPr>
        </p:nvSpPr>
        <p:spPr/>
        <p:txBody>
          <a:bodyPr/>
          <a:lstStyle/>
          <a:p>
            <a:r>
              <a:rPr lang="en-US" dirty="0"/>
              <a:t>Sliding window detection</a:t>
            </a:r>
          </a:p>
        </p:txBody>
      </p:sp>
      <p:pic>
        <p:nvPicPr>
          <p:cNvPr id="13" name="Picture 12">
            <a:extLst>
              <a:ext uri="{FF2B5EF4-FFF2-40B4-BE49-F238E27FC236}">
                <a16:creationId xmlns:a16="http://schemas.microsoft.com/office/drawing/2014/main" id="{98D9B2DA-15A5-45A9-A4FB-B316D2575884}"/>
              </a:ext>
            </a:extLst>
          </p:cNvPr>
          <p:cNvPicPr>
            <a:picLocks noChangeAspect="1"/>
          </p:cNvPicPr>
          <p:nvPr/>
        </p:nvPicPr>
        <p:blipFill>
          <a:blip r:embed="rId2"/>
          <a:stretch>
            <a:fillRect/>
          </a:stretch>
        </p:blipFill>
        <p:spPr>
          <a:xfrm>
            <a:off x="467104" y="2396190"/>
            <a:ext cx="3866360" cy="3892274"/>
          </a:xfrm>
          <a:prstGeom prst="rect">
            <a:avLst/>
          </a:prstGeom>
        </p:spPr>
      </p:pic>
      <p:sp>
        <p:nvSpPr>
          <p:cNvPr id="14" name="Rectangle 13">
            <a:extLst>
              <a:ext uri="{FF2B5EF4-FFF2-40B4-BE49-F238E27FC236}">
                <a16:creationId xmlns:a16="http://schemas.microsoft.com/office/drawing/2014/main" id="{416133F8-D786-48FA-B31C-003C494C95F5}"/>
              </a:ext>
            </a:extLst>
          </p:cNvPr>
          <p:cNvSpPr/>
          <p:nvPr/>
        </p:nvSpPr>
        <p:spPr>
          <a:xfrm>
            <a:off x="516778" y="2396190"/>
            <a:ext cx="950259" cy="89647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47A28B3-CE44-4913-87CC-348B1782E009}"/>
              </a:ext>
            </a:extLst>
          </p:cNvPr>
          <p:cNvSpPr txBox="1"/>
          <p:nvPr/>
        </p:nvSpPr>
        <p:spPr>
          <a:xfrm>
            <a:off x="467104" y="6383655"/>
            <a:ext cx="1724768" cy="369332"/>
          </a:xfrm>
          <a:prstGeom prst="rect">
            <a:avLst/>
          </a:prstGeom>
          <a:noFill/>
        </p:spPr>
        <p:txBody>
          <a:bodyPr wrap="none" rtlCol="0">
            <a:spAutoFit/>
          </a:bodyPr>
          <a:lstStyle/>
          <a:p>
            <a:r>
              <a:rPr lang="en-US" dirty="0"/>
              <a:t>Task: detect cars</a:t>
            </a:r>
          </a:p>
        </p:txBody>
      </p:sp>
      <p:cxnSp>
        <p:nvCxnSpPr>
          <p:cNvPr id="17" name="Straight Arrow Connector 16">
            <a:extLst>
              <a:ext uri="{FF2B5EF4-FFF2-40B4-BE49-F238E27FC236}">
                <a16:creationId xmlns:a16="http://schemas.microsoft.com/office/drawing/2014/main" id="{F1B3ECE4-C37A-4891-B8A1-F42F0A115F91}"/>
              </a:ext>
            </a:extLst>
          </p:cNvPr>
          <p:cNvCxnSpPr/>
          <p:nvPr/>
        </p:nvCxnSpPr>
        <p:spPr>
          <a:xfrm flipV="1">
            <a:off x="991907" y="1903095"/>
            <a:ext cx="0" cy="36576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98AB800F-D111-4626-9AA1-F4B6326BDCC5}"/>
              </a:ext>
            </a:extLst>
          </p:cNvPr>
          <p:cNvSpPr txBox="1"/>
          <p:nvPr/>
        </p:nvSpPr>
        <p:spPr>
          <a:xfrm>
            <a:off x="841064" y="1533763"/>
            <a:ext cx="301686" cy="369332"/>
          </a:xfrm>
          <a:prstGeom prst="rect">
            <a:avLst/>
          </a:prstGeom>
          <a:noFill/>
        </p:spPr>
        <p:txBody>
          <a:bodyPr wrap="none" rtlCol="0">
            <a:spAutoFit/>
          </a:bodyPr>
          <a:lstStyle/>
          <a:p>
            <a:r>
              <a:rPr lang="en-US" dirty="0"/>
              <a:t>0</a:t>
            </a:r>
          </a:p>
        </p:txBody>
      </p:sp>
      <p:sp>
        <p:nvSpPr>
          <p:cNvPr id="19" name="Rectangle 18">
            <a:extLst>
              <a:ext uri="{FF2B5EF4-FFF2-40B4-BE49-F238E27FC236}">
                <a16:creationId xmlns:a16="http://schemas.microsoft.com/office/drawing/2014/main" id="{4A3A0BC7-F8A8-46EC-AE3C-23F320ED6F3A}"/>
              </a:ext>
            </a:extLst>
          </p:cNvPr>
          <p:cNvSpPr/>
          <p:nvPr/>
        </p:nvSpPr>
        <p:spPr>
          <a:xfrm>
            <a:off x="1142750" y="2396189"/>
            <a:ext cx="950259" cy="89647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C2C7BBCF-C347-4320-BAF1-08F6D65B5865}"/>
              </a:ext>
            </a:extLst>
          </p:cNvPr>
          <p:cNvCxnSpPr/>
          <p:nvPr/>
        </p:nvCxnSpPr>
        <p:spPr>
          <a:xfrm flipV="1">
            <a:off x="1670087" y="1903095"/>
            <a:ext cx="0" cy="36576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67704381-AEFA-4876-8646-775DE03B5EAF}"/>
              </a:ext>
            </a:extLst>
          </p:cNvPr>
          <p:cNvSpPr txBox="1"/>
          <p:nvPr/>
        </p:nvSpPr>
        <p:spPr>
          <a:xfrm>
            <a:off x="1519244" y="1533763"/>
            <a:ext cx="301686" cy="369332"/>
          </a:xfrm>
          <a:prstGeom prst="rect">
            <a:avLst/>
          </a:prstGeom>
          <a:noFill/>
        </p:spPr>
        <p:txBody>
          <a:bodyPr wrap="none" rtlCol="0">
            <a:spAutoFit/>
          </a:bodyPr>
          <a:lstStyle/>
          <a:p>
            <a:r>
              <a:rPr lang="en-US" dirty="0"/>
              <a:t>0</a:t>
            </a:r>
          </a:p>
        </p:txBody>
      </p:sp>
      <p:sp>
        <p:nvSpPr>
          <p:cNvPr id="23" name="Rectangle 22">
            <a:extLst>
              <a:ext uri="{FF2B5EF4-FFF2-40B4-BE49-F238E27FC236}">
                <a16:creationId xmlns:a16="http://schemas.microsoft.com/office/drawing/2014/main" id="{36AF4408-E5EB-4384-B6F1-086BB1D59900}"/>
              </a:ext>
            </a:extLst>
          </p:cNvPr>
          <p:cNvSpPr/>
          <p:nvPr/>
        </p:nvSpPr>
        <p:spPr>
          <a:xfrm>
            <a:off x="1768722" y="2393814"/>
            <a:ext cx="950259" cy="89647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a:extLst>
              <a:ext uri="{FF2B5EF4-FFF2-40B4-BE49-F238E27FC236}">
                <a16:creationId xmlns:a16="http://schemas.microsoft.com/office/drawing/2014/main" id="{C036DE88-AB80-4E98-BB8D-76D2E0EFF133}"/>
              </a:ext>
            </a:extLst>
          </p:cNvPr>
          <p:cNvCxnSpPr/>
          <p:nvPr/>
        </p:nvCxnSpPr>
        <p:spPr>
          <a:xfrm flipV="1">
            <a:off x="2263634" y="1903095"/>
            <a:ext cx="0" cy="36576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8B78E418-AF77-4D10-910C-710B97A858AD}"/>
              </a:ext>
            </a:extLst>
          </p:cNvPr>
          <p:cNvSpPr txBox="1"/>
          <p:nvPr/>
        </p:nvSpPr>
        <p:spPr>
          <a:xfrm>
            <a:off x="2112791" y="1533763"/>
            <a:ext cx="301686" cy="369332"/>
          </a:xfrm>
          <a:prstGeom prst="rect">
            <a:avLst/>
          </a:prstGeom>
          <a:noFill/>
        </p:spPr>
        <p:txBody>
          <a:bodyPr wrap="none" rtlCol="0">
            <a:spAutoFit/>
          </a:bodyPr>
          <a:lstStyle/>
          <a:p>
            <a:r>
              <a:rPr lang="en-US" dirty="0"/>
              <a:t>0</a:t>
            </a:r>
          </a:p>
        </p:txBody>
      </p:sp>
      <p:sp>
        <p:nvSpPr>
          <p:cNvPr id="26" name="Rectangle 25">
            <a:extLst>
              <a:ext uri="{FF2B5EF4-FFF2-40B4-BE49-F238E27FC236}">
                <a16:creationId xmlns:a16="http://schemas.microsoft.com/office/drawing/2014/main" id="{10D8A717-0A3A-47E7-9FDC-FA0E4BE64F4D}"/>
              </a:ext>
            </a:extLst>
          </p:cNvPr>
          <p:cNvSpPr/>
          <p:nvPr/>
        </p:nvSpPr>
        <p:spPr>
          <a:xfrm>
            <a:off x="838200" y="3981981"/>
            <a:ext cx="950259" cy="896471"/>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BF19815C-A3D2-4415-B8D4-586DFA8F95A4}"/>
              </a:ext>
            </a:extLst>
          </p:cNvPr>
          <p:cNvGrpSpPr/>
          <p:nvPr/>
        </p:nvGrpSpPr>
        <p:grpSpPr>
          <a:xfrm>
            <a:off x="-79507" y="4157661"/>
            <a:ext cx="788069" cy="369332"/>
            <a:chOff x="6528817" y="3972995"/>
            <a:chExt cx="788069" cy="369332"/>
          </a:xfrm>
        </p:grpSpPr>
        <p:sp>
          <p:nvSpPr>
            <p:cNvPr id="27" name="TextBox 26">
              <a:extLst>
                <a:ext uri="{FF2B5EF4-FFF2-40B4-BE49-F238E27FC236}">
                  <a16:creationId xmlns:a16="http://schemas.microsoft.com/office/drawing/2014/main" id="{2421775B-8ECF-4250-9518-69EDB4FF88AB}"/>
                </a:ext>
              </a:extLst>
            </p:cNvPr>
            <p:cNvSpPr txBox="1"/>
            <p:nvPr/>
          </p:nvSpPr>
          <p:spPr>
            <a:xfrm>
              <a:off x="6528817" y="3972995"/>
              <a:ext cx="301686" cy="369332"/>
            </a:xfrm>
            <a:prstGeom prst="rect">
              <a:avLst/>
            </a:prstGeom>
            <a:noFill/>
          </p:spPr>
          <p:txBody>
            <a:bodyPr wrap="none" rtlCol="0">
              <a:spAutoFit/>
            </a:bodyPr>
            <a:lstStyle/>
            <a:p>
              <a:r>
                <a:rPr lang="en-US" dirty="0"/>
                <a:t>1</a:t>
              </a:r>
            </a:p>
          </p:txBody>
        </p:sp>
        <p:cxnSp>
          <p:nvCxnSpPr>
            <p:cNvPr id="29" name="Straight Arrow Connector 28">
              <a:extLst>
                <a:ext uri="{FF2B5EF4-FFF2-40B4-BE49-F238E27FC236}">
                  <a16:creationId xmlns:a16="http://schemas.microsoft.com/office/drawing/2014/main" id="{50A73308-3CAA-494D-B0E6-D59D510AD8AF}"/>
                </a:ext>
              </a:extLst>
            </p:cNvPr>
            <p:cNvCxnSpPr>
              <a:cxnSpLocks/>
            </p:cNvCxnSpPr>
            <p:nvPr/>
          </p:nvCxnSpPr>
          <p:spPr>
            <a:xfrm flipH="1" flipV="1">
              <a:off x="6841787" y="4189379"/>
              <a:ext cx="475099" cy="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grpSp>
      <p:sp>
        <p:nvSpPr>
          <p:cNvPr id="32" name="TextBox 31">
            <a:extLst>
              <a:ext uri="{FF2B5EF4-FFF2-40B4-BE49-F238E27FC236}">
                <a16:creationId xmlns:a16="http://schemas.microsoft.com/office/drawing/2014/main" id="{0E5ACF58-D4FD-47A6-8AEC-4430C46F0E7C}"/>
              </a:ext>
            </a:extLst>
          </p:cNvPr>
          <p:cNvSpPr txBox="1"/>
          <p:nvPr/>
        </p:nvSpPr>
        <p:spPr>
          <a:xfrm>
            <a:off x="4860801" y="1843711"/>
            <a:ext cx="6163867" cy="3416320"/>
          </a:xfrm>
          <a:prstGeom prst="rect">
            <a:avLst/>
          </a:prstGeom>
          <a:noFill/>
        </p:spPr>
        <p:txBody>
          <a:bodyPr wrap="none" rtlCol="0">
            <a:spAutoFit/>
          </a:bodyPr>
          <a:lstStyle/>
          <a:p>
            <a:pPr marL="285750" indent="-285750">
              <a:buFont typeface="Arial" panose="020B0604020202020204" pitchFamily="34" charset="0"/>
              <a:buChar char="•"/>
            </a:pPr>
            <a:r>
              <a:rPr lang="en-US" sz="2400" dirty="0"/>
              <a:t>Having to define a given </a:t>
            </a:r>
            <a:r>
              <a:rPr lang="en-US" sz="2400" i="1" dirty="0"/>
              <a:t>stride</a:t>
            </a:r>
            <a:r>
              <a:rPr lang="en-US" sz="2400" dirty="0"/>
              <a:t> and </a:t>
            </a:r>
            <a:br>
              <a:rPr lang="en-US" sz="2400" dirty="0"/>
            </a:br>
            <a:r>
              <a:rPr lang="en-US" sz="2400" dirty="0"/>
              <a:t>a given </a:t>
            </a:r>
            <a:r>
              <a:rPr lang="en-US" sz="2400" i="1" dirty="0"/>
              <a:t>window size</a:t>
            </a:r>
          </a:p>
          <a:p>
            <a:pPr marL="285750" indent="-285750">
              <a:buFont typeface="Arial" panose="020B0604020202020204" pitchFamily="34" charset="0"/>
              <a:buChar char="•"/>
            </a:pPr>
            <a:r>
              <a:rPr lang="en-US" sz="2400" dirty="0"/>
              <a:t>Usual approach:</a:t>
            </a:r>
          </a:p>
          <a:p>
            <a:pPr marL="742950" lvl="1" indent="-285750">
              <a:buFont typeface="Arial" panose="020B0604020202020204" pitchFamily="34" charset="0"/>
              <a:buChar char="•"/>
            </a:pPr>
            <a:r>
              <a:rPr lang="en-US" sz="2400" dirty="0"/>
              <a:t>fix a given stride and </a:t>
            </a:r>
          </a:p>
          <a:p>
            <a:pPr marL="742950" lvl="1" indent="-285750">
              <a:buFont typeface="Arial" panose="020B0604020202020204" pitchFamily="34" charset="0"/>
              <a:buChar char="•"/>
            </a:pPr>
            <a:r>
              <a:rPr lang="en-US" sz="2400" dirty="0"/>
              <a:t>repeat the task several times </a:t>
            </a:r>
            <a:br>
              <a:rPr lang="en-US" sz="2400" dirty="0"/>
            </a:br>
            <a:r>
              <a:rPr lang="en-US" sz="2400" dirty="0"/>
              <a:t>with several different windows sizes</a:t>
            </a:r>
          </a:p>
          <a:p>
            <a:pPr marL="285750" indent="-285750">
              <a:buFont typeface="Arial" panose="020B0604020202020204" pitchFamily="34" charset="0"/>
              <a:buChar char="•"/>
            </a:pPr>
            <a:r>
              <a:rPr lang="en-US" sz="2400" dirty="0"/>
              <a:t>Main issue: computational cost</a:t>
            </a:r>
          </a:p>
          <a:p>
            <a:pPr marL="285750" indent="-285750">
              <a:buFont typeface="Arial" panose="020B0604020202020204" pitchFamily="34" charset="0"/>
              <a:buChar char="•"/>
            </a:pPr>
            <a:r>
              <a:rPr lang="en-US" sz="2400" dirty="0"/>
              <a:t>Big stride </a:t>
            </a:r>
            <a:r>
              <a:rPr lang="en-US" sz="2400" dirty="0">
                <a:sym typeface="Wingdings" panose="05000000000000000000" pitchFamily="2" charset="2"/>
              </a:rPr>
              <a:t> less cost, but smaller probability </a:t>
            </a:r>
            <a:br>
              <a:rPr lang="en-US" sz="2400" dirty="0">
                <a:sym typeface="Wingdings" panose="05000000000000000000" pitchFamily="2" charset="2"/>
              </a:rPr>
            </a:br>
            <a:r>
              <a:rPr lang="en-US" sz="2400" dirty="0">
                <a:sym typeface="Wingdings" panose="05000000000000000000" pitchFamily="2" charset="2"/>
              </a:rPr>
              <a:t>of detecting  target object</a:t>
            </a:r>
            <a:endParaRPr lang="en-US" dirty="0"/>
          </a:p>
        </p:txBody>
      </p:sp>
      <p:sp>
        <p:nvSpPr>
          <p:cNvPr id="33" name="TextBox 32">
            <a:extLst>
              <a:ext uri="{FF2B5EF4-FFF2-40B4-BE49-F238E27FC236}">
                <a16:creationId xmlns:a16="http://schemas.microsoft.com/office/drawing/2014/main" id="{700F9C53-459F-4699-8016-E60F2D6B2CCE}"/>
              </a:ext>
            </a:extLst>
          </p:cNvPr>
          <p:cNvSpPr txBox="1"/>
          <p:nvPr/>
        </p:nvSpPr>
        <p:spPr>
          <a:xfrm>
            <a:off x="4671582" y="5413054"/>
            <a:ext cx="7279109" cy="461665"/>
          </a:xfrm>
          <a:prstGeom prst="rect">
            <a:avLst/>
          </a:prstGeom>
          <a:noFill/>
        </p:spPr>
        <p:txBody>
          <a:bodyPr wrap="none" rtlCol="0">
            <a:spAutoFit/>
          </a:bodyPr>
          <a:lstStyle/>
          <a:p>
            <a:r>
              <a:rPr lang="en-US" sz="2400" dirty="0">
                <a:solidFill>
                  <a:srgbClr val="FF0000"/>
                </a:solidFill>
              </a:rPr>
              <a:t>SOLUTION: Implementing sliding window convolutionally</a:t>
            </a:r>
          </a:p>
        </p:txBody>
      </p:sp>
      <p:sp>
        <p:nvSpPr>
          <p:cNvPr id="2" name="TextBox 1">
            <a:extLst>
              <a:ext uri="{FF2B5EF4-FFF2-40B4-BE49-F238E27FC236}">
                <a16:creationId xmlns:a16="http://schemas.microsoft.com/office/drawing/2014/main" id="{C8B71F6B-76C0-4CC2-998C-BD1634B624B3}"/>
              </a:ext>
            </a:extLst>
          </p:cNvPr>
          <p:cNvSpPr txBox="1"/>
          <p:nvPr/>
        </p:nvSpPr>
        <p:spPr>
          <a:xfrm>
            <a:off x="5091830" y="6219173"/>
            <a:ext cx="6332824" cy="646331"/>
          </a:xfrm>
          <a:prstGeom prst="rect">
            <a:avLst/>
          </a:prstGeom>
          <a:noFill/>
        </p:spPr>
        <p:txBody>
          <a:bodyPr wrap="none" rtlCol="0">
            <a:spAutoFit/>
          </a:bodyPr>
          <a:lstStyle/>
          <a:p>
            <a:r>
              <a:rPr lang="en-US" dirty="0"/>
              <a:t>NB: if we need to localize the object, we can output the bounding</a:t>
            </a:r>
            <a:br>
              <a:rPr lang="en-US" dirty="0"/>
            </a:br>
            <a:r>
              <a:rPr lang="en-US" dirty="0"/>
              <a:t>boxes of the corresponding window</a:t>
            </a:r>
          </a:p>
        </p:txBody>
      </p:sp>
    </p:spTree>
    <p:extLst>
      <p:ext uri="{BB962C8B-B14F-4D97-AF65-F5344CB8AC3E}">
        <p14:creationId xmlns:p14="http://schemas.microsoft.com/office/powerpoint/2010/main" val="1905966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4"/>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8"/>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19"/>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2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21"/>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xit" presetSubtype="0" fill="hold" grpId="1" nodeType="clickEffect">
                                  <p:stCondLst>
                                    <p:cond delay="0"/>
                                  </p:stCondLst>
                                  <p:childTnLst>
                                    <p:set>
                                      <p:cBhvr>
                                        <p:cTn id="48" dur="1" fill="hold">
                                          <p:stCondLst>
                                            <p:cond delay="0"/>
                                          </p:stCondLst>
                                        </p:cTn>
                                        <p:tgtEl>
                                          <p:spTgt spid="23"/>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24"/>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25"/>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26"/>
                                        </p:tgtEl>
                                        <p:attrNameLst>
                                          <p:attrName>style.visibility</p:attrName>
                                        </p:attrNameLst>
                                      </p:cBhvr>
                                      <p:to>
                                        <p:strVal val="hidden"/>
                                      </p:to>
                                    </p:set>
                                  </p:childTnLst>
                                </p:cTn>
                              </p:par>
                              <p:par>
                                <p:cTn id="63" presetID="1" presetClass="exit" presetSubtype="0" fill="hold" nodeType="withEffect">
                                  <p:stCondLst>
                                    <p:cond delay="0"/>
                                  </p:stCondLst>
                                  <p:childTnLst>
                                    <p:set>
                                      <p:cBhvr>
                                        <p:cTn id="64" dur="1" fill="hold">
                                          <p:stCondLst>
                                            <p:cond delay="0"/>
                                          </p:stCondLst>
                                        </p:cTn>
                                        <p:tgtEl>
                                          <p:spTgt spid="31"/>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8" grpId="0"/>
      <p:bldP spid="18" grpId="1"/>
      <p:bldP spid="19" grpId="0" animBg="1"/>
      <p:bldP spid="19" grpId="1" animBg="1"/>
      <p:bldP spid="21" grpId="0"/>
      <p:bldP spid="21" grpId="1"/>
      <p:bldP spid="23" grpId="0" animBg="1"/>
      <p:bldP spid="23" grpId="1" animBg="1"/>
      <p:bldP spid="25" grpId="0"/>
      <p:bldP spid="25" grpId="1"/>
      <p:bldP spid="26" grpId="0" animBg="1"/>
      <p:bldP spid="26" grpId="1" animBg="1"/>
      <p:bldP spid="32" grpId="0"/>
      <p:bldP spid="33"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ECEB071-4036-4558-872D-DFD7AB46BB1B}"/>
              </a:ext>
            </a:extLst>
          </p:cNvPr>
          <p:cNvSpPr>
            <a:spLocks noGrp="1"/>
          </p:cNvSpPr>
          <p:nvPr>
            <p:ph type="ctrTitle"/>
          </p:nvPr>
        </p:nvSpPr>
        <p:spPr/>
        <p:txBody>
          <a:bodyPr/>
          <a:lstStyle/>
          <a:p>
            <a:r>
              <a:rPr lang="en-US" dirty="0"/>
              <a:t>Convolutional sliding window</a:t>
            </a:r>
          </a:p>
        </p:txBody>
      </p:sp>
      <p:sp>
        <p:nvSpPr>
          <p:cNvPr id="4" name="Subtitle 3">
            <a:extLst>
              <a:ext uri="{FF2B5EF4-FFF2-40B4-BE49-F238E27FC236}">
                <a16:creationId xmlns:a16="http://schemas.microsoft.com/office/drawing/2014/main" id="{3BC43C05-4C64-4070-812E-ECD755C6F75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7694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0DD42D-FC8C-408B-8EAB-7CC6A54CFED8}"/>
              </a:ext>
            </a:extLst>
          </p:cNvPr>
          <p:cNvSpPr>
            <a:spLocks noGrp="1"/>
          </p:cNvSpPr>
          <p:nvPr>
            <p:ph type="title"/>
          </p:nvPr>
        </p:nvSpPr>
        <p:spPr>
          <a:xfrm>
            <a:off x="838200" y="153670"/>
            <a:ext cx="10515600" cy="1325563"/>
          </a:xfrm>
        </p:spPr>
        <p:txBody>
          <a:bodyPr/>
          <a:lstStyle/>
          <a:p>
            <a:r>
              <a:rPr lang="en-US" dirty="0"/>
              <a:t>Turning FC layers into convolutional layers</a:t>
            </a:r>
          </a:p>
        </p:txBody>
      </p:sp>
      <p:pic>
        <p:nvPicPr>
          <p:cNvPr id="6" name="Picture 5">
            <a:extLst>
              <a:ext uri="{FF2B5EF4-FFF2-40B4-BE49-F238E27FC236}">
                <a16:creationId xmlns:a16="http://schemas.microsoft.com/office/drawing/2014/main" id="{FF192C3E-EEB1-474E-8530-2D1F28880F63}"/>
              </a:ext>
            </a:extLst>
          </p:cNvPr>
          <p:cNvPicPr>
            <a:picLocks noChangeAspect="1"/>
          </p:cNvPicPr>
          <p:nvPr/>
        </p:nvPicPr>
        <p:blipFill>
          <a:blip r:embed="rId3"/>
          <a:stretch>
            <a:fillRect/>
          </a:stretch>
        </p:blipFill>
        <p:spPr>
          <a:xfrm>
            <a:off x="0" y="1659408"/>
            <a:ext cx="12192000" cy="2209177"/>
          </a:xfrm>
          <a:prstGeom prst="rect">
            <a:avLst/>
          </a:prstGeom>
        </p:spPr>
      </p:pic>
      <p:grpSp>
        <p:nvGrpSpPr>
          <p:cNvPr id="12" name="Group 11">
            <a:extLst>
              <a:ext uri="{FF2B5EF4-FFF2-40B4-BE49-F238E27FC236}">
                <a16:creationId xmlns:a16="http://schemas.microsoft.com/office/drawing/2014/main" id="{3C1D65F6-73B9-4FA0-905C-2826D3AD5F3D}"/>
              </a:ext>
            </a:extLst>
          </p:cNvPr>
          <p:cNvGrpSpPr/>
          <p:nvPr/>
        </p:nvGrpSpPr>
        <p:grpSpPr>
          <a:xfrm>
            <a:off x="11159490" y="2008821"/>
            <a:ext cx="453390" cy="1503045"/>
            <a:chOff x="5154930" y="4652010"/>
            <a:chExt cx="365760" cy="1503045"/>
          </a:xfrm>
          <a:solidFill>
            <a:schemeClr val="bg1"/>
          </a:solidFill>
        </p:grpSpPr>
        <p:sp>
          <p:nvSpPr>
            <p:cNvPr id="7" name="Rectangle 6">
              <a:extLst>
                <a:ext uri="{FF2B5EF4-FFF2-40B4-BE49-F238E27FC236}">
                  <a16:creationId xmlns:a16="http://schemas.microsoft.com/office/drawing/2014/main" id="{37954106-F181-4E24-BBB4-F5ADA99C0F6D}"/>
                </a:ext>
              </a:extLst>
            </p:cNvPr>
            <p:cNvSpPr/>
            <p:nvPr/>
          </p:nvSpPr>
          <p:spPr>
            <a:xfrm>
              <a:off x="5154930" y="4652010"/>
              <a:ext cx="365760" cy="1503045"/>
            </a:xfrm>
            <a:prstGeom prst="rect">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CCF9D77A-4A25-4264-94B1-8C47AE7D790F}"/>
                </a:ext>
              </a:extLst>
            </p:cNvPr>
            <p:cNvSpPr/>
            <p:nvPr/>
          </p:nvSpPr>
          <p:spPr>
            <a:xfrm>
              <a:off x="5180646" y="4690750"/>
              <a:ext cx="314325" cy="331470"/>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66AC9DB2-E924-473A-A3D7-43A5843BDA89}"/>
                </a:ext>
              </a:extLst>
            </p:cNvPr>
            <p:cNvSpPr/>
            <p:nvPr/>
          </p:nvSpPr>
          <p:spPr>
            <a:xfrm>
              <a:off x="5180646" y="5070001"/>
              <a:ext cx="314325" cy="331470"/>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C559402-1F77-46FE-A231-EFFCE492DEE4}"/>
                </a:ext>
              </a:extLst>
            </p:cNvPr>
            <p:cNvSpPr/>
            <p:nvPr/>
          </p:nvSpPr>
          <p:spPr>
            <a:xfrm>
              <a:off x="5180646" y="5432903"/>
              <a:ext cx="314325" cy="331470"/>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738802B1-68D9-42BC-AEDD-95BFDBE1DDAA}"/>
                </a:ext>
              </a:extLst>
            </p:cNvPr>
            <p:cNvSpPr/>
            <p:nvPr/>
          </p:nvSpPr>
          <p:spPr>
            <a:xfrm>
              <a:off x="5180646" y="5793979"/>
              <a:ext cx="314325" cy="331470"/>
            </a:xfrm>
            <a:prstGeom prst="ellipse">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6" name="Picture 15">
            <a:extLst>
              <a:ext uri="{FF2B5EF4-FFF2-40B4-BE49-F238E27FC236}">
                <a16:creationId xmlns:a16="http://schemas.microsoft.com/office/drawing/2014/main" id="{452EB45B-EB20-4D7E-8CD3-AA65A667922E}"/>
              </a:ext>
            </a:extLst>
          </p:cNvPr>
          <p:cNvPicPr>
            <a:picLocks noChangeAspect="1"/>
          </p:cNvPicPr>
          <p:nvPr/>
        </p:nvPicPr>
        <p:blipFill>
          <a:blip r:embed="rId4"/>
          <a:stretch>
            <a:fillRect/>
          </a:stretch>
        </p:blipFill>
        <p:spPr>
          <a:xfrm>
            <a:off x="0" y="4512715"/>
            <a:ext cx="12192000" cy="2027380"/>
          </a:xfrm>
          <a:prstGeom prst="rect">
            <a:avLst/>
          </a:prstGeom>
        </p:spPr>
      </p:pic>
      <p:sp>
        <p:nvSpPr>
          <p:cNvPr id="17" name="TextBox 16">
            <a:extLst>
              <a:ext uri="{FF2B5EF4-FFF2-40B4-BE49-F238E27FC236}">
                <a16:creationId xmlns:a16="http://schemas.microsoft.com/office/drawing/2014/main" id="{C4C96D22-D03C-4D80-ACC4-AA1C388A8990}"/>
              </a:ext>
            </a:extLst>
          </p:cNvPr>
          <p:cNvSpPr txBox="1"/>
          <p:nvPr/>
        </p:nvSpPr>
        <p:spPr>
          <a:xfrm>
            <a:off x="6532245" y="5812155"/>
            <a:ext cx="1120756" cy="369332"/>
          </a:xfrm>
          <a:prstGeom prst="rect">
            <a:avLst/>
          </a:prstGeom>
          <a:noFill/>
        </p:spPr>
        <p:txBody>
          <a:bodyPr wrap="none" rtlCol="0">
            <a:spAutoFit/>
          </a:bodyPr>
          <a:lstStyle/>
          <a:p>
            <a:r>
              <a:rPr lang="en-US" dirty="0"/>
              <a:t>400 filters</a:t>
            </a:r>
          </a:p>
        </p:txBody>
      </p:sp>
      <p:cxnSp>
        <p:nvCxnSpPr>
          <p:cNvPr id="19" name="Straight Arrow Connector 18">
            <a:extLst>
              <a:ext uri="{FF2B5EF4-FFF2-40B4-BE49-F238E27FC236}">
                <a16:creationId xmlns:a16="http://schemas.microsoft.com/office/drawing/2014/main" id="{16DBF705-86E5-40F5-8BC6-D1FBBD531E58}"/>
              </a:ext>
            </a:extLst>
          </p:cNvPr>
          <p:cNvCxnSpPr/>
          <p:nvPr/>
        </p:nvCxnSpPr>
        <p:spPr>
          <a:xfrm>
            <a:off x="8355330" y="3926205"/>
            <a:ext cx="0" cy="101727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5371460C-9D6D-4421-94CA-389950105EE6}"/>
              </a:ext>
            </a:extLst>
          </p:cNvPr>
          <p:cNvSpPr txBox="1"/>
          <p:nvPr/>
        </p:nvSpPr>
        <p:spPr>
          <a:xfrm>
            <a:off x="8084820" y="5832410"/>
            <a:ext cx="1120756" cy="369332"/>
          </a:xfrm>
          <a:prstGeom prst="rect">
            <a:avLst/>
          </a:prstGeom>
          <a:noFill/>
        </p:spPr>
        <p:txBody>
          <a:bodyPr wrap="none" rtlCol="0">
            <a:spAutoFit/>
          </a:bodyPr>
          <a:lstStyle/>
          <a:p>
            <a:r>
              <a:rPr lang="en-US" dirty="0"/>
              <a:t>400 filters</a:t>
            </a:r>
          </a:p>
        </p:txBody>
      </p:sp>
      <p:cxnSp>
        <p:nvCxnSpPr>
          <p:cNvPr id="21" name="Straight Arrow Connector 20">
            <a:extLst>
              <a:ext uri="{FF2B5EF4-FFF2-40B4-BE49-F238E27FC236}">
                <a16:creationId xmlns:a16="http://schemas.microsoft.com/office/drawing/2014/main" id="{FAFD133B-8E57-47E2-97D6-77196D5CFB00}"/>
              </a:ext>
            </a:extLst>
          </p:cNvPr>
          <p:cNvCxnSpPr/>
          <p:nvPr/>
        </p:nvCxnSpPr>
        <p:spPr>
          <a:xfrm>
            <a:off x="9907905" y="3946460"/>
            <a:ext cx="0" cy="101727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352AA700-5A4D-4B39-97DF-D9CE1C633F57}"/>
              </a:ext>
            </a:extLst>
          </p:cNvPr>
          <p:cNvSpPr txBox="1"/>
          <p:nvPr/>
        </p:nvSpPr>
        <p:spPr>
          <a:xfrm>
            <a:off x="10085070" y="5812155"/>
            <a:ext cx="886718" cy="369332"/>
          </a:xfrm>
          <a:prstGeom prst="rect">
            <a:avLst/>
          </a:prstGeom>
          <a:noFill/>
        </p:spPr>
        <p:txBody>
          <a:bodyPr wrap="none" rtlCol="0">
            <a:spAutoFit/>
          </a:bodyPr>
          <a:lstStyle/>
          <a:p>
            <a:r>
              <a:rPr lang="en-US" dirty="0"/>
              <a:t>4 filters</a:t>
            </a:r>
          </a:p>
        </p:txBody>
      </p:sp>
      <p:cxnSp>
        <p:nvCxnSpPr>
          <p:cNvPr id="23" name="Straight Arrow Connector 22">
            <a:extLst>
              <a:ext uri="{FF2B5EF4-FFF2-40B4-BE49-F238E27FC236}">
                <a16:creationId xmlns:a16="http://schemas.microsoft.com/office/drawing/2014/main" id="{726E3703-EAD0-436F-B4A1-3CB21D569AFD}"/>
              </a:ext>
            </a:extLst>
          </p:cNvPr>
          <p:cNvCxnSpPr/>
          <p:nvPr/>
        </p:nvCxnSpPr>
        <p:spPr>
          <a:xfrm>
            <a:off x="11580999" y="4024335"/>
            <a:ext cx="0" cy="1017270"/>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pic>
        <p:nvPicPr>
          <p:cNvPr id="25" name="Picture 24">
            <a:extLst>
              <a:ext uri="{FF2B5EF4-FFF2-40B4-BE49-F238E27FC236}">
                <a16:creationId xmlns:a16="http://schemas.microsoft.com/office/drawing/2014/main" id="{04195C22-6B2F-4F5F-A10D-919FC94B18EB}"/>
              </a:ext>
            </a:extLst>
          </p:cNvPr>
          <p:cNvPicPr>
            <a:picLocks noChangeAspect="1"/>
          </p:cNvPicPr>
          <p:nvPr/>
        </p:nvPicPr>
        <p:blipFill>
          <a:blip r:embed="rId5"/>
          <a:stretch>
            <a:fillRect/>
          </a:stretch>
        </p:blipFill>
        <p:spPr>
          <a:xfrm>
            <a:off x="10206990" y="5498805"/>
            <a:ext cx="648677" cy="333605"/>
          </a:xfrm>
          <a:prstGeom prst="rect">
            <a:avLst/>
          </a:prstGeom>
        </p:spPr>
      </p:pic>
    </p:spTree>
    <p:extLst>
      <p:ext uri="{BB962C8B-B14F-4D97-AF65-F5344CB8AC3E}">
        <p14:creationId xmlns:p14="http://schemas.microsoft.com/office/powerpoint/2010/main" val="357548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2" grpId="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DC7DE-94B7-4C0C-BEE4-C3753132B4BC}"/>
              </a:ext>
            </a:extLst>
          </p:cNvPr>
          <p:cNvSpPr>
            <a:spLocks noGrp="1"/>
          </p:cNvSpPr>
          <p:nvPr>
            <p:ph type="title"/>
          </p:nvPr>
        </p:nvSpPr>
        <p:spPr>
          <a:xfrm>
            <a:off x="49306" y="0"/>
            <a:ext cx="10515600" cy="1325563"/>
          </a:xfrm>
        </p:spPr>
        <p:txBody>
          <a:bodyPr/>
          <a:lstStyle/>
          <a:p>
            <a:r>
              <a:rPr lang="en-US" dirty="0"/>
              <a:t>Conv implementation of sliding windows</a:t>
            </a:r>
          </a:p>
        </p:txBody>
      </p:sp>
      <p:pic>
        <p:nvPicPr>
          <p:cNvPr id="4" name="Picture 3">
            <a:extLst>
              <a:ext uri="{FF2B5EF4-FFF2-40B4-BE49-F238E27FC236}">
                <a16:creationId xmlns:a16="http://schemas.microsoft.com/office/drawing/2014/main" id="{26BD1CDF-4631-4F67-B5E5-BED1FCE6C065}"/>
              </a:ext>
            </a:extLst>
          </p:cNvPr>
          <p:cNvPicPr>
            <a:picLocks noChangeAspect="1"/>
          </p:cNvPicPr>
          <p:nvPr/>
        </p:nvPicPr>
        <p:blipFill>
          <a:blip r:embed="rId2"/>
          <a:stretch>
            <a:fillRect/>
          </a:stretch>
        </p:blipFill>
        <p:spPr>
          <a:xfrm>
            <a:off x="0" y="6619832"/>
            <a:ext cx="9191812" cy="238168"/>
          </a:xfrm>
          <a:prstGeom prst="rect">
            <a:avLst/>
          </a:prstGeom>
        </p:spPr>
      </p:pic>
      <p:pic>
        <p:nvPicPr>
          <p:cNvPr id="6" name="Picture 5">
            <a:extLst>
              <a:ext uri="{FF2B5EF4-FFF2-40B4-BE49-F238E27FC236}">
                <a16:creationId xmlns:a16="http://schemas.microsoft.com/office/drawing/2014/main" id="{777A78A8-EBE3-47BD-AC51-1AFF5E83350D}"/>
              </a:ext>
            </a:extLst>
          </p:cNvPr>
          <p:cNvPicPr>
            <a:picLocks noChangeAspect="1"/>
          </p:cNvPicPr>
          <p:nvPr/>
        </p:nvPicPr>
        <p:blipFill>
          <a:blip r:embed="rId3"/>
          <a:stretch>
            <a:fillRect/>
          </a:stretch>
        </p:blipFill>
        <p:spPr>
          <a:xfrm>
            <a:off x="0" y="1731984"/>
            <a:ext cx="12192000" cy="2030575"/>
          </a:xfrm>
          <a:prstGeom prst="rect">
            <a:avLst/>
          </a:prstGeom>
        </p:spPr>
      </p:pic>
      <p:sp>
        <p:nvSpPr>
          <p:cNvPr id="7" name="TextBox 6">
            <a:extLst>
              <a:ext uri="{FF2B5EF4-FFF2-40B4-BE49-F238E27FC236}">
                <a16:creationId xmlns:a16="http://schemas.microsoft.com/office/drawing/2014/main" id="{3E3B8086-53DC-4E1B-9D92-5D9872292F86}"/>
              </a:ext>
            </a:extLst>
          </p:cNvPr>
          <p:cNvSpPr txBox="1"/>
          <p:nvPr/>
        </p:nvSpPr>
        <p:spPr>
          <a:xfrm>
            <a:off x="10094259" y="907817"/>
            <a:ext cx="1880515" cy="369332"/>
          </a:xfrm>
          <a:prstGeom prst="rect">
            <a:avLst/>
          </a:prstGeom>
          <a:noFill/>
        </p:spPr>
        <p:txBody>
          <a:bodyPr wrap="none" rtlCol="0">
            <a:spAutoFit/>
          </a:bodyPr>
          <a:lstStyle/>
          <a:p>
            <a:r>
              <a:rPr lang="en-US" dirty="0"/>
              <a:t>Let’s Ignore depth</a:t>
            </a:r>
          </a:p>
        </p:txBody>
      </p:sp>
      <p:pic>
        <p:nvPicPr>
          <p:cNvPr id="9" name="Picture 8">
            <a:extLst>
              <a:ext uri="{FF2B5EF4-FFF2-40B4-BE49-F238E27FC236}">
                <a16:creationId xmlns:a16="http://schemas.microsoft.com/office/drawing/2014/main" id="{D06434A5-605E-4CC5-B1FB-849BE6898863}"/>
              </a:ext>
            </a:extLst>
          </p:cNvPr>
          <p:cNvPicPr>
            <a:picLocks noChangeAspect="1"/>
          </p:cNvPicPr>
          <p:nvPr/>
        </p:nvPicPr>
        <p:blipFill>
          <a:blip r:embed="rId4"/>
          <a:stretch>
            <a:fillRect/>
          </a:stretch>
        </p:blipFill>
        <p:spPr>
          <a:xfrm>
            <a:off x="0" y="4446609"/>
            <a:ext cx="1790700" cy="2122779"/>
          </a:xfrm>
          <a:prstGeom prst="rect">
            <a:avLst/>
          </a:prstGeom>
        </p:spPr>
      </p:pic>
      <p:sp>
        <p:nvSpPr>
          <p:cNvPr id="10" name="TextBox 9">
            <a:extLst>
              <a:ext uri="{FF2B5EF4-FFF2-40B4-BE49-F238E27FC236}">
                <a16:creationId xmlns:a16="http://schemas.microsoft.com/office/drawing/2014/main" id="{7BF33667-033E-4B90-8AEF-765C6C301CA9}"/>
              </a:ext>
            </a:extLst>
          </p:cNvPr>
          <p:cNvSpPr txBox="1"/>
          <p:nvPr/>
        </p:nvSpPr>
        <p:spPr>
          <a:xfrm>
            <a:off x="125730" y="1319901"/>
            <a:ext cx="927049" cy="369332"/>
          </a:xfrm>
          <a:prstGeom prst="rect">
            <a:avLst/>
          </a:prstGeom>
          <a:noFill/>
        </p:spPr>
        <p:txBody>
          <a:bodyPr wrap="none" rtlCol="0">
            <a:spAutoFit/>
          </a:bodyPr>
          <a:lstStyle/>
          <a:p>
            <a:r>
              <a:rPr lang="en-US" dirty="0"/>
              <a:t>Training</a:t>
            </a:r>
          </a:p>
        </p:txBody>
      </p:sp>
      <p:sp>
        <p:nvSpPr>
          <p:cNvPr id="11" name="TextBox 10">
            <a:extLst>
              <a:ext uri="{FF2B5EF4-FFF2-40B4-BE49-F238E27FC236}">
                <a16:creationId xmlns:a16="http://schemas.microsoft.com/office/drawing/2014/main" id="{C6B8DB14-39B9-444F-849A-1FD92E432772}"/>
              </a:ext>
            </a:extLst>
          </p:cNvPr>
          <p:cNvSpPr txBox="1"/>
          <p:nvPr/>
        </p:nvSpPr>
        <p:spPr>
          <a:xfrm>
            <a:off x="15240" y="4089354"/>
            <a:ext cx="555921" cy="369332"/>
          </a:xfrm>
          <a:prstGeom prst="rect">
            <a:avLst/>
          </a:prstGeom>
          <a:noFill/>
        </p:spPr>
        <p:txBody>
          <a:bodyPr wrap="none" rtlCol="0">
            <a:spAutoFit/>
          </a:bodyPr>
          <a:lstStyle/>
          <a:p>
            <a:r>
              <a:rPr lang="en-US" dirty="0"/>
              <a:t>Test</a:t>
            </a:r>
          </a:p>
        </p:txBody>
      </p:sp>
      <p:pic>
        <p:nvPicPr>
          <p:cNvPr id="13" name="Picture 12">
            <a:extLst>
              <a:ext uri="{FF2B5EF4-FFF2-40B4-BE49-F238E27FC236}">
                <a16:creationId xmlns:a16="http://schemas.microsoft.com/office/drawing/2014/main" id="{A3EE0E2D-4903-4661-8A22-B33D722C5591}"/>
              </a:ext>
            </a:extLst>
          </p:cNvPr>
          <p:cNvPicPr>
            <a:picLocks noChangeAspect="1"/>
          </p:cNvPicPr>
          <p:nvPr/>
        </p:nvPicPr>
        <p:blipFill>
          <a:blip r:embed="rId5"/>
          <a:stretch>
            <a:fillRect/>
          </a:stretch>
        </p:blipFill>
        <p:spPr>
          <a:xfrm>
            <a:off x="2097404" y="4647792"/>
            <a:ext cx="10047883" cy="1906928"/>
          </a:xfrm>
          <a:prstGeom prst="rect">
            <a:avLst/>
          </a:prstGeom>
        </p:spPr>
      </p:pic>
      <p:sp>
        <p:nvSpPr>
          <p:cNvPr id="14" name="TextBox 13">
            <a:extLst>
              <a:ext uri="{FF2B5EF4-FFF2-40B4-BE49-F238E27FC236}">
                <a16:creationId xmlns:a16="http://schemas.microsoft.com/office/drawing/2014/main" id="{A28D2EBC-3BD3-43A2-9E43-854A326726CF}"/>
              </a:ext>
            </a:extLst>
          </p:cNvPr>
          <p:cNvSpPr txBox="1"/>
          <p:nvPr/>
        </p:nvSpPr>
        <p:spPr>
          <a:xfrm>
            <a:off x="8046720" y="4326255"/>
            <a:ext cx="3853812" cy="646331"/>
          </a:xfrm>
          <a:prstGeom prst="rect">
            <a:avLst/>
          </a:prstGeom>
          <a:noFill/>
        </p:spPr>
        <p:txBody>
          <a:bodyPr wrap="none" rtlCol="0">
            <a:spAutoFit/>
          </a:bodyPr>
          <a:lstStyle/>
          <a:p>
            <a:r>
              <a:rPr lang="en-US" dirty="0">
                <a:solidFill>
                  <a:srgbClr val="FF0000"/>
                </a:solidFill>
              </a:rPr>
              <a:t>The blue area is like sliding the window</a:t>
            </a:r>
            <a:br>
              <a:rPr lang="en-US" dirty="0">
                <a:solidFill>
                  <a:srgbClr val="FF0000"/>
                </a:solidFill>
              </a:rPr>
            </a:br>
            <a:r>
              <a:rPr lang="en-US" dirty="0">
                <a:solidFill>
                  <a:srgbClr val="FF0000"/>
                </a:solidFill>
              </a:rPr>
              <a:t>of the training image on the set image</a:t>
            </a:r>
          </a:p>
        </p:txBody>
      </p:sp>
      <p:sp>
        <p:nvSpPr>
          <p:cNvPr id="15" name="Rectangle 14">
            <a:extLst>
              <a:ext uri="{FF2B5EF4-FFF2-40B4-BE49-F238E27FC236}">
                <a16:creationId xmlns:a16="http://schemas.microsoft.com/office/drawing/2014/main" id="{86EB18EC-BF2F-4585-BA35-37D4E9A03AC4}"/>
              </a:ext>
            </a:extLst>
          </p:cNvPr>
          <p:cNvSpPr/>
          <p:nvPr/>
        </p:nvSpPr>
        <p:spPr>
          <a:xfrm>
            <a:off x="293200" y="4503420"/>
            <a:ext cx="1415585" cy="14230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D07AF77-53E7-44BD-8E68-F16F009E615A}"/>
              </a:ext>
            </a:extLst>
          </p:cNvPr>
          <p:cNvSpPr/>
          <p:nvPr/>
        </p:nvSpPr>
        <p:spPr>
          <a:xfrm>
            <a:off x="11452860" y="5200650"/>
            <a:ext cx="160020" cy="160020"/>
          </a:xfrm>
          <a:prstGeom prst="rect">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69B840EE-5AA9-4344-A6C7-932A932EB81B}"/>
              </a:ext>
            </a:extLst>
          </p:cNvPr>
          <p:cNvSpPr/>
          <p:nvPr/>
        </p:nvSpPr>
        <p:spPr>
          <a:xfrm>
            <a:off x="125730" y="4733998"/>
            <a:ext cx="1415585" cy="14230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C87CCEC-F02C-4203-A9F4-638939AC9F2A}"/>
              </a:ext>
            </a:extLst>
          </p:cNvPr>
          <p:cNvSpPr/>
          <p:nvPr/>
        </p:nvSpPr>
        <p:spPr>
          <a:xfrm>
            <a:off x="11292840" y="5320909"/>
            <a:ext cx="160020" cy="160020"/>
          </a:xfrm>
          <a:prstGeom prst="rect">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CAC66644-33F7-4C0D-8C38-38D035CA98E1}"/>
              </a:ext>
            </a:extLst>
          </p:cNvPr>
          <p:cNvSpPr/>
          <p:nvPr/>
        </p:nvSpPr>
        <p:spPr>
          <a:xfrm>
            <a:off x="309480" y="4719222"/>
            <a:ext cx="1415585" cy="1423035"/>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2A0D54B-D551-4176-950D-896C741A90BF}"/>
              </a:ext>
            </a:extLst>
          </p:cNvPr>
          <p:cNvSpPr/>
          <p:nvPr/>
        </p:nvSpPr>
        <p:spPr>
          <a:xfrm>
            <a:off x="11452860" y="5324908"/>
            <a:ext cx="160020" cy="160020"/>
          </a:xfrm>
          <a:prstGeom prst="rect">
            <a:avLst/>
          </a:prstGeom>
          <a:solidFill>
            <a:srgbClr val="FF0000"/>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3939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14">
                                            <p:txEl>
                                              <p:pRg st="0" end="0"/>
                                            </p:txEl>
                                          </p:spTgt>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5"/>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6"/>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1" nodeType="clickEffect">
                                  <p:stCondLst>
                                    <p:cond delay="0"/>
                                  </p:stCondLst>
                                  <p:childTnLst>
                                    <p:set>
                                      <p:cBhvr>
                                        <p:cTn id="38" dur="1" fill="hold">
                                          <p:stCondLst>
                                            <p:cond delay="0"/>
                                          </p:stCondLst>
                                        </p:cTn>
                                        <p:tgtEl>
                                          <p:spTgt spid="17"/>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18"/>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build="allAtOnce"/>
      <p:bldP spid="15" grpId="0" animBg="1"/>
      <p:bldP spid="15" grpId="1" animBg="1"/>
      <p:bldP spid="16" grpId="0" animBg="1"/>
      <p:bldP spid="16" grpId="1" animBg="1"/>
      <p:bldP spid="17" grpId="0" animBg="1"/>
      <p:bldP spid="17" grpId="1" animBg="1"/>
      <p:bldP spid="18" grpId="0" animBg="1"/>
      <p:bldP spid="18" grpId="1" animBg="1"/>
      <p:bldP spid="19" grpId="0" animBg="1"/>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2F67DE-AD74-4D9C-BC8F-0296AEBA7C12}"/>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651C5D14-125A-4175-8733-DB77C131AF01}"/>
              </a:ext>
            </a:extLst>
          </p:cNvPr>
          <p:cNvSpPr>
            <a:spLocks noGrp="1"/>
          </p:cNvSpPr>
          <p:nvPr>
            <p:ph idx="1"/>
          </p:nvPr>
        </p:nvSpPr>
        <p:spPr/>
        <p:txBody>
          <a:bodyPr>
            <a:normAutofit/>
          </a:bodyPr>
          <a:lstStyle/>
          <a:p>
            <a:r>
              <a:rPr lang="en-US" sz="3200" dirty="0"/>
              <a:t>The size of the input layer in the training CNN is the windows size</a:t>
            </a:r>
          </a:p>
          <a:p>
            <a:r>
              <a:rPr lang="en-US" sz="3200" dirty="0"/>
              <a:t>The stride of the MAX-POOL layer is the stride of the sliding window</a:t>
            </a:r>
          </a:p>
          <a:p>
            <a:r>
              <a:rPr lang="en-US" sz="3200" dirty="0"/>
              <a:t>After the MAX-POOL the filter size should be set in order to produce 1x1 output</a:t>
            </a:r>
          </a:p>
        </p:txBody>
      </p:sp>
    </p:spTree>
    <p:extLst>
      <p:ext uri="{BB962C8B-B14F-4D97-AF65-F5344CB8AC3E}">
        <p14:creationId xmlns:p14="http://schemas.microsoft.com/office/powerpoint/2010/main" val="3382594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3DDB5-6936-4EF3-886B-3B4F504AC79E}"/>
              </a:ext>
            </a:extLst>
          </p:cNvPr>
          <p:cNvSpPr>
            <a:spLocks noGrp="1"/>
          </p:cNvSpPr>
          <p:nvPr>
            <p:ph type="title"/>
          </p:nvPr>
        </p:nvSpPr>
        <p:spPr>
          <a:xfrm>
            <a:off x="135747" y="-142022"/>
            <a:ext cx="10515600" cy="1325563"/>
          </a:xfrm>
        </p:spPr>
        <p:txBody>
          <a:bodyPr/>
          <a:lstStyle/>
          <a:p>
            <a:r>
              <a:rPr lang="en-US" dirty="0"/>
              <a:t>Another example</a:t>
            </a:r>
          </a:p>
        </p:txBody>
      </p:sp>
      <p:pic>
        <p:nvPicPr>
          <p:cNvPr id="5" name="Picture 4">
            <a:extLst>
              <a:ext uri="{FF2B5EF4-FFF2-40B4-BE49-F238E27FC236}">
                <a16:creationId xmlns:a16="http://schemas.microsoft.com/office/drawing/2014/main" id="{52AE35AC-33DE-4DEB-8E30-E4E7DDB5FC69}"/>
              </a:ext>
            </a:extLst>
          </p:cNvPr>
          <p:cNvPicPr>
            <a:picLocks noChangeAspect="1"/>
          </p:cNvPicPr>
          <p:nvPr/>
        </p:nvPicPr>
        <p:blipFill>
          <a:blip r:embed="rId2"/>
          <a:stretch>
            <a:fillRect/>
          </a:stretch>
        </p:blipFill>
        <p:spPr>
          <a:xfrm>
            <a:off x="0" y="1731984"/>
            <a:ext cx="12192000" cy="2030575"/>
          </a:xfrm>
          <a:prstGeom prst="rect">
            <a:avLst/>
          </a:prstGeom>
        </p:spPr>
      </p:pic>
      <p:pic>
        <p:nvPicPr>
          <p:cNvPr id="7" name="Picture 6">
            <a:extLst>
              <a:ext uri="{FF2B5EF4-FFF2-40B4-BE49-F238E27FC236}">
                <a16:creationId xmlns:a16="http://schemas.microsoft.com/office/drawing/2014/main" id="{9909A56C-5889-42FD-8DB0-F8E8CF52C946}"/>
              </a:ext>
            </a:extLst>
          </p:cNvPr>
          <p:cNvPicPr>
            <a:picLocks noChangeAspect="1"/>
          </p:cNvPicPr>
          <p:nvPr/>
        </p:nvPicPr>
        <p:blipFill>
          <a:blip r:embed="rId3"/>
          <a:stretch>
            <a:fillRect/>
          </a:stretch>
        </p:blipFill>
        <p:spPr>
          <a:xfrm>
            <a:off x="0" y="4116462"/>
            <a:ext cx="12192000" cy="2088366"/>
          </a:xfrm>
          <a:prstGeom prst="rect">
            <a:avLst/>
          </a:prstGeom>
        </p:spPr>
      </p:pic>
      <p:sp>
        <p:nvSpPr>
          <p:cNvPr id="8" name="TextBox 7">
            <a:extLst>
              <a:ext uri="{FF2B5EF4-FFF2-40B4-BE49-F238E27FC236}">
                <a16:creationId xmlns:a16="http://schemas.microsoft.com/office/drawing/2014/main" id="{56BBE89F-B30C-4169-9469-25CA5AFD917D}"/>
              </a:ext>
            </a:extLst>
          </p:cNvPr>
          <p:cNvSpPr txBox="1"/>
          <p:nvPr/>
        </p:nvSpPr>
        <p:spPr>
          <a:xfrm>
            <a:off x="7886208" y="811431"/>
            <a:ext cx="2041072" cy="369332"/>
          </a:xfrm>
          <a:prstGeom prst="rect">
            <a:avLst/>
          </a:prstGeom>
          <a:noFill/>
        </p:spPr>
        <p:txBody>
          <a:bodyPr wrap="none" rtlCol="0">
            <a:spAutoFit/>
          </a:bodyPr>
          <a:lstStyle/>
          <a:p>
            <a:r>
              <a:rPr lang="en-US" dirty="0"/>
              <a:t>Max-pool stride s=2</a:t>
            </a:r>
          </a:p>
        </p:txBody>
      </p:sp>
    </p:spTree>
    <p:extLst>
      <p:ext uri="{BB962C8B-B14F-4D97-AF65-F5344CB8AC3E}">
        <p14:creationId xmlns:p14="http://schemas.microsoft.com/office/powerpoint/2010/main" val="1953663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2F537-0358-48FB-BCE4-152BD3FD318F}"/>
              </a:ext>
            </a:extLst>
          </p:cNvPr>
          <p:cNvSpPr>
            <a:spLocks noGrp="1"/>
          </p:cNvSpPr>
          <p:nvPr>
            <p:ph type="title"/>
          </p:nvPr>
        </p:nvSpPr>
        <p:spPr/>
        <p:txBody>
          <a:bodyPr/>
          <a:lstStyle/>
          <a:p>
            <a:r>
              <a:rPr lang="en-US" dirty="0"/>
              <a:t>Sliding window 8x8 with stride s=1</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FAC15FF-EBA7-495D-98C9-DDECFC83DD62}"/>
                  </a:ext>
                </a:extLst>
              </p:cNvPr>
              <p:cNvSpPr txBox="1"/>
              <p:nvPr/>
            </p:nvSpPr>
            <p:spPr>
              <a:xfrm>
                <a:off x="0" y="1690688"/>
                <a:ext cx="12080743" cy="9218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8</m:t>
                      </m:r>
                      <m:r>
                        <a:rPr lang="en-US" sz="2400" b="0" i="1" smtClean="0">
                          <a:latin typeface="Cambria Math" panose="02040503050406030204" pitchFamily="18" charset="0"/>
                          <a:ea typeface="Cambria Math" panose="02040503050406030204" pitchFamily="18" charset="0"/>
                        </a:rPr>
                        <m:t>×8×3</m:t>
                      </m:r>
                      <m:groupChr>
                        <m:groupChrPr>
                          <m:chr m:val="→"/>
                          <m:vertJc m:val="bot"/>
                          <m:ctrlPr>
                            <a:rPr lang="en-US" sz="2400" b="0" i="1" smtClean="0">
                              <a:latin typeface="Cambria Math" panose="02040503050406030204" pitchFamily="18" charset="0"/>
                              <a:ea typeface="Cambria Math" panose="02040503050406030204" pitchFamily="18" charset="0"/>
                            </a:rPr>
                          </m:ctrlPr>
                        </m:groupChrPr>
                        <m:e>
                          <m:r>
                            <m:rPr>
                              <m:brk m:alnAt="2"/>
                            </m:rPr>
                            <a:rPr lang="en-US" sz="2400" b="0" i="1" smtClean="0">
                              <a:latin typeface="Cambria Math" panose="02040503050406030204" pitchFamily="18" charset="0"/>
                              <a:ea typeface="Cambria Math" panose="02040503050406030204" pitchFamily="18" charset="0"/>
                            </a:rPr>
                            <m:t>5</m:t>
                          </m:r>
                          <m:r>
                            <a:rPr lang="en-US" sz="2400" b="0" i="1" smtClean="0">
                              <a:latin typeface="Cambria Math" panose="02040503050406030204" pitchFamily="18" charset="0"/>
                              <a:ea typeface="Cambria Math" panose="02040503050406030204" pitchFamily="18" charset="0"/>
                            </a:rPr>
                            <m:t>×5</m:t>
                          </m:r>
                        </m:e>
                      </m:groupChr>
                      <m:r>
                        <a:rPr lang="en-US" sz="2400" b="0" i="1" smtClean="0">
                          <a:latin typeface="Cambria Math" panose="02040503050406030204" pitchFamily="18" charset="0"/>
                          <a:ea typeface="Cambria Math" panose="02040503050406030204" pitchFamily="18" charset="0"/>
                        </a:rPr>
                        <m:t>4×4×16</m:t>
                      </m:r>
                      <m:groupChr>
                        <m:groupChrPr>
                          <m:chr m:val="→"/>
                          <m:vertJc m:val="bot"/>
                          <m:ctrlPr>
                            <a:rPr lang="en-US" sz="2400" b="0" i="1" smtClean="0">
                              <a:latin typeface="Cambria Math" panose="02040503050406030204" pitchFamily="18" charset="0"/>
                              <a:ea typeface="Cambria Math" panose="02040503050406030204" pitchFamily="18" charset="0"/>
                            </a:rPr>
                          </m:ctrlPr>
                        </m:groupChrPr>
                        <m:e>
                          <m:eqArr>
                            <m:eqArrPr>
                              <m:ctrlPr>
                                <a:rPr lang="en-US" sz="2400" b="0" i="1" smtClean="0">
                                  <a:latin typeface="Cambria Math" panose="02040503050406030204" pitchFamily="18" charset="0"/>
                                  <a:ea typeface="Cambria Math" panose="02040503050406030204" pitchFamily="18" charset="0"/>
                                </a:rPr>
                              </m:ctrlPr>
                            </m:eqArrPr>
                            <m:e>
                              <m:r>
                                <m:rPr>
                                  <m:nor/>
                                  <m:brk m:alnAt="2"/>
                                </m:rPr>
                                <a:rPr lang="en-US" sz="2400" b="0" i="0" smtClean="0">
                                  <a:latin typeface="Cambria Math" panose="02040503050406030204" pitchFamily="18" charset="0"/>
                                  <a:ea typeface="Cambria Math" panose="02040503050406030204" pitchFamily="18" charset="0"/>
                                </a:rPr>
                                <m:t>M</m:t>
                              </m:r>
                              <m:r>
                                <m:rPr>
                                  <m:nor/>
                                </m:rPr>
                                <a:rPr lang="en-US" sz="2400" b="0" i="0" smtClean="0">
                                  <a:latin typeface="Cambria Math" panose="02040503050406030204" pitchFamily="18" charset="0"/>
                                  <a:ea typeface="Cambria Math" panose="02040503050406030204" pitchFamily="18" charset="0"/>
                                </a:rPr>
                                <m:t>AX</m:t>
                              </m:r>
                              <m:r>
                                <m:rPr>
                                  <m:nor/>
                                </m:rPr>
                                <a:rPr lang="en-US" sz="2400" b="0" i="0" smtClean="0">
                                  <a:latin typeface="Cambria Math" panose="02040503050406030204" pitchFamily="18" charset="0"/>
                                  <a:ea typeface="Cambria Math" panose="02040503050406030204" pitchFamily="18" charset="0"/>
                                </a:rPr>
                                <m:t>−</m:t>
                              </m:r>
                              <m:r>
                                <m:rPr>
                                  <m:nor/>
                                </m:rPr>
                                <a:rPr lang="en-US" sz="2400" b="0" i="0" smtClean="0">
                                  <a:latin typeface="Cambria Math" panose="02040503050406030204" pitchFamily="18" charset="0"/>
                                  <a:ea typeface="Cambria Math" panose="02040503050406030204" pitchFamily="18" charset="0"/>
                                </a:rPr>
                                <m:t>POOL</m:t>
                              </m:r>
                            </m:e>
                            <m:e>
                              <m:r>
                                <a:rPr lang="en-US" sz="2400" b="0" i="1" smtClean="0">
                                  <a:latin typeface="Cambria Math" panose="02040503050406030204" pitchFamily="18" charset="0"/>
                                  <a:ea typeface="Cambria Math" panose="02040503050406030204" pitchFamily="18" charset="0"/>
                                </a:rPr>
                                <m:t>2×2</m:t>
                              </m:r>
                            </m:e>
                            <m:e>
                              <m:r>
                                <a:rPr lang="en-US" sz="2400" b="0" i="1" smtClean="0">
                                  <a:latin typeface="Cambria Math" panose="02040503050406030204" pitchFamily="18" charset="0"/>
                                  <a:ea typeface="Cambria Math" panose="02040503050406030204" pitchFamily="18" charset="0"/>
                                </a:rPr>
                                <m:t>𝑠</m:t>
                              </m:r>
                              <m:r>
                                <a:rPr lang="en-US" sz="2400" b="0" i="1" smtClean="0">
                                  <a:latin typeface="Cambria Math" panose="02040503050406030204" pitchFamily="18" charset="0"/>
                                  <a:ea typeface="Cambria Math" panose="02040503050406030204" pitchFamily="18" charset="0"/>
                                </a:rPr>
                                <m:t>=1</m:t>
                              </m:r>
                            </m:e>
                          </m:eqArr>
                        </m:e>
                      </m:groupChr>
                      <m:r>
                        <a:rPr lang="en-US" sz="2400" b="0" i="1" smtClean="0">
                          <a:latin typeface="Cambria Math" panose="02040503050406030204" pitchFamily="18" charset="0"/>
                          <a:ea typeface="Cambria Math" panose="02040503050406030204" pitchFamily="18" charset="0"/>
                        </a:rPr>
                        <m:t>3×3×16</m:t>
                      </m:r>
                      <m:groupChr>
                        <m:groupChrPr>
                          <m:chr m:val="→"/>
                          <m:vertJc m:val="bot"/>
                          <m:ctrlPr>
                            <a:rPr lang="en-US" sz="2400" b="0" i="1" smtClean="0">
                              <a:latin typeface="Cambria Math" panose="02040503050406030204" pitchFamily="18" charset="0"/>
                              <a:ea typeface="Cambria Math" panose="02040503050406030204" pitchFamily="18" charset="0"/>
                            </a:rPr>
                          </m:ctrlPr>
                        </m:groupChrPr>
                        <m:e>
                          <m:r>
                            <m:rPr>
                              <m:brk m:alnAt="2"/>
                            </m:rPr>
                            <a:rPr lang="en-US" sz="2400" b="0" i="1" smtClean="0">
                              <a:latin typeface="Cambria Math" panose="02040503050406030204" pitchFamily="18" charset="0"/>
                              <a:ea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×3</m:t>
                          </m:r>
                        </m:e>
                      </m:groupChr>
                      <m:r>
                        <a:rPr lang="en-US" sz="2400" b="0" i="1" smtClean="0">
                          <a:latin typeface="Cambria Math" panose="02040503050406030204" pitchFamily="18" charset="0"/>
                          <a:ea typeface="Cambria Math" panose="02040503050406030204" pitchFamily="18" charset="0"/>
                        </a:rPr>
                        <m:t>1×1×400</m:t>
                      </m:r>
                      <m:groupChr>
                        <m:groupChrPr>
                          <m:chr m:val="→"/>
                          <m:vertJc m:val="bot"/>
                          <m:ctrlPr>
                            <a:rPr lang="en-US" sz="2400" b="0" i="1" smtClean="0">
                              <a:latin typeface="Cambria Math" panose="02040503050406030204" pitchFamily="18" charset="0"/>
                              <a:ea typeface="Cambria Math" panose="02040503050406030204" pitchFamily="18" charset="0"/>
                            </a:rPr>
                          </m:ctrlPr>
                        </m:groupChrPr>
                        <m:e>
                          <m:r>
                            <m:rPr>
                              <m:brk m:alnAt="2"/>
                            </m:rP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×1</m:t>
                          </m:r>
                        </m:e>
                      </m:groupChr>
                      <m:r>
                        <a:rPr lang="en-US" sz="2400" b="0" i="1" smtClean="0">
                          <a:latin typeface="Cambria Math" panose="02040503050406030204" pitchFamily="18" charset="0"/>
                          <a:ea typeface="Cambria Math" panose="02040503050406030204" pitchFamily="18" charset="0"/>
                        </a:rPr>
                        <m:t>1×1×400</m:t>
                      </m:r>
                      <m:groupChr>
                        <m:groupChrPr>
                          <m:chr m:val="→"/>
                          <m:vertJc m:val="bot"/>
                          <m:ctrlPr>
                            <a:rPr lang="en-US" sz="2400" b="0" i="1" smtClean="0">
                              <a:latin typeface="Cambria Math" panose="02040503050406030204" pitchFamily="18" charset="0"/>
                              <a:ea typeface="Cambria Math" panose="02040503050406030204" pitchFamily="18" charset="0"/>
                            </a:rPr>
                          </m:ctrlPr>
                        </m:groupChrPr>
                        <m:e>
                          <m:r>
                            <m:rPr>
                              <m:brk m:alnAt="2"/>
                            </m:rPr>
                            <a:rPr lang="en-US" sz="2400" b="0" i="1" smtClean="0">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×1</m:t>
                          </m:r>
                        </m:e>
                      </m:groupChr>
                      <m:r>
                        <a:rPr lang="en-US" sz="2400" b="0" i="1" smtClean="0">
                          <a:latin typeface="Cambria Math" panose="02040503050406030204" pitchFamily="18" charset="0"/>
                          <a:ea typeface="Cambria Math" panose="02040503050406030204" pitchFamily="18" charset="0"/>
                        </a:rPr>
                        <m:t>1×1×4</m:t>
                      </m:r>
                    </m:oMath>
                  </m:oMathPara>
                </a14:m>
                <a:endParaRPr lang="en-US" dirty="0"/>
              </a:p>
            </p:txBody>
          </p:sp>
        </mc:Choice>
        <mc:Fallback xmlns="">
          <p:sp>
            <p:nvSpPr>
              <p:cNvPr id="3" name="TextBox 2">
                <a:extLst>
                  <a:ext uri="{FF2B5EF4-FFF2-40B4-BE49-F238E27FC236}">
                    <a16:creationId xmlns:a16="http://schemas.microsoft.com/office/drawing/2014/main" id="{CFAC15FF-EBA7-495D-98C9-DDECFC83DD62}"/>
                  </a:ext>
                </a:extLst>
              </p:cNvPr>
              <p:cNvSpPr txBox="1">
                <a:spLocks noRot="1" noChangeAspect="1" noMove="1" noResize="1" noEditPoints="1" noAdjustHandles="1" noChangeArrowheads="1" noChangeShapeType="1" noTextEdit="1"/>
              </p:cNvSpPr>
              <p:nvPr/>
            </p:nvSpPr>
            <p:spPr>
              <a:xfrm>
                <a:off x="0" y="1690688"/>
                <a:ext cx="12080743" cy="92185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E5E1CB30-19B3-4227-AF8F-614C81C65203}"/>
                  </a:ext>
                </a:extLst>
              </p:cNvPr>
              <p:cNvSpPr txBox="1"/>
              <p:nvPr/>
            </p:nvSpPr>
            <p:spPr>
              <a:xfrm>
                <a:off x="87160" y="4268987"/>
                <a:ext cx="11806501" cy="7682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28</m:t>
                      </m:r>
                      <m:r>
                        <a:rPr lang="en-US" sz="2000" b="0" i="1" smtClean="0">
                          <a:latin typeface="Cambria Math" panose="02040503050406030204" pitchFamily="18" charset="0"/>
                          <a:ea typeface="Cambria Math" panose="02040503050406030204" pitchFamily="18" charset="0"/>
                        </a:rPr>
                        <m:t>×28×3</m:t>
                      </m:r>
                      <m:groupChr>
                        <m:groupChrPr>
                          <m:chr m:val="→"/>
                          <m:vertJc m:val="bot"/>
                          <m:ctrlPr>
                            <a:rPr lang="en-US" sz="2000" b="0" i="1" smtClean="0">
                              <a:latin typeface="Cambria Math" panose="02040503050406030204" pitchFamily="18" charset="0"/>
                              <a:ea typeface="Cambria Math" panose="02040503050406030204" pitchFamily="18" charset="0"/>
                            </a:rPr>
                          </m:ctrlPr>
                        </m:groupChrPr>
                        <m:e>
                          <m:r>
                            <m:rPr>
                              <m:brk m:alnAt="2"/>
                            </m:rPr>
                            <a:rPr lang="en-US" sz="2000" b="0" i="1" smtClean="0">
                              <a:latin typeface="Cambria Math" panose="02040503050406030204" pitchFamily="18" charset="0"/>
                              <a:ea typeface="Cambria Math" panose="02040503050406030204" pitchFamily="18" charset="0"/>
                            </a:rPr>
                            <m:t>5</m:t>
                          </m:r>
                          <m:r>
                            <a:rPr lang="en-US" sz="2000" b="0" i="1" smtClean="0">
                              <a:latin typeface="Cambria Math" panose="02040503050406030204" pitchFamily="18" charset="0"/>
                              <a:ea typeface="Cambria Math" panose="02040503050406030204" pitchFamily="18" charset="0"/>
                            </a:rPr>
                            <m:t>×5</m:t>
                          </m:r>
                        </m:e>
                      </m:groupChr>
                      <m:r>
                        <a:rPr lang="en-US" sz="2000" b="0" i="1" smtClean="0">
                          <a:latin typeface="Cambria Math" panose="02040503050406030204" pitchFamily="18" charset="0"/>
                          <a:ea typeface="Cambria Math" panose="02040503050406030204" pitchFamily="18" charset="0"/>
                        </a:rPr>
                        <m:t>24×24×16</m:t>
                      </m:r>
                      <m:groupChr>
                        <m:groupChrPr>
                          <m:chr m:val="→"/>
                          <m:vertJc m:val="bot"/>
                          <m:ctrlPr>
                            <a:rPr lang="en-US" sz="2000" b="0" i="1" smtClean="0">
                              <a:latin typeface="Cambria Math" panose="02040503050406030204" pitchFamily="18" charset="0"/>
                              <a:ea typeface="Cambria Math" panose="02040503050406030204" pitchFamily="18" charset="0"/>
                            </a:rPr>
                          </m:ctrlPr>
                        </m:groupChrPr>
                        <m:e>
                          <m:eqArr>
                            <m:eqArrPr>
                              <m:ctrlPr>
                                <a:rPr lang="en-US" sz="2000" b="0" i="1" smtClean="0">
                                  <a:latin typeface="Cambria Math" panose="02040503050406030204" pitchFamily="18" charset="0"/>
                                  <a:ea typeface="Cambria Math" panose="02040503050406030204" pitchFamily="18" charset="0"/>
                                </a:rPr>
                              </m:ctrlPr>
                            </m:eqArrPr>
                            <m:e>
                              <m:r>
                                <m:rPr>
                                  <m:nor/>
                                  <m:brk m:alnAt="2"/>
                                </m:rPr>
                                <a:rPr lang="en-US" sz="2000" b="0" i="0" smtClean="0">
                                  <a:latin typeface="Cambria Math" panose="02040503050406030204" pitchFamily="18" charset="0"/>
                                  <a:ea typeface="Cambria Math" panose="02040503050406030204" pitchFamily="18" charset="0"/>
                                </a:rPr>
                                <m:t>M</m:t>
                              </m:r>
                              <m:r>
                                <m:rPr>
                                  <m:nor/>
                                </m:rPr>
                                <a:rPr lang="en-US" sz="2000" b="0" i="0" smtClean="0">
                                  <a:latin typeface="Cambria Math" panose="02040503050406030204" pitchFamily="18" charset="0"/>
                                  <a:ea typeface="Cambria Math" panose="02040503050406030204" pitchFamily="18" charset="0"/>
                                </a:rPr>
                                <m:t>AX</m:t>
                              </m:r>
                              <m:r>
                                <m:rPr>
                                  <m:nor/>
                                </m:rPr>
                                <a:rPr lang="en-US" sz="2000" b="0" i="0" smtClean="0">
                                  <a:latin typeface="Cambria Math" panose="02040503050406030204" pitchFamily="18" charset="0"/>
                                  <a:ea typeface="Cambria Math" panose="02040503050406030204" pitchFamily="18" charset="0"/>
                                </a:rPr>
                                <m:t>−</m:t>
                              </m:r>
                              <m:r>
                                <m:rPr>
                                  <m:nor/>
                                </m:rPr>
                                <a:rPr lang="en-US" sz="2000" b="0" i="0" smtClean="0">
                                  <a:latin typeface="Cambria Math" panose="02040503050406030204" pitchFamily="18" charset="0"/>
                                  <a:ea typeface="Cambria Math" panose="02040503050406030204" pitchFamily="18" charset="0"/>
                                </a:rPr>
                                <m:t>POOL</m:t>
                              </m:r>
                            </m:e>
                            <m:e>
                              <m:r>
                                <a:rPr lang="en-US" sz="2000" b="0" i="1" smtClean="0">
                                  <a:latin typeface="Cambria Math" panose="02040503050406030204" pitchFamily="18" charset="0"/>
                                  <a:ea typeface="Cambria Math" panose="02040503050406030204" pitchFamily="18" charset="0"/>
                                </a:rPr>
                                <m:t>2×2</m:t>
                              </m:r>
                            </m:e>
                            <m:e>
                              <m:r>
                                <a:rPr lang="en-US" sz="2000" b="0" i="1" smtClean="0">
                                  <a:latin typeface="Cambria Math" panose="02040503050406030204" pitchFamily="18" charset="0"/>
                                  <a:ea typeface="Cambria Math" panose="02040503050406030204" pitchFamily="18" charset="0"/>
                                </a:rPr>
                                <m:t>𝑠</m:t>
                              </m:r>
                              <m:r>
                                <a:rPr lang="en-US" sz="2000" b="0" i="1" smtClean="0">
                                  <a:latin typeface="Cambria Math" panose="02040503050406030204" pitchFamily="18" charset="0"/>
                                  <a:ea typeface="Cambria Math" panose="02040503050406030204" pitchFamily="18" charset="0"/>
                                </a:rPr>
                                <m:t>=1</m:t>
                              </m:r>
                            </m:e>
                          </m:eqArr>
                        </m:e>
                      </m:groupChr>
                      <m:r>
                        <a:rPr lang="en-US" sz="2000" b="0" i="1" smtClean="0">
                          <a:latin typeface="Cambria Math" panose="02040503050406030204" pitchFamily="18" charset="0"/>
                          <a:ea typeface="Cambria Math" panose="02040503050406030204" pitchFamily="18" charset="0"/>
                        </a:rPr>
                        <m:t>23×23×16</m:t>
                      </m:r>
                      <m:groupChr>
                        <m:groupChrPr>
                          <m:chr m:val="→"/>
                          <m:vertJc m:val="bot"/>
                          <m:ctrlPr>
                            <a:rPr lang="en-US" sz="2000" b="0" i="1" smtClean="0">
                              <a:latin typeface="Cambria Math" panose="02040503050406030204" pitchFamily="18" charset="0"/>
                              <a:ea typeface="Cambria Math" panose="02040503050406030204" pitchFamily="18" charset="0"/>
                            </a:rPr>
                          </m:ctrlPr>
                        </m:groupChrPr>
                        <m:e>
                          <m:r>
                            <m:rPr>
                              <m:brk m:alnAt="2"/>
                            </m:rPr>
                            <a:rPr lang="en-US" sz="2000" b="0" i="1" smtClean="0">
                              <a:latin typeface="Cambria Math" panose="02040503050406030204" pitchFamily="18" charset="0"/>
                              <a:ea typeface="Cambria Math" panose="02040503050406030204" pitchFamily="18" charset="0"/>
                            </a:rPr>
                            <m:t>3</m:t>
                          </m:r>
                          <m:r>
                            <a:rPr lang="en-US" sz="2000" b="0" i="1" smtClean="0">
                              <a:latin typeface="Cambria Math" panose="02040503050406030204" pitchFamily="18" charset="0"/>
                              <a:ea typeface="Cambria Math" panose="02040503050406030204" pitchFamily="18" charset="0"/>
                            </a:rPr>
                            <m:t>×3</m:t>
                          </m:r>
                        </m:e>
                      </m:groupChr>
                      <m:r>
                        <a:rPr lang="en-US" sz="2000" b="0" i="1" smtClean="0">
                          <a:latin typeface="Cambria Math" panose="02040503050406030204" pitchFamily="18" charset="0"/>
                          <a:ea typeface="Cambria Math" panose="02040503050406030204" pitchFamily="18" charset="0"/>
                        </a:rPr>
                        <m:t>21×21×400</m:t>
                      </m:r>
                      <m:groupChr>
                        <m:groupChrPr>
                          <m:chr m:val="→"/>
                          <m:vertJc m:val="bot"/>
                          <m:ctrlPr>
                            <a:rPr lang="en-US" sz="2000" b="0" i="1" smtClean="0">
                              <a:latin typeface="Cambria Math" panose="02040503050406030204" pitchFamily="18" charset="0"/>
                              <a:ea typeface="Cambria Math" panose="02040503050406030204" pitchFamily="18" charset="0"/>
                            </a:rPr>
                          </m:ctrlPr>
                        </m:groupChrPr>
                        <m:e>
                          <m:r>
                            <m:rPr>
                              <m:brk m:alnAt="2"/>
                            </m:rP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×1</m:t>
                          </m:r>
                        </m:e>
                      </m:groupChr>
                      <m:r>
                        <a:rPr lang="en-US" sz="2000" b="0" i="1" smtClean="0">
                          <a:latin typeface="Cambria Math" panose="02040503050406030204" pitchFamily="18" charset="0"/>
                          <a:ea typeface="Cambria Math" panose="02040503050406030204" pitchFamily="18" charset="0"/>
                        </a:rPr>
                        <m:t>21×21×400</m:t>
                      </m:r>
                      <m:groupChr>
                        <m:groupChrPr>
                          <m:chr m:val="→"/>
                          <m:vertJc m:val="bot"/>
                          <m:ctrlPr>
                            <a:rPr lang="en-US" sz="2000" b="0" i="1" smtClean="0">
                              <a:latin typeface="Cambria Math" panose="02040503050406030204" pitchFamily="18" charset="0"/>
                              <a:ea typeface="Cambria Math" panose="02040503050406030204" pitchFamily="18" charset="0"/>
                            </a:rPr>
                          </m:ctrlPr>
                        </m:groupChrPr>
                        <m:e>
                          <m:r>
                            <m:rPr>
                              <m:brk m:alnAt="2"/>
                            </m:rPr>
                            <a:rPr lang="en-US" sz="2000" b="0" i="1" smtClean="0">
                              <a:latin typeface="Cambria Math" panose="02040503050406030204" pitchFamily="18" charset="0"/>
                              <a:ea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×1</m:t>
                          </m:r>
                        </m:e>
                      </m:groupChr>
                      <m:r>
                        <a:rPr lang="en-US" sz="2000" b="0" i="1" smtClean="0">
                          <a:latin typeface="Cambria Math" panose="02040503050406030204" pitchFamily="18" charset="0"/>
                          <a:ea typeface="Cambria Math" panose="02040503050406030204" pitchFamily="18" charset="0"/>
                        </a:rPr>
                        <m:t>21×21×4</m:t>
                      </m:r>
                    </m:oMath>
                  </m:oMathPara>
                </a14:m>
                <a:endParaRPr lang="en-US" dirty="0"/>
              </a:p>
            </p:txBody>
          </p:sp>
        </mc:Choice>
        <mc:Fallback xmlns="">
          <p:sp>
            <p:nvSpPr>
              <p:cNvPr id="4" name="TextBox 3">
                <a:extLst>
                  <a:ext uri="{FF2B5EF4-FFF2-40B4-BE49-F238E27FC236}">
                    <a16:creationId xmlns:a16="http://schemas.microsoft.com/office/drawing/2014/main" id="{E5E1CB30-19B3-4227-AF8F-614C81C65203}"/>
                  </a:ext>
                </a:extLst>
              </p:cNvPr>
              <p:cNvSpPr txBox="1">
                <a:spLocks noRot="1" noChangeAspect="1" noMove="1" noResize="1" noEditPoints="1" noAdjustHandles="1" noChangeArrowheads="1" noChangeShapeType="1" noTextEdit="1"/>
              </p:cNvSpPr>
              <p:nvPr/>
            </p:nvSpPr>
            <p:spPr>
              <a:xfrm>
                <a:off x="87160" y="4268987"/>
                <a:ext cx="11806501" cy="768287"/>
              </a:xfrm>
              <a:prstGeom prst="rect">
                <a:avLst/>
              </a:prstGeom>
              <a:blipFill>
                <a:blip r:embed="rId3"/>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D55E3047-2781-4841-850C-DC20FD2FA6A7}"/>
              </a:ext>
            </a:extLst>
          </p:cNvPr>
          <p:cNvSpPr txBox="1"/>
          <p:nvPr/>
        </p:nvSpPr>
        <p:spPr>
          <a:xfrm>
            <a:off x="492887" y="4045161"/>
            <a:ext cx="693203" cy="461665"/>
          </a:xfrm>
          <a:prstGeom prst="rect">
            <a:avLst/>
          </a:prstGeom>
          <a:noFill/>
        </p:spPr>
        <p:txBody>
          <a:bodyPr wrap="none" rtlCol="0">
            <a:spAutoFit/>
          </a:bodyPr>
          <a:lstStyle/>
          <a:p>
            <a:r>
              <a:rPr lang="en-US" sz="2400" b="1" dirty="0"/>
              <a:t>Test</a:t>
            </a:r>
            <a:endParaRPr lang="en-US" b="1" dirty="0"/>
          </a:p>
        </p:txBody>
      </p:sp>
      <p:sp>
        <p:nvSpPr>
          <p:cNvPr id="8" name="TextBox 7">
            <a:extLst>
              <a:ext uri="{FF2B5EF4-FFF2-40B4-BE49-F238E27FC236}">
                <a16:creationId xmlns:a16="http://schemas.microsoft.com/office/drawing/2014/main" id="{1A4C44AD-F293-4873-B5EB-75F85B8DDA82}"/>
              </a:ext>
            </a:extLst>
          </p:cNvPr>
          <p:cNvSpPr txBox="1"/>
          <p:nvPr/>
        </p:nvSpPr>
        <p:spPr>
          <a:xfrm>
            <a:off x="278559" y="5728625"/>
            <a:ext cx="11423705" cy="369332"/>
          </a:xfrm>
          <a:prstGeom prst="rect">
            <a:avLst/>
          </a:prstGeom>
          <a:noFill/>
        </p:spPr>
        <p:txBody>
          <a:bodyPr wrap="none" rtlCol="0">
            <a:spAutoFit/>
          </a:bodyPr>
          <a:lstStyle/>
          <a:p>
            <a:r>
              <a:rPr lang="en-US" dirty="0"/>
              <a:t>Image 28x28 with filter of 8x8 and stride 1 </a:t>
            </a:r>
            <a:r>
              <a:rPr lang="en-US" dirty="0">
                <a:sym typeface="Wingdings" panose="05000000000000000000" pitchFamily="2" charset="2"/>
              </a:rPr>
              <a:t> final output 21x21 regions (bounding boxes) that identify 1 out of 4 objects</a:t>
            </a:r>
            <a:endParaRPr lang="en-US" dirty="0"/>
          </a:p>
        </p:txBody>
      </p:sp>
    </p:spTree>
    <p:extLst>
      <p:ext uri="{BB962C8B-B14F-4D97-AF65-F5344CB8AC3E}">
        <p14:creationId xmlns:p14="http://schemas.microsoft.com/office/powerpoint/2010/main" val="2721719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38E09-8112-476F-AAD3-4B4537A24A0D}"/>
              </a:ext>
            </a:extLst>
          </p:cNvPr>
          <p:cNvSpPr>
            <a:spLocks noGrp="1"/>
          </p:cNvSpPr>
          <p:nvPr>
            <p:ph type="title"/>
          </p:nvPr>
        </p:nvSpPr>
        <p:spPr/>
        <p:txBody>
          <a:bodyPr/>
          <a:lstStyle/>
          <a:p>
            <a:r>
              <a:rPr lang="en-US" dirty="0"/>
              <a:t>Predicting bounding box efficiently: YOLO</a:t>
            </a:r>
          </a:p>
        </p:txBody>
      </p:sp>
      <p:pic>
        <p:nvPicPr>
          <p:cNvPr id="4" name="Picture 3">
            <a:extLst>
              <a:ext uri="{FF2B5EF4-FFF2-40B4-BE49-F238E27FC236}">
                <a16:creationId xmlns:a16="http://schemas.microsoft.com/office/drawing/2014/main" id="{A5D481D8-49B4-41C9-8997-899679316181}"/>
              </a:ext>
            </a:extLst>
          </p:cNvPr>
          <p:cNvPicPr>
            <a:picLocks noChangeAspect="1"/>
          </p:cNvPicPr>
          <p:nvPr/>
        </p:nvPicPr>
        <p:blipFill>
          <a:blip r:embed="rId2"/>
          <a:stretch>
            <a:fillRect/>
          </a:stretch>
        </p:blipFill>
        <p:spPr>
          <a:xfrm>
            <a:off x="86179" y="1690688"/>
            <a:ext cx="4905444" cy="4633978"/>
          </a:xfrm>
          <a:prstGeom prst="rect">
            <a:avLst/>
          </a:prstGeom>
        </p:spPr>
      </p:pic>
      <p:pic>
        <p:nvPicPr>
          <p:cNvPr id="5" name="Picture 4">
            <a:extLst>
              <a:ext uri="{FF2B5EF4-FFF2-40B4-BE49-F238E27FC236}">
                <a16:creationId xmlns:a16="http://schemas.microsoft.com/office/drawing/2014/main" id="{A7CDD2E0-A4EF-4AEA-8714-B7807F7C6BE2}"/>
              </a:ext>
            </a:extLst>
          </p:cNvPr>
          <p:cNvPicPr>
            <a:picLocks noChangeAspect="1"/>
          </p:cNvPicPr>
          <p:nvPr/>
        </p:nvPicPr>
        <p:blipFill>
          <a:blip r:embed="rId3"/>
          <a:stretch>
            <a:fillRect/>
          </a:stretch>
        </p:blipFill>
        <p:spPr>
          <a:xfrm>
            <a:off x="162839" y="6600705"/>
            <a:ext cx="6212909" cy="211258"/>
          </a:xfrm>
          <a:prstGeom prst="rect">
            <a:avLst/>
          </a:prstGeom>
        </p:spPr>
      </p:pic>
      <p:pic>
        <p:nvPicPr>
          <p:cNvPr id="7" name="Picture 6">
            <a:extLst>
              <a:ext uri="{FF2B5EF4-FFF2-40B4-BE49-F238E27FC236}">
                <a16:creationId xmlns:a16="http://schemas.microsoft.com/office/drawing/2014/main" id="{4C6B3CE4-E934-4171-884A-1040D6B9AA47}"/>
              </a:ext>
            </a:extLst>
          </p:cNvPr>
          <p:cNvPicPr>
            <a:picLocks noChangeAspect="1"/>
          </p:cNvPicPr>
          <p:nvPr/>
        </p:nvPicPr>
        <p:blipFill>
          <a:blip r:embed="rId4"/>
          <a:stretch>
            <a:fillRect/>
          </a:stretch>
        </p:blipFill>
        <p:spPr>
          <a:xfrm>
            <a:off x="104874" y="1690688"/>
            <a:ext cx="4955191" cy="4633978"/>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25875DA-5895-4A81-8A1C-F6CB00150DD2}"/>
                  </a:ext>
                </a:extLst>
              </p:cNvPr>
              <p:cNvSpPr txBox="1"/>
              <p:nvPr/>
            </p:nvSpPr>
            <p:spPr>
              <a:xfrm>
                <a:off x="5544536" y="3923778"/>
                <a:ext cx="791562" cy="19599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C000"/>
                          </a:solidFill>
                          <a:latin typeface="Cambria Math" panose="02040503050406030204" pitchFamily="18" charset="0"/>
                        </a:rPr>
                        <m:t>𝒚</m:t>
                      </m:r>
                      <m:r>
                        <a:rPr lang="en-US" b="1" i="1" smtClean="0">
                          <a:solidFill>
                            <a:srgbClr val="FFC000"/>
                          </a:solidFill>
                          <a:latin typeface="Cambria Math" panose="02040503050406030204" pitchFamily="18" charset="0"/>
                        </a:rPr>
                        <m:t>=</m:t>
                      </m:r>
                      <m:d>
                        <m:dPr>
                          <m:begChr m:val="["/>
                          <m:endChr m:val="]"/>
                          <m:ctrlPr>
                            <a:rPr lang="en-US" b="1" i="1" smtClean="0">
                              <a:solidFill>
                                <a:srgbClr val="FFC000"/>
                              </a:solidFill>
                              <a:latin typeface="Cambria Math" panose="02040503050406030204" pitchFamily="18" charset="0"/>
                            </a:rPr>
                          </m:ctrlPr>
                        </m:dPr>
                        <m:e>
                          <m:m>
                            <m:mPr>
                              <m:mcs>
                                <m:mc>
                                  <m:mcPr>
                                    <m:count m:val="1"/>
                                    <m:mcJc m:val="center"/>
                                  </m:mcPr>
                                </m:mc>
                              </m:mcs>
                              <m:ctrlPr>
                                <a:rPr lang="en-US" b="1" i="1" smtClean="0">
                                  <a:solidFill>
                                    <a:srgbClr val="FFC000"/>
                                  </a:solidFill>
                                  <a:latin typeface="Cambria Math" panose="02040503050406030204" pitchFamily="18" charset="0"/>
                                </a:rPr>
                              </m:ctrlPr>
                            </m:mPr>
                            <m:mr>
                              <m:e>
                                <m:r>
                                  <a:rPr lang="en-US" b="1" i="1" smtClean="0">
                                    <a:solidFill>
                                      <a:srgbClr val="FFC000"/>
                                    </a:solidFill>
                                    <a:latin typeface="Cambria Math" panose="02040503050406030204" pitchFamily="18" charset="0"/>
                                  </a:rPr>
                                  <m:t>𝟎</m:t>
                                </m:r>
                              </m:e>
                            </m:mr>
                            <m:mr>
                              <m:e>
                                <m:r>
                                  <a:rPr lang="en-US" b="1" i="1" smtClean="0">
                                    <a:solidFill>
                                      <a:srgbClr val="FFC000"/>
                                    </a:solidFill>
                                    <a:latin typeface="Cambria Math" panose="02040503050406030204" pitchFamily="18" charset="0"/>
                                  </a:rPr>
                                  <m:t>?</m:t>
                                </m:r>
                              </m:e>
                            </m:mr>
                            <m:mr>
                              <m:e>
                                <m:m>
                                  <m:mPr>
                                    <m:mcs>
                                      <m:mc>
                                        <m:mcPr>
                                          <m:count m:val="1"/>
                                          <m:mcJc m:val="center"/>
                                        </m:mcPr>
                                      </m:mc>
                                    </m:mcs>
                                    <m:ctrlPr>
                                      <a:rPr lang="en-US" b="1" i="1" smtClean="0">
                                        <a:solidFill>
                                          <a:srgbClr val="FFC000"/>
                                        </a:solidFill>
                                        <a:latin typeface="Cambria Math" panose="02040503050406030204" pitchFamily="18" charset="0"/>
                                      </a:rPr>
                                    </m:ctrlPr>
                                  </m:mPr>
                                  <m:mr>
                                    <m:e>
                                      <m:r>
                                        <a:rPr lang="en-US" b="1" i="1" smtClean="0">
                                          <a:solidFill>
                                            <a:srgbClr val="FFC000"/>
                                          </a:solidFill>
                                          <a:latin typeface="Cambria Math" panose="02040503050406030204" pitchFamily="18" charset="0"/>
                                        </a:rPr>
                                        <m:t>?</m:t>
                                      </m:r>
                                    </m:e>
                                  </m:mr>
                                  <m:mr>
                                    <m:e>
                                      <m:r>
                                        <a:rPr lang="en-US" b="1" i="1" smtClean="0">
                                          <a:solidFill>
                                            <a:srgbClr val="FFC000"/>
                                          </a:solidFill>
                                          <a:latin typeface="Cambria Math" panose="02040503050406030204" pitchFamily="18" charset="0"/>
                                        </a:rPr>
                                        <m:t>?</m:t>
                                      </m:r>
                                    </m:e>
                                  </m:mr>
                                  <m:mr>
                                    <m:e>
                                      <m:m>
                                        <m:mPr>
                                          <m:mcs>
                                            <m:mc>
                                              <m:mcPr>
                                                <m:count m:val="1"/>
                                                <m:mcJc m:val="center"/>
                                              </m:mcPr>
                                            </m:mc>
                                          </m:mcs>
                                          <m:ctrlPr>
                                            <a:rPr lang="en-US" b="1" i="1" smtClean="0">
                                              <a:solidFill>
                                                <a:srgbClr val="FFC000"/>
                                              </a:solidFill>
                                              <a:latin typeface="Cambria Math" panose="02040503050406030204" pitchFamily="18" charset="0"/>
                                            </a:rPr>
                                          </m:ctrlPr>
                                        </m:mPr>
                                        <m:mr>
                                          <m:e>
                                            <m:r>
                                              <a:rPr lang="en-US" b="1" i="1" smtClean="0">
                                                <a:solidFill>
                                                  <a:srgbClr val="FFC000"/>
                                                </a:solidFill>
                                                <a:latin typeface="Cambria Math" panose="02040503050406030204" pitchFamily="18" charset="0"/>
                                              </a:rPr>
                                              <m:t>?</m:t>
                                            </m:r>
                                          </m:e>
                                        </m:mr>
                                        <m:mr>
                                          <m:e>
                                            <m:r>
                                              <a:rPr lang="en-US" b="1" i="1" smtClean="0">
                                                <a:solidFill>
                                                  <a:srgbClr val="FFC000"/>
                                                </a:solidFill>
                                                <a:latin typeface="Cambria Math" panose="02040503050406030204" pitchFamily="18" charset="0"/>
                                              </a:rPr>
                                              <m:t>?</m:t>
                                            </m:r>
                                          </m:e>
                                        </m:mr>
                                        <m:mr>
                                          <m:e>
                                            <m:m>
                                              <m:mPr>
                                                <m:mcs>
                                                  <m:mc>
                                                    <m:mcPr>
                                                      <m:count m:val="1"/>
                                                      <m:mcJc m:val="center"/>
                                                    </m:mcPr>
                                                  </m:mc>
                                                </m:mcs>
                                                <m:ctrlPr>
                                                  <a:rPr lang="en-US" b="1" i="1" smtClean="0">
                                                    <a:solidFill>
                                                      <a:srgbClr val="FFC000"/>
                                                    </a:solidFill>
                                                    <a:latin typeface="Cambria Math" panose="02040503050406030204" pitchFamily="18" charset="0"/>
                                                  </a:rPr>
                                                </m:ctrlPr>
                                              </m:mPr>
                                              <m:mr>
                                                <m:e>
                                                  <m:r>
                                                    <a:rPr lang="en-US" b="1" i="1" smtClean="0">
                                                      <a:solidFill>
                                                        <a:srgbClr val="FFC000"/>
                                                      </a:solidFill>
                                                      <a:latin typeface="Cambria Math" panose="02040503050406030204" pitchFamily="18" charset="0"/>
                                                    </a:rPr>
                                                    <m:t>?</m:t>
                                                  </m:r>
                                                </m:e>
                                              </m:mr>
                                              <m:mr>
                                                <m:e>
                                                  <m:r>
                                                    <a:rPr lang="en-US" b="1" i="1" smtClean="0">
                                                      <a:solidFill>
                                                        <a:srgbClr val="FFC000"/>
                                                      </a:solidFill>
                                                      <a:latin typeface="Cambria Math" panose="02040503050406030204" pitchFamily="18" charset="0"/>
                                                    </a:rPr>
                                                    <m:t>?</m:t>
                                                  </m:r>
                                                </m:e>
                                              </m:mr>
                                            </m:m>
                                          </m:e>
                                        </m:mr>
                                      </m:m>
                                    </m:e>
                                  </m:mr>
                                </m:m>
                              </m:e>
                            </m:mr>
                          </m:m>
                        </m:e>
                      </m:d>
                    </m:oMath>
                  </m:oMathPara>
                </a14:m>
                <a:endParaRPr lang="en-US" b="1" dirty="0">
                  <a:solidFill>
                    <a:srgbClr val="FFC000"/>
                  </a:solidFill>
                </a:endParaRPr>
              </a:p>
            </p:txBody>
          </p:sp>
        </mc:Choice>
        <mc:Fallback xmlns="">
          <p:sp>
            <p:nvSpPr>
              <p:cNvPr id="8" name="TextBox 7">
                <a:extLst>
                  <a:ext uri="{FF2B5EF4-FFF2-40B4-BE49-F238E27FC236}">
                    <a16:creationId xmlns:a16="http://schemas.microsoft.com/office/drawing/2014/main" id="{325875DA-5895-4A81-8A1C-F6CB00150DD2}"/>
                  </a:ext>
                </a:extLst>
              </p:cNvPr>
              <p:cNvSpPr txBox="1">
                <a:spLocks noRot="1" noChangeAspect="1" noMove="1" noResize="1" noEditPoints="1" noAdjustHandles="1" noChangeArrowheads="1" noChangeShapeType="1" noTextEdit="1"/>
              </p:cNvSpPr>
              <p:nvPr/>
            </p:nvSpPr>
            <p:spPr>
              <a:xfrm>
                <a:off x="5544536" y="3923778"/>
                <a:ext cx="791562" cy="1959960"/>
              </a:xfrm>
              <a:prstGeom prst="rect">
                <a:avLst/>
              </a:prstGeom>
              <a:blipFill>
                <a:blip r:embed="rId5"/>
                <a:stretch>
                  <a:fillRect/>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72BB1110-5D7D-4487-838D-F0A8601DA652}"/>
              </a:ext>
            </a:extLst>
          </p:cNvPr>
          <p:cNvSpPr/>
          <p:nvPr/>
        </p:nvSpPr>
        <p:spPr>
          <a:xfrm>
            <a:off x="755938" y="1779760"/>
            <a:ext cx="1359074" cy="1302707"/>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EE70B9-59F8-4966-ACA6-5C5214EF0FF4}"/>
                  </a:ext>
                </a:extLst>
              </p:cNvPr>
              <p:cNvSpPr txBox="1"/>
              <p:nvPr/>
            </p:nvSpPr>
            <p:spPr>
              <a:xfrm>
                <a:off x="6819735" y="3923777"/>
                <a:ext cx="935769" cy="21930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7030A0"/>
                          </a:solidFill>
                          <a:latin typeface="Cambria Math" panose="02040503050406030204" pitchFamily="18" charset="0"/>
                        </a:rPr>
                        <m:t>𝒚</m:t>
                      </m:r>
                      <m:r>
                        <a:rPr lang="en-US" b="1" i="1" smtClean="0">
                          <a:solidFill>
                            <a:srgbClr val="7030A0"/>
                          </a:solidFill>
                          <a:latin typeface="Cambria Math" panose="02040503050406030204" pitchFamily="18" charset="0"/>
                        </a:rPr>
                        <m:t>=</m:t>
                      </m:r>
                      <m:d>
                        <m:dPr>
                          <m:begChr m:val="["/>
                          <m:endChr m:val="]"/>
                          <m:ctrlPr>
                            <a:rPr lang="en-US" b="1" i="1" smtClean="0">
                              <a:solidFill>
                                <a:srgbClr val="7030A0"/>
                              </a:solidFill>
                              <a:latin typeface="Cambria Math" panose="02040503050406030204" pitchFamily="18" charset="0"/>
                            </a:rPr>
                          </m:ctrlPr>
                        </m:dPr>
                        <m:e>
                          <m:m>
                            <m:mPr>
                              <m:mcs>
                                <m:mc>
                                  <m:mcPr>
                                    <m:count m:val="1"/>
                                    <m:mcJc m:val="center"/>
                                  </m:mcPr>
                                </m:mc>
                              </m:mcs>
                              <m:ctrlPr>
                                <a:rPr lang="en-US" b="1" i="1" smtClean="0">
                                  <a:solidFill>
                                    <a:srgbClr val="7030A0"/>
                                  </a:solidFill>
                                  <a:latin typeface="Cambria Math" panose="02040503050406030204" pitchFamily="18" charset="0"/>
                                </a:rPr>
                              </m:ctrlPr>
                            </m:mPr>
                            <m:mr>
                              <m:e>
                                <m:r>
                                  <m:rPr>
                                    <m:brk m:alnAt="7"/>
                                  </m:rPr>
                                  <a:rPr lang="en-US" b="1" i="1" smtClean="0">
                                    <a:solidFill>
                                      <a:srgbClr val="7030A0"/>
                                    </a:solidFill>
                                    <a:latin typeface="Cambria Math" panose="02040503050406030204" pitchFamily="18" charset="0"/>
                                  </a:rPr>
                                  <m:t>𝟏</m:t>
                                </m:r>
                              </m:e>
                            </m:mr>
                            <m:mr>
                              <m:e>
                                <m:sSub>
                                  <m:sSubPr>
                                    <m:ctrlPr>
                                      <a:rPr lang="en-US" b="1" i="1" smtClean="0">
                                        <a:solidFill>
                                          <a:srgbClr val="7030A0"/>
                                        </a:solidFill>
                                        <a:latin typeface="Cambria Math" panose="02040503050406030204" pitchFamily="18" charset="0"/>
                                      </a:rPr>
                                    </m:ctrlPr>
                                  </m:sSubPr>
                                  <m:e>
                                    <m:r>
                                      <a:rPr lang="en-US" b="1" i="1" smtClean="0">
                                        <a:solidFill>
                                          <a:srgbClr val="7030A0"/>
                                        </a:solidFill>
                                        <a:latin typeface="Cambria Math" panose="02040503050406030204" pitchFamily="18" charset="0"/>
                                      </a:rPr>
                                      <m:t>𝒃</m:t>
                                    </m:r>
                                  </m:e>
                                  <m:sub>
                                    <m:r>
                                      <a:rPr lang="en-US" b="1" i="1" smtClean="0">
                                        <a:solidFill>
                                          <a:srgbClr val="7030A0"/>
                                        </a:solidFill>
                                        <a:latin typeface="Cambria Math" panose="02040503050406030204" pitchFamily="18" charset="0"/>
                                      </a:rPr>
                                      <m:t>𝒙</m:t>
                                    </m:r>
                                  </m:sub>
                                </m:sSub>
                              </m:e>
                            </m:mr>
                            <m:mr>
                              <m:e>
                                <m:m>
                                  <m:mPr>
                                    <m:mcs>
                                      <m:mc>
                                        <m:mcPr>
                                          <m:count m:val="1"/>
                                          <m:mcJc m:val="center"/>
                                        </m:mcPr>
                                      </m:mc>
                                    </m:mcs>
                                    <m:ctrlPr>
                                      <a:rPr lang="en-US" b="1" i="1" smtClean="0">
                                        <a:solidFill>
                                          <a:srgbClr val="7030A0"/>
                                        </a:solidFill>
                                        <a:latin typeface="Cambria Math" panose="02040503050406030204" pitchFamily="18" charset="0"/>
                                      </a:rPr>
                                    </m:ctrlPr>
                                  </m:mPr>
                                  <m:mr>
                                    <m:e>
                                      <m:sSub>
                                        <m:sSubPr>
                                          <m:ctrlPr>
                                            <a:rPr lang="en-US" b="1" i="1" smtClean="0">
                                              <a:solidFill>
                                                <a:srgbClr val="7030A0"/>
                                              </a:solidFill>
                                              <a:latin typeface="Cambria Math" panose="02040503050406030204" pitchFamily="18" charset="0"/>
                                            </a:rPr>
                                          </m:ctrlPr>
                                        </m:sSubPr>
                                        <m:e>
                                          <m:r>
                                            <a:rPr lang="en-US" b="1" i="1" smtClean="0">
                                              <a:solidFill>
                                                <a:srgbClr val="7030A0"/>
                                              </a:solidFill>
                                              <a:latin typeface="Cambria Math" panose="02040503050406030204" pitchFamily="18" charset="0"/>
                                            </a:rPr>
                                            <m:t>𝒃</m:t>
                                          </m:r>
                                        </m:e>
                                        <m:sub>
                                          <m:r>
                                            <a:rPr lang="en-US" b="1" i="1" smtClean="0">
                                              <a:solidFill>
                                                <a:srgbClr val="7030A0"/>
                                              </a:solidFill>
                                              <a:latin typeface="Cambria Math" panose="02040503050406030204" pitchFamily="18" charset="0"/>
                                            </a:rPr>
                                            <m:t>𝒚</m:t>
                                          </m:r>
                                        </m:sub>
                                      </m:sSub>
                                    </m:e>
                                  </m:mr>
                                  <m:mr>
                                    <m:e>
                                      <m:sSub>
                                        <m:sSubPr>
                                          <m:ctrlPr>
                                            <a:rPr lang="en-US" b="1" i="1" smtClean="0">
                                              <a:solidFill>
                                                <a:srgbClr val="7030A0"/>
                                              </a:solidFill>
                                              <a:latin typeface="Cambria Math" panose="02040503050406030204" pitchFamily="18" charset="0"/>
                                            </a:rPr>
                                          </m:ctrlPr>
                                        </m:sSubPr>
                                        <m:e>
                                          <m:r>
                                            <a:rPr lang="en-US" b="1" i="1" smtClean="0">
                                              <a:solidFill>
                                                <a:srgbClr val="7030A0"/>
                                              </a:solidFill>
                                              <a:latin typeface="Cambria Math" panose="02040503050406030204" pitchFamily="18" charset="0"/>
                                            </a:rPr>
                                            <m:t>𝒃</m:t>
                                          </m:r>
                                        </m:e>
                                        <m:sub>
                                          <m:r>
                                            <a:rPr lang="en-US" b="1" i="1" smtClean="0">
                                              <a:solidFill>
                                                <a:srgbClr val="7030A0"/>
                                              </a:solidFill>
                                              <a:latin typeface="Cambria Math" panose="02040503050406030204" pitchFamily="18" charset="0"/>
                                            </a:rPr>
                                            <m:t>𝒘</m:t>
                                          </m:r>
                                        </m:sub>
                                      </m:sSub>
                                    </m:e>
                                  </m:mr>
                                  <m:mr>
                                    <m:e>
                                      <m:m>
                                        <m:mPr>
                                          <m:mcs>
                                            <m:mc>
                                              <m:mcPr>
                                                <m:count m:val="1"/>
                                                <m:mcJc m:val="center"/>
                                              </m:mcPr>
                                            </m:mc>
                                          </m:mcs>
                                          <m:ctrlPr>
                                            <a:rPr lang="en-US" b="1" i="1" smtClean="0">
                                              <a:solidFill>
                                                <a:srgbClr val="7030A0"/>
                                              </a:solidFill>
                                              <a:latin typeface="Cambria Math" panose="02040503050406030204" pitchFamily="18" charset="0"/>
                                            </a:rPr>
                                          </m:ctrlPr>
                                        </m:mPr>
                                        <m:mr>
                                          <m:e>
                                            <m:sSub>
                                              <m:sSubPr>
                                                <m:ctrlPr>
                                                  <a:rPr lang="en-US" b="1" i="1" smtClean="0">
                                                    <a:solidFill>
                                                      <a:srgbClr val="7030A0"/>
                                                    </a:solidFill>
                                                    <a:latin typeface="Cambria Math" panose="02040503050406030204" pitchFamily="18" charset="0"/>
                                                  </a:rPr>
                                                </m:ctrlPr>
                                              </m:sSubPr>
                                              <m:e>
                                                <m:r>
                                                  <a:rPr lang="en-US" b="1" i="1" smtClean="0">
                                                    <a:solidFill>
                                                      <a:srgbClr val="7030A0"/>
                                                    </a:solidFill>
                                                    <a:latin typeface="Cambria Math" panose="02040503050406030204" pitchFamily="18" charset="0"/>
                                                  </a:rPr>
                                                  <m:t>𝒃</m:t>
                                                </m:r>
                                              </m:e>
                                              <m:sub>
                                                <m:r>
                                                  <a:rPr lang="en-US" b="1" i="1" smtClean="0">
                                                    <a:solidFill>
                                                      <a:srgbClr val="7030A0"/>
                                                    </a:solidFill>
                                                    <a:latin typeface="Cambria Math" panose="02040503050406030204" pitchFamily="18" charset="0"/>
                                                  </a:rPr>
                                                  <m:t>𝒉</m:t>
                                                </m:r>
                                              </m:sub>
                                            </m:sSub>
                                          </m:e>
                                        </m:mr>
                                        <m:mr>
                                          <m:e>
                                            <m:r>
                                              <a:rPr lang="en-US" b="1" i="1" smtClean="0">
                                                <a:solidFill>
                                                  <a:srgbClr val="7030A0"/>
                                                </a:solidFill>
                                                <a:latin typeface="Cambria Math" panose="02040503050406030204" pitchFamily="18" charset="0"/>
                                              </a:rPr>
                                              <m:t>𝟎</m:t>
                                            </m:r>
                                          </m:e>
                                        </m:mr>
                                        <m:mr>
                                          <m:e>
                                            <m:m>
                                              <m:mPr>
                                                <m:mcs>
                                                  <m:mc>
                                                    <m:mcPr>
                                                      <m:count m:val="1"/>
                                                      <m:mcJc m:val="center"/>
                                                    </m:mcPr>
                                                  </m:mc>
                                                </m:mcs>
                                                <m:ctrlPr>
                                                  <a:rPr lang="en-US" b="1" i="1" smtClean="0">
                                                    <a:solidFill>
                                                      <a:srgbClr val="7030A0"/>
                                                    </a:solidFill>
                                                    <a:latin typeface="Cambria Math" panose="02040503050406030204" pitchFamily="18" charset="0"/>
                                                  </a:rPr>
                                                </m:ctrlPr>
                                              </m:mPr>
                                              <m:mr>
                                                <m:e>
                                                  <m:r>
                                                    <m:rPr>
                                                      <m:brk m:alnAt="7"/>
                                                    </m:rPr>
                                                    <a:rPr lang="en-US" b="1" i="1" smtClean="0">
                                                      <a:solidFill>
                                                        <a:srgbClr val="7030A0"/>
                                                      </a:solidFill>
                                                      <a:latin typeface="Cambria Math" panose="02040503050406030204" pitchFamily="18" charset="0"/>
                                                    </a:rPr>
                                                    <m:t>𝟏</m:t>
                                                  </m:r>
                                                </m:e>
                                              </m:mr>
                                              <m:mr>
                                                <m:e>
                                                  <m:r>
                                                    <a:rPr lang="en-US" b="1" i="1" smtClean="0">
                                                      <a:solidFill>
                                                        <a:srgbClr val="7030A0"/>
                                                      </a:solidFill>
                                                      <a:latin typeface="Cambria Math" panose="02040503050406030204" pitchFamily="18" charset="0"/>
                                                    </a:rPr>
                                                    <m:t>𝟎</m:t>
                                                  </m:r>
                                                </m:e>
                                              </m:mr>
                                            </m:m>
                                          </m:e>
                                        </m:mr>
                                      </m:m>
                                    </m:e>
                                  </m:mr>
                                </m:m>
                              </m:e>
                            </m:mr>
                          </m:m>
                        </m:e>
                      </m:d>
                    </m:oMath>
                  </m:oMathPara>
                </a14:m>
                <a:endParaRPr lang="en-US" b="1" dirty="0">
                  <a:solidFill>
                    <a:srgbClr val="7030A0"/>
                  </a:solidFill>
                </a:endParaRPr>
              </a:p>
            </p:txBody>
          </p:sp>
        </mc:Choice>
        <mc:Fallback xmlns="">
          <p:sp>
            <p:nvSpPr>
              <p:cNvPr id="10" name="TextBox 9">
                <a:extLst>
                  <a:ext uri="{FF2B5EF4-FFF2-40B4-BE49-F238E27FC236}">
                    <a16:creationId xmlns:a16="http://schemas.microsoft.com/office/drawing/2014/main" id="{0AEE70B9-59F8-4966-ACA6-5C5214EF0FF4}"/>
                  </a:ext>
                </a:extLst>
              </p:cNvPr>
              <p:cNvSpPr txBox="1">
                <a:spLocks noRot="1" noChangeAspect="1" noMove="1" noResize="1" noEditPoints="1" noAdjustHandles="1" noChangeArrowheads="1" noChangeShapeType="1" noTextEdit="1"/>
              </p:cNvSpPr>
              <p:nvPr/>
            </p:nvSpPr>
            <p:spPr>
              <a:xfrm>
                <a:off x="6819735" y="3923777"/>
                <a:ext cx="935769" cy="2193036"/>
              </a:xfrm>
              <a:prstGeom prst="rect">
                <a:avLst/>
              </a:prstGeom>
              <a:blipFill>
                <a:blip r:embed="rId6"/>
                <a:stretch>
                  <a:fillRect/>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0ABD93AC-EFAA-4A77-95FD-0B77B8322EE1}"/>
              </a:ext>
            </a:extLst>
          </p:cNvPr>
          <p:cNvSpPr/>
          <p:nvPr/>
        </p:nvSpPr>
        <p:spPr>
          <a:xfrm>
            <a:off x="774525" y="3206663"/>
            <a:ext cx="1359074" cy="1302707"/>
          </a:xfrm>
          <a:prstGeom prst="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E9347F0-35D9-49C8-A509-21E1B764D0B4}"/>
                  </a:ext>
                </a:extLst>
              </p:cNvPr>
              <p:cNvSpPr txBox="1"/>
              <p:nvPr/>
            </p:nvSpPr>
            <p:spPr>
              <a:xfrm>
                <a:off x="7678497" y="1353813"/>
                <a:ext cx="935769" cy="21399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𝒚</m:t>
                      </m:r>
                      <m:r>
                        <a:rPr lang="en-US" b="1" i="1" smtClean="0">
                          <a:solidFill>
                            <a:schemeClr val="tx1"/>
                          </a:solidFill>
                          <a:latin typeface="Cambria Math" panose="02040503050406030204" pitchFamily="18" charset="0"/>
                        </a:rPr>
                        <m:t>=</m:t>
                      </m:r>
                      <m:d>
                        <m:dPr>
                          <m:begChr m:val="["/>
                          <m:endChr m:val="]"/>
                          <m:ctrlPr>
                            <a:rPr lang="en-US" b="1" i="1" smtClean="0">
                              <a:solidFill>
                                <a:schemeClr val="tx1"/>
                              </a:solidFill>
                              <a:latin typeface="Cambria Math" panose="02040503050406030204" pitchFamily="18" charset="0"/>
                            </a:rPr>
                          </m:ctrlPr>
                        </m:dPr>
                        <m:e>
                          <m:m>
                            <m:mPr>
                              <m:mcs>
                                <m:mc>
                                  <m:mcPr>
                                    <m:count m:val="1"/>
                                    <m:mcJc m:val="center"/>
                                  </m:mcPr>
                                </m:mc>
                              </m:mcs>
                              <m:ctrlPr>
                                <a:rPr lang="en-US" b="1" i="1" smtClean="0">
                                  <a:solidFill>
                                    <a:schemeClr val="tx1"/>
                                  </a:solidFill>
                                  <a:latin typeface="Cambria Math" panose="02040503050406030204" pitchFamily="18" charset="0"/>
                                </a:rPr>
                              </m:ctrlPr>
                            </m:mPr>
                            <m:mr>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𝒑</m:t>
                                    </m:r>
                                  </m:e>
                                  <m:sub>
                                    <m:r>
                                      <a:rPr lang="en-US" b="1" i="1" smtClean="0">
                                        <a:solidFill>
                                          <a:schemeClr val="tx1"/>
                                        </a:solidFill>
                                        <a:latin typeface="Cambria Math" panose="02040503050406030204" pitchFamily="18" charset="0"/>
                                      </a:rPr>
                                      <m:t>𝒄</m:t>
                                    </m:r>
                                  </m:sub>
                                </m:sSub>
                              </m:e>
                            </m:mr>
                            <m:mr>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𝒃</m:t>
                                    </m:r>
                                  </m:e>
                                  <m:sub>
                                    <m:r>
                                      <a:rPr lang="en-US" b="1" i="1" smtClean="0">
                                        <a:solidFill>
                                          <a:schemeClr val="tx1"/>
                                        </a:solidFill>
                                        <a:latin typeface="Cambria Math" panose="02040503050406030204" pitchFamily="18" charset="0"/>
                                      </a:rPr>
                                      <m:t>𝒙</m:t>
                                    </m:r>
                                  </m:sub>
                                </m:sSub>
                              </m:e>
                            </m:mr>
                            <m:mr>
                              <m:e>
                                <m:m>
                                  <m:mPr>
                                    <m:mcs>
                                      <m:mc>
                                        <m:mcPr>
                                          <m:count m:val="1"/>
                                          <m:mcJc m:val="center"/>
                                        </m:mcPr>
                                      </m:mc>
                                    </m:mcs>
                                    <m:ctrlPr>
                                      <a:rPr lang="en-US" b="1" i="1" smtClean="0">
                                        <a:solidFill>
                                          <a:schemeClr val="tx1"/>
                                        </a:solidFill>
                                        <a:latin typeface="Cambria Math" panose="02040503050406030204" pitchFamily="18" charset="0"/>
                                      </a:rPr>
                                    </m:ctrlPr>
                                  </m:mPr>
                                  <m:mr>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𝒃</m:t>
                                          </m:r>
                                        </m:e>
                                        <m:sub>
                                          <m:r>
                                            <a:rPr lang="en-US" b="1" i="1" smtClean="0">
                                              <a:solidFill>
                                                <a:schemeClr val="tx1"/>
                                              </a:solidFill>
                                              <a:latin typeface="Cambria Math" panose="02040503050406030204" pitchFamily="18" charset="0"/>
                                            </a:rPr>
                                            <m:t>𝒚</m:t>
                                          </m:r>
                                        </m:sub>
                                      </m:sSub>
                                    </m:e>
                                  </m:mr>
                                  <m:mr>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𝒃</m:t>
                                          </m:r>
                                        </m:e>
                                        <m:sub>
                                          <m:r>
                                            <a:rPr lang="en-US" b="1" i="1" smtClean="0">
                                              <a:solidFill>
                                                <a:schemeClr val="tx1"/>
                                              </a:solidFill>
                                              <a:latin typeface="Cambria Math" panose="02040503050406030204" pitchFamily="18" charset="0"/>
                                            </a:rPr>
                                            <m:t>𝒘</m:t>
                                          </m:r>
                                        </m:sub>
                                      </m:sSub>
                                    </m:e>
                                  </m:mr>
                                  <m:mr>
                                    <m:e>
                                      <m:m>
                                        <m:mPr>
                                          <m:mcs>
                                            <m:mc>
                                              <m:mcPr>
                                                <m:count m:val="1"/>
                                                <m:mcJc m:val="center"/>
                                              </m:mcPr>
                                            </m:mc>
                                          </m:mcs>
                                          <m:ctrlPr>
                                            <a:rPr lang="en-US" b="1" i="1" smtClean="0">
                                              <a:solidFill>
                                                <a:schemeClr val="tx1"/>
                                              </a:solidFill>
                                              <a:latin typeface="Cambria Math" panose="02040503050406030204" pitchFamily="18" charset="0"/>
                                            </a:rPr>
                                          </m:ctrlPr>
                                        </m:mPr>
                                        <m:mr>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𝒃</m:t>
                                                </m:r>
                                              </m:e>
                                              <m:sub>
                                                <m:r>
                                                  <a:rPr lang="en-US" b="1" i="1" smtClean="0">
                                                    <a:solidFill>
                                                      <a:schemeClr val="tx1"/>
                                                    </a:solidFill>
                                                    <a:latin typeface="Cambria Math" panose="02040503050406030204" pitchFamily="18" charset="0"/>
                                                  </a:rPr>
                                                  <m:t>𝒉</m:t>
                                                </m:r>
                                              </m:sub>
                                            </m:sSub>
                                          </m:e>
                                        </m:mr>
                                        <m:mr>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𝟏</m:t>
                                                </m:r>
                                              </m:sub>
                                            </m:sSub>
                                          </m:e>
                                        </m:mr>
                                        <m:mr>
                                          <m:e>
                                            <m:m>
                                              <m:mPr>
                                                <m:mcs>
                                                  <m:mc>
                                                    <m:mcPr>
                                                      <m:count m:val="1"/>
                                                      <m:mcJc m:val="center"/>
                                                    </m:mcPr>
                                                  </m:mc>
                                                </m:mcs>
                                                <m:ctrlPr>
                                                  <a:rPr lang="en-US" b="1" i="1" smtClean="0">
                                                    <a:solidFill>
                                                      <a:schemeClr val="tx1"/>
                                                    </a:solidFill>
                                                    <a:latin typeface="Cambria Math" panose="02040503050406030204" pitchFamily="18" charset="0"/>
                                                  </a:rPr>
                                                </m:ctrlPr>
                                              </m:mPr>
                                              <m:mr>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𝟐</m:t>
                                                      </m:r>
                                                    </m:sub>
                                                  </m:sSub>
                                                </m:e>
                                              </m:mr>
                                              <m:mr>
                                                <m:e>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𝟑</m:t>
                                                      </m:r>
                                                    </m:sub>
                                                  </m:sSub>
                                                </m:e>
                                              </m:mr>
                                            </m:m>
                                          </m:e>
                                        </m:mr>
                                      </m:m>
                                    </m:e>
                                  </m:mr>
                                </m:m>
                              </m:e>
                            </m:mr>
                          </m:m>
                        </m:e>
                      </m:d>
                    </m:oMath>
                  </m:oMathPara>
                </a14:m>
                <a:endParaRPr lang="en-US" b="1" dirty="0">
                  <a:solidFill>
                    <a:schemeClr val="tx1"/>
                  </a:solidFill>
                </a:endParaRPr>
              </a:p>
            </p:txBody>
          </p:sp>
        </mc:Choice>
        <mc:Fallback xmlns="">
          <p:sp>
            <p:nvSpPr>
              <p:cNvPr id="12" name="TextBox 11">
                <a:extLst>
                  <a:ext uri="{FF2B5EF4-FFF2-40B4-BE49-F238E27FC236}">
                    <a16:creationId xmlns:a16="http://schemas.microsoft.com/office/drawing/2014/main" id="{9E9347F0-35D9-49C8-A509-21E1B764D0B4}"/>
                  </a:ext>
                </a:extLst>
              </p:cNvPr>
              <p:cNvSpPr txBox="1">
                <a:spLocks noRot="1" noChangeAspect="1" noMove="1" noResize="1" noEditPoints="1" noAdjustHandles="1" noChangeArrowheads="1" noChangeShapeType="1" noTextEdit="1"/>
              </p:cNvSpPr>
              <p:nvPr/>
            </p:nvSpPr>
            <p:spPr>
              <a:xfrm>
                <a:off x="7678497" y="1353813"/>
                <a:ext cx="935769" cy="2139945"/>
              </a:xfrm>
              <a:prstGeom prst="rect">
                <a:avLst/>
              </a:prstGeom>
              <a:blipFill>
                <a:blip r:embed="rId7"/>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A5BEF002-454E-4F95-B7CE-4C063C4C9D6F}"/>
              </a:ext>
            </a:extLst>
          </p:cNvPr>
          <p:cNvSpPr txBox="1"/>
          <p:nvPr/>
        </p:nvSpPr>
        <p:spPr>
          <a:xfrm>
            <a:off x="5603309" y="1951827"/>
            <a:ext cx="2060179" cy="646331"/>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Training labels: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for each grid cell </a:t>
            </a:r>
            <a:r>
              <a:rPr lang="en-US" dirty="0">
                <a:latin typeface="Times New Roman" panose="02020603050405020304" pitchFamily="18" charset="0"/>
                <a:cs typeface="Times New Roman" panose="02020603050405020304" pitchFamily="18" charset="0"/>
                <a:sym typeface="Wingdings" panose="05000000000000000000" pitchFamily="2" charset="2"/>
              </a:rPr>
              <a:t></a:t>
            </a:r>
            <a:endParaRPr lang="en-US"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10E7D7E4-BD56-4E70-BC92-4C528A378A3F}"/>
              </a:ext>
            </a:extLst>
          </p:cNvPr>
          <p:cNvSpPr txBox="1"/>
          <p:nvPr/>
        </p:nvSpPr>
        <p:spPr>
          <a:xfrm>
            <a:off x="9565854" y="1643560"/>
            <a:ext cx="2272417" cy="646331"/>
          </a:xfrm>
          <a:prstGeom prst="rect">
            <a:avLst/>
          </a:prstGeom>
          <a:noFill/>
        </p:spPr>
        <p:txBody>
          <a:bodyPr wrap="none" rtlCol="0">
            <a:spAutoFit/>
          </a:bodyPr>
          <a:lstStyle/>
          <a:p>
            <a:r>
              <a:rPr lang="en-US" dirty="0"/>
              <a:t>Suppose 1: pedestrian</a:t>
            </a:r>
            <a:br>
              <a:rPr lang="en-US" dirty="0"/>
            </a:br>
            <a:r>
              <a:rPr lang="en-US" dirty="0"/>
              <a:t>2: car; 3:motorcycle</a:t>
            </a:r>
          </a:p>
        </p:txBody>
      </p:sp>
      <p:sp>
        <p:nvSpPr>
          <p:cNvPr id="15" name="Right Brace 14">
            <a:extLst>
              <a:ext uri="{FF2B5EF4-FFF2-40B4-BE49-F238E27FC236}">
                <a16:creationId xmlns:a16="http://schemas.microsoft.com/office/drawing/2014/main" id="{19BC2957-7E25-47FF-90D8-C591726C0163}"/>
              </a:ext>
            </a:extLst>
          </p:cNvPr>
          <p:cNvSpPr/>
          <p:nvPr/>
        </p:nvSpPr>
        <p:spPr>
          <a:xfrm>
            <a:off x="7770513" y="4327742"/>
            <a:ext cx="145936" cy="939453"/>
          </a:xfrm>
          <a:prstGeom prst="righ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cxnSp>
        <p:nvCxnSpPr>
          <p:cNvPr id="17" name="Straight Arrow Connector 16">
            <a:extLst>
              <a:ext uri="{FF2B5EF4-FFF2-40B4-BE49-F238E27FC236}">
                <a16:creationId xmlns:a16="http://schemas.microsoft.com/office/drawing/2014/main" id="{18414194-A71B-4DB1-9D11-17E0C76B011D}"/>
              </a:ext>
            </a:extLst>
          </p:cNvPr>
          <p:cNvCxnSpPr>
            <a:cxnSpLocks/>
          </p:cNvCxnSpPr>
          <p:nvPr/>
        </p:nvCxnSpPr>
        <p:spPr>
          <a:xfrm flipH="1" flipV="1">
            <a:off x="2235896" y="3789123"/>
            <a:ext cx="5534619" cy="955112"/>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2C4FBFC-48B7-486A-B041-974247FD4D08}"/>
                  </a:ext>
                </a:extLst>
              </p:cNvPr>
              <p:cNvSpPr txBox="1"/>
              <p:nvPr/>
            </p:nvSpPr>
            <p:spPr>
              <a:xfrm>
                <a:off x="8858977" y="4050743"/>
                <a:ext cx="212834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3</m:t>
                      </m:r>
                      <m:r>
                        <a:rPr lang="en-US" sz="2400" b="0" i="1" smtClean="0">
                          <a:latin typeface="Cambria Math" panose="02040503050406030204" pitchFamily="18" charset="0"/>
                          <a:ea typeface="Cambria Math" panose="02040503050406030204" pitchFamily="18" charset="0"/>
                        </a:rPr>
                        <m:t>×3×8</m:t>
                      </m:r>
                      <m:r>
                        <m:rPr>
                          <m:nor/>
                        </m:rPr>
                        <a:rPr lang="en-US" sz="2400" b="0" i="0" smtClean="0">
                          <a:latin typeface="Cambria Math" panose="02040503050406030204" pitchFamily="18" charset="0"/>
                          <a:ea typeface="Cambria Math" panose="02040503050406030204" pitchFamily="18" charset="0"/>
                        </a:rPr>
                        <m:t> </m:t>
                      </m:r>
                      <m:r>
                        <m:rPr>
                          <m:nor/>
                        </m:rPr>
                        <a:rPr lang="en-US" sz="2400" b="0" i="0" smtClean="0">
                          <a:latin typeface="Cambria Math" panose="02040503050406030204" pitchFamily="18" charset="0"/>
                          <a:ea typeface="Cambria Math" panose="02040503050406030204" pitchFamily="18" charset="0"/>
                        </a:rPr>
                        <m:t>labels</m:t>
                      </m:r>
                    </m:oMath>
                  </m:oMathPara>
                </a14:m>
                <a:endParaRPr lang="en-US" dirty="0"/>
              </a:p>
            </p:txBody>
          </p:sp>
        </mc:Choice>
        <mc:Fallback xmlns="">
          <p:sp>
            <p:nvSpPr>
              <p:cNvPr id="18" name="TextBox 17">
                <a:extLst>
                  <a:ext uri="{FF2B5EF4-FFF2-40B4-BE49-F238E27FC236}">
                    <a16:creationId xmlns:a16="http://schemas.microsoft.com/office/drawing/2014/main" id="{A2C4FBFC-48B7-486A-B041-974247FD4D08}"/>
                  </a:ext>
                </a:extLst>
              </p:cNvPr>
              <p:cNvSpPr txBox="1">
                <a:spLocks noRot="1" noChangeAspect="1" noMove="1" noResize="1" noEditPoints="1" noAdjustHandles="1" noChangeArrowheads="1" noChangeShapeType="1" noTextEdit="1"/>
              </p:cNvSpPr>
              <p:nvPr/>
            </p:nvSpPr>
            <p:spPr>
              <a:xfrm>
                <a:off x="8858977" y="4050743"/>
                <a:ext cx="2128340" cy="369332"/>
              </a:xfrm>
              <a:prstGeom prst="rect">
                <a:avLst/>
              </a:prstGeom>
              <a:blipFill>
                <a:blip r:embed="rId8"/>
                <a:stretch>
                  <a:fillRect l="-2865" r="-2865" b="-6557"/>
                </a:stretch>
              </a:blipFill>
            </p:spPr>
            <p:txBody>
              <a:bodyPr/>
              <a:lstStyle/>
              <a:p>
                <a:r>
                  <a:rPr lang="en-US">
                    <a:noFill/>
                  </a:rPr>
                  <a:t> </a:t>
                </a:r>
              </a:p>
            </p:txBody>
          </p:sp>
        </mc:Fallback>
      </mc:AlternateContent>
      <p:sp>
        <p:nvSpPr>
          <p:cNvPr id="22" name="Cube 21">
            <a:extLst>
              <a:ext uri="{FF2B5EF4-FFF2-40B4-BE49-F238E27FC236}">
                <a16:creationId xmlns:a16="http://schemas.microsoft.com/office/drawing/2014/main" id="{AC66F683-41D9-43D4-BE02-C7DEB8E91E43}"/>
              </a:ext>
            </a:extLst>
          </p:cNvPr>
          <p:cNvSpPr/>
          <p:nvPr/>
        </p:nvSpPr>
        <p:spPr>
          <a:xfrm>
            <a:off x="8998064" y="4744234"/>
            <a:ext cx="1473694" cy="1480198"/>
          </a:xfrm>
          <a:prstGeom prst="cube">
            <a:avLst>
              <a:gd name="adj" fmla="val 6780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Cube 22">
            <a:extLst>
              <a:ext uri="{FF2B5EF4-FFF2-40B4-BE49-F238E27FC236}">
                <a16:creationId xmlns:a16="http://schemas.microsoft.com/office/drawing/2014/main" id="{6E577C7B-D0D9-434B-A417-FF15FB0338C4}"/>
              </a:ext>
            </a:extLst>
          </p:cNvPr>
          <p:cNvSpPr/>
          <p:nvPr/>
        </p:nvSpPr>
        <p:spPr>
          <a:xfrm>
            <a:off x="8998064" y="4744234"/>
            <a:ext cx="1164584" cy="1199366"/>
          </a:xfrm>
          <a:prstGeom prst="cube">
            <a:avLst>
              <a:gd name="adj" fmla="val 89420"/>
            </a:avLst>
          </a:prstGeom>
          <a:ln w="28575">
            <a:solidFill>
              <a:srgbClr val="FFC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4038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animBg="1"/>
      <p:bldP spid="12" grpId="0"/>
      <p:bldP spid="13" grpId="0"/>
      <p:bldP spid="14" grpId="0"/>
      <p:bldP spid="15" grpId="0" animBg="1"/>
      <p:bldP spid="18" grpId="0"/>
      <p:bldP spid="22" grpId="0" animBg="1"/>
      <p:bldP spid="2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6679E-D939-439D-B84E-CE08150397AA}"/>
              </a:ext>
            </a:extLst>
          </p:cNvPr>
          <p:cNvSpPr>
            <a:spLocks noGrp="1"/>
          </p:cNvSpPr>
          <p:nvPr>
            <p:ph type="title"/>
          </p:nvPr>
        </p:nvSpPr>
        <p:spPr>
          <a:xfrm>
            <a:off x="393526" y="0"/>
            <a:ext cx="10515600" cy="1325563"/>
          </a:xfrm>
        </p:spPr>
        <p:txBody>
          <a:bodyPr/>
          <a:lstStyle/>
          <a:p>
            <a:r>
              <a:rPr lang="en-US" dirty="0"/>
              <a:t>Yolo: training and testing</a:t>
            </a:r>
          </a:p>
        </p:txBody>
      </p:sp>
      <p:sp>
        <p:nvSpPr>
          <p:cNvPr id="3" name="Content Placeholder 2">
            <a:extLst>
              <a:ext uri="{FF2B5EF4-FFF2-40B4-BE49-F238E27FC236}">
                <a16:creationId xmlns:a16="http://schemas.microsoft.com/office/drawing/2014/main" id="{57C268EF-3B50-41F5-80D1-D6C983AB7C23}"/>
              </a:ext>
            </a:extLst>
          </p:cNvPr>
          <p:cNvSpPr>
            <a:spLocks noGrp="1"/>
          </p:cNvSpPr>
          <p:nvPr>
            <p:ph idx="1"/>
          </p:nvPr>
        </p:nvSpPr>
        <p:spPr>
          <a:xfrm>
            <a:off x="462419" y="1116865"/>
            <a:ext cx="10515600" cy="1763082"/>
          </a:xfrm>
        </p:spPr>
        <p:txBody>
          <a:bodyPr>
            <a:normAutofit/>
          </a:bodyPr>
          <a:lstStyle/>
          <a:p>
            <a:r>
              <a:rPr lang="en-US" sz="2400" dirty="0"/>
              <a:t>During training each object is assigned to only 1 cell (the one containing the object middle point)</a:t>
            </a:r>
          </a:p>
          <a:p>
            <a:r>
              <a:rPr lang="en-US" sz="2400" dirty="0"/>
              <a:t>During testing it may happen that more than a cell identifies the same object and with different bounding boxes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65E0F29-1304-4247-9030-ADBCB151344C}"/>
                  </a:ext>
                </a:extLst>
              </p:cNvPr>
              <p:cNvSpPr txBox="1"/>
              <p:nvPr/>
            </p:nvSpPr>
            <p:spPr>
              <a:xfrm>
                <a:off x="650667" y="3040691"/>
                <a:ext cx="1015983" cy="21262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1" i="1" smtClean="0">
                              <a:solidFill>
                                <a:srgbClr val="7030A0"/>
                              </a:solidFill>
                              <a:latin typeface="Cambria Math" panose="02040503050406030204" pitchFamily="18" charset="0"/>
                            </a:rPr>
                          </m:ctrlPr>
                        </m:accPr>
                        <m:e>
                          <m:r>
                            <a:rPr lang="en-US" b="1" i="1" smtClean="0">
                              <a:solidFill>
                                <a:srgbClr val="7030A0"/>
                              </a:solidFill>
                              <a:latin typeface="Cambria Math" panose="02040503050406030204" pitchFamily="18" charset="0"/>
                            </a:rPr>
                            <m:t>𝒚</m:t>
                          </m:r>
                        </m:e>
                      </m:acc>
                      <m:r>
                        <a:rPr lang="en-US" b="1" i="1" smtClean="0">
                          <a:solidFill>
                            <a:srgbClr val="7030A0"/>
                          </a:solidFill>
                          <a:latin typeface="Cambria Math" panose="02040503050406030204" pitchFamily="18" charset="0"/>
                        </a:rPr>
                        <m:t>=</m:t>
                      </m:r>
                      <m:d>
                        <m:dPr>
                          <m:begChr m:val="["/>
                          <m:endChr m:val="]"/>
                          <m:ctrlPr>
                            <a:rPr lang="en-US" b="1" i="1" smtClean="0">
                              <a:solidFill>
                                <a:srgbClr val="7030A0"/>
                              </a:solidFill>
                              <a:latin typeface="Cambria Math" panose="02040503050406030204" pitchFamily="18" charset="0"/>
                            </a:rPr>
                          </m:ctrlPr>
                        </m:dPr>
                        <m:e>
                          <m:m>
                            <m:mPr>
                              <m:mcs>
                                <m:mc>
                                  <m:mcPr>
                                    <m:count m:val="1"/>
                                    <m:mcJc m:val="center"/>
                                  </m:mcPr>
                                </m:mc>
                              </m:mcs>
                              <m:ctrlPr>
                                <a:rPr lang="en-US" b="1" i="1" smtClean="0">
                                  <a:solidFill>
                                    <a:srgbClr val="7030A0"/>
                                  </a:solidFill>
                                  <a:latin typeface="Cambria Math" panose="02040503050406030204" pitchFamily="18" charset="0"/>
                                </a:rPr>
                              </m:ctrlPr>
                            </m:mPr>
                            <m:mr>
                              <m:e>
                                <m:r>
                                  <m:rPr>
                                    <m:brk m:alnAt="7"/>
                                  </m:rPr>
                                  <a:rPr lang="en-US" b="1" i="1" smtClean="0">
                                    <a:solidFill>
                                      <a:srgbClr val="7030A0"/>
                                    </a:solidFill>
                                    <a:latin typeface="Cambria Math" panose="02040503050406030204" pitchFamily="18" charset="0"/>
                                  </a:rPr>
                                  <m:t>𝟎</m:t>
                                </m:r>
                                <m:r>
                                  <a:rPr lang="en-US" b="1" i="1" smtClean="0">
                                    <a:solidFill>
                                      <a:srgbClr val="7030A0"/>
                                    </a:solidFill>
                                    <a:latin typeface="Cambria Math" panose="02040503050406030204" pitchFamily="18" charset="0"/>
                                  </a:rPr>
                                  <m:t>.</m:t>
                                </m:r>
                                <m:r>
                                  <a:rPr lang="en-US" b="1" i="1" smtClean="0">
                                    <a:solidFill>
                                      <a:srgbClr val="7030A0"/>
                                    </a:solidFill>
                                    <a:latin typeface="Cambria Math" panose="02040503050406030204" pitchFamily="18" charset="0"/>
                                  </a:rPr>
                                  <m:t>𝟖</m:t>
                                </m:r>
                              </m:e>
                            </m:mr>
                            <m:mr>
                              <m:e>
                                <m:sSub>
                                  <m:sSubPr>
                                    <m:ctrlPr>
                                      <a:rPr lang="en-US" b="1" i="1" smtClean="0">
                                        <a:solidFill>
                                          <a:srgbClr val="7030A0"/>
                                        </a:solidFill>
                                        <a:latin typeface="Cambria Math" panose="02040503050406030204" pitchFamily="18" charset="0"/>
                                      </a:rPr>
                                    </m:ctrlPr>
                                  </m:sSubPr>
                                  <m:e>
                                    <m:r>
                                      <a:rPr lang="en-US" b="1" i="1" smtClean="0">
                                        <a:solidFill>
                                          <a:srgbClr val="7030A0"/>
                                        </a:solidFill>
                                        <a:latin typeface="Cambria Math" panose="02040503050406030204" pitchFamily="18" charset="0"/>
                                      </a:rPr>
                                      <m:t>𝒃</m:t>
                                    </m:r>
                                  </m:e>
                                  <m:sub>
                                    <m:r>
                                      <a:rPr lang="en-US" b="1" i="1" smtClean="0">
                                        <a:solidFill>
                                          <a:srgbClr val="7030A0"/>
                                        </a:solidFill>
                                        <a:latin typeface="Cambria Math" panose="02040503050406030204" pitchFamily="18" charset="0"/>
                                      </a:rPr>
                                      <m:t>𝒙</m:t>
                                    </m:r>
                                  </m:sub>
                                </m:sSub>
                              </m:e>
                            </m:mr>
                            <m:mr>
                              <m:e>
                                <m:m>
                                  <m:mPr>
                                    <m:mcs>
                                      <m:mc>
                                        <m:mcPr>
                                          <m:count m:val="1"/>
                                          <m:mcJc m:val="center"/>
                                        </m:mcPr>
                                      </m:mc>
                                    </m:mcs>
                                    <m:ctrlPr>
                                      <a:rPr lang="en-US" b="1" i="1" smtClean="0">
                                        <a:solidFill>
                                          <a:srgbClr val="7030A0"/>
                                        </a:solidFill>
                                        <a:latin typeface="Cambria Math" panose="02040503050406030204" pitchFamily="18" charset="0"/>
                                      </a:rPr>
                                    </m:ctrlPr>
                                  </m:mPr>
                                  <m:mr>
                                    <m:e>
                                      <m:sSub>
                                        <m:sSubPr>
                                          <m:ctrlPr>
                                            <a:rPr lang="en-US" b="1" i="1" smtClean="0">
                                              <a:solidFill>
                                                <a:srgbClr val="7030A0"/>
                                              </a:solidFill>
                                              <a:latin typeface="Cambria Math" panose="02040503050406030204" pitchFamily="18" charset="0"/>
                                            </a:rPr>
                                          </m:ctrlPr>
                                        </m:sSubPr>
                                        <m:e>
                                          <m:r>
                                            <a:rPr lang="en-US" b="1" i="1" smtClean="0">
                                              <a:solidFill>
                                                <a:srgbClr val="7030A0"/>
                                              </a:solidFill>
                                              <a:latin typeface="Cambria Math" panose="02040503050406030204" pitchFamily="18" charset="0"/>
                                            </a:rPr>
                                            <m:t>𝒃</m:t>
                                          </m:r>
                                        </m:e>
                                        <m:sub>
                                          <m:r>
                                            <a:rPr lang="en-US" b="1" i="1" smtClean="0">
                                              <a:solidFill>
                                                <a:srgbClr val="7030A0"/>
                                              </a:solidFill>
                                              <a:latin typeface="Cambria Math" panose="02040503050406030204" pitchFamily="18" charset="0"/>
                                            </a:rPr>
                                            <m:t>𝒚</m:t>
                                          </m:r>
                                        </m:sub>
                                      </m:sSub>
                                    </m:e>
                                  </m:mr>
                                  <m:mr>
                                    <m:e>
                                      <m:sSub>
                                        <m:sSubPr>
                                          <m:ctrlPr>
                                            <a:rPr lang="en-US" b="1" i="1" smtClean="0">
                                              <a:solidFill>
                                                <a:srgbClr val="7030A0"/>
                                              </a:solidFill>
                                              <a:latin typeface="Cambria Math" panose="02040503050406030204" pitchFamily="18" charset="0"/>
                                            </a:rPr>
                                          </m:ctrlPr>
                                        </m:sSubPr>
                                        <m:e>
                                          <m:r>
                                            <a:rPr lang="en-US" b="1" i="1" smtClean="0">
                                              <a:solidFill>
                                                <a:srgbClr val="7030A0"/>
                                              </a:solidFill>
                                              <a:latin typeface="Cambria Math" panose="02040503050406030204" pitchFamily="18" charset="0"/>
                                            </a:rPr>
                                            <m:t>𝒃</m:t>
                                          </m:r>
                                        </m:e>
                                        <m:sub>
                                          <m:r>
                                            <a:rPr lang="en-US" b="1" i="1" smtClean="0">
                                              <a:solidFill>
                                                <a:srgbClr val="7030A0"/>
                                              </a:solidFill>
                                              <a:latin typeface="Cambria Math" panose="02040503050406030204" pitchFamily="18" charset="0"/>
                                            </a:rPr>
                                            <m:t>𝒘</m:t>
                                          </m:r>
                                        </m:sub>
                                      </m:sSub>
                                    </m:e>
                                  </m:mr>
                                  <m:mr>
                                    <m:e>
                                      <m:m>
                                        <m:mPr>
                                          <m:mcs>
                                            <m:mc>
                                              <m:mcPr>
                                                <m:count m:val="1"/>
                                                <m:mcJc m:val="center"/>
                                              </m:mcPr>
                                            </m:mc>
                                          </m:mcs>
                                          <m:ctrlPr>
                                            <a:rPr lang="en-US" b="1" i="1" smtClean="0">
                                              <a:solidFill>
                                                <a:srgbClr val="7030A0"/>
                                              </a:solidFill>
                                              <a:latin typeface="Cambria Math" panose="02040503050406030204" pitchFamily="18" charset="0"/>
                                            </a:rPr>
                                          </m:ctrlPr>
                                        </m:mPr>
                                        <m:mr>
                                          <m:e>
                                            <m:sSub>
                                              <m:sSubPr>
                                                <m:ctrlPr>
                                                  <a:rPr lang="en-US" b="1" i="1" smtClean="0">
                                                    <a:solidFill>
                                                      <a:srgbClr val="7030A0"/>
                                                    </a:solidFill>
                                                    <a:latin typeface="Cambria Math" panose="02040503050406030204" pitchFamily="18" charset="0"/>
                                                  </a:rPr>
                                                </m:ctrlPr>
                                              </m:sSubPr>
                                              <m:e>
                                                <m:r>
                                                  <a:rPr lang="en-US" b="1" i="1" smtClean="0">
                                                    <a:solidFill>
                                                      <a:srgbClr val="7030A0"/>
                                                    </a:solidFill>
                                                    <a:latin typeface="Cambria Math" panose="02040503050406030204" pitchFamily="18" charset="0"/>
                                                  </a:rPr>
                                                  <m:t>𝒃</m:t>
                                                </m:r>
                                              </m:e>
                                              <m:sub>
                                                <m:r>
                                                  <a:rPr lang="en-US" b="1" i="1" smtClean="0">
                                                    <a:solidFill>
                                                      <a:srgbClr val="7030A0"/>
                                                    </a:solidFill>
                                                    <a:latin typeface="Cambria Math" panose="02040503050406030204" pitchFamily="18" charset="0"/>
                                                  </a:rPr>
                                                  <m:t>𝒉</m:t>
                                                </m:r>
                                              </m:sub>
                                            </m:sSub>
                                          </m:e>
                                        </m:mr>
                                        <m:mr>
                                          <m:e>
                                            <m:r>
                                              <a:rPr lang="en-US" b="1" i="1" smtClean="0">
                                                <a:solidFill>
                                                  <a:srgbClr val="7030A0"/>
                                                </a:solidFill>
                                                <a:latin typeface="Cambria Math" panose="02040503050406030204" pitchFamily="18" charset="0"/>
                                              </a:rPr>
                                              <m:t>𝟎</m:t>
                                            </m:r>
                                          </m:e>
                                        </m:mr>
                                        <m:mr>
                                          <m:e>
                                            <m:m>
                                              <m:mPr>
                                                <m:mcs>
                                                  <m:mc>
                                                    <m:mcPr>
                                                      <m:count m:val="1"/>
                                                      <m:mcJc m:val="center"/>
                                                    </m:mcPr>
                                                  </m:mc>
                                                </m:mcs>
                                                <m:ctrlPr>
                                                  <a:rPr lang="en-US" b="1" i="1" smtClean="0">
                                                    <a:solidFill>
                                                      <a:srgbClr val="7030A0"/>
                                                    </a:solidFill>
                                                    <a:latin typeface="Cambria Math" panose="02040503050406030204" pitchFamily="18" charset="0"/>
                                                  </a:rPr>
                                                </m:ctrlPr>
                                              </m:mPr>
                                              <m:mr>
                                                <m:e>
                                                  <m:r>
                                                    <m:rPr>
                                                      <m:brk m:alnAt="7"/>
                                                    </m:rPr>
                                                    <a:rPr lang="en-US" b="1" i="1" smtClean="0">
                                                      <a:solidFill>
                                                        <a:srgbClr val="7030A0"/>
                                                      </a:solidFill>
                                                      <a:latin typeface="Cambria Math" panose="02040503050406030204" pitchFamily="18" charset="0"/>
                                                    </a:rPr>
                                                    <m:t>𝟎</m:t>
                                                  </m:r>
                                                  <m:r>
                                                    <a:rPr lang="en-US" b="1" i="1" smtClean="0">
                                                      <a:solidFill>
                                                        <a:srgbClr val="7030A0"/>
                                                      </a:solidFill>
                                                      <a:latin typeface="Cambria Math" panose="02040503050406030204" pitchFamily="18" charset="0"/>
                                                    </a:rPr>
                                                    <m:t>.</m:t>
                                                  </m:r>
                                                  <m:r>
                                                    <a:rPr lang="en-US" b="1" i="1" smtClean="0">
                                                      <a:solidFill>
                                                        <a:srgbClr val="7030A0"/>
                                                      </a:solidFill>
                                                      <a:latin typeface="Cambria Math" panose="02040503050406030204" pitchFamily="18" charset="0"/>
                                                    </a:rPr>
                                                    <m:t>𝟖</m:t>
                                                  </m:r>
                                                </m:e>
                                              </m:mr>
                                              <m:mr>
                                                <m:e>
                                                  <m:r>
                                                    <a:rPr lang="en-US" b="1" i="1" smtClean="0">
                                                      <a:solidFill>
                                                        <a:srgbClr val="7030A0"/>
                                                      </a:solidFill>
                                                      <a:latin typeface="Cambria Math" panose="02040503050406030204" pitchFamily="18" charset="0"/>
                                                    </a:rPr>
                                                    <m:t>𝟎</m:t>
                                                  </m:r>
                                                </m:e>
                                              </m:mr>
                                            </m:m>
                                          </m:e>
                                        </m:mr>
                                      </m:m>
                                    </m:e>
                                  </m:mr>
                                </m:m>
                              </m:e>
                            </m:mr>
                          </m:m>
                        </m:e>
                      </m:d>
                    </m:oMath>
                  </m:oMathPara>
                </a14:m>
                <a:endParaRPr lang="en-US" b="1" dirty="0">
                  <a:solidFill>
                    <a:srgbClr val="7030A0"/>
                  </a:solidFill>
                </a:endParaRPr>
              </a:p>
            </p:txBody>
          </p:sp>
        </mc:Choice>
        <mc:Fallback xmlns="">
          <p:sp>
            <p:nvSpPr>
              <p:cNvPr id="4" name="TextBox 3">
                <a:extLst>
                  <a:ext uri="{FF2B5EF4-FFF2-40B4-BE49-F238E27FC236}">
                    <a16:creationId xmlns:a16="http://schemas.microsoft.com/office/drawing/2014/main" id="{965E0F29-1304-4247-9030-ADBCB151344C}"/>
                  </a:ext>
                </a:extLst>
              </p:cNvPr>
              <p:cNvSpPr txBox="1">
                <a:spLocks noRot="1" noChangeAspect="1" noMove="1" noResize="1" noEditPoints="1" noAdjustHandles="1" noChangeArrowheads="1" noChangeShapeType="1" noTextEdit="1"/>
              </p:cNvSpPr>
              <p:nvPr/>
            </p:nvSpPr>
            <p:spPr>
              <a:xfrm>
                <a:off x="650667" y="3040691"/>
                <a:ext cx="1015983" cy="212628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C50F156-786B-4FAA-A726-C78BA9E8331D}"/>
                  </a:ext>
                </a:extLst>
              </p:cNvPr>
              <p:cNvSpPr txBox="1"/>
              <p:nvPr/>
            </p:nvSpPr>
            <p:spPr>
              <a:xfrm>
                <a:off x="2201136" y="3040691"/>
                <a:ext cx="1153842" cy="21722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b="1" i="1" smtClean="0">
                              <a:solidFill>
                                <a:srgbClr val="FFC000"/>
                              </a:solidFill>
                              <a:latin typeface="Cambria Math" panose="02040503050406030204" pitchFamily="18" charset="0"/>
                            </a:rPr>
                          </m:ctrlPr>
                        </m:accPr>
                        <m:e>
                          <m:r>
                            <a:rPr lang="en-US" b="1" i="1" smtClean="0">
                              <a:solidFill>
                                <a:srgbClr val="FFC000"/>
                              </a:solidFill>
                              <a:latin typeface="Cambria Math" panose="02040503050406030204" pitchFamily="18" charset="0"/>
                            </a:rPr>
                            <m:t>𝒚</m:t>
                          </m:r>
                        </m:e>
                      </m:acc>
                      <m:r>
                        <a:rPr lang="en-US" b="1" i="1" smtClean="0">
                          <a:solidFill>
                            <a:srgbClr val="FFC000"/>
                          </a:solidFill>
                          <a:latin typeface="Cambria Math" panose="02040503050406030204" pitchFamily="18" charset="0"/>
                        </a:rPr>
                        <m:t>=</m:t>
                      </m:r>
                      <m:d>
                        <m:dPr>
                          <m:begChr m:val="["/>
                          <m:endChr m:val="]"/>
                          <m:ctrlPr>
                            <a:rPr lang="en-US" b="1" i="1" smtClean="0">
                              <a:solidFill>
                                <a:srgbClr val="FFC000"/>
                              </a:solidFill>
                              <a:latin typeface="Cambria Math" panose="02040503050406030204" pitchFamily="18" charset="0"/>
                            </a:rPr>
                          </m:ctrlPr>
                        </m:dPr>
                        <m:e>
                          <m:m>
                            <m:mPr>
                              <m:mcs>
                                <m:mc>
                                  <m:mcPr>
                                    <m:count m:val="1"/>
                                    <m:mcJc m:val="center"/>
                                  </m:mcPr>
                                </m:mc>
                              </m:mcs>
                              <m:ctrlPr>
                                <a:rPr lang="en-US" b="1" i="1" smtClean="0">
                                  <a:solidFill>
                                    <a:srgbClr val="FFC000"/>
                                  </a:solidFill>
                                  <a:latin typeface="Cambria Math" panose="02040503050406030204" pitchFamily="18" charset="0"/>
                                </a:rPr>
                              </m:ctrlPr>
                            </m:mPr>
                            <m:mr>
                              <m:e>
                                <m:r>
                                  <m:rPr>
                                    <m:brk m:alnAt="7"/>
                                  </m:rPr>
                                  <a:rPr lang="en-US" b="1" i="1" smtClean="0">
                                    <a:solidFill>
                                      <a:srgbClr val="FFC000"/>
                                    </a:solidFill>
                                    <a:latin typeface="Cambria Math" panose="02040503050406030204" pitchFamily="18" charset="0"/>
                                  </a:rPr>
                                  <m:t>𝟎</m:t>
                                </m:r>
                                <m:r>
                                  <a:rPr lang="en-US" b="1" i="1" smtClean="0">
                                    <a:solidFill>
                                      <a:srgbClr val="FFC000"/>
                                    </a:solidFill>
                                    <a:latin typeface="Cambria Math" panose="02040503050406030204" pitchFamily="18" charset="0"/>
                                  </a:rPr>
                                  <m:t>.</m:t>
                                </m:r>
                                <m:r>
                                  <a:rPr lang="en-US" b="1" i="1" smtClean="0">
                                    <a:solidFill>
                                      <a:srgbClr val="FFC000"/>
                                    </a:solidFill>
                                    <a:latin typeface="Cambria Math" panose="02040503050406030204" pitchFamily="18" charset="0"/>
                                  </a:rPr>
                                  <m:t>𝟕𝟐</m:t>
                                </m:r>
                              </m:e>
                            </m:mr>
                            <m:mr>
                              <m:e>
                                <m:sSub>
                                  <m:sSubPr>
                                    <m:ctrlPr>
                                      <a:rPr lang="en-US" b="1" i="1" smtClean="0">
                                        <a:solidFill>
                                          <a:srgbClr val="FFC000"/>
                                        </a:solidFill>
                                        <a:latin typeface="Cambria Math" panose="02040503050406030204" pitchFamily="18" charset="0"/>
                                      </a:rPr>
                                    </m:ctrlPr>
                                  </m:sSubPr>
                                  <m:e>
                                    <m:r>
                                      <a:rPr lang="en-US" b="1" i="1" smtClean="0">
                                        <a:solidFill>
                                          <a:srgbClr val="FFC000"/>
                                        </a:solidFill>
                                        <a:latin typeface="Cambria Math" panose="02040503050406030204" pitchFamily="18" charset="0"/>
                                      </a:rPr>
                                      <m:t>𝒃</m:t>
                                    </m:r>
                                    <m:r>
                                      <a:rPr lang="en-US" b="1" i="1" smtClean="0">
                                        <a:solidFill>
                                          <a:srgbClr val="FFC000"/>
                                        </a:solidFill>
                                        <a:latin typeface="Cambria Math" panose="02040503050406030204" pitchFamily="18" charset="0"/>
                                      </a:rPr>
                                      <m:t>′</m:t>
                                    </m:r>
                                  </m:e>
                                  <m:sub>
                                    <m:r>
                                      <a:rPr lang="en-US" b="1" i="1" smtClean="0">
                                        <a:solidFill>
                                          <a:srgbClr val="FFC000"/>
                                        </a:solidFill>
                                        <a:latin typeface="Cambria Math" panose="02040503050406030204" pitchFamily="18" charset="0"/>
                                      </a:rPr>
                                      <m:t>𝒙</m:t>
                                    </m:r>
                                  </m:sub>
                                </m:sSub>
                              </m:e>
                            </m:mr>
                            <m:mr>
                              <m:e>
                                <m:m>
                                  <m:mPr>
                                    <m:mcs>
                                      <m:mc>
                                        <m:mcPr>
                                          <m:count m:val="1"/>
                                          <m:mcJc m:val="center"/>
                                        </m:mcPr>
                                      </m:mc>
                                    </m:mcs>
                                    <m:ctrlPr>
                                      <a:rPr lang="en-US" b="1" i="1" smtClean="0">
                                        <a:solidFill>
                                          <a:srgbClr val="FFC000"/>
                                        </a:solidFill>
                                        <a:latin typeface="Cambria Math" panose="02040503050406030204" pitchFamily="18" charset="0"/>
                                      </a:rPr>
                                    </m:ctrlPr>
                                  </m:mPr>
                                  <m:mr>
                                    <m:e>
                                      <m:sSub>
                                        <m:sSubPr>
                                          <m:ctrlPr>
                                            <a:rPr lang="en-US" b="1" i="1" smtClean="0">
                                              <a:solidFill>
                                                <a:srgbClr val="FFC000"/>
                                              </a:solidFill>
                                              <a:latin typeface="Cambria Math" panose="02040503050406030204" pitchFamily="18" charset="0"/>
                                            </a:rPr>
                                          </m:ctrlPr>
                                        </m:sSubPr>
                                        <m:e>
                                          <m:r>
                                            <a:rPr lang="en-US" b="1" i="1" smtClean="0">
                                              <a:solidFill>
                                                <a:srgbClr val="FFC000"/>
                                              </a:solidFill>
                                              <a:latin typeface="Cambria Math" panose="02040503050406030204" pitchFamily="18" charset="0"/>
                                            </a:rPr>
                                            <m:t>𝒃</m:t>
                                          </m:r>
                                          <m:r>
                                            <a:rPr lang="en-US" b="1" i="1" smtClean="0">
                                              <a:solidFill>
                                                <a:srgbClr val="FFC000"/>
                                              </a:solidFill>
                                              <a:latin typeface="Cambria Math" panose="02040503050406030204" pitchFamily="18" charset="0"/>
                                            </a:rPr>
                                            <m:t>′</m:t>
                                          </m:r>
                                        </m:e>
                                        <m:sub>
                                          <m:r>
                                            <a:rPr lang="en-US" b="1" i="1" smtClean="0">
                                              <a:solidFill>
                                                <a:srgbClr val="FFC000"/>
                                              </a:solidFill>
                                              <a:latin typeface="Cambria Math" panose="02040503050406030204" pitchFamily="18" charset="0"/>
                                            </a:rPr>
                                            <m:t>𝒚</m:t>
                                          </m:r>
                                        </m:sub>
                                      </m:sSub>
                                    </m:e>
                                  </m:mr>
                                  <m:mr>
                                    <m:e>
                                      <m:sSub>
                                        <m:sSubPr>
                                          <m:ctrlPr>
                                            <a:rPr lang="en-US" b="1" i="1" smtClean="0">
                                              <a:solidFill>
                                                <a:srgbClr val="FFC000"/>
                                              </a:solidFill>
                                              <a:latin typeface="Cambria Math" panose="02040503050406030204" pitchFamily="18" charset="0"/>
                                            </a:rPr>
                                          </m:ctrlPr>
                                        </m:sSubPr>
                                        <m:e>
                                          <m:r>
                                            <a:rPr lang="en-US" b="1" i="1" smtClean="0">
                                              <a:solidFill>
                                                <a:srgbClr val="FFC000"/>
                                              </a:solidFill>
                                              <a:latin typeface="Cambria Math" panose="02040503050406030204" pitchFamily="18" charset="0"/>
                                            </a:rPr>
                                            <m:t>𝒃</m:t>
                                          </m:r>
                                          <m:r>
                                            <a:rPr lang="en-US" b="1" i="1" smtClean="0">
                                              <a:solidFill>
                                                <a:srgbClr val="FFC000"/>
                                              </a:solidFill>
                                              <a:latin typeface="Cambria Math" panose="02040503050406030204" pitchFamily="18" charset="0"/>
                                            </a:rPr>
                                            <m:t>′</m:t>
                                          </m:r>
                                        </m:e>
                                        <m:sub>
                                          <m:r>
                                            <a:rPr lang="en-US" b="1" i="1" smtClean="0">
                                              <a:solidFill>
                                                <a:srgbClr val="FFC000"/>
                                              </a:solidFill>
                                              <a:latin typeface="Cambria Math" panose="02040503050406030204" pitchFamily="18" charset="0"/>
                                            </a:rPr>
                                            <m:t>𝒘</m:t>
                                          </m:r>
                                        </m:sub>
                                      </m:sSub>
                                    </m:e>
                                  </m:mr>
                                  <m:mr>
                                    <m:e>
                                      <m:m>
                                        <m:mPr>
                                          <m:mcs>
                                            <m:mc>
                                              <m:mcPr>
                                                <m:count m:val="1"/>
                                                <m:mcJc m:val="center"/>
                                              </m:mcPr>
                                            </m:mc>
                                          </m:mcs>
                                          <m:ctrlPr>
                                            <a:rPr lang="en-US" b="1" i="1" smtClean="0">
                                              <a:solidFill>
                                                <a:srgbClr val="FFC000"/>
                                              </a:solidFill>
                                              <a:latin typeface="Cambria Math" panose="02040503050406030204" pitchFamily="18" charset="0"/>
                                            </a:rPr>
                                          </m:ctrlPr>
                                        </m:mPr>
                                        <m:mr>
                                          <m:e>
                                            <m:sSub>
                                              <m:sSubPr>
                                                <m:ctrlPr>
                                                  <a:rPr lang="en-US" b="1" i="1" smtClean="0">
                                                    <a:solidFill>
                                                      <a:srgbClr val="FFC000"/>
                                                    </a:solidFill>
                                                    <a:latin typeface="Cambria Math" panose="02040503050406030204" pitchFamily="18" charset="0"/>
                                                  </a:rPr>
                                                </m:ctrlPr>
                                              </m:sSubPr>
                                              <m:e>
                                                <m:r>
                                                  <a:rPr lang="en-US" b="1" i="1" smtClean="0">
                                                    <a:solidFill>
                                                      <a:srgbClr val="FFC000"/>
                                                    </a:solidFill>
                                                    <a:latin typeface="Cambria Math" panose="02040503050406030204" pitchFamily="18" charset="0"/>
                                                  </a:rPr>
                                                  <m:t>𝒃</m:t>
                                                </m:r>
                                                <m:r>
                                                  <a:rPr lang="en-US" b="1" i="1" smtClean="0">
                                                    <a:solidFill>
                                                      <a:srgbClr val="FFC000"/>
                                                    </a:solidFill>
                                                    <a:latin typeface="Cambria Math" panose="02040503050406030204" pitchFamily="18" charset="0"/>
                                                  </a:rPr>
                                                  <m:t>′</m:t>
                                                </m:r>
                                              </m:e>
                                              <m:sub>
                                                <m:r>
                                                  <a:rPr lang="en-US" b="1" i="1" smtClean="0">
                                                    <a:solidFill>
                                                      <a:srgbClr val="FFC000"/>
                                                    </a:solidFill>
                                                    <a:latin typeface="Cambria Math" panose="02040503050406030204" pitchFamily="18" charset="0"/>
                                                  </a:rPr>
                                                  <m:t>𝒉</m:t>
                                                </m:r>
                                              </m:sub>
                                            </m:sSub>
                                          </m:e>
                                        </m:mr>
                                        <m:mr>
                                          <m:e>
                                            <m:r>
                                              <a:rPr lang="en-US" b="1" i="1" smtClean="0">
                                                <a:solidFill>
                                                  <a:srgbClr val="FFC000"/>
                                                </a:solidFill>
                                                <a:latin typeface="Cambria Math" panose="02040503050406030204" pitchFamily="18" charset="0"/>
                                              </a:rPr>
                                              <m:t>𝟎</m:t>
                                            </m:r>
                                            <m:r>
                                              <a:rPr lang="en-US" b="1" i="1" smtClean="0">
                                                <a:solidFill>
                                                  <a:srgbClr val="FFC000"/>
                                                </a:solidFill>
                                                <a:latin typeface="Cambria Math" panose="02040503050406030204" pitchFamily="18" charset="0"/>
                                              </a:rPr>
                                              <m:t>.</m:t>
                                            </m:r>
                                            <m:r>
                                              <a:rPr lang="en-US" b="1" i="1" smtClean="0">
                                                <a:solidFill>
                                                  <a:srgbClr val="FFC000"/>
                                                </a:solidFill>
                                                <a:latin typeface="Cambria Math" panose="02040503050406030204" pitchFamily="18" charset="0"/>
                                              </a:rPr>
                                              <m:t>𝟎𝟐</m:t>
                                            </m:r>
                                          </m:e>
                                        </m:mr>
                                        <m:mr>
                                          <m:e>
                                            <m:m>
                                              <m:mPr>
                                                <m:mcs>
                                                  <m:mc>
                                                    <m:mcPr>
                                                      <m:count m:val="1"/>
                                                      <m:mcJc m:val="center"/>
                                                    </m:mcPr>
                                                  </m:mc>
                                                </m:mcs>
                                                <m:ctrlPr>
                                                  <a:rPr lang="en-US" b="1" i="1" smtClean="0">
                                                    <a:solidFill>
                                                      <a:srgbClr val="FFC000"/>
                                                    </a:solidFill>
                                                    <a:latin typeface="Cambria Math" panose="02040503050406030204" pitchFamily="18" charset="0"/>
                                                  </a:rPr>
                                                </m:ctrlPr>
                                              </m:mPr>
                                              <m:mr>
                                                <m:e>
                                                  <m:r>
                                                    <m:rPr>
                                                      <m:brk m:alnAt="7"/>
                                                    </m:rPr>
                                                    <a:rPr lang="en-US" b="1" i="1" smtClean="0">
                                                      <a:solidFill>
                                                        <a:srgbClr val="FFC000"/>
                                                      </a:solidFill>
                                                      <a:latin typeface="Cambria Math" panose="02040503050406030204" pitchFamily="18" charset="0"/>
                                                    </a:rPr>
                                                    <m:t>𝟎</m:t>
                                                  </m:r>
                                                  <m:r>
                                                    <a:rPr lang="en-US" b="1" i="1" smtClean="0">
                                                      <a:solidFill>
                                                        <a:srgbClr val="FFC000"/>
                                                      </a:solidFill>
                                                      <a:latin typeface="Cambria Math" panose="02040503050406030204" pitchFamily="18" charset="0"/>
                                                    </a:rPr>
                                                    <m:t>.</m:t>
                                                  </m:r>
                                                  <m:r>
                                                    <a:rPr lang="en-US" b="1" i="1" smtClean="0">
                                                      <a:solidFill>
                                                        <a:srgbClr val="FFC000"/>
                                                      </a:solidFill>
                                                      <a:latin typeface="Cambria Math" panose="02040503050406030204" pitchFamily="18" charset="0"/>
                                                    </a:rPr>
                                                    <m:t>𝟕</m:t>
                                                  </m:r>
                                                </m:e>
                                              </m:mr>
                                              <m:mr>
                                                <m:e>
                                                  <m:r>
                                                    <a:rPr lang="en-US" b="1" i="1" smtClean="0">
                                                      <a:solidFill>
                                                        <a:srgbClr val="FFC000"/>
                                                      </a:solidFill>
                                                      <a:latin typeface="Cambria Math" panose="02040503050406030204" pitchFamily="18" charset="0"/>
                                                    </a:rPr>
                                                    <m:t>𝟎</m:t>
                                                  </m:r>
                                                </m:e>
                                              </m:mr>
                                            </m:m>
                                          </m:e>
                                        </m:mr>
                                      </m:m>
                                    </m:e>
                                  </m:mr>
                                </m:m>
                              </m:e>
                            </m:mr>
                          </m:m>
                        </m:e>
                      </m:d>
                    </m:oMath>
                  </m:oMathPara>
                </a14:m>
                <a:endParaRPr lang="en-US" b="1" dirty="0">
                  <a:solidFill>
                    <a:srgbClr val="FFC000"/>
                  </a:solidFill>
                </a:endParaRPr>
              </a:p>
            </p:txBody>
          </p:sp>
        </mc:Choice>
        <mc:Fallback xmlns="">
          <p:sp>
            <p:nvSpPr>
              <p:cNvPr id="5" name="TextBox 4">
                <a:extLst>
                  <a:ext uri="{FF2B5EF4-FFF2-40B4-BE49-F238E27FC236}">
                    <a16:creationId xmlns:a16="http://schemas.microsoft.com/office/drawing/2014/main" id="{6C50F156-786B-4FAA-A726-C78BA9E8331D}"/>
                  </a:ext>
                </a:extLst>
              </p:cNvPr>
              <p:cNvSpPr txBox="1">
                <a:spLocks noRot="1" noChangeAspect="1" noMove="1" noResize="1" noEditPoints="1" noAdjustHandles="1" noChangeArrowheads="1" noChangeShapeType="1" noTextEdit="1"/>
              </p:cNvSpPr>
              <p:nvPr/>
            </p:nvSpPr>
            <p:spPr>
              <a:xfrm>
                <a:off x="2201136" y="3040691"/>
                <a:ext cx="1153842" cy="2172261"/>
              </a:xfrm>
              <a:prstGeom prst="rect">
                <a:avLst/>
              </a:prstGeom>
              <a:blipFill>
                <a:blip r:embed="rId3"/>
                <a:stretch>
                  <a:fillRect/>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30D6B0C1-F57A-416E-A9CE-71DDB3C1A68B}"/>
              </a:ext>
            </a:extLst>
          </p:cNvPr>
          <p:cNvPicPr>
            <a:picLocks noChangeAspect="1"/>
          </p:cNvPicPr>
          <p:nvPr/>
        </p:nvPicPr>
        <p:blipFill>
          <a:blip r:embed="rId4"/>
          <a:stretch>
            <a:fillRect/>
          </a:stretch>
        </p:blipFill>
        <p:spPr>
          <a:xfrm>
            <a:off x="6395581" y="2554842"/>
            <a:ext cx="5334000" cy="4261793"/>
          </a:xfrm>
          <a:prstGeom prst="rect">
            <a:avLst/>
          </a:prstGeom>
        </p:spPr>
      </p:pic>
      <p:cxnSp>
        <p:nvCxnSpPr>
          <p:cNvPr id="9" name="Straight Arrow Connector 8">
            <a:extLst>
              <a:ext uri="{FF2B5EF4-FFF2-40B4-BE49-F238E27FC236}">
                <a16:creationId xmlns:a16="http://schemas.microsoft.com/office/drawing/2014/main" id="{5F808B97-F8BF-4633-8EA0-6B6534E0B117}"/>
              </a:ext>
            </a:extLst>
          </p:cNvPr>
          <p:cNvCxnSpPr>
            <a:cxnSpLocks/>
            <a:stCxn id="5" idx="3"/>
          </p:cNvCxnSpPr>
          <p:nvPr/>
        </p:nvCxnSpPr>
        <p:spPr>
          <a:xfrm>
            <a:off x="3354978" y="4126822"/>
            <a:ext cx="3747280" cy="10401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3163001-B461-46A6-BC29-910DC840B93A}"/>
              </a:ext>
            </a:extLst>
          </p:cNvPr>
          <p:cNvCxnSpPr>
            <a:stCxn id="4" idx="3"/>
          </p:cNvCxnSpPr>
          <p:nvPr/>
        </p:nvCxnSpPr>
        <p:spPr>
          <a:xfrm>
            <a:off x="1666650" y="4103835"/>
            <a:ext cx="5222665" cy="4681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7671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B4FC33-2805-41CE-949E-902557C84C09}"/>
              </a:ext>
            </a:extLst>
          </p:cNvPr>
          <p:cNvPicPr>
            <a:picLocks noChangeAspect="1"/>
          </p:cNvPicPr>
          <p:nvPr/>
        </p:nvPicPr>
        <p:blipFill>
          <a:blip r:embed="rId2"/>
          <a:stretch>
            <a:fillRect/>
          </a:stretch>
        </p:blipFill>
        <p:spPr>
          <a:xfrm>
            <a:off x="86086" y="709537"/>
            <a:ext cx="6057931" cy="5665234"/>
          </a:xfrm>
          <a:prstGeom prst="rect">
            <a:avLst/>
          </a:prstGeom>
        </p:spPr>
      </p:pic>
      <p:sp>
        <p:nvSpPr>
          <p:cNvPr id="5" name="Rectangle 4">
            <a:extLst>
              <a:ext uri="{FF2B5EF4-FFF2-40B4-BE49-F238E27FC236}">
                <a16:creationId xmlns:a16="http://schemas.microsoft.com/office/drawing/2014/main" id="{FEE2082D-1513-4410-8622-7F47C722D36C}"/>
              </a:ext>
            </a:extLst>
          </p:cNvPr>
          <p:cNvSpPr/>
          <p:nvPr/>
        </p:nvSpPr>
        <p:spPr>
          <a:xfrm>
            <a:off x="855944" y="2502074"/>
            <a:ext cx="1699366" cy="1694146"/>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F1DC0E1-5E0F-4B4A-84FC-F0F6D2D06243}"/>
                  </a:ext>
                </a:extLst>
              </p:cNvPr>
              <p:cNvSpPr txBox="1"/>
              <p:nvPr/>
            </p:nvSpPr>
            <p:spPr>
              <a:xfrm>
                <a:off x="6364743" y="286014"/>
                <a:ext cx="5660011" cy="2460610"/>
              </a:xfrm>
              <a:prstGeom prst="rect">
                <a:avLst/>
              </a:prstGeom>
              <a:noFill/>
            </p:spPr>
            <p:txBody>
              <a:bodyPr wrap="none" rtlCol="0">
                <a:spAutoFit/>
              </a:bodyPr>
              <a:lstStyle/>
              <a:p>
                <a:r>
                  <a:rPr lang="en-US" sz="3200" dirty="0"/>
                  <a:t>BB representation for each cell: </a:t>
                </a:r>
              </a:p>
              <a:p>
                <a:pPr marL="285750" indent="-285750">
                  <a:buFont typeface="Arial" panose="020B0604020202020204" pitchFamily="34" charset="0"/>
                  <a:buChar char="•"/>
                </a:pPr>
                <a:r>
                  <a:rPr lang="en-US" sz="2400" dirty="0" err="1"/>
                  <a:t>coord</a:t>
                </a:r>
                <a:r>
                  <a:rPr lang="en-US" sz="2400" dirty="0"/>
                  <a:t> of middle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𝑥</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𝑦</m:t>
                        </m:r>
                      </m:sub>
                    </m:sSub>
                  </m:oMath>
                </a14:m>
                <a:r>
                  <a:rPr lang="en-US" sz="2400" dirty="0"/>
                  <a:t> </a:t>
                </a:r>
                <a:r>
                  <a:rPr lang="en-US" sz="2400" dirty="0" err="1"/>
                  <a:t>wrt</a:t>
                </a:r>
                <a:r>
                  <a:rPr lang="en-US" sz="2400" dirty="0"/>
                  <a:t> (0,0) </a:t>
                </a:r>
                <a:br>
                  <a:rPr lang="en-US" sz="2400" dirty="0"/>
                </a:br>
                <a:r>
                  <a:rPr lang="en-US" sz="2400" dirty="0"/>
                  <a:t>left upper </a:t>
                </a:r>
                <a:r>
                  <a:rPr lang="en-US" sz="2400" b="1" dirty="0"/>
                  <a:t>cell </a:t>
                </a:r>
                <a:r>
                  <a:rPr lang="en-US" sz="2400" dirty="0"/>
                  <a:t>corner</a:t>
                </a:r>
              </a:p>
              <a:p>
                <a:pPr marL="285750" indent="-285750">
                  <a:buFont typeface="Arial" panose="020B0604020202020204" pitchFamily="34" charset="0"/>
                  <a:buChar char="•"/>
                </a:pP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𝑤</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h</m:t>
                        </m:r>
                        <m:r>
                          <a:rPr lang="en-US" sz="2400" b="0" i="1" smtClean="0">
                            <a:latin typeface="Cambria Math" panose="02040503050406030204" pitchFamily="18" charset="0"/>
                          </a:rPr>
                          <m:t> </m:t>
                        </m:r>
                      </m:sub>
                    </m:sSub>
                  </m:oMath>
                </a14:m>
                <a:r>
                  <a:rPr lang="en-US" sz="2400" dirty="0"/>
                  <a:t>percentage of width/height of </a:t>
                </a:r>
                <a:br>
                  <a:rPr lang="en-US" sz="2400" dirty="0"/>
                </a:br>
                <a:r>
                  <a:rPr lang="en-US" sz="2400" dirty="0"/>
                  <a:t>the </a:t>
                </a:r>
                <a:r>
                  <a:rPr lang="en-US" sz="2400" b="1" dirty="0"/>
                  <a:t>cell</a:t>
                </a:r>
                <a:r>
                  <a:rPr lang="en-US" sz="2400" dirty="0"/>
                  <a:t> (could be &gt;1 if bb spans over grid </a:t>
                </a:r>
                <a:br>
                  <a:rPr lang="en-US" sz="2400" dirty="0"/>
                </a:br>
                <a:r>
                  <a:rPr lang="en-US" sz="2400" dirty="0"/>
                  <a:t>cells)</a:t>
                </a:r>
              </a:p>
            </p:txBody>
          </p:sp>
        </mc:Choice>
        <mc:Fallback xmlns="">
          <p:sp>
            <p:nvSpPr>
              <p:cNvPr id="7" name="TextBox 6">
                <a:extLst>
                  <a:ext uri="{FF2B5EF4-FFF2-40B4-BE49-F238E27FC236}">
                    <a16:creationId xmlns:a16="http://schemas.microsoft.com/office/drawing/2014/main" id="{3F1DC0E1-5E0F-4B4A-84FC-F0F6D2D06243}"/>
                  </a:ext>
                </a:extLst>
              </p:cNvPr>
              <p:cNvSpPr txBox="1">
                <a:spLocks noRot="1" noChangeAspect="1" noMove="1" noResize="1" noEditPoints="1" noAdjustHandles="1" noChangeArrowheads="1" noChangeShapeType="1" noTextEdit="1"/>
              </p:cNvSpPr>
              <p:nvPr/>
            </p:nvSpPr>
            <p:spPr>
              <a:xfrm>
                <a:off x="6364743" y="286014"/>
                <a:ext cx="5660011" cy="2460610"/>
              </a:xfrm>
              <a:prstGeom prst="rect">
                <a:avLst/>
              </a:prstGeom>
              <a:blipFill>
                <a:blip r:embed="rId3"/>
                <a:stretch>
                  <a:fillRect l="-2691" t="-3218" r="-753" b="-4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1F34B3B-F739-4F4C-ABBE-7C0548750A01}"/>
                  </a:ext>
                </a:extLst>
              </p:cNvPr>
              <p:cNvSpPr txBox="1"/>
              <p:nvPr/>
            </p:nvSpPr>
            <p:spPr>
              <a:xfrm>
                <a:off x="6913875" y="3541734"/>
                <a:ext cx="2178353" cy="3985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𝑥</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𝑦</m:t>
                          </m:r>
                        </m:sub>
                      </m:sSub>
                      <m:r>
                        <a:rPr lang="en-US" sz="2400" b="0" i="1" smtClean="0">
                          <a:latin typeface="Cambria Math" panose="02040503050406030204" pitchFamily="18" charset="0"/>
                        </a:rPr>
                        <m:t> </m:t>
                      </m:r>
                      <m:r>
                        <m:rPr>
                          <m:nor/>
                        </m:rPr>
                        <a:rPr lang="en-US" sz="2400" b="0" i="0" smtClean="0">
                          <a:latin typeface="Cambria Math" panose="02040503050406030204" pitchFamily="18" charset="0"/>
                        </a:rPr>
                        <m:t>e</m:t>
                      </m:r>
                      <m:r>
                        <m:rPr>
                          <m:nor/>
                        </m:rPr>
                        <a:rPr lang="en-US" sz="2400" b="0" i="0" smtClean="0">
                          <a:latin typeface="Cambria Math" panose="02040503050406030204" pitchFamily="18" charset="0"/>
                        </a:rPr>
                        <m:t>.</m:t>
                      </m:r>
                      <m:r>
                        <m:rPr>
                          <m:nor/>
                        </m:rPr>
                        <a:rPr lang="en-US" sz="2400" b="0" i="0" smtClean="0">
                          <a:latin typeface="Cambria Math" panose="02040503050406030204" pitchFamily="18" charset="0"/>
                        </a:rPr>
                        <m:t>g</m:t>
                      </m:r>
                      <m:r>
                        <m:rPr>
                          <m:nor/>
                        </m:rPr>
                        <a:rPr lang="en-US" sz="2400" b="0" i="0" smtClean="0">
                          <a:latin typeface="Cambria Math" panose="02040503050406030204" pitchFamily="18" charset="0"/>
                        </a:rPr>
                        <m:t> 0.7,0.6</m:t>
                      </m:r>
                    </m:oMath>
                  </m:oMathPara>
                </a14:m>
                <a:endParaRPr lang="en-US" dirty="0"/>
              </a:p>
            </p:txBody>
          </p:sp>
        </mc:Choice>
        <mc:Fallback xmlns="">
          <p:sp>
            <p:nvSpPr>
              <p:cNvPr id="8" name="TextBox 7">
                <a:extLst>
                  <a:ext uri="{FF2B5EF4-FFF2-40B4-BE49-F238E27FC236}">
                    <a16:creationId xmlns:a16="http://schemas.microsoft.com/office/drawing/2014/main" id="{F1F34B3B-F739-4F4C-ABBE-7C0548750A01}"/>
                  </a:ext>
                </a:extLst>
              </p:cNvPr>
              <p:cNvSpPr txBox="1">
                <a:spLocks noRot="1" noChangeAspect="1" noMove="1" noResize="1" noEditPoints="1" noAdjustHandles="1" noChangeArrowheads="1" noChangeShapeType="1" noTextEdit="1"/>
              </p:cNvSpPr>
              <p:nvPr/>
            </p:nvSpPr>
            <p:spPr>
              <a:xfrm>
                <a:off x="6913875" y="3541734"/>
                <a:ext cx="2178353" cy="398507"/>
              </a:xfrm>
              <a:prstGeom prst="rect">
                <a:avLst/>
              </a:prstGeom>
              <a:blipFill>
                <a:blip r:embed="rId4"/>
                <a:stretch>
                  <a:fillRect l="-3073" r="-3911" b="-20000"/>
                </a:stretch>
              </a:blipFill>
            </p:spPr>
            <p:txBody>
              <a:bodyPr/>
              <a:lstStyle/>
              <a:p>
                <a:r>
                  <a:rPr lang="en-US">
                    <a:noFill/>
                  </a:rPr>
                  <a:t> </a:t>
                </a:r>
              </a:p>
            </p:txBody>
          </p:sp>
        </mc:Fallback>
      </mc:AlternateContent>
      <p:sp>
        <p:nvSpPr>
          <p:cNvPr id="9" name="Oval 8">
            <a:extLst>
              <a:ext uri="{FF2B5EF4-FFF2-40B4-BE49-F238E27FC236}">
                <a16:creationId xmlns:a16="http://schemas.microsoft.com/office/drawing/2014/main" id="{EB42D89B-80D2-4815-A1AB-714BE53BB448}"/>
              </a:ext>
            </a:extLst>
          </p:cNvPr>
          <p:cNvSpPr/>
          <p:nvPr/>
        </p:nvSpPr>
        <p:spPr>
          <a:xfrm>
            <a:off x="1872641" y="3479104"/>
            <a:ext cx="87682" cy="62630"/>
          </a:xfrm>
          <a:prstGeom prst="ellipse">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BA1DB73E-70B8-47DD-8965-FA8297F1A9A1}"/>
              </a:ext>
            </a:extLst>
          </p:cNvPr>
          <p:cNvCxnSpPr>
            <a:endCxn id="8" idx="1"/>
          </p:cNvCxnSpPr>
          <p:nvPr/>
        </p:nvCxnSpPr>
        <p:spPr>
          <a:xfrm>
            <a:off x="1947797" y="3541734"/>
            <a:ext cx="4966078" cy="19925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A08F804-4F9B-4E07-AFD0-E0514BD68694}"/>
                  </a:ext>
                </a:extLst>
              </p:cNvPr>
              <p:cNvSpPr txBox="1"/>
              <p:nvPr/>
            </p:nvSpPr>
            <p:spPr>
              <a:xfrm>
                <a:off x="167246" y="2319733"/>
                <a:ext cx="6075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𝟎</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𝟎</m:t>
                      </m:r>
                      <m:r>
                        <a:rPr lang="en-US" b="1" i="1" smtClean="0">
                          <a:solidFill>
                            <a:schemeClr val="tx1"/>
                          </a:solidFill>
                          <a:latin typeface="Cambria Math" panose="02040503050406030204" pitchFamily="18" charset="0"/>
                        </a:rPr>
                        <m:t>)</m:t>
                      </m:r>
                    </m:oMath>
                  </m:oMathPara>
                </a14:m>
                <a:endParaRPr lang="en-US" b="1" dirty="0">
                  <a:solidFill>
                    <a:schemeClr val="tx1"/>
                  </a:solidFill>
                </a:endParaRPr>
              </a:p>
            </p:txBody>
          </p:sp>
        </mc:Choice>
        <mc:Fallback xmlns="">
          <p:sp>
            <p:nvSpPr>
              <p:cNvPr id="12" name="TextBox 11">
                <a:extLst>
                  <a:ext uri="{FF2B5EF4-FFF2-40B4-BE49-F238E27FC236}">
                    <a16:creationId xmlns:a16="http://schemas.microsoft.com/office/drawing/2014/main" id="{5A08F804-4F9B-4E07-AFD0-E0514BD68694}"/>
                  </a:ext>
                </a:extLst>
              </p:cNvPr>
              <p:cNvSpPr txBox="1">
                <a:spLocks noRot="1" noChangeAspect="1" noMove="1" noResize="1" noEditPoints="1" noAdjustHandles="1" noChangeArrowheads="1" noChangeShapeType="1" noTextEdit="1"/>
              </p:cNvSpPr>
              <p:nvPr/>
            </p:nvSpPr>
            <p:spPr>
              <a:xfrm>
                <a:off x="167246" y="2319733"/>
                <a:ext cx="607539" cy="276999"/>
              </a:xfrm>
              <a:prstGeom prst="rect">
                <a:avLst/>
              </a:prstGeom>
              <a:blipFill>
                <a:blip r:embed="rId5"/>
                <a:stretch>
                  <a:fillRect l="-13000" t="-4444" r="-14000"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334C5A5-5D07-4C85-A585-DBE562DFDD0B}"/>
                  </a:ext>
                </a:extLst>
              </p:cNvPr>
              <p:cNvSpPr txBox="1"/>
              <p:nvPr/>
            </p:nvSpPr>
            <p:spPr>
              <a:xfrm>
                <a:off x="2587914" y="4244566"/>
                <a:ext cx="6075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𝟏</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𝟏</m:t>
                      </m:r>
                      <m:r>
                        <a:rPr lang="en-US" b="1" i="1" smtClean="0">
                          <a:solidFill>
                            <a:schemeClr val="tx1"/>
                          </a:solidFill>
                          <a:latin typeface="Cambria Math" panose="02040503050406030204" pitchFamily="18" charset="0"/>
                        </a:rPr>
                        <m:t>)</m:t>
                      </m:r>
                    </m:oMath>
                  </m:oMathPara>
                </a14:m>
                <a:endParaRPr lang="en-US" b="1" dirty="0">
                  <a:solidFill>
                    <a:schemeClr val="tx1"/>
                  </a:solidFill>
                </a:endParaRPr>
              </a:p>
            </p:txBody>
          </p:sp>
        </mc:Choice>
        <mc:Fallback xmlns="">
          <p:sp>
            <p:nvSpPr>
              <p:cNvPr id="13" name="TextBox 12">
                <a:extLst>
                  <a:ext uri="{FF2B5EF4-FFF2-40B4-BE49-F238E27FC236}">
                    <a16:creationId xmlns:a16="http://schemas.microsoft.com/office/drawing/2014/main" id="{8334C5A5-5D07-4C85-A585-DBE562DFDD0B}"/>
                  </a:ext>
                </a:extLst>
              </p:cNvPr>
              <p:cNvSpPr txBox="1">
                <a:spLocks noRot="1" noChangeAspect="1" noMove="1" noResize="1" noEditPoints="1" noAdjustHandles="1" noChangeArrowheads="1" noChangeShapeType="1" noTextEdit="1"/>
              </p:cNvSpPr>
              <p:nvPr/>
            </p:nvSpPr>
            <p:spPr>
              <a:xfrm>
                <a:off x="2587914" y="4244566"/>
                <a:ext cx="607539" cy="276999"/>
              </a:xfrm>
              <a:prstGeom prst="rect">
                <a:avLst/>
              </a:prstGeom>
              <a:blipFill>
                <a:blip r:embed="rId6"/>
                <a:stretch>
                  <a:fillRect l="-13131" t="-2174" r="-15152"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64DE9F0-605C-4569-BD6C-EBEE09AD23CA}"/>
                  </a:ext>
                </a:extLst>
              </p:cNvPr>
              <p:cNvSpPr txBox="1"/>
              <p:nvPr/>
            </p:nvSpPr>
            <p:spPr>
              <a:xfrm>
                <a:off x="6349155" y="5934206"/>
                <a:ext cx="156363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𝑤</m:t>
                          </m:r>
                        </m:sub>
                      </m:sSub>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e</m:t>
                      </m:r>
                      <m:r>
                        <m:rPr>
                          <m:nor/>
                        </m:rPr>
                        <a:rPr lang="en-US" sz="2400" b="0" i="0" smtClean="0">
                          <a:latin typeface="Cambria Math" panose="02040503050406030204" pitchFamily="18" charset="0"/>
                        </a:rPr>
                        <m:t>.</m:t>
                      </m:r>
                      <m:r>
                        <m:rPr>
                          <m:nor/>
                        </m:rPr>
                        <a:rPr lang="en-US" sz="2400" b="0" i="0" smtClean="0">
                          <a:latin typeface="Cambria Math" panose="02040503050406030204" pitchFamily="18" charset="0"/>
                        </a:rPr>
                        <m:t>g</m:t>
                      </m:r>
                      <m:r>
                        <m:rPr>
                          <m:nor/>
                        </m:rPr>
                        <a:rPr lang="en-US" sz="2400" b="0" i="0" smtClean="0">
                          <a:latin typeface="Cambria Math" panose="02040503050406030204" pitchFamily="18" charset="0"/>
                        </a:rPr>
                        <m:t>. 0.85</m:t>
                      </m:r>
                    </m:oMath>
                  </m:oMathPara>
                </a14:m>
                <a:endParaRPr lang="en-US" sz="2400" dirty="0"/>
              </a:p>
            </p:txBody>
          </p:sp>
        </mc:Choice>
        <mc:Fallback xmlns="">
          <p:sp>
            <p:nvSpPr>
              <p:cNvPr id="14" name="TextBox 13">
                <a:extLst>
                  <a:ext uri="{FF2B5EF4-FFF2-40B4-BE49-F238E27FC236}">
                    <a16:creationId xmlns:a16="http://schemas.microsoft.com/office/drawing/2014/main" id="{564DE9F0-605C-4569-BD6C-EBEE09AD23CA}"/>
                  </a:ext>
                </a:extLst>
              </p:cNvPr>
              <p:cNvSpPr txBox="1">
                <a:spLocks noRot="1" noChangeAspect="1" noMove="1" noResize="1" noEditPoints="1" noAdjustHandles="1" noChangeArrowheads="1" noChangeShapeType="1" noTextEdit="1"/>
              </p:cNvSpPr>
              <p:nvPr/>
            </p:nvSpPr>
            <p:spPr>
              <a:xfrm>
                <a:off x="6349155" y="5934206"/>
                <a:ext cx="1563633" cy="369332"/>
              </a:xfrm>
              <a:prstGeom prst="rect">
                <a:avLst/>
              </a:prstGeom>
              <a:blipFill>
                <a:blip r:embed="rId7"/>
                <a:stretch>
                  <a:fillRect l="-4297" r="-5078"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BD49C40-1B39-4889-B7E3-56A7B77C8E22}"/>
                  </a:ext>
                </a:extLst>
              </p:cNvPr>
              <p:cNvSpPr txBox="1"/>
              <p:nvPr/>
            </p:nvSpPr>
            <p:spPr>
              <a:xfrm>
                <a:off x="8364249" y="5226479"/>
                <a:ext cx="151874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𝑏</m:t>
                          </m:r>
                        </m:e>
                        <m:sub>
                          <m:r>
                            <a:rPr lang="en-US" sz="2400" b="0" i="1" smtClean="0">
                              <a:latin typeface="Cambria Math" panose="02040503050406030204" pitchFamily="18" charset="0"/>
                            </a:rPr>
                            <m:t>h</m:t>
                          </m:r>
                        </m:sub>
                      </m:sSub>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e</m:t>
                      </m:r>
                      <m:r>
                        <m:rPr>
                          <m:nor/>
                        </m:rPr>
                        <a:rPr lang="en-US" sz="2400" b="0" i="0" smtClean="0">
                          <a:latin typeface="Cambria Math" panose="02040503050406030204" pitchFamily="18" charset="0"/>
                        </a:rPr>
                        <m:t>.</m:t>
                      </m:r>
                      <m:r>
                        <m:rPr>
                          <m:nor/>
                        </m:rPr>
                        <a:rPr lang="en-US" sz="2400" b="0" i="0" smtClean="0">
                          <a:latin typeface="Cambria Math" panose="02040503050406030204" pitchFamily="18" charset="0"/>
                        </a:rPr>
                        <m:t>g</m:t>
                      </m:r>
                      <m:r>
                        <m:rPr>
                          <m:nor/>
                        </m:rPr>
                        <a:rPr lang="en-US" sz="2400" b="0" i="0" smtClean="0">
                          <a:latin typeface="Cambria Math" panose="02040503050406030204" pitchFamily="18" charset="0"/>
                        </a:rPr>
                        <m:t>. 0.65</m:t>
                      </m:r>
                    </m:oMath>
                  </m:oMathPara>
                </a14:m>
                <a:endParaRPr lang="en-US" dirty="0"/>
              </a:p>
            </p:txBody>
          </p:sp>
        </mc:Choice>
        <mc:Fallback xmlns="">
          <p:sp>
            <p:nvSpPr>
              <p:cNvPr id="15" name="TextBox 14">
                <a:extLst>
                  <a:ext uri="{FF2B5EF4-FFF2-40B4-BE49-F238E27FC236}">
                    <a16:creationId xmlns:a16="http://schemas.microsoft.com/office/drawing/2014/main" id="{ABD49C40-1B39-4889-B7E3-56A7B77C8E22}"/>
                  </a:ext>
                </a:extLst>
              </p:cNvPr>
              <p:cNvSpPr txBox="1">
                <a:spLocks noRot="1" noChangeAspect="1" noMove="1" noResize="1" noEditPoints="1" noAdjustHandles="1" noChangeArrowheads="1" noChangeShapeType="1" noTextEdit="1"/>
              </p:cNvSpPr>
              <p:nvPr/>
            </p:nvSpPr>
            <p:spPr>
              <a:xfrm>
                <a:off x="8364249" y="5226479"/>
                <a:ext cx="1518749" cy="369332"/>
              </a:xfrm>
              <a:prstGeom prst="rect">
                <a:avLst/>
              </a:prstGeom>
              <a:blipFill>
                <a:blip r:embed="rId8"/>
                <a:stretch>
                  <a:fillRect l="-4418" r="-5221" b="-24590"/>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F390E21B-99C7-440E-95BC-E45CDEACB56C}"/>
              </a:ext>
            </a:extLst>
          </p:cNvPr>
          <p:cNvCxnSpPr>
            <a:cxnSpLocks/>
          </p:cNvCxnSpPr>
          <p:nvPr/>
        </p:nvCxnSpPr>
        <p:spPr>
          <a:xfrm>
            <a:off x="1308969" y="3890137"/>
            <a:ext cx="1278945" cy="0"/>
          </a:xfrm>
          <a:prstGeom prst="straightConnector1">
            <a:avLst/>
          </a:prstGeom>
          <a:ln w="38100">
            <a:solidFill>
              <a:srgbClr val="00B05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77D2EC72-223F-4E5D-BCAD-98DB3E59CF9A}"/>
              </a:ext>
            </a:extLst>
          </p:cNvPr>
          <p:cNvCxnSpPr>
            <a:cxnSpLocks/>
          </p:cNvCxnSpPr>
          <p:nvPr/>
        </p:nvCxnSpPr>
        <p:spPr>
          <a:xfrm>
            <a:off x="1177939" y="2968668"/>
            <a:ext cx="0" cy="1052187"/>
          </a:xfrm>
          <a:prstGeom prst="straightConnector1">
            <a:avLst/>
          </a:prstGeom>
          <a:ln w="38100">
            <a:solidFill>
              <a:srgbClr val="00B050"/>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E743E91A-C6BA-4BA1-96CF-D8168C890F87}"/>
              </a:ext>
            </a:extLst>
          </p:cNvPr>
          <p:cNvCxnSpPr>
            <a:cxnSpLocks/>
            <a:stCxn id="14" idx="0"/>
          </p:cNvCxnSpPr>
          <p:nvPr/>
        </p:nvCxnSpPr>
        <p:spPr>
          <a:xfrm flipH="1" flipV="1">
            <a:off x="2242159" y="3940241"/>
            <a:ext cx="4888813" cy="199396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8" name="Straight Arrow Connector 27">
            <a:extLst>
              <a:ext uri="{FF2B5EF4-FFF2-40B4-BE49-F238E27FC236}">
                <a16:creationId xmlns:a16="http://schemas.microsoft.com/office/drawing/2014/main" id="{A3E2FAB6-476F-4543-A863-FC3E89853679}"/>
              </a:ext>
            </a:extLst>
          </p:cNvPr>
          <p:cNvCxnSpPr>
            <a:cxnSpLocks/>
            <a:stCxn id="15" idx="0"/>
          </p:cNvCxnSpPr>
          <p:nvPr/>
        </p:nvCxnSpPr>
        <p:spPr>
          <a:xfrm flipH="1" flipV="1">
            <a:off x="1177939" y="3584055"/>
            <a:ext cx="7945685" cy="1642424"/>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01498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9" grpId="0" animBg="1"/>
      <p:bldP spid="14"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B9253-4A59-4E1F-BD13-D73887CEE001}"/>
              </a:ext>
            </a:extLst>
          </p:cNvPr>
          <p:cNvSpPr>
            <a:spLocks noGrp="1"/>
          </p:cNvSpPr>
          <p:nvPr>
            <p:ph type="title"/>
          </p:nvPr>
        </p:nvSpPr>
        <p:spPr/>
        <p:txBody>
          <a:bodyPr/>
          <a:lstStyle/>
          <a:p>
            <a:r>
              <a:rPr lang="en-US" dirty="0"/>
              <a:t>Final architecture</a:t>
            </a:r>
          </a:p>
        </p:txBody>
      </p:sp>
      <p:sp>
        <p:nvSpPr>
          <p:cNvPr id="5" name="Rectangle 4">
            <a:extLst>
              <a:ext uri="{FF2B5EF4-FFF2-40B4-BE49-F238E27FC236}">
                <a16:creationId xmlns:a16="http://schemas.microsoft.com/office/drawing/2014/main" id="{794E5C79-5031-4345-86E6-8825A74217BD}"/>
              </a:ext>
            </a:extLst>
          </p:cNvPr>
          <p:cNvSpPr/>
          <p:nvPr/>
        </p:nvSpPr>
        <p:spPr>
          <a:xfrm>
            <a:off x="537576" y="2104373"/>
            <a:ext cx="1998945" cy="1960323"/>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B14BFF2-581A-403D-A06E-2449213124B2}"/>
              </a:ext>
            </a:extLst>
          </p:cNvPr>
          <p:cNvSpPr/>
          <p:nvPr/>
        </p:nvSpPr>
        <p:spPr>
          <a:xfrm>
            <a:off x="689976" y="2256773"/>
            <a:ext cx="1998945" cy="1960323"/>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76A23BB-0261-4442-A1E9-62A7296032FF}"/>
              </a:ext>
            </a:extLst>
          </p:cNvPr>
          <p:cNvSpPr/>
          <p:nvPr/>
        </p:nvSpPr>
        <p:spPr>
          <a:xfrm>
            <a:off x="842376" y="2409173"/>
            <a:ext cx="1998945" cy="196032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D8F5E73-5BF9-436A-899E-6058F757A6CF}"/>
              </a:ext>
            </a:extLst>
          </p:cNvPr>
          <p:cNvSpPr/>
          <p:nvPr/>
        </p:nvSpPr>
        <p:spPr>
          <a:xfrm>
            <a:off x="4125439" y="2897687"/>
            <a:ext cx="3175348" cy="98329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CNN</a:t>
            </a:r>
          </a:p>
        </p:txBody>
      </p:sp>
      <p:sp>
        <p:nvSpPr>
          <p:cNvPr id="9" name="Cube 8">
            <a:extLst>
              <a:ext uri="{FF2B5EF4-FFF2-40B4-BE49-F238E27FC236}">
                <a16:creationId xmlns:a16="http://schemas.microsoft.com/office/drawing/2014/main" id="{D5964F7E-C6F5-4A03-BBD5-3E76D6F7DC35}"/>
              </a:ext>
            </a:extLst>
          </p:cNvPr>
          <p:cNvSpPr/>
          <p:nvPr/>
        </p:nvSpPr>
        <p:spPr>
          <a:xfrm>
            <a:off x="8847752" y="2344435"/>
            <a:ext cx="1473694" cy="1480198"/>
          </a:xfrm>
          <a:prstGeom prst="cube">
            <a:avLst>
              <a:gd name="adj" fmla="val 6780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538E1E24-D3FD-413F-94A9-2D7F023B7991}"/>
              </a:ext>
            </a:extLst>
          </p:cNvPr>
          <p:cNvCxnSpPr>
            <a:stCxn id="7" idx="3"/>
          </p:cNvCxnSpPr>
          <p:nvPr/>
        </p:nvCxnSpPr>
        <p:spPr>
          <a:xfrm flipV="1">
            <a:off x="2841321" y="3389334"/>
            <a:ext cx="1235902"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1BA2FF08-33B2-4D47-97C7-270256EF36D3}"/>
              </a:ext>
            </a:extLst>
          </p:cNvPr>
          <p:cNvCxnSpPr/>
          <p:nvPr/>
        </p:nvCxnSpPr>
        <p:spPr>
          <a:xfrm flipV="1">
            <a:off x="7349003" y="3389333"/>
            <a:ext cx="1235902"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C25A80E9-14AD-4479-BD0B-0CB73C292767}"/>
              </a:ext>
            </a:extLst>
          </p:cNvPr>
          <p:cNvSpPr txBox="1"/>
          <p:nvPr/>
        </p:nvSpPr>
        <p:spPr>
          <a:xfrm>
            <a:off x="955110" y="4484643"/>
            <a:ext cx="1308050" cy="369332"/>
          </a:xfrm>
          <a:prstGeom prst="rect">
            <a:avLst/>
          </a:prstGeom>
          <a:noFill/>
        </p:spPr>
        <p:txBody>
          <a:bodyPr wrap="none" rtlCol="0">
            <a:spAutoFit/>
          </a:bodyPr>
          <a:lstStyle/>
          <a:p>
            <a:r>
              <a:rPr lang="en-US" dirty="0"/>
              <a:t>Input image</a:t>
            </a:r>
          </a:p>
        </p:txBody>
      </p:sp>
      <p:sp>
        <p:nvSpPr>
          <p:cNvPr id="14" name="TextBox 13">
            <a:extLst>
              <a:ext uri="{FF2B5EF4-FFF2-40B4-BE49-F238E27FC236}">
                <a16:creationId xmlns:a16="http://schemas.microsoft.com/office/drawing/2014/main" id="{FEB8BFA5-144C-4DB5-8762-8295ECF1AC42}"/>
              </a:ext>
            </a:extLst>
          </p:cNvPr>
          <p:cNvSpPr txBox="1"/>
          <p:nvPr/>
        </p:nvSpPr>
        <p:spPr>
          <a:xfrm>
            <a:off x="5272175" y="4000164"/>
            <a:ext cx="992323" cy="369332"/>
          </a:xfrm>
          <a:prstGeom prst="rect">
            <a:avLst/>
          </a:prstGeom>
          <a:noFill/>
        </p:spPr>
        <p:txBody>
          <a:bodyPr wrap="none" rtlCol="0">
            <a:spAutoFit/>
          </a:bodyPr>
          <a:lstStyle/>
          <a:p>
            <a:r>
              <a:rPr lang="en-US" dirty="0" err="1"/>
              <a:t>ConvNet</a:t>
            </a:r>
            <a:endParaRPr lang="en-US"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8F9268A-A306-45E3-B789-939DC3FDD4A5}"/>
                  </a:ext>
                </a:extLst>
              </p:cNvPr>
              <p:cNvSpPr txBox="1"/>
              <p:nvPr/>
            </p:nvSpPr>
            <p:spPr>
              <a:xfrm>
                <a:off x="8314568" y="4000164"/>
                <a:ext cx="2433808" cy="369332"/>
              </a:xfrm>
              <a:prstGeom prst="rect">
                <a:avLst/>
              </a:prstGeom>
              <a:noFill/>
            </p:spPr>
            <p:txBody>
              <a:bodyPr wrap="none" rtlCol="0">
                <a:spAutoFit/>
              </a:bodyPr>
              <a:lstStyle/>
              <a:p>
                <a:r>
                  <a:rPr lang="en-US" dirty="0"/>
                  <a:t>Output layer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𝑘</m:t>
                    </m:r>
                  </m:oMath>
                </a14:m>
                <a:endParaRPr lang="en-US" dirty="0"/>
              </a:p>
            </p:txBody>
          </p:sp>
        </mc:Choice>
        <mc:Fallback xmlns="">
          <p:sp>
            <p:nvSpPr>
              <p:cNvPr id="15" name="TextBox 14">
                <a:extLst>
                  <a:ext uri="{FF2B5EF4-FFF2-40B4-BE49-F238E27FC236}">
                    <a16:creationId xmlns:a16="http://schemas.microsoft.com/office/drawing/2014/main" id="{38F9268A-A306-45E3-B789-939DC3FDD4A5}"/>
                  </a:ext>
                </a:extLst>
              </p:cNvPr>
              <p:cNvSpPr txBox="1">
                <a:spLocks noRot="1" noChangeAspect="1" noMove="1" noResize="1" noEditPoints="1" noAdjustHandles="1" noChangeArrowheads="1" noChangeShapeType="1" noTextEdit="1"/>
              </p:cNvSpPr>
              <p:nvPr/>
            </p:nvSpPr>
            <p:spPr>
              <a:xfrm>
                <a:off x="8314568" y="4000164"/>
                <a:ext cx="2433808" cy="369332"/>
              </a:xfrm>
              <a:prstGeom prst="rect">
                <a:avLst/>
              </a:prstGeom>
              <a:blipFill>
                <a:blip r:embed="rId2"/>
                <a:stretch>
                  <a:fillRect l="-2256"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0BF6243-5E0D-4366-A134-11BA6FA5F361}"/>
                  </a:ext>
                </a:extLst>
              </p:cNvPr>
              <p:cNvSpPr txBox="1"/>
              <p:nvPr/>
            </p:nvSpPr>
            <p:spPr>
              <a:xfrm>
                <a:off x="300738" y="5197257"/>
                <a:ext cx="469705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is</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the</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input</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grid</m:t>
                      </m:r>
                      <m:r>
                        <m:rPr>
                          <m:nor/>
                        </m:rPr>
                        <a:rPr lang="en-US" b="0" i="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𝑘</m:t>
                      </m:r>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is</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object</m:t>
                      </m:r>
                      <m:r>
                        <m:rPr>
                          <m:nor/>
                        </m:rPr>
                        <a:rPr lang="en-US" b="0" i="0"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class</m:t>
                      </m:r>
                      <m:r>
                        <m:rPr>
                          <m:nor/>
                        </m:rP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4+1</m:t>
                      </m:r>
                    </m:oMath>
                  </m:oMathPara>
                </a14:m>
                <a:endParaRPr lang="en-US" dirty="0"/>
              </a:p>
            </p:txBody>
          </p:sp>
        </mc:Choice>
        <mc:Fallback xmlns="">
          <p:sp>
            <p:nvSpPr>
              <p:cNvPr id="16" name="TextBox 15">
                <a:extLst>
                  <a:ext uri="{FF2B5EF4-FFF2-40B4-BE49-F238E27FC236}">
                    <a16:creationId xmlns:a16="http://schemas.microsoft.com/office/drawing/2014/main" id="{D0BF6243-5E0D-4366-A134-11BA6FA5F361}"/>
                  </a:ext>
                </a:extLst>
              </p:cNvPr>
              <p:cNvSpPr txBox="1">
                <a:spLocks noRot="1" noChangeAspect="1" noMove="1" noResize="1" noEditPoints="1" noAdjustHandles="1" noChangeArrowheads="1" noChangeShapeType="1" noTextEdit="1"/>
              </p:cNvSpPr>
              <p:nvPr/>
            </p:nvSpPr>
            <p:spPr>
              <a:xfrm>
                <a:off x="300738" y="5197257"/>
                <a:ext cx="4697055" cy="276999"/>
              </a:xfrm>
              <a:prstGeom prst="rect">
                <a:avLst/>
              </a:prstGeom>
              <a:blipFill>
                <a:blip r:embed="rId3"/>
                <a:stretch>
                  <a:fillRect l="-259" t="-4444" r="-778" b="-35556"/>
                </a:stretch>
              </a:blipFill>
            </p:spPr>
            <p:txBody>
              <a:bodyPr/>
              <a:lstStyle/>
              <a:p>
                <a:r>
                  <a:rPr lang="en-US">
                    <a:noFill/>
                  </a:rPr>
                  <a:t> </a:t>
                </a:r>
              </a:p>
            </p:txBody>
          </p:sp>
        </mc:Fallback>
      </mc:AlternateContent>
    </p:spTree>
    <p:extLst>
      <p:ext uri="{BB962C8B-B14F-4D97-AF65-F5344CB8AC3E}">
        <p14:creationId xmlns:p14="http://schemas.microsoft.com/office/powerpoint/2010/main" val="4287181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2DC6A-52C6-4B90-A866-4A68C4FDAF34}"/>
              </a:ext>
            </a:extLst>
          </p:cNvPr>
          <p:cNvSpPr>
            <a:spLocks noGrp="1"/>
          </p:cNvSpPr>
          <p:nvPr>
            <p:ph type="title"/>
          </p:nvPr>
        </p:nvSpPr>
        <p:spPr/>
        <p:txBody>
          <a:bodyPr/>
          <a:lstStyle/>
          <a:p>
            <a:r>
              <a:rPr lang="en-US" dirty="0"/>
              <a:t>Evaluating object localization</a:t>
            </a:r>
          </a:p>
        </p:txBody>
      </p:sp>
      <p:pic>
        <p:nvPicPr>
          <p:cNvPr id="4" name="Picture 3">
            <a:extLst>
              <a:ext uri="{FF2B5EF4-FFF2-40B4-BE49-F238E27FC236}">
                <a16:creationId xmlns:a16="http://schemas.microsoft.com/office/drawing/2014/main" id="{F7031349-2A01-46AB-82E6-6FEB22B5AF1E}"/>
              </a:ext>
            </a:extLst>
          </p:cNvPr>
          <p:cNvPicPr>
            <a:picLocks noChangeAspect="1"/>
          </p:cNvPicPr>
          <p:nvPr/>
        </p:nvPicPr>
        <p:blipFill>
          <a:blip r:embed="rId2"/>
          <a:stretch>
            <a:fillRect/>
          </a:stretch>
        </p:blipFill>
        <p:spPr>
          <a:xfrm>
            <a:off x="505412" y="1818057"/>
            <a:ext cx="4653697" cy="4674818"/>
          </a:xfrm>
          <a:prstGeom prst="rect">
            <a:avLst/>
          </a:prstGeom>
        </p:spPr>
      </p:pic>
      <p:sp>
        <p:nvSpPr>
          <p:cNvPr id="5" name="TextBox 4">
            <a:extLst>
              <a:ext uri="{FF2B5EF4-FFF2-40B4-BE49-F238E27FC236}">
                <a16:creationId xmlns:a16="http://schemas.microsoft.com/office/drawing/2014/main" id="{0747EB85-0671-477A-A84A-3DACDE528139}"/>
              </a:ext>
            </a:extLst>
          </p:cNvPr>
          <p:cNvSpPr txBox="1"/>
          <p:nvPr/>
        </p:nvSpPr>
        <p:spPr>
          <a:xfrm>
            <a:off x="1665961" y="6488668"/>
            <a:ext cx="3500702" cy="369332"/>
          </a:xfrm>
          <a:prstGeom prst="rect">
            <a:avLst/>
          </a:prstGeom>
          <a:noFill/>
        </p:spPr>
        <p:txBody>
          <a:bodyPr wrap="none" rtlCol="0">
            <a:spAutoFit/>
          </a:bodyPr>
          <a:lstStyle/>
          <a:p>
            <a:r>
              <a:rPr lang="en-US" dirty="0"/>
              <a:t>How good is purple bounding box?</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289D437C-C094-4BC1-B1EC-899D9AE72432}"/>
                  </a:ext>
                </a:extLst>
              </p:cNvPr>
              <p:cNvSpPr txBox="1"/>
              <p:nvPr/>
            </p:nvSpPr>
            <p:spPr>
              <a:xfrm>
                <a:off x="5405445" y="2248421"/>
                <a:ext cx="6281143" cy="671338"/>
              </a:xfrm>
              <a:prstGeom prst="rect">
                <a:avLst/>
              </a:prstGeom>
              <a:noFill/>
            </p:spPr>
            <p:txBody>
              <a:bodyPr wrap="none" rtlCol="0">
                <a:spAutoFit/>
              </a:bodyPr>
              <a:lstStyle/>
              <a:p>
                <a:r>
                  <a:rPr lang="en-US" sz="2400" dirty="0"/>
                  <a:t>Intersection over union: </a:t>
                </a:r>
                <a14:m>
                  <m:oMath xmlns:m="http://schemas.openxmlformats.org/officeDocument/2006/math">
                    <m:r>
                      <m:rPr>
                        <m:sty m:val="p"/>
                      </m:rPr>
                      <a:rPr lang="en-US" sz="2400" b="0" i="0" smtClean="0">
                        <a:latin typeface="Cambria Math" panose="02040503050406030204" pitchFamily="18" charset="0"/>
                      </a:rPr>
                      <m:t>IoU</m:t>
                    </m:r>
                    <m:r>
                      <a:rPr lang="en-US" sz="2400" b="0" i="0" smtClean="0">
                        <a:latin typeface="Cambria Math" panose="02040503050406030204" pitchFamily="18" charset="0"/>
                      </a:rPr>
                      <m:t>=</m:t>
                    </m:r>
                    <m:f>
                      <m:fPr>
                        <m:ctrlPr>
                          <a:rPr lang="en-US" sz="2400" i="1" smtClean="0">
                            <a:latin typeface="Cambria Math" panose="02040503050406030204" pitchFamily="18" charset="0"/>
                          </a:rPr>
                        </m:ctrlPr>
                      </m:fPr>
                      <m:num>
                        <m:r>
                          <a:rPr lang="en-US" sz="2400" b="0" i="1" smtClean="0">
                            <a:latin typeface="Cambria Math" panose="02040503050406030204" pitchFamily="18" charset="0"/>
                          </a:rPr>
                          <m:t>𝑠𝑖𝑧𝑒</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𝑖𝑛𝑡𝑒𝑟𝑠𝑒𝑐𝑡𝑖𝑜𝑛</m:t>
                        </m:r>
                      </m:num>
                      <m:den>
                        <m:r>
                          <a:rPr lang="en-US" sz="2400" b="0" i="1" smtClean="0">
                            <a:latin typeface="Cambria Math" panose="02040503050406030204" pitchFamily="18" charset="0"/>
                          </a:rPr>
                          <m:t>𝑠𝑖𝑧𝑒</m:t>
                        </m:r>
                        <m:r>
                          <a:rPr lang="en-US" sz="2400" b="0" i="1" smtClean="0">
                            <a:latin typeface="Cambria Math" panose="02040503050406030204" pitchFamily="18" charset="0"/>
                          </a:rPr>
                          <m:t> </m:t>
                        </m:r>
                        <m:r>
                          <a:rPr lang="en-US" sz="2400" b="0" i="1" smtClean="0">
                            <a:latin typeface="Cambria Math" panose="02040503050406030204" pitchFamily="18" charset="0"/>
                          </a:rPr>
                          <m:t>𝑜𝑓</m:t>
                        </m:r>
                        <m:r>
                          <a:rPr lang="en-US" sz="2400" b="0" i="1" smtClean="0">
                            <a:latin typeface="Cambria Math" panose="02040503050406030204" pitchFamily="18" charset="0"/>
                          </a:rPr>
                          <m:t> </m:t>
                        </m:r>
                        <m:r>
                          <a:rPr lang="en-US" sz="2400" b="0" i="1" smtClean="0">
                            <a:latin typeface="Cambria Math" panose="02040503050406030204" pitchFamily="18" charset="0"/>
                          </a:rPr>
                          <m:t>𝑢𝑛𝑖𝑜𝑛</m:t>
                        </m:r>
                      </m:den>
                    </m:f>
                  </m:oMath>
                </a14:m>
                <a:endParaRPr lang="en-US" sz="1600" dirty="0"/>
              </a:p>
            </p:txBody>
          </p:sp>
        </mc:Choice>
        <mc:Fallback xmlns="">
          <p:sp>
            <p:nvSpPr>
              <p:cNvPr id="6" name="TextBox 5">
                <a:extLst>
                  <a:ext uri="{FF2B5EF4-FFF2-40B4-BE49-F238E27FC236}">
                    <a16:creationId xmlns:a16="http://schemas.microsoft.com/office/drawing/2014/main" id="{289D437C-C094-4BC1-B1EC-899D9AE72432}"/>
                  </a:ext>
                </a:extLst>
              </p:cNvPr>
              <p:cNvSpPr txBox="1">
                <a:spLocks noRot="1" noChangeAspect="1" noMove="1" noResize="1" noEditPoints="1" noAdjustHandles="1" noChangeArrowheads="1" noChangeShapeType="1" noTextEdit="1"/>
              </p:cNvSpPr>
              <p:nvPr/>
            </p:nvSpPr>
            <p:spPr>
              <a:xfrm>
                <a:off x="5405445" y="2248421"/>
                <a:ext cx="6281143" cy="671338"/>
              </a:xfrm>
              <a:prstGeom prst="rect">
                <a:avLst/>
              </a:prstGeom>
              <a:blipFill>
                <a:blip r:embed="rId3"/>
                <a:stretch>
                  <a:fillRect l="-1553" b="-27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2805D71-1810-4159-8D60-FB296938E72D}"/>
                  </a:ext>
                </a:extLst>
              </p:cNvPr>
              <p:cNvSpPr txBox="1"/>
              <p:nvPr/>
            </p:nvSpPr>
            <p:spPr>
              <a:xfrm>
                <a:off x="6472824" y="3987456"/>
                <a:ext cx="459645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sz="2400" b="0" i="0" smtClean="0">
                          <a:latin typeface="Cambria Math" panose="02040503050406030204" pitchFamily="18" charset="0"/>
                        </a:rPr>
                        <m:t>Correct</m:t>
                      </m:r>
                      <m:r>
                        <m:rPr>
                          <m:nor/>
                        </m:rPr>
                        <a:rPr lang="en-US" sz="2400" b="0" i="0" smtClean="0">
                          <a:latin typeface="Cambria Math" panose="02040503050406030204" pitchFamily="18" charset="0"/>
                        </a:rPr>
                        <m:t> </m:t>
                      </m:r>
                      <m:r>
                        <m:rPr>
                          <m:nor/>
                        </m:rPr>
                        <a:rPr lang="en-US" sz="2400" b="0" i="0" smtClean="0">
                          <a:latin typeface="Cambria Math" panose="02040503050406030204" pitchFamily="18" charset="0"/>
                        </a:rPr>
                        <m:t>if</m:t>
                      </m:r>
                      <m:r>
                        <m:rPr>
                          <m:nor/>
                        </m:rPr>
                        <a:rPr lang="en-US" sz="2400" b="0" i="0" smtClean="0">
                          <a:latin typeface="Cambria Math" panose="02040503050406030204" pitchFamily="18" charset="0"/>
                        </a:rPr>
                        <m:t> </m:t>
                      </m:r>
                      <m:r>
                        <a:rPr lang="en-US" sz="2400" b="0" i="1" smtClean="0">
                          <a:latin typeface="Cambria Math" panose="02040503050406030204" pitchFamily="18" charset="0"/>
                        </a:rPr>
                        <m:t>𝐼𝑜𝑈</m:t>
                      </m:r>
                      <m:r>
                        <a:rPr lang="en-US" sz="2400" b="0" i="1" smtClean="0">
                          <a:latin typeface="Cambria Math" panose="02040503050406030204" pitchFamily="18" charset="0"/>
                          <a:ea typeface="Cambria Math" panose="02040503050406030204" pitchFamily="18" charset="0"/>
                        </a:rPr>
                        <m:t>≥0.5 </m:t>
                      </m:r>
                      <m:r>
                        <m:rPr>
                          <m:nor/>
                        </m:rPr>
                        <a:rPr lang="en-US" sz="2400" b="0" i="0" smtClean="0">
                          <a:latin typeface="Cambria Math" panose="02040503050406030204" pitchFamily="18" charset="0"/>
                          <a:ea typeface="Cambria Math" panose="02040503050406030204" pitchFamily="18" charset="0"/>
                        </a:rPr>
                        <m:t>by</m:t>
                      </m:r>
                      <m:r>
                        <m:rPr>
                          <m:nor/>
                        </m:rPr>
                        <a:rPr lang="en-US" sz="2400" b="0" i="0" smtClean="0">
                          <a:latin typeface="Cambria Math" panose="02040503050406030204" pitchFamily="18" charset="0"/>
                          <a:ea typeface="Cambria Math" panose="02040503050406030204" pitchFamily="18" charset="0"/>
                        </a:rPr>
                        <m:t> </m:t>
                      </m:r>
                      <m:r>
                        <m:rPr>
                          <m:nor/>
                        </m:rPr>
                        <a:rPr lang="en-US" sz="2400" b="0" i="0" smtClean="0">
                          <a:latin typeface="Cambria Math" panose="02040503050406030204" pitchFamily="18" charset="0"/>
                          <a:ea typeface="Cambria Math" panose="02040503050406030204" pitchFamily="18" charset="0"/>
                        </a:rPr>
                        <m:t>convention</m:t>
                      </m:r>
                    </m:oMath>
                  </m:oMathPara>
                </a14:m>
                <a:endParaRPr lang="en-US" sz="2400" dirty="0"/>
              </a:p>
            </p:txBody>
          </p:sp>
        </mc:Choice>
        <mc:Fallback xmlns="">
          <p:sp>
            <p:nvSpPr>
              <p:cNvPr id="7" name="TextBox 6">
                <a:extLst>
                  <a:ext uri="{FF2B5EF4-FFF2-40B4-BE49-F238E27FC236}">
                    <a16:creationId xmlns:a16="http://schemas.microsoft.com/office/drawing/2014/main" id="{22805D71-1810-4159-8D60-FB296938E72D}"/>
                  </a:ext>
                </a:extLst>
              </p:cNvPr>
              <p:cNvSpPr txBox="1">
                <a:spLocks noRot="1" noChangeAspect="1" noMove="1" noResize="1" noEditPoints="1" noAdjustHandles="1" noChangeArrowheads="1" noChangeShapeType="1" noTextEdit="1"/>
              </p:cNvSpPr>
              <p:nvPr/>
            </p:nvSpPr>
            <p:spPr>
              <a:xfrm>
                <a:off x="6472824" y="3987456"/>
                <a:ext cx="4596451" cy="369332"/>
              </a:xfrm>
              <a:prstGeom prst="rect">
                <a:avLst/>
              </a:prstGeom>
              <a:blipFill>
                <a:blip r:embed="rId4"/>
                <a:stretch>
                  <a:fillRect l="-1194" r="-1194" b="-34426"/>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16AB1CFD-9CB0-442E-BD1F-2E31BA81A3C5}"/>
              </a:ext>
            </a:extLst>
          </p:cNvPr>
          <p:cNvSpPr txBox="1"/>
          <p:nvPr/>
        </p:nvSpPr>
        <p:spPr>
          <a:xfrm>
            <a:off x="1716066" y="1522098"/>
            <a:ext cx="1948226" cy="369332"/>
          </a:xfrm>
          <a:prstGeom prst="rect">
            <a:avLst/>
          </a:prstGeom>
          <a:noFill/>
        </p:spPr>
        <p:txBody>
          <a:bodyPr wrap="none" rtlCol="0">
            <a:spAutoFit/>
          </a:bodyPr>
          <a:lstStyle/>
          <a:p>
            <a:r>
              <a:rPr lang="en-US" dirty="0"/>
              <a:t>Red is Ground true</a:t>
            </a:r>
          </a:p>
        </p:txBody>
      </p:sp>
    </p:spTree>
    <p:extLst>
      <p:ext uri="{BB962C8B-B14F-4D97-AF65-F5344CB8AC3E}">
        <p14:creationId xmlns:p14="http://schemas.microsoft.com/office/powerpoint/2010/main" val="3538504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3D0AC-D733-4E46-94F7-74A58913B9DA}"/>
              </a:ext>
            </a:extLst>
          </p:cNvPr>
          <p:cNvSpPr>
            <a:spLocks noGrp="1"/>
          </p:cNvSpPr>
          <p:nvPr>
            <p:ph type="title"/>
          </p:nvPr>
        </p:nvSpPr>
        <p:spPr>
          <a:xfrm>
            <a:off x="143006" y="0"/>
            <a:ext cx="10515600" cy="1325563"/>
          </a:xfrm>
        </p:spPr>
        <p:txBody>
          <a:bodyPr/>
          <a:lstStyle/>
          <a:p>
            <a:r>
              <a:rPr lang="en-US" dirty="0"/>
              <a:t>Non-max suppression</a:t>
            </a:r>
          </a:p>
        </p:txBody>
      </p:sp>
      <p:pic>
        <p:nvPicPr>
          <p:cNvPr id="6" name="Picture 5">
            <a:extLst>
              <a:ext uri="{FF2B5EF4-FFF2-40B4-BE49-F238E27FC236}">
                <a16:creationId xmlns:a16="http://schemas.microsoft.com/office/drawing/2014/main" id="{EF8183FD-E228-427E-A774-E3B08F9D75BB}"/>
              </a:ext>
            </a:extLst>
          </p:cNvPr>
          <p:cNvPicPr>
            <a:picLocks noChangeAspect="1"/>
          </p:cNvPicPr>
          <p:nvPr/>
        </p:nvPicPr>
        <p:blipFill>
          <a:blip r:embed="rId2"/>
          <a:stretch>
            <a:fillRect/>
          </a:stretch>
        </p:blipFill>
        <p:spPr>
          <a:xfrm>
            <a:off x="0" y="1293933"/>
            <a:ext cx="6963906" cy="5564067"/>
          </a:xfrm>
          <a:prstGeom prst="rect">
            <a:avLst/>
          </a:prstGeom>
        </p:spPr>
      </p:pic>
      <p:sp>
        <p:nvSpPr>
          <p:cNvPr id="7" name="TextBox 6">
            <a:extLst>
              <a:ext uri="{FF2B5EF4-FFF2-40B4-BE49-F238E27FC236}">
                <a16:creationId xmlns:a16="http://schemas.microsoft.com/office/drawing/2014/main" id="{C21FF1CD-A27D-4069-A06B-D4511D6E7805}"/>
              </a:ext>
            </a:extLst>
          </p:cNvPr>
          <p:cNvSpPr txBox="1"/>
          <p:nvPr/>
        </p:nvSpPr>
        <p:spPr>
          <a:xfrm>
            <a:off x="7101692" y="1576084"/>
            <a:ext cx="4976362" cy="646331"/>
          </a:xfrm>
          <a:prstGeom prst="rect">
            <a:avLst/>
          </a:prstGeom>
          <a:noFill/>
        </p:spPr>
        <p:txBody>
          <a:bodyPr wrap="none" rtlCol="0">
            <a:spAutoFit/>
          </a:bodyPr>
          <a:lstStyle/>
          <a:p>
            <a:r>
              <a:rPr lang="en-US" dirty="0"/>
              <a:t>Multiple bounding box may detect the same object</a:t>
            </a:r>
            <a:br>
              <a:rPr lang="en-US" dirty="0"/>
            </a:br>
            <a:r>
              <a:rPr lang="en-US" dirty="0"/>
              <a:t>(possibly  with different probability)</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9D19DF0-8C4F-4234-80CC-43C14684C29D}"/>
                  </a:ext>
                </a:extLst>
              </p:cNvPr>
              <p:cNvSpPr txBox="1"/>
              <p:nvPr/>
            </p:nvSpPr>
            <p:spPr>
              <a:xfrm>
                <a:off x="7246307" y="2599151"/>
                <a:ext cx="3818353" cy="1448858"/>
              </a:xfrm>
              <a:prstGeom prst="rect">
                <a:avLst/>
              </a:prstGeom>
              <a:noFill/>
            </p:spPr>
            <p:txBody>
              <a:bodyPr wrap="none" rtlCol="0">
                <a:spAutoFit/>
              </a:bodyPr>
              <a:lstStyle/>
              <a:p>
                <a:r>
                  <a:rPr lang="en-US" dirty="0"/>
                  <a:t>Each output prediction is a vector </a:t>
                </a:r>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𝑐</m:t>
                                  </m:r>
                                </m:sub>
                              </m:sSub>
                            </m:e>
                          </m:mr>
                          <m:m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𝑥</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𝑦</m:t>
                                        </m:r>
                                      </m:sub>
                                    </m:sSub>
                                  </m:e>
                                </m:mr>
                                <m:m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𝑤</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h</m:t>
                                              </m:r>
                                            </m:sub>
                                          </m:sSub>
                                        </m:e>
                                      </m:mr>
                                    </m:m>
                                  </m:e>
                                </m:mr>
                              </m:m>
                            </m:e>
                          </m:mr>
                        </m:m>
                      </m:e>
                    </m:d>
                  </m:oMath>
                </a14:m>
                <a:endParaRPr lang="en-US" dirty="0"/>
              </a:p>
            </p:txBody>
          </p:sp>
        </mc:Choice>
        <mc:Fallback xmlns="">
          <p:sp>
            <p:nvSpPr>
              <p:cNvPr id="8" name="TextBox 7">
                <a:extLst>
                  <a:ext uri="{FF2B5EF4-FFF2-40B4-BE49-F238E27FC236}">
                    <a16:creationId xmlns:a16="http://schemas.microsoft.com/office/drawing/2014/main" id="{09D19DF0-8C4F-4234-80CC-43C14684C29D}"/>
                  </a:ext>
                </a:extLst>
              </p:cNvPr>
              <p:cNvSpPr txBox="1">
                <a:spLocks noRot="1" noChangeAspect="1" noMove="1" noResize="1" noEditPoints="1" noAdjustHandles="1" noChangeArrowheads="1" noChangeShapeType="1" noTextEdit="1"/>
              </p:cNvSpPr>
              <p:nvPr/>
            </p:nvSpPr>
            <p:spPr>
              <a:xfrm>
                <a:off x="7246307" y="2599151"/>
                <a:ext cx="3818353" cy="1448858"/>
              </a:xfrm>
              <a:prstGeom prst="rect">
                <a:avLst/>
              </a:prstGeom>
              <a:blipFill>
                <a:blip r:embed="rId3"/>
                <a:stretch>
                  <a:fillRect l="-1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3D04211-2FAD-4B5A-95C8-220EFD92B295}"/>
                  </a:ext>
                </a:extLst>
              </p:cNvPr>
              <p:cNvSpPr txBox="1"/>
              <p:nvPr/>
            </p:nvSpPr>
            <p:spPr>
              <a:xfrm>
                <a:off x="7127604" y="4404753"/>
                <a:ext cx="5032019" cy="1754326"/>
              </a:xfrm>
              <a:prstGeom prst="rect">
                <a:avLst/>
              </a:prstGeom>
              <a:noFill/>
            </p:spPr>
            <p:txBody>
              <a:bodyPr wrap="none" rtlCol="0">
                <a:spAutoFit/>
              </a:bodyPr>
              <a:lstStyle/>
              <a:p>
                <a:r>
                  <a:rPr lang="en-US" dirty="0"/>
                  <a:t>Discard all boxes such that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𝑐</m:t>
                        </m:r>
                      </m:sub>
                    </m:sSub>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e</m:t>
                    </m:r>
                    <m:r>
                      <m:rPr>
                        <m:nor/>
                      </m:rPr>
                      <a:rPr lang="en-US" b="0" i="0"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g</m:t>
                    </m:r>
                    <m:r>
                      <m:rPr>
                        <m:nor/>
                      </m:rPr>
                      <a:rPr lang="en-US" b="0" i="0" smtClean="0">
                        <a:latin typeface="Cambria Math" panose="02040503050406030204" pitchFamily="18" charset="0"/>
                        <a:ea typeface="Cambria Math" panose="02040503050406030204" pitchFamily="18" charset="0"/>
                      </a:rPr>
                      <m:t>. </m:t>
                    </m:r>
                    <m:r>
                      <m:rPr>
                        <m:sty m:val="p"/>
                      </m:rPr>
                      <a:rPr lang="el-GR" b="0" i="1" smtClean="0">
                        <a:latin typeface="Cambria Math" panose="02040503050406030204" pitchFamily="18" charset="0"/>
                        <a:ea typeface="Cambria Math" panose="02040503050406030204" pitchFamily="18" charset="0"/>
                      </a:rPr>
                      <m:t>σ</m:t>
                    </m:r>
                    <m:r>
                      <a:rPr lang="en-US" b="0" i="1" smtClean="0">
                        <a:latin typeface="Cambria Math" panose="02040503050406030204" pitchFamily="18" charset="0"/>
                        <a:ea typeface="Cambria Math" panose="02040503050406030204" pitchFamily="18" charset="0"/>
                      </a:rPr>
                      <m:t>=0.6)</m:t>
                    </m:r>
                  </m:oMath>
                </a14:m>
                <a:endParaRPr lang="en-US" b="0" dirty="0">
                  <a:ea typeface="Cambria Math" panose="02040503050406030204" pitchFamily="18" charset="0"/>
                </a:endParaRPr>
              </a:p>
              <a:p>
                <a:r>
                  <a:rPr lang="en-US" dirty="0"/>
                  <a:t>While there are remaining boxes:</a:t>
                </a:r>
              </a:p>
              <a:p>
                <a:pPr marL="742950" lvl="1" indent="-285750">
                  <a:buFont typeface="Arial" panose="020B0604020202020204" pitchFamily="34" charset="0"/>
                  <a:buChar char="•"/>
                </a:pPr>
                <a:r>
                  <a:rPr lang="en-US" dirty="0"/>
                  <a:t>Output as prediction the box with</a:t>
                </a:r>
                <a:br>
                  <a:rPr lang="en-US" dirty="0"/>
                </a:br>
                <a:r>
                  <a:rPr lang="en-US" dirty="0"/>
                  <a:t>largest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𝑐</m:t>
                        </m:r>
                      </m:sub>
                    </m:sSub>
                  </m:oMath>
                </a14:m>
                <a:endParaRPr lang="en-US" dirty="0"/>
              </a:p>
              <a:p>
                <a:pPr marL="742950" lvl="1" indent="-285750">
                  <a:buFont typeface="Arial" panose="020B0604020202020204" pitchFamily="34" charset="0"/>
                  <a:buChar char="•"/>
                </a:pPr>
                <a:r>
                  <a:rPr lang="en-US" dirty="0"/>
                  <a:t>Discard all other boxes such that </a:t>
                </a:r>
                <a14:m>
                  <m:oMath xmlns:m="http://schemas.openxmlformats.org/officeDocument/2006/math">
                    <m:r>
                      <m:rPr>
                        <m:nor/>
                      </m:rPr>
                      <a:rPr lang="en-US" b="0" i="0" smtClean="0">
                        <a:latin typeface="Cambria Math" panose="02040503050406030204" pitchFamily="18" charset="0"/>
                      </a:rPr>
                      <m:t>IoU</m:t>
                    </m:r>
                    <m:r>
                      <a:rPr lang="en-US" b="0" i="1" smtClean="0">
                        <a:latin typeface="Cambria Math" panose="02040503050406030204" pitchFamily="18" charset="0"/>
                        <a:ea typeface="Cambria Math" panose="02040503050406030204" pitchFamily="18" charset="0"/>
                      </a:rPr>
                      <m:t>≥0.5 </m:t>
                    </m:r>
                  </m:oMath>
                </a14:m>
                <a:br>
                  <a:rPr lang="en-US" dirty="0"/>
                </a:br>
                <a:r>
                  <a:rPr lang="en-US" dirty="0" err="1"/>
                  <a:t>wrt</a:t>
                </a:r>
                <a:r>
                  <a:rPr lang="en-US" dirty="0"/>
                  <a:t> prediction</a:t>
                </a:r>
              </a:p>
            </p:txBody>
          </p:sp>
        </mc:Choice>
        <mc:Fallback xmlns="">
          <p:sp>
            <p:nvSpPr>
              <p:cNvPr id="9" name="TextBox 8">
                <a:extLst>
                  <a:ext uri="{FF2B5EF4-FFF2-40B4-BE49-F238E27FC236}">
                    <a16:creationId xmlns:a16="http://schemas.microsoft.com/office/drawing/2014/main" id="{03D04211-2FAD-4B5A-95C8-220EFD92B295}"/>
                  </a:ext>
                </a:extLst>
              </p:cNvPr>
              <p:cNvSpPr txBox="1">
                <a:spLocks noRot="1" noChangeAspect="1" noMove="1" noResize="1" noEditPoints="1" noAdjustHandles="1" noChangeArrowheads="1" noChangeShapeType="1" noTextEdit="1"/>
              </p:cNvSpPr>
              <p:nvPr/>
            </p:nvSpPr>
            <p:spPr>
              <a:xfrm>
                <a:off x="7127604" y="4404753"/>
                <a:ext cx="5032019" cy="1754326"/>
              </a:xfrm>
              <a:prstGeom prst="rect">
                <a:avLst/>
              </a:prstGeom>
              <a:blipFill>
                <a:blip r:embed="rId4"/>
                <a:stretch>
                  <a:fillRect l="-969" t="-2091" b="-4878"/>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0676D84F-11A0-4737-A7FE-70966756D28E}"/>
              </a:ext>
            </a:extLst>
          </p:cNvPr>
          <p:cNvSpPr/>
          <p:nvPr/>
        </p:nvSpPr>
        <p:spPr>
          <a:xfrm>
            <a:off x="4565650" y="3579169"/>
            <a:ext cx="2012950" cy="745182"/>
          </a:xfrm>
          <a:prstGeom prst="rect">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7362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3D0AC-D733-4E46-94F7-74A58913B9DA}"/>
              </a:ext>
            </a:extLst>
          </p:cNvPr>
          <p:cNvSpPr>
            <a:spLocks noGrp="1"/>
          </p:cNvSpPr>
          <p:nvPr>
            <p:ph type="title"/>
          </p:nvPr>
        </p:nvSpPr>
        <p:spPr>
          <a:xfrm>
            <a:off x="143006" y="0"/>
            <a:ext cx="10515600" cy="1325563"/>
          </a:xfrm>
        </p:spPr>
        <p:txBody>
          <a:bodyPr/>
          <a:lstStyle/>
          <a:p>
            <a:r>
              <a:rPr lang="en-US" dirty="0"/>
              <a:t>Non-max suppression</a:t>
            </a:r>
          </a:p>
        </p:txBody>
      </p:sp>
      <p:sp>
        <p:nvSpPr>
          <p:cNvPr id="7" name="TextBox 6">
            <a:extLst>
              <a:ext uri="{FF2B5EF4-FFF2-40B4-BE49-F238E27FC236}">
                <a16:creationId xmlns:a16="http://schemas.microsoft.com/office/drawing/2014/main" id="{C21FF1CD-A27D-4069-A06B-D4511D6E7805}"/>
              </a:ext>
            </a:extLst>
          </p:cNvPr>
          <p:cNvSpPr txBox="1"/>
          <p:nvPr/>
        </p:nvSpPr>
        <p:spPr>
          <a:xfrm>
            <a:off x="7101692" y="1576084"/>
            <a:ext cx="4976362" cy="646331"/>
          </a:xfrm>
          <a:prstGeom prst="rect">
            <a:avLst/>
          </a:prstGeom>
          <a:noFill/>
        </p:spPr>
        <p:txBody>
          <a:bodyPr wrap="none" rtlCol="0">
            <a:spAutoFit/>
          </a:bodyPr>
          <a:lstStyle/>
          <a:p>
            <a:r>
              <a:rPr lang="en-US" dirty="0"/>
              <a:t>Multiple bounding box may detect the same object</a:t>
            </a:r>
            <a:br>
              <a:rPr lang="en-US" dirty="0"/>
            </a:br>
            <a:r>
              <a:rPr lang="en-US" dirty="0"/>
              <a:t>(possibly  with different probability)</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9D19DF0-8C4F-4234-80CC-43C14684C29D}"/>
                  </a:ext>
                </a:extLst>
              </p:cNvPr>
              <p:cNvSpPr txBox="1"/>
              <p:nvPr/>
            </p:nvSpPr>
            <p:spPr>
              <a:xfrm>
                <a:off x="7246307" y="2599151"/>
                <a:ext cx="3818353" cy="1448858"/>
              </a:xfrm>
              <a:prstGeom prst="rect">
                <a:avLst/>
              </a:prstGeom>
              <a:noFill/>
            </p:spPr>
            <p:txBody>
              <a:bodyPr wrap="none" rtlCol="0">
                <a:spAutoFit/>
              </a:bodyPr>
              <a:lstStyle/>
              <a:p>
                <a:r>
                  <a:rPr lang="en-US" dirty="0"/>
                  <a:t>Each output prediction is a vector </a:t>
                </a:r>
                <a14:m>
                  <m:oMath xmlns:m="http://schemas.openxmlformats.org/officeDocument/2006/math">
                    <m:d>
                      <m:dPr>
                        <m:begChr m:val="["/>
                        <m:endChr m:val="]"/>
                        <m:ctrlPr>
                          <a:rPr lang="en-US" i="1" smtClean="0">
                            <a:latin typeface="Cambria Math" panose="02040503050406030204" pitchFamily="18" charset="0"/>
                          </a:rPr>
                        </m:ctrlPr>
                      </m:dP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𝑐</m:t>
                                  </m:r>
                                </m:sub>
                              </m:sSub>
                            </m:e>
                          </m:mr>
                          <m:m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𝑥</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𝑦</m:t>
                                        </m:r>
                                      </m:sub>
                                    </m:sSub>
                                  </m:e>
                                </m:mr>
                                <m:mr>
                                  <m:e>
                                    <m:m>
                                      <m:mPr>
                                        <m:mcs>
                                          <m:mc>
                                            <m:mcPr>
                                              <m:count m:val="1"/>
                                              <m:mcJc m:val="center"/>
                                            </m:mcPr>
                                          </m:mc>
                                        </m:mcs>
                                        <m:ctrlPr>
                                          <a:rPr lang="en-US" i="1">
                                            <a:latin typeface="Cambria Math" panose="02040503050406030204" pitchFamily="18" charset="0"/>
                                          </a:rPr>
                                        </m:ctrlPr>
                                      </m:mPr>
                                      <m:m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𝑤</m:t>
                                              </m:r>
                                            </m:sub>
                                          </m:sSub>
                                        </m:e>
                                      </m:mr>
                                      <m:mr>
                                        <m:e>
                                          <m:sSub>
                                            <m:sSubPr>
                                              <m:ctrlPr>
                                                <a:rPr lang="en-US" i="1">
                                                  <a:latin typeface="Cambria Math" panose="02040503050406030204" pitchFamily="18" charset="0"/>
                                                </a:rPr>
                                              </m:ctrlPr>
                                            </m:sSubPr>
                                            <m:e>
                                              <m:r>
                                                <a:rPr lang="en-US" i="1">
                                                  <a:latin typeface="Cambria Math" panose="02040503050406030204" pitchFamily="18" charset="0"/>
                                                </a:rPr>
                                                <m:t>𝑏</m:t>
                                              </m:r>
                                            </m:e>
                                            <m:sub>
                                              <m:r>
                                                <a:rPr lang="en-US" i="1">
                                                  <a:latin typeface="Cambria Math" panose="02040503050406030204" pitchFamily="18" charset="0"/>
                                                </a:rPr>
                                                <m:t>h</m:t>
                                              </m:r>
                                            </m:sub>
                                          </m:sSub>
                                        </m:e>
                                      </m:mr>
                                    </m:m>
                                  </m:e>
                                </m:mr>
                              </m:m>
                            </m:e>
                          </m:mr>
                        </m:m>
                      </m:e>
                    </m:d>
                  </m:oMath>
                </a14:m>
                <a:endParaRPr lang="en-US" dirty="0"/>
              </a:p>
            </p:txBody>
          </p:sp>
        </mc:Choice>
        <mc:Fallback xmlns="">
          <p:sp>
            <p:nvSpPr>
              <p:cNvPr id="8" name="TextBox 7">
                <a:extLst>
                  <a:ext uri="{FF2B5EF4-FFF2-40B4-BE49-F238E27FC236}">
                    <a16:creationId xmlns:a16="http://schemas.microsoft.com/office/drawing/2014/main" id="{09D19DF0-8C4F-4234-80CC-43C14684C29D}"/>
                  </a:ext>
                </a:extLst>
              </p:cNvPr>
              <p:cNvSpPr txBox="1">
                <a:spLocks noRot="1" noChangeAspect="1" noMove="1" noResize="1" noEditPoints="1" noAdjustHandles="1" noChangeArrowheads="1" noChangeShapeType="1" noTextEdit="1"/>
              </p:cNvSpPr>
              <p:nvPr/>
            </p:nvSpPr>
            <p:spPr>
              <a:xfrm>
                <a:off x="7246307" y="2599151"/>
                <a:ext cx="3818353" cy="1448858"/>
              </a:xfrm>
              <a:prstGeom prst="rect">
                <a:avLst/>
              </a:prstGeom>
              <a:blipFill>
                <a:blip r:embed="rId3"/>
                <a:stretch>
                  <a:fillRect l="-14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3D04211-2FAD-4B5A-95C8-220EFD92B295}"/>
                  </a:ext>
                </a:extLst>
              </p:cNvPr>
              <p:cNvSpPr txBox="1"/>
              <p:nvPr/>
            </p:nvSpPr>
            <p:spPr>
              <a:xfrm>
                <a:off x="7127604" y="4404753"/>
                <a:ext cx="5032019" cy="1754326"/>
              </a:xfrm>
              <a:prstGeom prst="rect">
                <a:avLst/>
              </a:prstGeom>
              <a:noFill/>
            </p:spPr>
            <p:txBody>
              <a:bodyPr wrap="none" rtlCol="0">
                <a:spAutoFit/>
              </a:bodyPr>
              <a:lstStyle/>
              <a:p>
                <a:r>
                  <a:rPr lang="en-US" dirty="0"/>
                  <a:t>Discard all boxes such that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𝑐</m:t>
                        </m:r>
                      </m:sub>
                    </m:sSub>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𝜎</m:t>
                    </m:r>
                    <m:r>
                      <a:rPr lang="en-US" b="0" i="1" smtClean="0">
                        <a:latin typeface="Cambria Math" panose="02040503050406030204" pitchFamily="18" charset="0"/>
                        <a:ea typeface="Cambria Math" panose="02040503050406030204" pitchFamily="18" charset="0"/>
                      </a:rPr>
                      <m:t> </m:t>
                    </m:r>
                    <m:r>
                      <m:rPr>
                        <m:nor/>
                      </m:rPr>
                      <a:rPr lang="en-US" b="0" i="0"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e</m:t>
                    </m:r>
                    <m:r>
                      <m:rPr>
                        <m:nor/>
                      </m:rPr>
                      <a:rPr lang="en-US" b="0" i="0" smtClean="0">
                        <a:latin typeface="Cambria Math" panose="02040503050406030204" pitchFamily="18" charset="0"/>
                        <a:ea typeface="Cambria Math" panose="02040503050406030204" pitchFamily="18" charset="0"/>
                      </a:rPr>
                      <m:t>.</m:t>
                    </m:r>
                    <m:r>
                      <m:rPr>
                        <m:nor/>
                      </m:rPr>
                      <a:rPr lang="en-US" b="0" i="0" smtClean="0">
                        <a:latin typeface="Cambria Math" panose="02040503050406030204" pitchFamily="18" charset="0"/>
                        <a:ea typeface="Cambria Math" panose="02040503050406030204" pitchFamily="18" charset="0"/>
                      </a:rPr>
                      <m:t>g</m:t>
                    </m:r>
                    <m:r>
                      <m:rPr>
                        <m:nor/>
                      </m:rPr>
                      <a:rPr lang="en-US" b="0" i="0" smtClean="0">
                        <a:latin typeface="Cambria Math" panose="02040503050406030204" pitchFamily="18" charset="0"/>
                        <a:ea typeface="Cambria Math" panose="02040503050406030204" pitchFamily="18" charset="0"/>
                      </a:rPr>
                      <m:t>. </m:t>
                    </m:r>
                    <m:r>
                      <m:rPr>
                        <m:sty m:val="p"/>
                      </m:rPr>
                      <a:rPr lang="el-GR" b="0" i="1" smtClean="0">
                        <a:latin typeface="Cambria Math" panose="02040503050406030204" pitchFamily="18" charset="0"/>
                        <a:ea typeface="Cambria Math" panose="02040503050406030204" pitchFamily="18" charset="0"/>
                      </a:rPr>
                      <m:t>σ</m:t>
                    </m:r>
                    <m:r>
                      <a:rPr lang="en-US" b="0" i="1" smtClean="0">
                        <a:latin typeface="Cambria Math" panose="02040503050406030204" pitchFamily="18" charset="0"/>
                        <a:ea typeface="Cambria Math" panose="02040503050406030204" pitchFamily="18" charset="0"/>
                      </a:rPr>
                      <m:t>=0.6)</m:t>
                    </m:r>
                  </m:oMath>
                </a14:m>
                <a:endParaRPr lang="en-US" b="0" dirty="0">
                  <a:ea typeface="Cambria Math" panose="02040503050406030204" pitchFamily="18" charset="0"/>
                </a:endParaRPr>
              </a:p>
              <a:p>
                <a:r>
                  <a:rPr lang="en-US" dirty="0"/>
                  <a:t>While there are remaining boxes:</a:t>
                </a:r>
              </a:p>
              <a:p>
                <a:pPr marL="742950" lvl="1" indent="-285750">
                  <a:buFont typeface="Arial" panose="020B0604020202020204" pitchFamily="34" charset="0"/>
                  <a:buChar char="•"/>
                </a:pPr>
                <a:r>
                  <a:rPr lang="en-US" dirty="0"/>
                  <a:t>Output as prediction the box with</a:t>
                </a:r>
                <a:br>
                  <a:rPr lang="en-US" dirty="0"/>
                </a:br>
                <a:r>
                  <a:rPr lang="en-US" dirty="0"/>
                  <a:t>largest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𝑐</m:t>
                        </m:r>
                      </m:sub>
                    </m:sSub>
                  </m:oMath>
                </a14:m>
                <a:endParaRPr lang="en-US" dirty="0"/>
              </a:p>
              <a:p>
                <a:pPr marL="742950" lvl="1" indent="-285750">
                  <a:buFont typeface="Arial" panose="020B0604020202020204" pitchFamily="34" charset="0"/>
                  <a:buChar char="•"/>
                </a:pPr>
                <a:r>
                  <a:rPr lang="en-US" dirty="0"/>
                  <a:t>Discard all other boxes such that </a:t>
                </a:r>
                <a14:m>
                  <m:oMath xmlns:m="http://schemas.openxmlformats.org/officeDocument/2006/math">
                    <m:r>
                      <m:rPr>
                        <m:nor/>
                      </m:rPr>
                      <a:rPr lang="en-US" b="0" i="0" smtClean="0">
                        <a:latin typeface="Cambria Math" panose="02040503050406030204" pitchFamily="18" charset="0"/>
                      </a:rPr>
                      <m:t>IoU</m:t>
                    </m:r>
                    <m:r>
                      <a:rPr lang="en-US" b="0" i="1" smtClean="0">
                        <a:latin typeface="Cambria Math" panose="02040503050406030204" pitchFamily="18" charset="0"/>
                        <a:ea typeface="Cambria Math" panose="02040503050406030204" pitchFamily="18" charset="0"/>
                      </a:rPr>
                      <m:t>≥0.5 </m:t>
                    </m:r>
                  </m:oMath>
                </a14:m>
                <a:br>
                  <a:rPr lang="en-US" dirty="0"/>
                </a:br>
                <a:r>
                  <a:rPr lang="en-US" dirty="0" err="1"/>
                  <a:t>wrt</a:t>
                </a:r>
                <a:r>
                  <a:rPr lang="en-US" dirty="0"/>
                  <a:t> prediction</a:t>
                </a:r>
              </a:p>
            </p:txBody>
          </p:sp>
        </mc:Choice>
        <mc:Fallback xmlns="">
          <p:sp>
            <p:nvSpPr>
              <p:cNvPr id="9" name="TextBox 8">
                <a:extLst>
                  <a:ext uri="{FF2B5EF4-FFF2-40B4-BE49-F238E27FC236}">
                    <a16:creationId xmlns:a16="http://schemas.microsoft.com/office/drawing/2014/main" id="{03D04211-2FAD-4B5A-95C8-220EFD92B295}"/>
                  </a:ext>
                </a:extLst>
              </p:cNvPr>
              <p:cNvSpPr txBox="1">
                <a:spLocks noRot="1" noChangeAspect="1" noMove="1" noResize="1" noEditPoints="1" noAdjustHandles="1" noChangeArrowheads="1" noChangeShapeType="1" noTextEdit="1"/>
              </p:cNvSpPr>
              <p:nvPr/>
            </p:nvSpPr>
            <p:spPr>
              <a:xfrm>
                <a:off x="7127604" y="4404753"/>
                <a:ext cx="5032019" cy="1754326"/>
              </a:xfrm>
              <a:prstGeom prst="rect">
                <a:avLst/>
              </a:prstGeom>
              <a:blipFill>
                <a:blip r:embed="rId4"/>
                <a:stretch>
                  <a:fillRect l="-969" t="-2091" b="-4878"/>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252C43BF-5AA0-4D3F-A833-8BC05431BE86}"/>
              </a:ext>
            </a:extLst>
          </p:cNvPr>
          <p:cNvPicPr>
            <a:picLocks noChangeAspect="1"/>
          </p:cNvPicPr>
          <p:nvPr/>
        </p:nvPicPr>
        <p:blipFill>
          <a:blip r:embed="rId5"/>
          <a:stretch>
            <a:fillRect/>
          </a:stretch>
        </p:blipFill>
        <p:spPr>
          <a:xfrm>
            <a:off x="473453" y="1424799"/>
            <a:ext cx="5832097" cy="5009715"/>
          </a:xfrm>
          <a:prstGeom prst="rect">
            <a:avLst/>
          </a:prstGeom>
        </p:spPr>
      </p:pic>
      <p:sp>
        <p:nvSpPr>
          <p:cNvPr id="4" name="Rectangle 3">
            <a:extLst>
              <a:ext uri="{FF2B5EF4-FFF2-40B4-BE49-F238E27FC236}">
                <a16:creationId xmlns:a16="http://schemas.microsoft.com/office/drawing/2014/main" id="{06B78583-F91C-4441-9330-427A7B58475C}"/>
              </a:ext>
            </a:extLst>
          </p:cNvPr>
          <p:cNvSpPr/>
          <p:nvPr/>
        </p:nvSpPr>
        <p:spPr>
          <a:xfrm>
            <a:off x="1016000" y="3479641"/>
            <a:ext cx="1543050" cy="925112"/>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F24E3C4-67DC-41B3-B8C0-98A74F930901}"/>
              </a:ext>
            </a:extLst>
          </p:cNvPr>
          <p:cNvSpPr/>
          <p:nvPr/>
        </p:nvSpPr>
        <p:spPr>
          <a:xfrm>
            <a:off x="1168400" y="3632041"/>
            <a:ext cx="1543050" cy="925112"/>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C00AD61-50B9-4A5B-811B-F057C7B408F9}"/>
              </a:ext>
            </a:extLst>
          </p:cNvPr>
          <p:cNvSpPr/>
          <p:nvPr/>
        </p:nvSpPr>
        <p:spPr>
          <a:xfrm>
            <a:off x="4083050" y="3429000"/>
            <a:ext cx="2012950" cy="745182"/>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9C55C1D-BF0B-4B51-826B-35BF69B6CE6C}"/>
              </a:ext>
            </a:extLst>
          </p:cNvPr>
          <p:cNvSpPr/>
          <p:nvPr/>
        </p:nvSpPr>
        <p:spPr>
          <a:xfrm>
            <a:off x="3873500" y="3197015"/>
            <a:ext cx="2012950" cy="745182"/>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7D2F26F-DC06-40AC-87BE-45F4631CCF43}"/>
              </a:ext>
            </a:extLst>
          </p:cNvPr>
          <p:cNvSpPr/>
          <p:nvPr/>
        </p:nvSpPr>
        <p:spPr>
          <a:xfrm>
            <a:off x="4387850" y="3632041"/>
            <a:ext cx="1723647" cy="745182"/>
          </a:xfrm>
          <a:prstGeom prst="rect">
            <a:avLst/>
          </a:prstGeom>
          <a:noFill/>
          <a:ln w="571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D75E917-2EA4-4D9F-9743-C60C0A8C44FE}"/>
                  </a:ext>
                </a:extLst>
              </p:cNvPr>
              <p:cNvSpPr txBox="1"/>
              <p:nvPr/>
            </p:nvSpPr>
            <p:spPr>
              <a:xfrm>
                <a:off x="3652207" y="3994272"/>
                <a:ext cx="4151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𝟎</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𝟗</m:t>
                      </m:r>
                    </m:oMath>
                  </m:oMathPara>
                </a14:m>
                <a:endParaRPr lang="en-US" b="1" dirty="0"/>
              </a:p>
            </p:txBody>
          </p:sp>
        </mc:Choice>
        <mc:Fallback xmlns="">
          <p:sp>
            <p:nvSpPr>
              <p:cNvPr id="5" name="TextBox 4">
                <a:extLst>
                  <a:ext uri="{FF2B5EF4-FFF2-40B4-BE49-F238E27FC236}">
                    <a16:creationId xmlns:a16="http://schemas.microsoft.com/office/drawing/2014/main" id="{BD75E917-2EA4-4D9F-9743-C60C0A8C44FE}"/>
                  </a:ext>
                </a:extLst>
              </p:cNvPr>
              <p:cNvSpPr txBox="1">
                <a:spLocks noRot="1" noChangeAspect="1" noMove="1" noResize="1" noEditPoints="1" noAdjustHandles="1" noChangeArrowheads="1" noChangeShapeType="1" noTextEdit="1"/>
              </p:cNvSpPr>
              <p:nvPr/>
            </p:nvSpPr>
            <p:spPr>
              <a:xfrm>
                <a:off x="3652207" y="3994272"/>
                <a:ext cx="415178" cy="276999"/>
              </a:xfrm>
              <a:prstGeom prst="rect">
                <a:avLst/>
              </a:prstGeom>
              <a:blipFill>
                <a:blip r:embed="rId6"/>
                <a:stretch>
                  <a:fillRect l="-11765" r="-14706"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C347F5B-AE4C-486B-A31B-F1A0B6E9C95E}"/>
                  </a:ext>
                </a:extLst>
              </p:cNvPr>
              <p:cNvSpPr txBox="1"/>
              <p:nvPr/>
            </p:nvSpPr>
            <p:spPr>
              <a:xfrm>
                <a:off x="3880329" y="2899115"/>
                <a:ext cx="4151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𝟎</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𝟔</m:t>
                      </m:r>
                    </m:oMath>
                  </m:oMathPara>
                </a14:m>
                <a:endParaRPr lang="en-US" b="1" dirty="0"/>
              </a:p>
            </p:txBody>
          </p:sp>
        </mc:Choice>
        <mc:Fallback xmlns="">
          <p:sp>
            <p:nvSpPr>
              <p:cNvPr id="15" name="TextBox 14">
                <a:extLst>
                  <a:ext uri="{FF2B5EF4-FFF2-40B4-BE49-F238E27FC236}">
                    <a16:creationId xmlns:a16="http://schemas.microsoft.com/office/drawing/2014/main" id="{FC347F5B-AE4C-486B-A31B-F1A0B6E9C95E}"/>
                  </a:ext>
                </a:extLst>
              </p:cNvPr>
              <p:cNvSpPr txBox="1">
                <a:spLocks noRot="1" noChangeAspect="1" noMove="1" noResize="1" noEditPoints="1" noAdjustHandles="1" noChangeArrowheads="1" noChangeShapeType="1" noTextEdit="1"/>
              </p:cNvSpPr>
              <p:nvPr/>
            </p:nvSpPr>
            <p:spPr>
              <a:xfrm>
                <a:off x="3880329" y="2899115"/>
                <a:ext cx="415178" cy="276999"/>
              </a:xfrm>
              <a:prstGeom prst="rect">
                <a:avLst/>
              </a:prstGeom>
              <a:blipFill>
                <a:blip r:embed="rId7"/>
                <a:stretch>
                  <a:fillRect l="-13235" r="-13235"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0F10C42-5B22-4404-BD14-E059CE02DC88}"/>
                  </a:ext>
                </a:extLst>
              </p:cNvPr>
              <p:cNvSpPr txBox="1"/>
              <p:nvPr/>
            </p:nvSpPr>
            <p:spPr>
              <a:xfrm>
                <a:off x="5585757" y="4353429"/>
                <a:ext cx="4151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𝟎</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𝟕</m:t>
                      </m:r>
                    </m:oMath>
                  </m:oMathPara>
                </a14:m>
                <a:endParaRPr lang="en-US" b="1" dirty="0"/>
              </a:p>
            </p:txBody>
          </p:sp>
        </mc:Choice>
        <mc:Fallback xmlns="">
          <p:sp>
            <p:nvSpPr>
              <p:cNvPr id="16" name="TextBox 15">
                <a:extLst>
                  <a:ext uri="{FF2B5EF4-FFF2-40B4-BE49-F238E27FC236}">
                    <a16:creationId xmlns:a16="http://schemas.microsoft.com/office/drawing/2014/main" id="{A0F10C42-5B22-4404-BD14-E059CE02DC88}"/>
                  </a:ext>
                </a:extLst>
              </p:cNvPr>
              <p:cNvSpPr txBox="1">
                <a:spLocks noRot="1" noChangeAspect="1" noMove="1" noResize="1" noEditPoints="1" noAdjustHandles="1" noChangeArrowheads="1" noChangeShapeType="1" noTextEdit="1"/>
              </p:cNvSpPr>
              <p:nvPr/>
            </p:nvSpPr>
            <p:spPr>
              <a:xfrm>
                <a:off x="5585757" y="4353429"/>
                <a:ext cx="415178" cy="276999"/>
              </a:xfrm>
              <a:prstGeom prst="rect">
                <a:avLst/>
              </a:prstGeom>
              <a:blipFill>
                <a:blip r:embed="rId8"/>
                <a:stretch>
                  <a:fillRect l="-11765" r="-14706" b="-65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28E124E-21FA-4378-BCDE-0F2BA975138B}"/>
                  </a:ext>
                </a:extLst>
              </p:cNvPr>
              <p:cNvSpPr txBox="1"/>
              <p:nvPr/>
            </p:nvSpPr>
            <p:spPr>
              <a:xfrm>
                <a:off x="2424792" y="4606634"/>
                <a:ext cx="4151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𝟎</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𝟕</m:t>
                      </m:r>
                    </m:oMath>
                  </m:oMathPara>
                </a14:m>
                <a:endParaRPr lang="en-US" b="1" dirty="0"/>
              </a:p>
            </p:txBody>
          </p:sp>
        </mc:Choice>
        <mc:Fallback xmlns="">
          <p:sp>
            <p:nvSpPr>
              <p:cNvPr id="17" name="TextBox 16">
                <a:extLst>
                  <a:ext uri="{FF2B5EF4-FFF2-40B4-BE49-F238E27FC236}">
                    <a16:creationId xmlns:a16="http://schemas.microsoft.com/office/drawing/2014/main" id="{928E124E-21FA-4378-BCDE-0F2BA975138B}"/>
                  </a:ext>
                </a:extLst>
              </p:cNvPr>
              <p:cNvSpPr txBox="1">
                <a:spLocks noRot="1" noChangeAspect="1" noMove="1" noResize="1" noEditPoints="1" noAdjustHandles="1" noChangeArrowheads="1" noChangeShapeType="1" noTextEdit="1"/>
              </p:cNvSpPr>
              <p:nvPr/>
            </p:nvSpPr>
            <p:spPr>
              <a:xfrm>
                <a:off x="2424792" y="4606634"/>
                <a:ext cx="415178" cy="276999"/>
              </a:xfrm>
              <a:prstGeom prst="rect">
                <a:avLst/>
              </a:prstGeom>
              <a:blipFill>
                <a:blip r:embed="rId9"/>
                <a:stretch>
                  <a:fillRect l="-13235" r="-13235"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2F5DB1E5-B29A-4DE1-9FF0-7F4B21A15E95}"/>
                  </a:ext>
                </a:extLst>
              </p:cNvPr>
              <p:cNvSpPr txBox="1"/>
              <p:nvPr/>
            </p:nvSpPr>
            <p:spPr>
              <a:xfrm>
                <a:off x="701423" y="3176114"/>
                <a:ext cx="4151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𝟎</m:t>
                      </m:r>
                      <m:r>
                        <a:rPr lang="en-US" b="1" i="1" smtClean="0">
                          <a:solidFill>
                            <a:srgbClr val="FF0000"/>
                          </a:solidFill>
                          <a:latin typeface="Cambria Math" panose="02040503050406030204" pitchFamily="18" charset="0"/>
                        </a:rPr>
                        <m:t>.</m:t>
                      </m:r>
                      <m:r>
                        <a:rPr lang="en-US" b="1" i="1" smtClean="0">
                          <a:solidFill>
                            <a:srgbClr val="FF0000"/>
                          </a:solidFill>
                          <a:latin typeface="Cambria Math" panose="02040503050406030204" pitchFamily="18" charset="0"/>
                        </a:rPr>
                        <m:t>𝟖</m:t>
                      </m:r>
                    </m:oMath>
                  </m:oMathPara>
                </a14:m>
                <a:endParaRPr lang="en-US" b="1" dirty="0"/>
              </a:p>
            </p:txBody>
          </p:sp>
        </mc:Choice>
        <mc:Fallback xmlns="">
          <p:sp>
            <p:nvSpPr>
              <p:cNvPr id="18" name="TextBox 17">
                <a:extLst>
                  <a:ext uri="{FF2B5EF4-FFF2-40B4-BE49-F238E27FC236}">
                    <a16:creationId xmlns:a16="http://schemas.microsoft.com/office/drawing/2014/main" id="{2F5DB1E5-B29A-4DE1-9FF0-7F4B21A15E95}"/>
                  </a:ext>
                </a:extLst>
              </p:cNvPr>
              <p:cNvSpPr txBox="1">
                <a:spLocks noRot="1" noChangeAspect="1" noMove="1" noResize="1" noEditPoints="1" noAdjustHandles="1" noChangeArrowheads="1" noChangeShapeType="1" noTextEdit="1"/>
              </p:cNvSpPr>
              <p:nvPr/>
            </p:nvSpPr>
            <p:spPr>
              <a:xfrm>
                <a:off x="701423" y="3176114"/>
                <a:ext cx="415178" cy="276999"/>
              </a:xfrm>
              <a:prstGeom prst="rect">
                <a:avLst/>
              </a:prstGeom>
              <a:blipFill>
                <a:blip r:embed="rId10"/>
                <a:stretch>
                  <a:fillRect l="-11765" r="-14706" b="-8889"/>
                </a:stretch>
              </a:blipFill>
            </p:spPr>
            <p:txBody>
              <a:bodyPr/>
              <a:lstStyle/>
              <a:p>
                <a:r>
                  <a:rPr lang="en-US">
                    <a:noFill/>
                  </a:rPr>
                  <a:t> </a:t>
                </a:r>
              </a:p>
            </p:txBody>
          </p:sp>
        </mc:Fallback>
      </mc:AlternateContent>
      <p:sp>
        <p:nvSpPr>
          <p:cNvPr id="19" name="Rectangle 18">
            <a:extLst>
              <a:ext uri="{FF2B5EF4-FFF2-40B4-BE49-F238E27FC236}">
                <a16:creationId xmlns:a16="http://schemas.microsoft.com/office/drawing/2014/main" id="{5A356767-3E56-4397-AC38-1BD615721EA4}"/>
              </a:ext>
            </a:extLst>
          </p:cNvPr>
          <p:cNvSpPr/>
          <p:nvPr/>
        </p:nvSpPr>
        <p:spPr>
          <a:xfrm>
            <a:off x="4083050" y="3439029"/>
            <a:ext cx="2012950" cy="74518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E8DEC0E-5D81-4DD7-B6B6-BABBABE84E00}"/>
              </a:ext>
            </a:extLst>
          </p:cNvPr>
          <p:cNvSpPr/>
          <p:nvPr/>
        </p:nvSpPr>
        <p:spPr>
          <a:xfrm>
            <a:off x="1031665" y="3479641"/>
            <a:ext cx="1543050" cy="92511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931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p:bldP spid="16" grpId="0"/>
      <p:bldP spid="17" grpId="0"/>
      <p:bldP spid="19" grpId="0" animBg="1"/>
      <p:bldP spid="2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213D1-8C8E-4052-B078-4F94E2285E0A}"/>
              </a:ext>
            </a:extLst>
          </p:cNvPr>
          <p:cNvSpPr>
            <a:spLocks noGrp="1"/>
          </p:cNvSpPr>
          <p:nvPr>
            <p:ph type="title"/>
          </p:nvPr>
        </p:nvSpPr>
        <p:spPr>
          <a:xfrm>
            <a:off x="385175" y="-95066"/>
            <a:ext cx="10515600" cy="1325563"/>
          </a:xfrm>
        </p:spPr>
        <p:txBody>
          <a:bodyPr/>
          <a:lstStyle/>
          <a:p>
            <a:r>
              <a:rPr lang="en-US" dirty="0"/>
              <a:t>Localizing multiple objects</a:t>
            </a:r>
          </a:p>
        </p:txBody>
      </p:sp>
      <p:pic>
        <p:nvPicPr>
          <p:cNvPr id="4" name="Picture 3">
            <a:extLst>
              <a:ext uri="{FF2B5EF4-FFF2-40B4-BE49-F238E27FC236}">
                <a16:creationId xmlns:a16="http://schemas.microsoft.com/office/drawing/2014/main" id="{10A07933-9B3D-4DFA-A2D0-D72553C75827}"/>
              </a:ext>
            </a:extLst>
          </p:cNvPr>
          <p:cNvPicPr>
            <a:picLocks noChangeAspect="1"/>
          </p:cNvPicPr>
          <p:nvPr/>
        </p:nvPicPr>
        <p:blipFill>
          <a:blip r:embed="rId2"/>
          <a:stretch>
            <a:fillRect/>
          </a:stretch>
        </p:blipFill>
        <p:spPr>
          <a:xfrm>
            <a:off x="637521" y="977030"/>
            <a:ext cx="5458479" cy="5486400"/>
          </a:xfrm>
          <a:prstGeom prst="rect">
            <a:avLst/>
          </a:prstGeom>
        </p:spPr>
      </p:pic>
      <p:pic>
        <p:nvPicPr>
          <p:cNvPr id="8" name="Picture 7">
            <a:extLst>
              <a:ext uri="{FF2B5EF4-FFF2-40B4-BE49-F238E27FC236}">
                <a16:creationId xmlns:a16="http://schemas.microsoft.com/office/drawing/2014/main" id="{FA0D07F2-522F-4807-B9F1-7238241F1337}"/>
              </a:ext>
            </a:extLst>
          </p:cNvPr>
          <p:cNvPicPr>
            <a:picLocks noChangeAspect="1"/>
          </p:cNvPicPr>
          <p:nvPr/>
        </p:nvPicPr>
        <p:blipFill>
          <a:blip r:embed="rId3"/>
          <a:stretch>
            <a:fillRect/>
          </a:stretch>
        </p:blipFill>
        <p:spPr>
          <a:xfrm>
            <a:off x="513311" y="977030"/>
            <a:ext cx="5582689" cy="5582689"/>
          </a:xfrm>
          <a:prstGeom prst="rect">
            <a:avLst/>
          </a:prstGeom>
        </p:spPr>
      </p:pic>
      <p:sp>
        <p:nvSpPr>
          <p:cNvPr id="10" name="TextBox 9">
            <a:extLst>
              <a:ext uri="{FF2B5EF4-FFF2-40B4-BE49-F238E27FC236}">
                <a16:creationId xmlns:a16="http://schemas.microsoft.com/office/drawing/2014/main" id="{D01F9254-2EBD-4129-9411-7E5031D1D962}"/>
              </a:ext>
            </a:extLst>
          </p:cNvPr>
          <p:cNvSpPr txBox="1"/>
          <p:nvPr/>
        </p:nvSpPr>
        <p:spPr>
          <a:xfrm>
            <a:off x="6163843" y="1314600"/>
            <a:ext cx="6141489" cy="4801314"/>
          </a:xfrm>
          <a:prstGeom prst="rect">
            <a:avLst/>
          </a:prstGeom>
          <a:noFill/>
        </p:spPr>
        <p:txBody>
          <a:bodyPr wrap="none" rtlCol="0">
            <a:spAutoFit/>
          </a:bodyPr>
          <a:lstStyle/>
          <a:p>
            <a:pPr marL="285750" indent="-285750">
              <a:buFont typeface="Arial" panose="020B0604020202020204" pitchFamily="34" charset="0"/>
              <a:buChar char="•"/>
            </a:pPr>
            <a:r>
              <a:rPr lang="en-US" sz="2400" dirty="0"/>
              <a:t>A cell contains midpoints of different objects</a:t>
            </a:r>
          </a:p>
          <a:p>
            <a:pPr marL="285750" indent="-285750">
              <a:buFont typeface="Arial" panose="020B0604020202020204" pitchFamily="34" charset="0"/>
              <a:buChar char="•"/>
            </a:pPr>
            <a:r>
              <a:rPr lang="en-US" sz="2400" dirty="0"/>
              <a:t>With previous labels we have to choose one </a:t>
            </a:r>
            <a:br>
              <a:rPr lang="en-US" sz="2400" dirty="0"/>
            </a:br>
            <a:r>
              <a:rPr lang="en-US" sz="2400" dirty="0"/>
              <a:t>of the objects</a:t>
            </a:r>
          </a:p>
          <a:p>
            <a:pPr marL="285750" indent="-285750">
              <a:buFont typeface="Arial" panose="020B0604020202020204" pitchFamily="34" charset="0"/>
              <a:buChar char="•"/>
            </a:pPr>
            <a:r>
              <a:rPr lang="en-US" sz="2400" dirty="0"/>
              <a:t>Idea: extend the label in such a way that</a:t>
            </a:r>
            <a:br>
              <a:rPr lang="en-US" sz="2400" dirty="0"/>
            </a:br>
            <a:r>
              <a:rPr lang="en-US" sz="2400" dirty="0"/>
              <a:t>more objects can be detected in a grid cell.</a:t>
            </a:r>
          </a:p>
          <a:p>
            <a:pPr marL="285750" indent="-285750">
              <a:buFont typeface="Arial" panose="020B0604020202020204" pitchFamily="34" charset="0"/>
              <a:buChar char="•"/>
            </a:pPr>
            <a:r>
              <a:rPr lang="en-US" sz="2400" dirty="0"/>
              <a:t>For each object potentially present in a cell</a:t>
            </a:r>
            <a:br>
              <a:rPr lang="en-US" sz="2400" dirty="0"/>
            </a:br>
            <a:r>
              <a:rPr lang="en-US" sz="2400" dirty="0"/>
              <a:t>define a “shape” called </a:t>
            </a:r>
            <a:r>
              <a:rPr lang="en-US" sz="2400" b="1" dirty="0"/>
              <a:t>anchor box</a:t>
            </a:r>
          </a:p>
          <a:p>
            <a:pPr marL="285750" indent="-285750">
              <a:buFont typeface="Arial" panose="020B0604020202020204" pitchFamily="34" charset="0"/>
              <a:buChar char="•"/>
            </a:pPr>
            <a:r>
              <a:rPr lang="en-US" sz="2400" dirty="0"/>
              <a:t>Add in the label the </a:t>
            </a:r>
            <a:r>
              <a:rPr lang="en-US" sz="2400" dirty="0" err="1"/>
              <a:t>infos</a:t>
            </a:r>
            <a:r>
              <a:rPr lang="en-US" sz="2400" dirty="0"/>
              <a:t> for each anchor box</a:t>
            </a:r>
          </a:p>
          <a:p>
            <a:pPr marL="285750" indent="-285750">
              <a:buFont typeface="Arial" panose="020B0604020202020204" pitchFamily="34" charset="0"/>
              <a:buChar char="•"/>
            </a:pPr>
            <a:r>
              <a:rPr lang="en-US" sz="2400" dirty="0"/>
              <a:t>If more objects are in the same cell, associate</a:t>
            </a:r>
            <a:br>
              <a:rPr lang="en-US" sz="2400" dirty="0"/>
            </a:br>
            <a:r>
              <a:rPr lang="en-US" sz="2400" dirty="0"/>
              <a:t>the object to the anchor box more similar to </a:t>
            </a:r>
            <a:br>
              <a:rPr lang="en-US" sz="2400" dirty="0"/>
            </a:br>
            <a:r>
              <a:rPr lang="en-US" sz="2400" dirty="0"/>
              <a:t>the object bounding box (you can use </a:t>
            </a:r>
            <a:r>
              <a:rPr lang="en-US" sz="2400" dirty="0" err="1"/>
              <a:t>IoU</a:t>
            </a:r>
            <a:r>
              <a:rPr lang="en-US" sz="2400" dirty="0"/>
              <a:t> </a:t>
            </a:r>
            <a:br>
              <a:rPr lang="en-US" sz="2400" dirty="0"/>
            </a:br>
            <a:r>
              <a:rPr lang="en-US" sz="2400" dirty="0"/>
              <a:t>between object’s </a:t>
            </a:r>
            <a:r>
              <a:rPr lang="en-US" sz="2400" dirty="0" err="1"/>
              <a:t>b.b</a:t>
            </a:r>
            <a:r>
              <a:rPr lang="en-US" sz="2400" dirty="0"/>
              <a:t>. and </a:t>
            </a:r>
            <a:r>
              <a:rPr lang="en-US" sz="2400" dirty="0" err="1"/>
              <a:t>a.b.</a:t>
            </a:r>
            <a:r>
              <a:rPr lang="en-US" sz="2400" dirty="0"/>
              <a:t> as similarity)</a:t>
            </a:r>
          </a:p>
          <a:p>
            <a:endParaRPr lang="en-US" dirty="0"/>
          </a:p>
        </p:txBody>
      </p:sp>
    </p:spTree>
    <p:extLst>
      <p:ext uri="{BB962C8B-B14F-4D97-AF65-F5344CB8AC3E}">
        <p14:creationId xmlns:p14="http://schemas.microsoft.com/office/powerpoint/2010/main" val="2993274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213D1-8C8E-4052-B078-4F94E2285E0A}"/>
              </a:ext>
            </a:extLst>
          </p:cNvPr>
          <p:cNvSpPr>
            <a:spLocks noGrp="1"/>
          </p:cNvSpPr>
          <p:nvPr>
            <p:ph type="title"/>
          </p:nvPr>
        </p:nvSpPr>
        <p:spPr>
          <a:xfrm>
            <a:off x="385175" y="-95066"/>
            <a:ext cx="10515600" cy="1325563"/>
          </a:xfrm>
        </p:spPr>
        <p:txBody>
          <a:bodyPr/>
          <a:lstStyle/>
          <a:p>
            <a:r>
              <a:rPr lang="en-US" dirty="0"/>
              <a:t>Localizing multiple objects</a:t>
            </a:r>
          </a:p>
        </p:txBody>
      </p:sp>
      <p:pic>
        <p:nvPicPr>
          <p:cNvPr id="8" name="Picture 7">
            <a:extLst>
              <a:ext uri="{FF2B5EF4-FFF2-40B4-BE49-F238E27FC236}">
                <a16:creationId xmlns:a16="http://schemas.microsoft.com/office/drawing/2014/main" id="{FA0D07F2-522F-4807-B9F1-7238241F1337}"/>
              </a:ext>
            </a:extLst>
          </p:cNvPr>
          <p:cNvPicPr>
            <a:picLocks noChangeAspect="1"/>
          </p:cNvPicPr>
          <p:nvPr/>
        </p:nvPicPr>
        <p:blipFill>
          <a:blip r:embed="rId2"/>
          <a:stretch>
            <a:fillRect/>
          </a:stretch>
        </p:blipFill>
        <p:spPr>
          <a:xfrm>
            <a:off x="385175" y="953444"/>
            <a:ext cx="5582689" cy="5582689"/>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5B30A64-F798-4E75-B428-7CF35A42B824}"/>
                  </a:ext>
                </a:extLst>
              </p:cNvPr>
              <p:cNvSpPr txBox="1"/>
              <p:nvPr/>
            </p:nvSpPr>
            <p:spPr>
              <a:xfrm>
                <a:off x="8670178" y="911596"/>
                <a:ext cx="1123961" cy="47267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𝑦</m:t>
                      </m:r>
                      <m:r>
                        <a:rPr lang="en-US" sz="2000" b="0" i="1" smtClean="0">
                          <a:latin typeface="Cambria Math" panose="02040503050406030204" pitchFamily="18" charset="0"/>
                        </a:rPr>
                        <m:t>=</m:t>
                      </m:r>
                      <m:d>
                        <m:dPr>
                          <m:begChr m:val="["/>
                          <m:endChr m:val="]"/>
                          <m:ctrlPr>
                            <a:rPr lang="en-US" sz="2000" i="1" smtClean="0">
                              <a:latin typeface="Cambria Math" panose="02040503050406030204" pitchFamily="18" charset="0"/>
                            </a:rPr>
                          </m:ctrlPr>
                        </m:dPr>
                        <m:e>
                          <m:m>
                            <m:mPr>
                              <m:mcs>
                                <m:mc>
                                  <m:mcPr>
                                    <m:count m:val="1"/>
                                    <m:mcJc m:val="center"/>
                                  </m:mcPr>
                                </m:mc>
                              </m:mcs>
                              <m:ctrlPr>
                                <a:rPr lang="en-US" sz="2000" i="1" smtClean="0">
                                  <a:latin typeface="Cambria Math" panose="02040503050406030204" pitchFamily="18" charset="0"/>
                                </a:rPr>
                              </m:ctrlPr>
                            </m:mPr>
                            <m:m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𝑐</m:t>
                                    </m:r>
                                    <m:r>
                                      <a:rPr lang="en-US" sz="2000" b="0" i="1" smtClean="0">
                                        <a:latin typeface="Cambria Math" panose="02040503050406030204" pitchFamily="18" charset="0"/>
                                      </a:rPr>
                                      <m:t>1</m:t>
                                    </m:r>
                                  </m:sub>
                                </m:sSub>
                              </m:e>
                            </m:mr>
                            <m:m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𝑥</m:t>
                                    </m:r>
                                    <m:r>
                                      <a:rPr lang="en-US" sz="2000" b="0" i="1" smtClean="0">
                                        <a:latin typeface="Cambria Math" panose="02040503050406030204" pitchFamily="18" charset="0"/>
                                      </a:rPr>
                                      <m:t>1</m:t>
                                    </m:r>
                                  </m:sub>
                                </m:sSub>
                              </m:e>
                            </m:mr>
                            <m:mr>
                              <m:e>
                                <m:m>
                                  <m:mPr>
                                    <m:mcs>
                                      <m:mc>
                                        <m:mcPr>
                                          <m:count m:val="1"/>
                                          <m:mcJc m:val="center"/>
                                        </m:mcPr>
                                      </m:mc>
                                    </m:mcs>
                                    <m:ctrlPr>
                                      <a:rPr lang="en-US" sz="2000" i="1" smtClean="0">
                                        <a:latin typeface="Cambria Math" panose="02040503050406030204" pitchFamily="18" charset="0"/>
                                      </a:rPr>
                                    </m:ctrlPr>
                                  </m:mPr>
                                  <m:m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𝑦</m:t>
                                          </m:r>
                                          <m:r>
                                            <a:rPr lang="en-US" sz="2000" b="0" i="1" smtClean="0">
                                              <a:latin typeface="Cambria Math" panose="02040503050406030204" pitchFamily="18" charset="0"/>
                                            </a:rPr>
                                            <m:t>1</m:t>
                                          </m:r>
                                        </m:sub>
                                      </m:sSub>
                                    </m:e>
                                  </m:mr>
                                  <m:m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𝑤</m:t>
                                          </m:r>
                                          <m:r>
                                            <a:rPr lang="en-US" sz="2000" b="0" i="1" smtClean="0">
                                              <a:latin typeface="Cambria Math" panose="02040503050406030204" pitchFamily="18" charset="0"/>
                                            </a:rPr>
                                            <m:t>1</m:t>
                                          </m:r>
                                        </m:sub>
                                      </m:sSub>
                                    </m:e>
                                  </m:mr>
                                  <m:mr>
                                    <m:e>
                                      <m:m>
                                        <m:mPr>
                                          <m:mcs>
                                            <m:mc>
                                              <m:mcPr>
                                                <m:count m:val="1"/>
                                                <m:mcJc m:val="center"/>
                                              </m:mcPr>
                                            </m:mc>
                                          </m:mcs>
                                          <m:ctrlPr>
                                            <a:rPr lang="en-US" sz="2000" i="1" smtClean="0">
                                              <a:latin typeface="Cambria Math" panose="02040503050406030204" pitchFamily="18" charset="0"/>
                                            </a:rPr>
                                          </m:ctrlPr>
                                        </m:mPr>
                                        <m:m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h</m:t>
                                                </m:r>
                                                <m:r>
                                                  <a:rPr lang="en-US" sz="2000" b="0" i="1" smtClean="0">
                                                    <a:latin typeface="Cambria Math" panose="02040503050406030204" pitchFamily="18" charset="0"/>
                                                  </a:rPr>
                                                  <m:t>1</m:t>
                                                </m:r>
                                              </m:sub>
                                            </m:sSub>
                                          </m:e>
                                        </m:mr>
                                        <m:m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11</m:t>
                                                </m:r>
                                              </m:sub>
                                            </m:sSub>
                                          </m:e>
                                        </m:mr>
                                        <m:mr>
                                          <m:e>
                                            <m:m>
                                              <m:mPr>
                                                <m:mcs>
                                                  <m:mc>
                                                    <m:mcPr>
                                                      <m:count m:val="1"/>
                                                      <m:mcJc m:val="center"/>
                                                    </m:mcPr>
                                                  </m:mc>
                                                </m:mcs>
                                                <m:ctrlPr>
                                                  <a:rPr lang="en-US" sz="2000" i="1" smtClean="0">
                                                    <a:latin typeface="Cambria Math" panose="02040503050406030204" pitchFamily="18" charset="0"/>
                                                  </a:rPr>
                                                </m:ctrlPr>
                                              </m:mPr>
                                              <m:m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21</m:t>
                                                      </m:r>
                                                    </m:sub>
                                                  </m:sSub>
                                                </m:e>
                                              </m:mr>
                                              <m:mr>
                                                <m:e>
                                                  <m:eqArr>
                                                    <m:eqArrPr>
                                                      <m:ctrlPr>
                                                        <a:rPr lang="en-US" sz="2000" i="1" smtClean="0">
                                                          <a:latin typeface="Cambria Math" panose="02040503050406030204" pitchFamily="18" charset="0"/>
                                                        </a:rPr>
                                                      </m:ctrlPr>
                                                    </m:eqArr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𝑐</m:t>
                                                          </m:r>
                                                        </m:e>
                                                        <m:sub>
                                                          <m:r>
                                                            <a:rPr lang="en-US" sz="2000" b="0" i="1" smtClean="0">
                                                              <a:latin typeface="Cambria Math" panose="02040503050406030204" pitchFamily="18" charset="0"/>
                                                            </a:rPr>
                                                            <m:t>31</m:t>
                                                          </m:r>
                                                        </m:sub>
                                                      </m:sSub>
                                                    </m:e>
                                                    <m:e>
                                                      <m:m>
                                                        <m:mPr>
                                                          <m:mcs>
                                                            <m:mc>
                                                              <m:mcPr>
                                                                <m:count m:val="1"/>
                                                                <m:mcJc m:val="center"/>
                                                              </m:mcPr>
                                                            </m:mc>
                                                          </m:mcs>
                                                          <m:ctrlPr>
                                                            <a:rPr lang="en-US" sz="2000" i="1">
                                                              <a:latin typeface="Cambria Math" panose="02040503050406030204" pitchFamily="18" charset="0"/>
                                                            </a:rPr>
                                                          </m:ctrlPr>
                                                        </m:mPr>
                                                        <m:mr>
                                                          <m:e>
                                                            <m:sSub>
                                                              <m:sSubPr>
                                                                <m:ctrlPr>
                                                                  <a:rPr lang="en-US" sz="2000" i="1">
                                                                    <a:latin typeface="Cambria Math" panose="02040503050406030204" pitchFamily="18" charset="0"/>
                                                                  </a:rPr>
                                                                </m:ctrlPr>
                                                              </m:sSubPr>
                                                              <m:e>
                                                                <m:r>
                                                                  <a:rPr lang="en-US" sz="2000" i="1">
                                                                    <a:latin typeface="Cambria Math" panose="02040503050406030204" pitchFamily="18" charset="0"/>
                                                                  </a:rPr>
                                                                  <m:t>𝑝</m:t>
                                                                </m:r>
                                                              </m:e>
                                                              <m:sub>
                                                                <m:r>
                                                                  <a:rPr lang="en-US" sz="2000" i="1">
                                                                    <a:latin typeface="Cambria Math" panose="02040503050406030204" pitchFamily="18" charset="0"/>
                                                                  </a:rPr>
                                                                  <m:t>𝑐</m:t>
                                                                </m:r>
                                                                <m:r>
                                                                  <a:rPr lang="en-US" sz="2000" b="0" i="1" smtClean="0">
                                                                    <a:latin typeface="Cambria Math" panose="02040503050406030204" pitchFamily="18" charset="0"/>
                                                                  </a:rPr>
                                                                  <m:t>2</m:t>
                                                                </m:r>
                                                              </m:sub>
                                                            </m:sSub>
                                                          </m:e>
                                                        </m:mr>
                                                        <m:mr>
                                                          <m:e>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𝑥</m:t>
                                                                </m:r>
                                                                <m:r>
                                                                  <a:rPr lang="en-US" sz="2000" b="0" i="1" smtClean="0">
                                                                    <a:latin typeface="Cambria Math" panose="02040503050406030204" pitchFamily="18" charset="0"/>
                                                                  </a:rPr>
                                                                  <m:t>2</m:t>
                                                                </m:r>
                                                              </m:sub>
                                                            </m:sSub>
                                                          </m:e>
                                                        </m:mr>
                                                        <m:mr>
                                                          <m:e>
                                                            <m:m>
                                                              <m:mPr>
                                                                <m:mcs>
                                                                  <m:mc>
                                                                    <m:mcPr>
                                                                      <m:count m:val="1"/>
                                                                      <m:mcJc m:val="center"/>
                                                                    </m:mcPr>
                                                                  </m:mc>
                                                                </m:mcs>
                                                                <m:ctrlPr>
                                                                  <a:rPr lang="en-US" sz="2000" i="1">
                                                                    <a:latin typeface="Cambria Math" panose="02040503050406030204" pitchFamily="18" charset="0"/>
                                                                  </a:rPr>
                                                                </m:ctrlPr>
                                                              </m:mPr>
                                                              <m:mr>
                                                                <m:e>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𝑦</m:t>
                                                                      </m:r>
                                                                      <m:r>
                                                                        <a:rPr lang="en-US" sz="2000" b="0" i="1" smtClean="0">
                                                                          <a:latin typeface="Cambria Math" panose="02040503050406030204" pitchFamily="18" charset="0"/>
                                                                        </a:rPr>
                                                                        <m:t>2</m:t>
                                                                      </m:r>
                                                                    </m:sub>
                                                                  </m:sSub>
                                                                </m:e>
                                                              </m:mr>
                                                              <m:mr>
                                                                <m:e>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𝑤</m:t>
                                                                      </m:r>
                                                                      <m:r>
                                                                        <a:rPr lang="en-US" sz="2000" b="0" i="1" smtClean="0">
                                                                          <a:latin typeface="Cambria Math" panose="02040503050406030204" pitchFamily="18" charset="0"/>
                                                                        </a:rPr>
                                                                        <m:t>2</m:t>
                                                                      </m:r>
                                                                    </m:sub>
                                                                  </m:sSub>
                                                                </m:e>
                                                              </m:mr>
                                                              <m:mr>
                                                                <m:e>
                                                                  <m:m>
                                                                    <m:mPr>
                                                                      <m:mcs>
                                                                        <m:mc>
                                                                          <m:mcPr>
                                                                            <m:count m:val="1"/>
                                                                            <m:mcJc m:val="center"/>
                                                                          </m:mcPr>
                                                                        </m:mc>
                                                                      </m:mcs>
                                                                      <m:ctrlPr>
                                                                        <a:rPr lang="en-US" sz="2000" i="1">
                                                                          <a:latin typeface="Cambria Math" panose="02040503050406030204" pitchFamily="18" charset="0"/>
                                                                        </a:rPr>
                                                                      </m:ctrlPr>
                                                                    </m:mPr>
                                                                    <m:mr>
                                                                      <m:e>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h</m:t>
                                                                            </m:r>
                                                                            <m:r>
                                                                              <a:rPr lang="en-US" sz="2000" b="0" i="1" smtClean="0">
                                                                                <a:latin typeface="Cambria Math" panose="02040503050406030204" pitchFamily="18" charset="0"/>
                                                                              </a:rPr>
                                                                              <m:t>2</m:t>
                                                                            </m:r>
                                                                          </m:sub>
                                                                        </m:sSub>
                                                                      </m:e>
                                                                    </m:mr>
                                                                    <m:mr>
                                                                      <m:e>
                                                                        <m:sSub>
                                                                          <m:sSubPr>
                                                                            <m:ctrlPr>
                                                                              <a:rPr lang="en-US" sz="2000" i="1">
                                                                                <a:latin typeface="Cambria Math" panose="02040503050406030204" pitchFamily="18" charset="0"/>
                                                                              </a:rPr>
                                                                            </m:ctrlPr>
                                                                          </m:sSubPr>
                                                                          <m:e>
                                                                            <m:r>
                                                                              <a:rPr lang="en-US" sz="2000" i="1">
                                                                                <a:latin typeface="Cambria Math" panose="02040503050406030204" pitchFamily="18" charset="0"/>
                                                                              </a:rPr>
                                                                              <m:t>𝑐</m:t>
                                                                            </m:r>
                                                                          </m:e>
                                                                          <m:sub>
                                                                            <m:r>
                                                                              <a:rPr lang="en-US" sz="2000" i="1">
                                                                                <a:latin typeface="Cambria Math" panose="02040503050406030204" pitchFamily="18" charset="0"/>
                                                                              </a:rPr>
                                                                              <m:t>1</m:t>
                                                                            </m:r>
                                                                            <m:r>
                                                                              <a:rPr lang="en-US" sz="2000" b="0" i="1" smtClean="0">
                                                                                <a:latin typeface="Cambria Math" panose="02040503050406030204" pitchFamily="18" charset="0"/>
                                                                              </a:rPr>
                                                                              <m:t>2</m:t>
                                                                            </m:r>
                                                                          </m:sub>
                                                                        </m:sSub>
                                                                      </m:e>
                                                                    </m:mr>
                                                                    <m:mr>
                                                                      <m:e>
                                                                        <m:m>
                                                                          <m:mPr>
                                                                            <m:mcs>
                                                                              <m:mc>
                                                                                <m:mcPr>
                                                                                  <m:count m:val="1"/>
                                                                                  <m:mcJc m:val="center"/>
                                                                                </m:mcPr>
                                                                              </m:mc>
                                                                            </m:mcs>
                                                                            <m:ctrlPr>
                                                                              <a:rPr lang="en-US" sz="2000" i="1">
                                                                                <a:latin typeface="Cambria Math" panose="02040503050406030204" pitchFamily="18" charset="0"/>
                                                                              </a:rPr>
                                                                            </m:ctrlPr>
                                                                          </m:mPr>
                                                                          <m:mr>
                                                                            <m:e>
                                                                              <m:sSub>
                                                                                <m:sSubPr>
                                                                                  <m:ctrlPr>
                                                                                    <a:rPr lang="en-US" sz="2000" i="1">
                                                                                      <a:latin typeface="Cambria Math" panose="02040503050406030204" pitchFamily="18" charset="0"/>
                                                                                    </a:rPr>
                                                                                  </m:ctrlPr>
                                                                                </m:sSubPr>
                                                                                <m:e>
                                                                                  <m:r>
                                                                                    <a:rPr lang="en-US" sz="2000" i="1">
                                                                                      <a:latin typeface="Cambria Math" panose="02040503050406030204" pitchFamily="18" charset="0"/>
                                                                                    </a:rPr>
                                                                                    <m:t>𝑐</m:t>
                                                                                  </m:r>
                                                                                </m:e>
                                                                                <m:sub>
                                                                                  <m:r>
                                                                                    <a:rPr lang="en-US" sz="2000" i="1">
                                                                                      <a:latin typeface="Cambria Math" panose="02040503050406030204" pitchFamily="18" charset="0"/>
                                                                                    </a:rPr>
                                                                                    <m:t>2</m:t>
                                                                                  </m:r>
                                                                                  <m:r>
                                                                                    <a:rPr lang="en-US" sz="2000" b="0" i="1" smtClean="0">
                                                                                      <a:latin typeface="Cambria Math" panose="02040503050406030204" pitchFamily="18" charset="0"/>
                                                                                    </a:rPr>
                                                                                    <m:t>2</m:t>
                                                                                  </m:r>
                                                                                </m:sub>
                                                                              </m:sSub>
                                                                            </m:e>
                                                                          </m:mr>
                                                                          <m:mr>
                                                                            <m:e>
                                                                              <m:sSub>
                                                                                <m:sSubPr>
                                                                                  <m:ctrlPr>
                                                                                    <a:rPr lang="en-US" sz="2000" i="1">
                                                                                      <a:latin typeface="Cambria Math" panose="02040503050406030204" pitchFamily="18" charset="0"/>
                                                                                    </a:rPr>
                                                                                  </m:ctrlPr>
                                                                                </m:sSubPr>
                                                                                <m:e>
                                                                                  <m:r>
                                                                                    <a:rPr lang="en-US" sz="2000" i="1">
                                                                                      <a:latin typeface="Cambria Math" panose="02040503050406030204" pitchFamily="18" charset="0"/>
                                                                                    </a:rPr>
                                                                                    <m:t>𝑐</m:t>
                                                                                  </m:r>
                                                                                </m:e>
                                                                                <m:sub>
                                                                                  <m:r>
                                                                                    <a:rPr lang="en-US" sz="2000" i="1">
                                                                                      <a:latin typeface="Cambria Math" panose="02040503050406030204" pitchFamily="18" charset="0"/>
                                                                                    </a:rPr>
                                                                                    <m:t>3</m:t>
                                                                                  </m:r>
                                                                                  <m:r>
                                                                                    <a:rPr lang="en-US" sz="2000" b="0" i="1" smtClean="0">
                                                                                      <a:latin typeface="Cambria Math" panose="02040503050406030204" pitchFamily="18" charset="0"/>
                                                                                    </a:rPr>
                                                                                    <m:t>2</m:t>
                                                                                  </m:r>
                                                                                </m:sub>
                                                                              </m:sSub>
                                                                            </m:e>
                                                                          </m:mr>
                                                                        </m:m>
                                                                      </m:e>
                                                                    </m:mr>
                                                                  </m:m>
                                                                </m:e>
                                                              </m:mr>
                                                            </m:m>
                                                          </m:e>
                                                        </m:mr>
                                                      </m:m>
                                                    </m:e>
                                                  </m:eqArr>
                                                </m:e>
                                              </m:mr>
                                            </m:m>
                                          </m:e>
                                        </m:mr>
                                      </m:m>
                                    </m:e>
                                  </m:mr>
                                </m:m>
                              </m:e>
                            </m:mr>
                          </m:m>
                        </m:e>
                      </m:d>
                    </m:oMath>
                  </m:oMathPara>
                </a14:m>
                <a:endParaRPr lang="en-US" sz="2800" dirty="0"/>
              </a:p>
            </p:txBody>
          </p:sp>
        </mc:Choice>
        <mc:Fallback xmlns="">
          <p:sp>
            <p:nvSpPr>
              <p:cNvPr id="11" name="TextBox 10">
                <a:extLst>
                  <a:ext uri="{FF2B5EF4-FFF2-40B4-BE49-F238E27FC236}">
                    <a16:creationId xmlns:a16="http://schemas.microsoft.com/office/drawing/2014/main" id="{A5B30A64-F798-4E75-B428-7CF35A42B824}"/>
                  </a:ext>
                </a:extLst>
              </p:cNvPr>
              <p:cNvSpPr txBox="1">
                <a:spLocks noRot="1" noChangeAspect="1" noMove="1" noResize="1" noEditPoints="1" noAdjustHandles="1" noChangeArrowheads="1" noChangeShapeType="1" noTextEdit="1"/>
              </p:cNvSpPr>
              <p:nvPr/>
            </p:nvSpPr>
            <p:spPr>
              <a:xfrm>
                <a:off x="8670178" y="911596"/>
                <a:ext cx="1123961" cy="4726743"/>
              </a:xfrm>
              <a:prstGeom prst="rect">
                <a:avLst/>
              </a:prstGeom>
              <a:blipFill>
                <a:blip r:embed="rId3"/>
                <a:stretch>
                  <a:fillRect/>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A8C54109-C1F3-4CF9-9F6F-21B210B160D6}"/>
              </a:ext>
            </a:extLst>
          </p:cNvPr>
          <p:cNvGrpSpPr/>
          <p:nvPr/>
        </p:nvGrpSpPr>
        <p:grpSpPr>
          <a:xfrm>
            <a:off x="6842644" y="2435727"/>
            <a:ext cx="2091846" cy="2906624"/>
            <a:chOff x="6463431" y="3570724"/>
            <a:chExt cx="2091846" cy="2906624"/>
          </a:xfrm>
        </p:grpSpPr>
        <p:sp>
          <p:nvSpPr>
            <p:cNvPr id="15" name="Rectangle 14">
              <a:extLst>
                <a:ext uri="{FF2B5EF4-FFF2-40B4-BE49-F238E27FC236}">
                  <a16:creationId xmlns:a16="http://schemas.microsoft.com/office/drawing/2014/main" id="{39707B34-13B9-4005-86E4-E7226335A67E}"/>
                </a:ext>
              </a:extLst>
            </p:cNvPr>
            <p:cNvSpPr/>
            <p:nvPr/>
          </p:nvSpPr>
          <p:spPr>
            <a:xfrm>
              <a:off x="6463431" y="3570724"/>
              <a:ext cx="2091846" cy="7452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05D6773-26C7-405A-B7A9-F1962FC127C5}"/>
                </a:ext>
              </a:extLst>
            </p:cNvPr>
            <p:cNvSpPr/>
            <p:nvPr/>
          </p:nvSpPr>
          <p:spPr>
            <a:xfrm rot="5400000">
              <a:off x="6517851" y="5058775"/>
              <a:ext cx="2091846" cy="7452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DC48ABD-A8C8-402C-9E3B-BA75DAA6E959}"/>
                </a:ext>
              </a:extLst>
            </p:cNvPr>
            <p:cNvSpPr txBox="1"/>
            <p:nvPr/>
          </p:nvSpPr>
          <p:spPr>
            <a:xfrm>
              <a:off x="6805151" y="3758707"/>
              <a:ext cx="1422505" cy="369332"/>
            </a:xfrm>
            <a:prstGeom prst="rect">
              <a:avLst/>
            </a:prstGeom>
            <a:noFill/>
          </p:spPr>
          <p:txBody>
            <a:bodyPr wrap="none" rtlCol="0">
              <a:spAutoFit/>
            </a:bodyPr>
            <a:lstStyle/>
            <a:p>
              <a:r>
                <a:rPr lang="en-US" dirty="0"/>
                <a:t>Anchor box 1</a:t>
              </a:r>
            </a:p>
          </p:txBody>
        </p:sp>
        <p:sp>
          <p:nvSpPr>
            <p:cNvPr id="18" name="TextBox 17">
              <a:extLst>
                <a:ext uri="{FF2B5EF4-FFF2-40B4-BE49-F238E27FC236}">
                  <a16:creationId xmlns:a16="http://schemas.microsoft.com/office/drawing/2014/main" id="{4DF61653-5CBB-459D-922A-11E5456B9B70}"/>
                </a:ext>
              </a:extLst>
            </p:cNvPr>
            <p:cNvSpPr txBox="1"/>
            <p:nvPr/>
          </p:nvSpPr>
          <p:spPr>
            <a:xfrm>
              <a:off x="6834229" y="5168388"/>
              <a:ext cx="1422505" cy="369332"/>
            </a:xfrm>
            <a:prstGeom prst="rect">
              <a:avLst/>
            </a:prstGeom>
            <a:noFill/>
          </p:spPr>
          <p:txBody>
            <a:bodyPr wrap="none" rtlCol="0">
              <a:spAutoFit/>
            </a:bodyPr>
            <a:lstStyle/>
            <a:p>
              <a:r>
                <a:rPr lang="en-US" dirty="0"/>
                <a:t>Anchor box 2</a:t>
              </a:r>
            </a:p>
          </p:txBody>
        </p:sp>
      </p:grpSp>
      <p:sp>
        <p:nvSpPr>
          <p:cNvPr id="21" name="TextBox 20">
            <a:extLst>
              <a:ext uri="{FF2B5EF4-FFF2-40B4-BE49-F238E27FC236}">
                <a16:creationId xmlns:a16="http://schemas.microsoft.com/office/drawing/2014/main" id="{01A407B5-9DE7-4711-B149-73B39547FCF7}"/>
              </a:ext>
            </a:extLst>
          </p:cNvPr>
          <p:cNvSpPr txBox="1"/>
          <p:nvPr/>
        </p:nvSpPr>
        <p:spPr>
          <a:xfrm>
            <a:off x="10247094" y="1883400"/>
            <a:ext cx="955711" cy="369332"/>
          </a:xfrm>
          <a:prstGeom prst="rect">
            <a:avLst/>
          </a:prstGeom>
          <a:noFill/>
        </p:spPr>
        <p:txBody>
          <a:bodyPr wrap="none" rtlCol="0">
            <a:spAutoFit/>
          </a:bodyPr>
          <a:lstStyle/>
          <a:p>
            <a:r>
              <a:rPr lang="en-US" dirty="0"/>
              <a:t>anchor1</a:t>
            </a:r>
          </a:p>
        </p:txBody>
      </p:sp>
      <p:sp>
        <p:nvSpPr>
          <p:cNvPr id="22" name="Right Brace 21">
            <a:extLst>
              <a:ext uri="{FF2B5EF4-FFF2-40B4-BE49-F238E27FC236}">
                <a16:creationId xmlns:a16="http://schemas.microsoft.com/office/drawing/2014/main" id="{F9FC206B-E368-476B-AC6F-3CA011B7395A}"/>
              </a:ext>
            </a:extLst>
          </p:cNvPr>
          <p:cNvSpPr/>
          <p:nvPr/>
        </p:nvSpPr>
        <p:spPr>
          <a:xfrm>
            <a:off x="9810153" y="970766"/>
            <a:ext cx="333018" cy="227973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Right Brace 22">
            <a:extLst>
              <a:ext uri="{FF2B5EF4-FFF2-40B4-BE49-F238E27FC236}">
                <a16:creationId xmlns:a16="http://schemas.microsoft.com/office/drawing/2014/main" id="{4EC4ECC0-605A-4316-9C5C-DEE9D8591341}"/>
              </a:ext>
            </a:extLst>
          </p:cNvPr>
          <p:cNvSpPr/>
          <p:nvPr/>
        </p:nvSpPr>
        <p:spPr>
          <a:xfrm>
            <a:off x="9854108" y="3274967"/>
            <a:ext cx="333018" cy="227973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a:extLst>
              <a:ext uri="{FF2B5EF4-FFF2-40B4-BE49-F238E27FC236}">
                <a16:creationId xmlns:a16="http://schemas.microsoft.com/office/drawing/2014/main" id="{B0C56E3C-420A-48AA-B698-146F08DEC926}"/>
              </a:ext>
            </a:extLst>
          </p:cNvPr>
          <p:cNvSpPr txBox="1"/>
          <p:nvPr/>
        </p:nvSpPr>
        <p:spPr>
          <a:xfrm>
            <a:off x="10247095" y="4205529"/>
            <a:ext cx="955711" cy="369332"/>
          </a:xfrm>
          <a:prstGeom prst="rect">
            <a:avLst/>
          </a:prstGeom>
          <a:noFill/>
        </p:spPr>
        <p:txBody>
          <a:bodyPr wrap="none" rtlCol="0">
            <a:spAutoFit/>
          </a:bodyPr>
          <a:lstStyle/>
          <a:p>
            <a:r>
              <a:rPr lang="en-US" dirty="0"/>
              <a:t>anchor2</a:t>
            </a:r>
          </a:p>
        </p:txBody>
      </p:sp>
    </p:spTree>
    <p:extLst>
      <p:ext uri="{BB962C8B-B14F-4D97-AF65-F5344CB8AC3E}">
        <p14:creationId xmlns:p14="http://schemas.microsoft.com/office/powerpoint/2010/main" val="1358829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p:bldP spid="21" grpId="0"/>
      <p:bldP spid="22" grpId="0" animBg="1"/>
      <p:bldP spid="23" grpId="0" animBg="1"/>
      <p:bldP spid="2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213D1-8C8E-4052-B078-4F94E2285E0A}"/>
              </a:ext>
            </a:extLst>
          </p:cNvPr>
          <p:cNvSpPr>
            <a:spLocks noGrp="1"/>
          </p:cNvSpPr>
          <p:nvPr>
            <p:ph type="title"/>
          </p:nvPr>
        </p:nvSpPr>
        <p:spPr>
          <a:xfrm>
            <a:off x="385175" y="-95066"/>
            <a:ext cx="10515600" cy="1325563"/>
          </a:xfrm>
        </p:spPr>
        <p:txBody>
          <a:bodyPr/>
          <a:lstStyle/>
          <a:p>
            <a:r>
              <a:rPr lang="en-US" dirty="0"/>
              <a:t>Localizing multiple objects</a:t>
            </a:r>
          </a:p>
        </p:txBody>
      </p:sp>
      <p:pic>
        <p:nvPicPr>
          <p:cNvPr id="8" name="Picture 7">
            <a:extLst>
              <a:ext uri="{FF2B5EF4-FFF2-40B4-BE49-F238E27FC236}">
                <a16:creationId xmlns:a16="http://schemas.microsoft.com/office/drawing/2014/main" id="{FA0D07F2-522F-4807-B9F1-7238241F1337}"/>
              </a:ext>
            </a:extLst>
          </p:cNvPr>
          <p:cNvPicPr>
            <a:picLocks noChangeAspect="1"/>
          </p:cNvPicPr>
          <p:nvPr/>
        </p:nvPicPr>
        <p:blipFill>
          <a:blip r:embed="rId2"/>
          <a:stretch>
            <a:fillRect/>
          </a:stretch>
        </p:blipFill>
        <p:spPr>
          <a:xfrm>
            <a:off x="385175" y="953444"/>
            <a:ext cx="5582689" cy="5582689"/>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5B30A64-F798-4E75-B428-7CF35A42B824}"/>
                  </a:ext>
                </a:extLst>
              </p:cNvPr>
              <p:cNvSpPr txBox="1"/>
              <p:nvPr/>
            </p:nvSpPr>
            <p:spPr>
              <a:xfrm>
                <a:off x="8368147" y="1907415"/>
                <a:ext cx="1151789" cy="47988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00B050"/>
                          </a:solidFill>
                          <a:latin typeface="Cambria Math" panose="02040503050406030204" pitchFamily="18" charset="0"/>
                        </a:rPr>
                        <m:t>𝒚</m:t>
                      </m:r>
                      <m:r>
                        <a:rPr lang="en-US" sz="2000" b="1" i="1" smtClean="0">
                          <a:solidFill>
                            <a:srgbClr val="00B050"/>
                          </a:solidFill>
                          <a:latin typeface="Cambria Math" panose="02040503050406030204" pitchFamily="18" charset="0"/>
                        </a:rPr>
                        <m:t>=</m:t>
                      </m:r>
                      <m:d>
                        <m:dPr>
                          <m:begChr m:val="["/>
                          <m:endChr m:val="]"/>
                          <m:ctrlPr>
                            <a:rPr lang="en-US" sz="2000" b="1" i="1" smtClean="0">
                              <a:solidFill>
                                <a:srgbClr val="00B050"/>
                              </a:solidFill>
                              <a:latin typeface="Cambria Math" panose="02040503050406030204" pitchFamily="18" charset="0"/>
                            </a:rPr>
                          </m:ctrlPr>
                        </m:dPr>
                        <m:e>
                          <m:m>
                            <m:mPr>
                              <m:mcs>
                                <m:mc>
                                  <m:mcPr>
                                    <m:count m:val="1"/>
                                    <m:mcJc m:val="center"/>
                                  </m:mcPr>
                                </m:mc>
                              </m:mcs>
                              <m:ctrlPr>
                                <a:rPr lang="en-US" sz="2000" b="1" i="1" smtClean="0">
                                  <a:solidFill>
                                    <a:srgbClr val="00B050"/>
                                  </a:solidFill>
                                  <a:latin typeface="Cambria Math" panose="02040503050406030204" pitchFamily="18" charset="0"/>
                                </a:rPr>
                              </m:ctrlPr>
                            </m:mPr>
                            <m:mr>
                              <m:e>
                                <m:r>
                                  <m:rPr>
                                    <m:brk m:alnAt="7"/>
                                  </m:rPr>
                                  <a:rPr lang="en-US" sz="2000" b="1" i="1" smtClean="0">
                                    <a:solidFill>
                                      <a:srgbClr val="00B050"/>
                                    </a:solidFill>
                                    <a:latin typeface="Cambria Math" panose="02040503050406030204" pitchFamily="18" charset="0"/>
                                  </a:rPr>
                                  <m:t>𝟏</m:t>
                                </m:r>
                              </m:e>
                            </m:mr>
                            <m:mr>
                              <m:e>
                                <m:sSub>
                                  <m:sSubPr>
                                    <m:ctrlPr>
                                      <a:rPr lang="en-US" sz="2000" b="1" i="1" smtClean="0">
                                        <a:solidFill>
                                          <a:srgbClr val="00B050"/>
                                        </a:solidFill>
                                        <a:latin typeface="Cambria Math" panose="02040503050406030204" pitchFamily="18" charset="0"/>
                                      </a:rPr>
                                    </m:ctrlPr>
                                  </m:sSubPr>
                                  <m:e>
                                    <m:r>
                                      <a:rPr lang="en-US" sz="2000" b="1" i="1" smtClean="0">
                                        <a:solidFill>
                                          <a:srgbClr val="00B050"/>
                                        </a:solidFill>
                                        <a:latin typeface="Cambria Math" panose="02040503050406030204" pitchFamily="18" charset="0"/>
                                      </a:rPr>
                                      <m:t>𝒃</m:t>
                                    </m:r>
                                  </m:e>
                                  <m:sub>
                                    <m:r>
                                      <a:rPr lang="en-US" sz="2000" b="1" i="1" smtClean="0">
                                        <a:solidFill>
                                          <a:srgbClr val="00B050"/>
                                        </a:solidFill>
                                        <a:latin typeface="Cambria Math" panose="02040503050406030204" pitchFamily="18" charset="0"/>
                                      </a:rPr>
                                      <m:t>𝒙</m:t>
                                    </m:r>
                                    <m:r>
                                      <a:rPr lang="en-US" sz="2000" b="1" i="1" smtClean="0">
                                        <a:solidFill>
                                          <a:srgbClr val="00B050"/>
                                        </a:solidFill>
                                        <a:latin typeface="Cambria Math" panose="02040503050406030204" pitchFamily="18" charset="0"/>
                                      </a:rPr>
                                      <m:t>𝟏</m:t>
                                    </m:r>
                                  </m:sub>
                                </m:sSub>
                              </m:e>
                            </m:mr>
                            <m:mr>
                              <m:e>
                                <m:m>
                                  <m:mPr>
                                    <m:mcs>
                                      <m:mc>
                                        <m:mcPr>
                                          <m:count m:val="1"/>
                                          <m:mcJc m:val="center"/>
                                        </m:mcPr>
                                      </m:mc>
                                    </m:mcs>
                                    <m:ctrlPr>
                                      <a:rPr lang="en-US" sz="2000" b="1" i="1" smtClean="0">
                                        <a:solidFill>
                                          <a:srgbClr val="00B050"/>
                                        </a:solidFill>
                                        <a:latin typeface="Cambria Math" panose="02040503050406030204" pitchFamily="18" charset="0"/>
                                      </a:rPr>
                                    </m:ctrlPr>
                                  </m:mPr>
                                  <m:mr>
                                    <m:e>
                                      <m:sSub>
                                        <m:sSubPr>
                                          <m:ctrlPr>
                                            <a:rPr lang="en-US" sz="2000" b="1" i="1" smtClean="0">
                                              <a:solidFill>
                                                <a:srgbClr val="00B050"/>
                                              </a:solidFill>
                                              <a:latin typeface="Cambria Math" panose="02040503050406030204" pitchFamily="18" charset="0"/>
                                            </a:rPr>
                                          </m:ctrlPr>
                                        </m:sSubPr>
                                        <m:e>
                                          <m:r>
                                            <a:rPr lang="en-US" sz="2000" b="1" i="1" smtClean="0">
                                              <a:solidFill>
                                                <a:srgbClr val="00B050"/>
                                              </a:solidFill>
                                              <a:latin typeface="Cambria Math" panose="02040503050406030204" pitchFamily="18" charset="0"/>
                                            </a:rPr>
                                            <m:t>𝒃</m:t>
                                          </m:r>
                                        </m:e>
                                        <m:sub>
                                          <m:r>
                                            <a:rPr lang="en-US" sz="2000" b="1" i="1" smtClean="0">
                                              <a:solidFill>
                                                <a:srgbClr val="00B050"/>
                                              </a:solidFill>
                                              <a:latin typeface="Cambria Math" panose="02040503050406030204" pitchFamily="18" charset="0"/>
                                            </a:rPr>
                                            <m:t>𝒚</m:t>
                                          </m:r>
                                          <m:r>
                                            <a:rPr lang="en-US" sz="2000" b="1" i="1" smtClean="0">
                                              <a:solidFill>
                                                <a:srgbClr val="00B050"/>
                                              </a:solidFill>
                                              <a:latin typeface="Cambria Math" panose="02040503050406030204" pitchFamily="18" charset="0"/>
                                            </a:rPr>
                                            <m:t>𝟏</m:t>
                                          </m:r>
                                        </m:sub>
                                      </m:sSub>
                                    </m:e>
                                  </m:mr>
                                  <m:mr>
                                    <m:e>
                                      <m:sSub>
                                        <m:sSubPr>
                                          <m:ctrlPr>
                                            <a:rPr lang="en-US" sz="2000" b="1" i="1" smtClean="0">
                                              <a:solidFill>
                                                <a:srgbClr val="00B050"/>
                                              </a:solidFill>
                                              <a:latin typeface="Cambria Math" panose="02040503050406030204" pitchFamily="18" charset="0"/>
                                            </a:rPr>
                                          </m:ctrlPr>
                                        </m:sSubPr>
                                        <m:e>
                                          <m:r>
                                            <a:rPr lang="en-US" sz="2000" b="1" i="1" smtClean="0">
                                              <a:solidFill>
                                                <a:srgbClr val="00B050"/>
                                              </a:solidFill>
                                              <a:latin typeface="Cambria Math" panose="02040503050406030204" pitchFamily="18" charset="0"/>
                                            </a:rPr>
                                            <m:t>𝒃</m:t>
                                          </m:r>
                                        </m:e>
                                        <m:sub>
                                          <m:r>
                                            <a:rPr lang="en-US" sz="2000" b="1" i="1" smtClean="0">
                                              <a:solidFill>
                                                <a:srgbClr val="00B050"/>
                                              </a:solidFill>
                                              <a:latin typeface="Cambria Math" panose="02040503050406030204" pitchFamily="18" charset="0"/>
                                            </a:rPr>
                                            <m:t>𝒘</m:t>
                                          </m:r>
                                          <m:r>
                                            <a:rPr lang="en-US" sz="2000" b="1" i="1" smtClean="0">
                                              <a:solidFill>
                                                <a:srgbClr val="00B050"/>
                                              </a:solidFill>
                                              <a:latin typeface="Cambria Math" panose="02040503050406030204" pitchFamily="18" charset="0"/>
                                            </a:rPr>
                                            <m:t>𝟏</m:t>
                                          </m:r>
                                        </m:sub>
                                      </m:sSub>
                                    </m:e>
                                  </m:mr>
                                  <m:mr>
                                    <m:e>
                                      <m:m>
                                        <m:mPr>
                                          <m:mcs>
                                            <m:mc>
                                              <m:mcPr>
                                                <m:count m:val="1"/>
                                                <m:mcJc m:val="center"/>
                                              </m:mcPr>
                                            </m:mc>
                                          </m:mcs>
                                          <m:ctrlPr>
                                            <a:rPr lang="en-US" sz="2000" b="1" i="1" smtClean="0">
                                              <a:solidFill>
                                                <a:srgbClr val="00B050"/>
                                              </a:solidFill>
                                              <a:latin typeface="Cambria Math" panose="02040503050406030204" pitchFamily="18" charset="0"/>
                                            </a:rPr>
                                          </m:ctrlPr>
                                        </m:mPr>
                                        <m:mr>
                                          <m:e>
                                            <m:sSub>
                                              <m:sSubPr>
                                                <m:ctrlPr>
                                                  <a:rPr lang="en-US" sz="2000" b="1" i="1" smtClean="0">
                                                    <a:solidFill>
                                                      <a:srgbClr val="00B050"/>
                                                    </a:solidFill>
                                                    <a:latin typeface="Cambria Math" panose="02040503050406030204" pitchFamily="18" charset="0"/>
                                                  </a:rPr>
                                                </m:ctrlPr>
                                              </m:sSubPr>
                                              <m:e>
                                                <m:r>
                                                  <a:rPr lang="en-US" sz="2000" b="1" i="1" smtClean="0">
                                                    <a:solidFill>
                                                      <a:srgbClr val="00B050"/>
                                                    </a:solidFill>
                                                    <a:latin typeface="Cambria Math" panose="02040503050406030204" pitchFamily="18" charset="0"/>
                                                  </a:rPr>
                                                  <m:t>𝒃</m:t>
                                                </m:r>
                                              </m:e>
                                              <m:sub>
                                                <m:r>
                                                  <a:rPr lang="en-US" sz="2000" b="1" i="1" smtClean="0">
                                                    <a:solidFill>
                                                      <a:srgbClr val="00B050"/>
                                                    </a:solidFill>
                                                    <a:latin typeface="Cambria Math" panose="02040503050406030204" pitchFamily="18" charset="0"/>
                                                  </a:rPr>
                                                  <m:t>𝒉</m:t>
                                                </m:r>
                                                <m:r>
                                                  <a:rPr lang="en-US" sz="2000" b="1" i="1" smtClean="0">
                                                    <a:solidFill>
                                                      <a:srgbClr val="00B050"/>
                                                    </a:solidFill>
                                                    <a:latin typeface="Cambria Math" panose="02040503050406030204" pitchFamily="18" charset="0"/>
                                                  </a:rPr>
                                                  <m:t>𝟏</m:t>
                                                </m:r>
                                              </m:sub>
                                            </m:sSub>
                                          </m:e>
                                        </m:mr>
                                        <m:mr>
                                          <m:e>
                                            <m:r>
                                              <a:rPr lang="en-US" sz="2000" b="1" i="1" smtClean="0">
                                                <a:solidFill>
                                                  <a:srgbClr val="00B050"/>
                                                </a:solidFill>
                                                <a:latin typeface="Cambria Math" panose="02040503050406030204" pitchFamily="18" charset="0"/>
                                              </a:rPr>
                                              <m:t>𝟎</m:t>
                                            </m:r>
                                          </m:e>
                                        </m:mr>
                                        <m:mr>
                                          <m:e>
                                            <m:m>
                                              <m:mPr>
                                                <m:mcs>
                                                  <m:mc>
                                                    <m:mcPr>
                                                      <m:count m:val="1"/>
                                                      <m:mcJc m:val="center"/>
                                                    </m:mcPr>
                                                  </m:mc>
                                                </m:mcs>
                                                <m:ctrlPr>
                                                  <a:rPr lang="en-US" sz="2000" b="1" i="1" smtClean="0">
                                                    <a:solidFill>
                                                      <a:srgbClr val="00B050"/>
                                                    </a:solidFill>
                                                    <a:latin typeface="Cambria Math" panose="02040503050406030204" pitchFamily="18" charset="0"/>
                                                  </a:rPr>
                                                </m:ctrlPr>
                                              </m:mPr>
                                              <m:mr>
                                                <m:e>
                                                  <m:r>
                                                    <a:rPr lang="en-US" sz="2000" b="1" i="1" smtClean="0">
                                                      <a:solidFill>
                                                        <a:srgbClr val="00B050"/>
                                                      </a:solidFill>
                                                      <a:latin typeface="Cambria Math" panose="02040503050406030204" pitchFamily="18" charset="0"/>
                                                    </a:rPr>
                                                    <m:t>𝟏</m:t>
                                                  </m:r>
                                                </m:e>
                                              </m:mr>
                                              <m:mr>
                                                <m:e>
                                                  <m:eqArr>
                                                    <m:eqArrPr>
                                                      <m:ctrlPr>
                                                        <a:rPr lang="en-US" sz="2000" b="1" i="1" smtClean="0">
                                                          <a:solidFill>
                                                            <a:srgbClr val="00B050"/>
                                                          </a:solidFill>
                                                          <a:latin typeface="Cambria Math" panose="02040503050406030204" pitchFamily="18" charset="0"/>
                                                        </a:rPr>
                                                      </m:ctrlPr>
                                                    </m:eqArrPr>
                                                    <m:e>
                                                      <m:r>
                                                        <a:rPr lang="en-US" sz="2000" b="1" i="1" smtClean="0">
                                                          <a:solidFill>
                                                            <a:srgbClr val="00B050"/>
                                                          </a:solidFill>
                                                          <a:latin typeface="Cambria Math" panose="02040503050406030204" pitchFamily="18" charset="0"/>
                                                        </a:rPr>
                                                        <m:t>𝟎</m:t>
                                                      </m:r>
                                                    </m:e>
                                                    <m:e>
                                                      <m:m>
                                                        <m:mPr>
                                                          <m:mcs>
                                                            <m:mc>
                                                              <m:mcPr>
                                                                <m:count m:val="1"/>
                                                                <m:mcJc m:val="center"/>
                                                              </m:mcPr>
                                                            </m:mc>
                                                          </m:mcs>
                                                          <m:ctrlPr>
                                                            <a:rPr lang="en-US" sz="2000" b="1" i="1">
                                                              <a:solidFill>
                                                                <a:srgbClr val="00B050"/>
                                                              </a:solidFill>
                                                              <a:latin typeface="Cambria Math" panose="02040503050406030204" pitchFamily="18" charset="0"/>
                                                            </a:rPr>
                                                          </m:ctrlPr>
                                                        </m:mPr>
                                                        <m:mr>
                                                          <m:e>
                                                            <m:r>
                                                              <a:rPr lang="en-US" sz="2000" b="1" i="1" smtClean="0">
                                                                <a:solidFill>
                                                                  <a:srgbClr val="00B050"/>
                                                                </a:solidFill>
                                                                <a:latin typeface="Cambria Math" panose="02040503050406030204" pitchFamily="18" charset="0"/>
                                                              </a:rPr>
                                                              <m:t>𝟏</m:t>
                                                            </m:r>
                                                          </m:e>
                                                        </m:mr>
                                                        <m:mr>
                                                          <m:e>
                                                            <m:sSub>
                                                              <m:sSubPr>
                                                                <m:ctrlPr>
                                                                  <a:rPr lang="en-US" sz="2000" b="1" i="1">
                                                                    <a:solidFill>
                                                                      <a:srgbClr val="00B050"/>
                                                                    </a:solidFill>
                                                                    <a:latin typeface="Cambria Math" panose="02040503050406030204" pitchFamily="18" charset="0"/>
                                                                  </a:rPr>
                                                                </m:ctrlPr>
                                                              </m:sSubPr>
                                                              <m:e>
                                                                <m:r>
                                                                  <a:rPr lang="en-US" sz="2000" b="1" i="1">
                                                                    <a:solidFill>
                                                                      <a:srgbClr val="00B050"/>
                                                                    </a:solidFill>
                                                                    <a:latin typeface="Cambria Math" panose="02040503050406030204" pitchFamily="18" charset="0"/>
                                                                  </a:rPr>
                                                                  <m:t>𝒃</m:t>
                                                                </m:r>
                                                              </m:e>
                                                              <m:sub>
                                                                <m:r>
                                                                  <a:rPr lang="en-US" sz="2000" b="1" i="1">
                                                                    <a:solidFill>
                                                                      <a:srgbClr val="00B050"/>
                                                                    </a:solidFill>
                                                                    <a:latin typeface="Cambria Math" panose="02040503050406030204" pitchFamily="18" charset="0"/>
                                                                  </a:rPr>
                                                                  <m:t>𝒙</m:t>
                                                                </m:r>
                                                                <m:r>
                                                                  <a:rPr lang="en-US" sz="2000" b="1" i="1" smtClean="0">
                                                                    <a:solidFill>
                                                                      <a:srgbClr val="00B050"/>
                                                                    </a:solidFill>
                                                                    <a:latin typeface="Cambria Math" panose="02040503050406030204" pitchFamily="18" charset="0"/>
                                                                  </a:rPr>
                                                                  <m:t>𝟐</m:t>
                                                                </m:r>
                                                              </m:sub>
                                                            </m:sSub>
                                                          </m:e>
                                                        </m:mr>
                                                        <m:mr>
                                                          <m:e>
                                                            <m:m>
                                                              <m:mPr>
                                                                <m:mcs>
                                                                  <m:mc>
                                                                    <m:mcPr>
                                                                      <m:count m:val="1"/>
                                                                      <m:mcJc m:val="center"/>
                                                                    </m:mcPr>
                                                                  </m:mc>
                                                                </m:mcs>
                                                                <m:ctrlPr>
                                                                  <a:rPr lang="en-US" sz="2000" b="1" i="1">
                                                                    <a:solidFill>
                                                                      <a:srgbClr val="00B050"/>
                                                                    </a:solidFill>
                                                                    <a:latin typeface="Cambria Math" panose="02040503050406030204" pitchFamily="18" charset="0"/>
                                                                  </a:rPr>
                                                                </m:ctrlPr>
                                                              </m:mPr>
                                                              <m:mr>
                                                                <m:e>
                                                                  <m:sSub>
                                                                    <m:sSubPr>
                                                                      <m:ctrlPr>
                                                                        <a:rPr lang="en-US" sz="2000" b="1" i="1">
                                                                          <a:solidFill>
                                                                            <a:srgbClr val="00B050"/>
                                                                          </a:solidFill>
                                                                          <a:latin typeface="Cambria Math" panose="02040503050406030204" pitchFamily="18" charset="0"/>
                                                                        </a:rPr>
                                                                      </m:ctrlPr>
                                                                    </m:sSubPr>
                                                                    <m:e>
                                                                      <m:r>
                                                                        <a:rPr lang="en-US" sz="2000" b="1" i="1">
                                                                          <a:solidFill>
                                                                            <a:srgbClr val="00B050"/>
                                                                          </a:solidFill>
                                                                          <a:latin typeface="Cambria Math" panose="02040503050406030204" pitchFamily="18" charset="0"/>
                                                                        </a:rPr>
                                                                        <m:t>𝒃</m:t>
                                                                      </m:r>
                                                                    </m:e>
                                                                    <m:sub>
                                                                      <m:r>
                                                                        <a:rPr lang="en-US" sz="2000" b="1" i="1">
                                                                          <a:solidFill>
                                                                            <a:srgbClr val="00B050"/>
                                                                          </a:solidFill>
                                                                          <a:latin typeface="Cambria Math" panose="02040503050406030204" pitchFamily="18" charset="0"/>
                                                                        </a:rPr>
                                                                        <m:t>𝒚</m:t>
                                                                      </m:r>
                                                                      <m:r>
                                                                        <a:rPr lang="en-US" sz="2000" b="1" i="1" smtClean="0">
                                                                          <a:solidFill>
                                                                            <a:srgbClr val="00B050"/>
                                                                          </a:solidFill>
                                                                          <a:latin typeface="Cambria Math" panose="02040503050406030204" pitchFamily="18" charset="0"/>
                                                                        </a:rPr>
                                                                        <m:t>𝟐</m:t>
                                                                      </m:r>
                                                                    </m:sub>
                                                                  </m:sSub>
                                                                </m:e>
                                                              </m:mr>
                                                              <m:mr>
                                                                <m:e>
                                                                  <m:sSub>
                                                                    <m:sSubPr>
                                                                      <m:ctrlPr>
                                                                        <a:rPr lang="en-US" sz="2000" b="1" i="1">
                                                                          <a:solidFill>
                                                                            <a:srgbClr val="00B050"/>
                                                                          </a:solidFill>
                                                                          <a:latin typeface="Cambria Math" panose="02040503050406030204" pitchFamily="18" charset="0"/>
                                                                        </a:rPr>
                                                                      </m:ctrlPr>
                                                                    </m:sSubPr>
                                                                    <m:e>
                                                                      <m:r>
                                                                        <a:rPr lang="en-US" sz="2000" b="1" i="1">
                                                                          <a:solidFill>
                                                                            <a:srgbClr val="00B050"/>
                                                                          </a:solidFill>
                                                                          <a:latin typeface="Cambria Math" panose="02040503050406030204" pitchFamily="18" charset="0"/>
                                                                        </a:rPr>
                                                                        <m:t>𝒃</m:t>
                                                                      </m:r>
                                                                    </m:e>
                                                                    <m:sub>
                                                                      <m:r>
                                                                        <a:rPr lang="en-US" sz="2000" b="1" i="1">
                                                                          <a:solidFill>
                                                                            <a:srgbClr val="00B050"/>
                                                                          </a:solidFill>
                                                                          <a:latin typeface="Cambria Math" panose="02040503050406030204" pitchFamily="18" charset="0"/>
                                                                        </a:rPr>
                                                                        <m:t>𝒘</m:t>
                                                                      </m:r>
                                                                      <m:r>
                                                                        <a:rPr lang="en-US" sz="2000" b="1" i="1" smtClean="0">
                                                                          <a:solidFill>
                                                                            <a:srgbClr val="00B050"/>
                                                                          </a:solidFill>
                                                                          <a:latin typeface="Cambria Math" panose="02040503050406030204" pitchFamily="18" charset="0"/>
                                                                        </a:rPr>
                                                                        <m:t>𝟐</m:t>
                                                                      </m:r>
                                                                    </m:sub>
                                                                  </m:sSub>
                                                                </m:e>
                                                              </m:mr>
                                                              <m:mr>
                                                                <m:e>
                                                                  <m:m>
                                                                    <m:mPr>
                                                                      <m:mcs>
                                                                        <m:mc>
                                                                          <m:mcPr>
                                                                            <m:count m:val="1"/>
                                                                            <m:mcJc m:val="center"/>
                                                                          </m:mcPr>
                                                                        </m:mc>
                                                                      </m:mcs>
                                                                      <m:ctrlPr>
                                                                        <a:rPr lang="en-US" sz="2000" b="1" i="1">
                                                                          <a:solidFill>
                                                                            <a:srgbClr val="00B050"/>
                                                                          </a:solidFill>
                                                                          <a:latin typeface="Cambria Math" panose="02040503050406030204" pitchFamily="18" charset="0"/>
                                                                        </a:rPr>
                                                                      </m:ctrlPr>
                                                                    </m:mPr>
                                                                    <m:mr>
                                                                      <m:e>
                                                                        <m:sSub>
                                                                          <m:sSubPr>
                                                                            <m:ctrlPr>
                                                                              <a:rPr lang="en-US" sz="2000" b="1" i="1">
                                                                                <a:solidFill>
                                                                                  <a:srgbClr val="00B050"/>
                                                                                </a:solidFill>
                                                                                <a:latin typeface="Cambria Math" panose="02040503050406030204" pitchFamily="18" charset="0"/>
                                                                              </a:rPr>
                                                                            </m:ctrlPr>
                                                                          </m:sSubPr>
                                                                          <m:e>
                                                                            <m:r>
                                                                              <a:rPr lang="en-US" sz="2000" b="1" i="1">
                                                                                <a:solidFill>
                                                                                  <a:srgbClr val="00B050"/>
                                                                                </a:solidFill>
                                                                                <a:latin typeface="Cambria Math" panose="02040503050406030204" pitchFamily="18" charset="0"/>
                                                                              </a:rPr>
                                                                              <m:t>𝒃</m:t>
                                                                            </m:r>
                                                                          </m:e>
                                                                          <m:sub>
                                                                            <m:r>
                                                                              <a:rPr lang="en-US" sz="2000" b="1" i="1">
                                                                                <a:solidFill>
                                                                                  <a:srgbClr val="00B050"/>
                                                                                </a:solidFill>
                                                                                <a:latin typeface="Cambria Math" panose="02040503050406030204" pitchFamily="18" charset="0"/>
                                                                              </a:rPr>
                                                                              <m:t>𝒉</m:t>
                                                                            </m:r>
                                                                            <m:r>
                                                                              <a:rPr lang="en-US" sz="2000" b="1" i="1" smtClean="0">
                                                                                <a:solidFill>
                                                                                  <a:srgbClr val="00B050"/>
                                                                                </a:solidFill>
                                                                                <a:latin typeface="Cambria Math" panose="02040503050406030204" pitchFamily="18" charset="0"/>
                                                                              </a:rPr>
                                                                              <m:t>𝟐</m:t>
                                                                            </m:r>
                                                                          </m:sub>
                                                                        </m:sSub>
                                                                      </m:e>
                                                                    </m:mr>
                                                                    <m:mr>
                                                                      <m:e>
                                                                        <m:r>
                                                                          <a:rPr lang="en-US" sz="2000" b="1" i="1" smtClean="0">
                                                                            <a:solidFill>
                                                                              <a:srgbClr val="00B050"/>
                                                                            </a:solidFill>
                                                                            <a:latin typeface="Cambria Math" panose="02040503050406030204" pitchFamily="18" charset="0"/>
                                                                          </a:rPr>
                                                                          <m:t>𝟏</m:t>
                                                                        </m:r>
                                                                      </m:e>
                                                                    </m:mr>
                                                                    <m:mr>
                                                                      <m:e>
                                                                        <m:m>
                                                                          <m:mPr>
                                                                            <m:mcs>
                                                                              <m:mc>
                                                                                <m:mcPr>
                                                                                  <m:count m:val="1"/>
                                                                                  <m:mcJc m:val="center"/>
                                                                                </m:mcPr>
                                                                              </m:mc>
                                                                            </m:mcs>
                                                                            <m:ctrlPr>
                                                                              <a:rPr lang="en-US" sz="2000" b="1" i="1">
                                                                                <a:solidFill>
                                                                                  <a:srgbClr val="00B050"/>
                                                                                </a:solidFill>
                                                                                <a:latin typeface="Cambria Math" panose="02040503050406030204" pitchFamily="18" charset="0"/>
                                                                              </a:rPr>
                                                                            </m:ctrlPr>
                                                                          </m:mPr>
                                                                          <m:mr>
                                                                            <m:e>
                                                                              <m:r>
                                                                                <m:rPr>
                                                                                  <m:brk m:alnAt="7"/>
                                                                                </m:rPr>
                                                                                <a:rPr lang="en-US" sz="2000" b="1" i="1" smtClean="0">
                                                                                  <a:solidFill>
                                                                                    <a:srgbClr val="00B050"/>
                                                                                  </a:solidFill>
                                                                                  <a:latin typeface="Cambria Math" panose="02040503050406030204" pitchFamily="18" charset="0"/>
                                                                                </a:rPr>
                                                                                <m:t>𝟎</m:t>
                                                                              </m:r>
                                                                            </m:e>
                                                                          </m:mr>
                                                                          <m:mr>
                                                                            <m:e>
                                                                              <m:r>
                                                                                <a:rPr lang="en-US" sz="2000" b="1" i="1" smtClean="0">
                                                                                  <a:solidFill>
                                                                                    <a:srgbClr val="00B050"/>
                                                                                  </a:solidFill>
                                                                                  <a:latin typeface="Cambria Math" panose="02040503050406030204" pitchFamily="18" charset="0"/>
                                                                                </a:rPr>
                                                                                <m:t>𝟎</m:t>
                                                                              </m:r>
                                                                            </m:e>
                                                                          </m:mr>
                                                                        </m:m>
                                                                      </m:e>
                                                                    </m:mr>
                                                                  </m:m>
                                                                </m:e>
                                                              </m:mr>
                                                            </m:m>
                                                          </m:e>
                                                        </m:mr>
                                                      </m:m>
                                                    </m:e>
                                                  </m:eqArr>
                                                </m:e>
                                              </m:mr>
                                            </m:m>
                                          </m:e>
                                        </m:mr>
                                      </m:m>
                                    </m:e>
                                  </m:mr>
                                </m:m>
                              </m:e>
                            </m:mr>
                          </m:m>
                        </m:e>
                      </m:d>
                    </m:oMath>
                  </m:oMathPara>
                </a14:m>
                <a:endParaRPr lang="en-US" sz="2800" b="1" dirty="0"/>
              </a:p>
            </p:txBody>
          </p:sp>
        </mc:Choice>
        <mc:Fallback xmlns="">
          <p:sp>
            <p:nvSpPr>
              <p:cNvPr id="11" name="TextBox 10">
                <a:extLst>
                  <a:ext uri="{FF2B5EF4-FFF2-40B4-BE49-F238E27FC236}">
                    <a16:creationId xmlns:a16="http://schemas.microsoft.com/office/drawing/2014/main" id="{A5B30A64-F798-4E75-B428-7CF35A42B824}"/>
                  </a:ext>
                </a:extLst>
              </p:cNvPr>
              <p:cNvSpPr txBox="1">
                <a:spLocks noRot="1" noChangeAspect="1" noMove="1" noResize="1" noEditPoints="1" noAdjustHandles="1" noChangeArrowheads="1" noChangeShapeType="1" noTextEdit="1"/>
              </p:cNvSpPr>
              <p:nvPr/>
            </p:nvSpPr>
            <p:spPr>
              <a:xfrm>
                <a:off x="8368147" y="1907415"/>
                <a:ext cx="1151789" cy="4798814"/>
              </a:xfrm>
              <a:prstGeom prst="rect">
                <a:avLst/>
              </a:prstGeom>
              <a:blipFill>
                <a:blip r:embed="rId3"/>
                <a:stretch>
                  <a:fillRect/>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A8C54109-C1F3-4CF9-9F6F-21B210B160D6}"/>
              </a:ext>
            </a:extLst>
          </p:cNvPr>
          <p:cNvGrpSpPr/>
          <p:nvPr/>
        </p:nvGrpSpPr>
        <p:grpSpPr>
          <a:xfrm>
            <a:off x="6300882" y="2669734"/>
            <a:ext cx="2091846" cy="2906624"/>
            <a:chOff x="6463431" y="3570724"/>
            <a:chExt cx="2091846" cy="2906624"/>
          </a:xfrm>
        </p:grpSpPr>
        <p:sp>
          <p:nvSpPr>
            <p:cNvPr id="15" name="Rectangle 14">
              <a:extLst>
                <a:ext uri="{FF2B5EF4-FFF2-40B4-BE49-F238E27FC236}">
                  <a16:creationId xmlns:a16="http://schemas.microsoft.com/office/drawing/2014/main" id="{39707B34-13B9-4005-86E4-E7226335A67E}"/>
                </a:ext>
              </a:extLst>
            </p:cNvPr>
            <p:cNvSpPr/>
            <p:nvPr/>
          </p:nvSpPr>
          <p:spPr>
            <a:xfrm>
              <a:off x="6463431" y="3570724"/>
              <a:ext cx="2091846" cy="7452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05D6773-26C7-405A-B7A9-F1962FC127C5}"/>
                </a:ext>
              </a:extLst>
            </p:cNvPr>
            <p:cNvSpPr/>
            <p:nvPr/>
          </p:nvSpPr>
          <p:spPr>
            <a:xfrm rot="5400000">
              <a:off x="6517851" y="5058775"/>
              <a:ext cx="2091846" cy="7452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DC48ABD-A8C8-402C-9E3B-BA75DAA6E959}"/>
                </a:ext>
              </a:extLst>
            </p:cNvPr>
            <p:cNvSpPr txBox="1"/>
            <p:nvPr/>
          </p:nvSpPr>
          <p:spPr>
            <a:xfrm>
              <a:off x="6805151" y="3758707"/>
              <a:ext cx="1422505" cy="369332"/>
            </a:xfrm>
            <a:prstGeom prst="rect">
              <a:avLst/>
            </a:prstGeom>
            <a:noFill/>
          </p:spPr>
          <p:txBody>
            <a:bodyPr wrap="none" rtlCol="0">
              <a:spAutoFit/>
            </a:bodyPr>
            <a:lstStyle/>
            <a:p>
              <a:r>
                <a:rPr lang="en-US" dirty="0"/>
                <a:t>Anchor box 1</a:t>
              </a:r>
            </a:p>
          </p:txBody>
        </p:sp>
        <p:sp>
          <p:nvSpPr>
            <p:cNvPr id="18" name="TextBox 17">
              <a:extLst>
                <a:ext uri="{FF2B5EF4-FFF2-40B4-BE49-F238E27FC236}">
                  <a16:creationId xmlns:a16="http://schemas.microsoft.com/office/drawing/2014/main" id="{4DF61653-5CBB-459D-922A-11E5456B9B70}"/>
                </a:ext>
              </a:extLst>
            </p:cNvPr>
            <p:cNvSpPr txBox="1"/>
            <p:nvPr/>
          </p:nvSpPr>
          <p:spPr>
            <a:xfrm>
              <a:off x="6834229" y="5168388"/>
              <a:ext cx="1422505" cy="369332"/>
            </a:xfrm>
            <a:prstGeom prst="rect">
              <a:avLst/>
            </a:prstGeom>
            <a:noFill/>
          </p:spPr>
          <p:txBody>
            <a:bodyPr wrap="none" rtlCol="0">
              <a:spAutoFit/>
            </a:bodyPr>
            <a:lstStyle/>
            <a:p>
              <a:r>
                <a:rPr lang="en-US" dirty="0"/>
                <a:t>Anchor box 2</a:t>
              </a:r>
            </a:p>
          </p:txBody>
        </p:sp>
      </p:grpSp>
      <p:sp>
        <p:nvSpPr>
          <p:cNvPr id="21" name="TextBox 20">
            <a:extLst>
              <a:ext uri="{FF2B5EF4-FFF2-40B4-BE49-F238E27FC236}">
                <a16:creationId xmlns:a16="http://schemas.microsoft.com/office/drawing/2014/main" id="{01A407B5-9DE7-4711-B149-73B39547FCF7}"/>
              </a:ext>
            </a:extLst>
          </p:cNvPr>
          <p:cNvSpPr txBox="1"/>
          <p:nvPr/>
        </p:nvSpPr>
        <p:spPr>
          <a:xfrm>
            <a:off x="9931433" y="2921788"/>
            <a:ext cx="955711" cy="369332"/>
          </a:xfrm>
          <a:prstGeom prst="rect">
            <a:avLst/>
          </a:prstGeom>
          <a:noFill/>
        </p:spPr>
        <p:txBody>
          <a:bodyPr wrap="none" rtlCol="0">
            <a:spAutoFit/>
          </a:bodyPr>
          <a:lstStyle/>
          <a:p>
            <a:r>
              <a:rPr lang="en-US" dirty="0"/>
              <a:t>anchor1</a:t>
            </a:r>
          </a:p>
        </p:txBody>
      </p:sp>
      <p:sp>
        <p:nvSpPr>
          <p:cNvPr id="22" name="Right Brace 21">
            <a:extLst>
              <a:ext uri="{FF2B5EF4-FFF2-40B4-BE49-F238E27FC236}">
                <a16:creationId xmlns:a16="http://schemas.microsoft.com/office/drawing/2014/main" id="{F9FC206B-E368-476B-AC6F-3CA011B7395A}"/>
              </a:ext>
            </a:extLst>
          </p:cNvPr>
          <p:cNvSpPr/>
          <p:nvPr/>
        </p:nvSpPr>
        <p:spPr>
          <a:xfrm>
            <a:off x="9598415" y="1966586"/>
            <a:ext cx="333018" cy="227973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Right Brace 22">
            <a:extLst>
              <a:ext uri="{FF2B5EF4-FFF2-40B4-BE49-F238E27FC236}">
                <a16:creationId xmlns:a16="http://schemas.microsoft.com/office/drawing/2014/main" id="{4EC4ECC0-605A-4316-9C5C-DEE9D8591341}"/>
              </a:ext>
            </a:extLst>
          </p:cNvPr>
          <p:cNvSpPr/>
          <p:nvPr/>
        </p:nvSpPr>
        <p:spPr>
          <a:xfrm>
            <a:off x="9552077" y="4270786"/>
            <a:ext cx="333018" cy="2279737"/>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a:extLst>
              <a:ext uri="{FF2B5EF4-FFF2-40B4-BE49-F238E27FC236}">
                <a16:creationId xmlns:a16="http://schemas.microsoft.com/office/drawing/2014/main" id="{B0C56E3C-420A-48AA-B698-146F08DEC926}"/>
              </a:ext>
            </a:extLst>
          </p:cNvPr>
          <p:cNvSpPr txBox="1"/>
          <p:nvPr/>
        </p:nvSpPr>
        <p:spPr>
          <a:xfrm>
            <a:off x="9945064" y="5201348"/>
            <a:ext cx="955711" cy="369332"/>
          </a:xfrm>
          <a:prstGeom prst="rect">
            <a:avLst/>
          </a:prstGeom>
          <a:noFill/>
        </p:spPr>
        <p:txBody>
          <a:bodyPr wrap="none" rtlCol="0">
            <a:spAutoFit/>
          </a:bodyPr>
          <a:lstStyle/>
          <a:p>
            <a:r>
              <a:rPr lang="en-US" dirty="0"/>
              <a:t>anchor2</a:t>
            </a:r>
          </a:p>
        </p:txBody>
      </p:sp>
      <p:sp>
        <p:nvSpPr>
          <p:cNvPr id="3" name="Rectangle 2">
            <a:extLst>
              <a:ext uri="{FF2B5EF4-FFF2-40B4-BE49-F238E27FC236}">
                <a16:creationId xmlns:a16="http://schemas.microsoft.com/office/drawing/2014/main" id="{E5C75D2E-6164-4C48-BFFE-1B6F3CECF607}"/>
              </a:ext>
            </a:extLst>
          </p:cNvPr>
          <p:cNvSpPr/>
          <p:nvPr/>
        </p:nvSpPr>
        <p:spPr>
          <a:xfrm>
            <a:off x="2204581" y="4684734"/>
            <a:ext cx="1816274" cy="1716066"/>
          </a:xfrm>
          <a:prstGeom prst="rect">
            <a:avLst/>
          </a:prstGeom>
          <a:no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36314A7-1E39-4A0A-AEB2-2C8C33504B14}"/>
              </a:ext>
            </a:extLst>
          </p:cNvPr>
          <p:cNvSpPr txBox="1"/>
          <p:nvPr/>
        </p:nvSpPr>
        <p:spPr>
          <a:xfrm>
            <a:off x="7049323" y="484867"/>
            <a:ext cx="4394665" cy="1200329"/>
          </a:xfrm>
          <a:prstGeom prst="rect">
            <a:avLst/>
          </a:prstGeom>
          <a:noFill/>
        </p:spPr>
        <p:txBody>
          <a:bodyPr wrap="none" rtlCol="0">
            <a:spAutoFit/>
          </a:bodyPr>
          <a:lstStyle/>
          <a:p>
            <a:r>
              <a:rPr lang="en-US" dirty="0"/>
              <a:t>Both pedestrian (c</a:t>
            </a:r>
            <a:r>
              <a:rPr lang="en-US" baseline="-25000" dirty="0"/>
              <a:t>1</a:t>
            </a:r>
            <a:r>
              <a:rPr lang="en-US" dirty="0"/>
              <a:t>) and car (c</a:t>
            </a:r>
            <a:r>
              <a:rPr lang="en-US" baseline="-25000" dirty="0"/>
              <a:t>2</a:t>
            </a:r>
            <a:r>
              <a:rPr lang="en-US" dirty="0"/>
              <a:t>) are assigned</a:t>
            </a:r>
            <a:br>
              <a:rPr lang="en-US" dirty="0"/>
            </a:br>
            <a:r>
              <a:rPr lang="en-US" dirty="0"/>
              <a:t>to green cell</a:t>
            </a:r>
          </a:p>
          <a:p>
            <a:r>
              <a:rPr lang="en-US" dirty="0"/>
              <a:t>Pedestrian assigned to anchor box 1</a:t>
            </a:r>
            <a:br>
              <a:rPr lang="en-US" dirty="0"/>
            </a:br>
            <a:r>
              <a:rPr lang="en-US" dirty="0"/>
              <a:t>Car assigned to anchor box 2</a:t>
            </a:r>
          </a:p>
        </p:txBody>
      </p:sp>
    </p:spTree>
    <p:extLst>
      <p:ext uri="{BB962C8B-B14F-4D97-AF65-F5344CB8AC3E}">
        <p14:creationId xmlns:p14="http://schemas.microsoft.com/office/powerpoint/2010/main" val="2327105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p:bldP spid="22" grpId="0" animBg="1"/>
      <p:bldP spid="23" grpId="0" animBg="1"/>
      <p:bldP spid="24" grpId="0"/>
      <p:bldP spid="3" grpId="0" animBg="1"/>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3E470CA-202E-44FC-8DAF-80B4B8A7E3A9}"/>
                  </a:ext>
                </a:extLst>
              </p:cNvPr>
              <p:cNvSpPr>
                <a:spLocks noGrp="1"/>
              </p:cNvSpPr>
              <p:nvPr>
                <p:ph idx="1"/>
              </p:nvPr>
            </p:nvSpPr>
            <p:spPr>
              <a:xfrm>
                <a:off x="838200" y="454024"/>
                <a:ext cx="10515600" cy="5965825"/>
              </a:xfrm>
            </p:spPr>
            <p:txBody>
              <a:bodyPr>
                <a:normAutofit lnSpcReduction="10000"/>
              </a:bodyPr>
              <a:lstStyle/>
              <a:p>
                <a:r>
                  <a:rPr lang="en-US" dirty="0"/>
                  <a:t>In case only one object in a cell, the parts of anchor boxes not similar to the object shape have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𝑐</m:t>
                        </m:r>
                      </m:sub>
                    </m:sSub>
                    <m:r>
                      <a:rPr lang="en-US" b="0" i="1" smtClean="0">
                        <a:latin typeface="Cambria Math" panose="02040503050406030204" pitchFamily="18" charset="0"/>
                      </a:rPr>
                      <m:t>=0</m:t>
                    </m:r>
                  </m:oMath>
                </a14:m>
                <a:r>
                  <a:rPr lang="en-US" dirty="0"/>
                  <a:t> and don’t care </a:t>
                </a:r>
                <a14:m>
                  <m:oMath xmlns:m="http://schemas.openxmlformats.org/officeDocument/2006/math">
                    <m:r>
                      <a:rPr lang="en-US" b="0" i="1" smtClean="0">
                        <a:latin typeface="Cambria Math" panose="02040503050406030204" pitchFamily="18" charset="0"/>
                      </a:rPr>
                      <m:t>?</m:t>
                    </m:r>
                  </m:oMath>
                </a14:m>
                <a:r>
                  <a:rPr lang="en-US" dirty="0"/>
                  <a:t> In the rest</a:t>
                </a:r>
              </a:p>
              <a:p>
                <a:r>
                  <a:rPr lang="en-US" dirty="0"/>
                  <a:t>Finer the grid, the lower the probability of having more than one object in a cell</a:t>
                </a:r>
              </a:p>
              <a:p>
                <a:r>
                  <a:rPr lang="en-US" dirty="0"/>
                  <a:t>However, even if it is unlikely to get more objects in the same grid cell, the use of anchor boxes is useful since it allows the net to “specialize” in the identification of objects of given shapes.</a:t>
                </a:r>
              </a:p>
              <a:p>
                <a:r>
                  <a:rPr lang="en-US" dirty="0"/>
                  <a:t>The number </a:t>
                </a:r>
                <a:r>
                  <a:rPr lang="en-US" i="1" dirty="0">
                    <a:latin typeface="Times New Roman" panose="02020603050405020304" pitchFamily="18" charset="0"/>
                    <a:cs typeface="Times New Roman" panose="02020603050405020304" pitchFamily="18" charset="0"/>
                  </a:rPr>
                  <a:t>n</a:t>
                </a:r>
                <a:r>
                  <a:rPr lang="en-US" dirty="0"/>
                  <a:t> and shape of anchor boxes is usually determined by hand.</a:t>
                </a:r>
              </a:p>
              <a:p>
                <a:r>
                  <a:rPr lang="en-US" dirty="0"/>
                  <a:t>In prediction we usually get </a:t>
                </a:r>
                <a:r>
                  <a:rPr lang="en-US" i="1" dirty="0">
                    <a:latin typeface="Times New Roman" panose="02020603050405020304" pitchFamily="18" charset="0"/>
                    <a:cs typeface="Times New Roman" panose="02020603050405020304" pitchFamily="18" charset="0"/>
                  </a:rPr>
                  <a:t>n</a:t>
                </a:r>
                <a:r>
                  <a:rPr lang="en-US" dirty="0"/>
                  <a:t> predicted </a:t>
                </a:r>
                <a:r>
                  <a:rPr lang="en-US" dirty="0" err="1"/>
                  <a:t>b.b</a:t>
                </a:r>
                <a:r>
                  <a:rPr lang="en-US" dirty="0"/>
                  <a:t>. (it is hard to get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𝑐</m:t>
                        </m:r>
                      </m:sub>
                    </m:sSub>
                    <m:r>
                      <a:rPr lang="en-US" b="0" i="1" smtClean="0">
                        <a:latin typeface="Cambria Math" panose="02040503050406030204" pitchFamily="18" charset="0"/>
                      </a:rPr>
                      <m:t>=0</m:t>
                    </m:r>
                  </m:oMath>
                </a14:m>
                <a:r>
                  <a:rPr lang="en-US" dirty="0"/>
                  <a:t>) for each cell, with very low probability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𝑐</m:t>
                        </m:r>
                      </m:sub>
                    </m:sSub>
                  </m:oMath>
                </a14:m>
                <a:r>
                  <a:rPr lang="en-US" dirty="0"/>
                  <a:t>if no object is in the cell</a:t>
                </a:r>
              </a:p>
              <a:p>
                <a:r>
                  <a:rPr lang="en-US" dirty="0"/>
                  <a:t>NB: this algorithm resorts to some tie-break default when the number of objects in a cell is more than </a:t>
                </a:r>
                <a:r>
                  <a:rPr lang="en-US" i="1" dirty="0">
                    <a:latin typeface="Times New Roman" panose="02020603050405020304" pitchFamily="18" charset="0"/>
                    <a:cs typeface="Times New Roman" panose="02020603050405020304" pitchFamily="18" charset="0"/>
                  </a:rPr>
                  <a:t>n</a:t>
                </a:r>
                <a:r>
                  <a:rPr lang="en-US" dirty="0"/>
                  <a:t>, or if more objects are associated to the same </a:t>
                </a:r>
                <a:r>
                  <a:rPr lang="en-US" dirty="0" err="1"/>
                  <a:t>a.b.</a:t>
                </a:r>
                <a:endParaRPr lang="en-US" dirty="0"/>
              </a:p>
            </p:txBody>
          </p:sp>
        </mc:Choice>
        <mc:Fallback xmlns="">
          <p:sp>
            <p:nvSpPr>
              <p:cNvPr id="4" name="Content Placeholder 3">
                <a:extLst>
                  <a:ext uri="{FF2B5EF4-FFF2-40B4-BE49-F238E27FC236}">
                    <a16:creationId xmlns:a16="http://schemas.microsoft.com/office/drawing/2014/main" id="{73E470CA-202E-44FC-8DAF-80B4B8A7E3A9}"/>
                  </a:ext>
                </a:extLst>
              </p:cNvPr>
              <p:cNvSpPr>
                <a:spLocks noGrp="1" noRot="1" noChangeAspect="1" noMove="1" noResize="1" noEditPoints="1" noAdjustHandles="1" noChangeArrowheads="1" noChangeShapeType="1" noTextEdit="1"/>
              </p:cNvSpPr>
              <p:nvPr>
                <p:ph idx="1"/>
              </p:nvPr>
            </p:nvSpPr>
            <p:spPr>
              <a:xfrm>
                <a:off x="838200" y="454024"/>
                <a:ext cx="10515600" cy="5965825"/>
              </a:xfrm>
              <a:blipFill>
                <a:blip r:embed="rId2"/>
                <a:stretch>
                  <a:fillRect l="-1043" t="-2247" r="-1913"/>
                </a:stretch>
              </a:blipFill>
            </p:spPr>
            <p:txBody>
              <a:bodyPr/>
              <a:lstStyle/>
              <a:p>
                <a:r>
                  <a:rPr lang="en-US">
                    <a:noFill/>
                  </a:rPr>
                  <a:t> </a:t>
                </a:r>
              </a:p>
            </p:txBody>
          </p:sp>
        </mc:Fallback>
      </mc:AlternateContent>
    </p:spTree>
    <p:extLst>
      <p:ext uri="{BB962C8B-B14F-4D97-AF65-F5344CB8AC3E}">
        <p14:creationId xmlns:p14="http://schemas.microsoft.com/office/powerpoint/2010/main" val="3941038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6F3DAD-809B-4223-98D3-C4F10DA4C2CF}"/>
              </a:ext>
            </a:extLst>
          </p:cNvPr>
          <p:cNvSpPr>
            <a:spLocks noGrp="1"/>
          </p:cNvSpPr>
          <p:nvPr>
            <p:ph type="title"/>
          </p:nvPr>
        </p:nvSpPr>
        <p:spPr/>
        <p:txBody>
          <a:bodyPr/>
          <a:lstStyle/>
          <a:p>
            <a:r>
              <a:rPr lang="en-US" dirty="0"/>
              <a:t>Summing up</a:t>
            </a:r>
          </a:p>
        </p:txBody>
      </p:sp>
      <p:sp>
        <p:nvSpPr>
          <p:cNvPr id="5" name="Text Placeholder 4">
            <a:extLst>
              <a:ext uri="{FF2B5EF4-FFF2-40B4-BE49-F238E27FC236}">
                <a16:creationId xmlns:a16="http://schemas.microsoft.com/office/drawing/2014/main" id="{0D578EB6-CFEC-4B4F-94DE-C3A04F33E8C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10651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B05D2F-5075-41B1-A2FA-78A87F025EC6}"/>
              </a:ext>
            </a:extLst>
          </p:cNvPr>
          <p:cNvPicPr>
            <a:picLocks noChangeAspect="1"/>
          </p:cNvPicPr>
          <p:nvPr/>
        </p:nvPicPr>
        <p:blipFill>
          <a:blip r:embed="rId2"/>
          <a:stretch>
            <a:fillRect/>
          </a:stretch>
        </p:blipFill>
        <p:spPr>
          <a:xfrm>
            <a:off x="307789" y="688931"/>
            <a:ext cx="5422487" cy="5386192"/>
          </a:xfrm>
          <a:prstGeom prst="rect">
            <a:avLst/>
          </a:prstGeom>
        </p:spPr>
      </p:pic>
      <p:pic>
        <p:nvPicPr>
          <p:cNvPr id="7" name="Picture 6">
            <a:extLst>
              <a:ext uri="{FF2B5EF4-FFF2-40B4-BE49-F238E27FC236}">
                <a16:creationId xmlns:a16="http://schemas.microsoft.com/office/drawing/2014/main" id="{738B5F10-A0B7-4731-8299-7CCD25B9D540}"/>
              </a:ext>
            </a:extLst>
          </p:cNvPr>
          <p:cNvPicPr>
            <a:picLocks noChangeAspect="1"/>
          </p:cNvPicPr>
          <p:nvPr/>
        </p:nvPicPr>
        <p:blipFill>
          <a:blip r:embed="rId3"/>
          <a:stretch>
            <a:fillRect/>
          </a:stretch>
        </p:blipFill>
        <p:spPr>
          <a:xfrm>
            <a:off x="307789" y="688930"/>
            <a:ext cx="5422486" cy="5343167"/>
          </a:xfrm>
          <a:prstGeom prst="rect">
            <a:avLst/>
          </a:prstGeom>
        </p:spPr>
      </p:pic>
      <p:pic>
        <p:nvPicPr>
          <p:cNvPr id="11" name="Picture 10">
            <a:extLst>
              <a:ext uri="{FF2B5EF4-FFF2-40B4-BE49-F238E27FC236}">
                <a16:creationId xmlns:a16="http://schemas.microsoft.com/office/drawing/2014/main" id="{F229DB50-B2B5-463A-BBAE-20255BA077AF}"/>
              </a:ext>
            </a:extLst>
          </p:cNvPr>
          <p:cNvPicPr>
            <a:picLocks noChangeAspect="1"/>
          </p:cNvPicPr>
          <p:nvPr/>
        </p:nvPicPr>
        <p:blipFill>
          <a:blip r:embed="rId4"/>
          <a:stretch>
            <a:fillRect/>
          </a:stretch>
        </p:blipFill>
        <p:spPr>
          <a:xfrm>
            <a:off x="307788" y="686939"/>
            <a:ext cx="5393848" cy="5343167"/>
          </a:xfrm>
          <a:prstGeom prst="rect">
            <a:avLst/>
          </a:prstGeom>
        </p:spPr>
      </p:pic>
      <p:pic>
        <p:nvPicPr>
          <p:cNvPr id="13" name="Picture 12">
            <a:extLst>
              <a:ext uri="{FF2B5EF4-FFF2-40B4-BE49-F238E27FC236}">
                <a16:creationId xmlns:a16="http://schemas.microsoft.com/office/drawing/2014/main" id="{86A3E751-6B11-443D-BB4A-4D4CF4478694}"/>
              </a:ext>
            </a:extLst>
          </p:cNvPr>
          <p:cNvPicPr>
            <a:picLocks noChangeAspect="1"/>
          </p:cNvPicPr>
          <p:nvPr/>
        </p:nvPicPr>
        <p:blipFill>
          <a:blip r:embed="rId5"/>
          <a:stretch>
            <a:fillRect/>
          </a:stretch>
        </p:blipFill>
        <p:spPr>
          <a:xfrm>
            <a:off x="6096000" y="2148461"/>
            <a:ext cx="5229616" cy="549659"/>
          </a:xfrm>
          <a:prstGeom prst="rect">
            <a:avLst/>
          </a:prstGeom>
        </p:spPr>
      </p:pic>
      <p:pic>
        <p:nvPicPr>
          <p:cNvPr id="15" name="Picture 14">
            <a:extLst>
              <a:ext uri="{FF2B5EF4-FFF2-40B4-BE49-F238E27FC236}">
                <a16:creationId xmlns:a16="http://schemas.microsoft.com/office/drawing/2014/main" id="{20CFE320-CD34-4769-8208-6F6682EB6A55}"/>
              </a:ext>
            </a:extLst>
          </p:cNvPr>
          <p:cNvPicPr>
            <a:picLocks noChangeAspect="1"/>
          </p:cNvPicPr>
          <p:nvPr/>
        </p:nvPicPr>
        <p:blipFill>
          <a:blip r:embed="rId6"/>
          <a:stretch>
            <a:fillRect/>
          </a:stretch>
        </p:blipFill>
        <p:spPr>
          <a:xfrm>
            <a:off x="307788" y="684948"/>
            <a:ext cx="5429924" cy="5386193"/>
          </a:xfrm>
          <a:prstGeom prst="rect">
            <a:avLst/>
          </a:prstGeom>
        </p:spPr>
      </p:pic>
      <p:pic>
        <p:nvPicPr>
          <p:cNvPr id="17" name="Picture 16">
            <a:extLst>
              <a:ext uri="{FF2B5EF4-FFF2-40B4-BE49-F238E27FC236}">
                <a16:creationId xmlns:a16="http://schemas.microsoft.com/office/drawing/2014/main" id="{3601873D-2233-4A2A-94F7-2C889C9B1D59}"/>
              </a:ext>
            </a:extLst>
          </p:cNvPr>
          <p:cNvPicPr>
            <a:picLocks noChangeAspect="1"/>
          </p:cNvPicPr>
          <p:nvPr/>
        </p:nvPicPr>
        <p:blipFill>
          <a:blip r:embed="rId7"/>
          <a:stretch>
            <a:fillRect/>
          </a:stretch>
        </p:blipFill>
        <p:spPr>
          <a:xfrm>
            <a:off x="6096000" y="2877120"/>
            <a:ext cx="6004142" cy="1103760"/>
          </a:xfrm>
          <a:prstGeom prst="rect">
            <a:avLst/>
          </a:prstGeom>
        </p:spPr>
      </p:pic>
      <p:sp>
        <p:nvSpPr>
          <p:cNvPr id="2" name="TextBox 1">
            <a:extLst>
              <a:ext uri="{FF2B5EF4-FFF2-40B4-BE49-F238E27FC236}">
                <a16:creationId xmlns:a16="http://schemas.microsoft.com/office/drawing/2014/main" id="{A5866585-DD8E-49E4-A577-1059AFB60D1E}"/>
              </a:ext>
            </a:extLst>
          </p:cNvPr>
          <p:cNvSpPr txBox="1"/>
          <p:nvPr/>
        </p:nvSpPr>
        <p:spPr>
          <a:xfrm>
            <a:off x="5991132" y="1200020"/>
            <a:ext cx="5588279" cy="769441"/>
          </a:xfrm>
          <a:prstGeom prst="rect">
            <a:avLst/>
          </a:prstGeom>
          <a:noFill/>
        </p:spPr>
        <p:txBody>
          <a:bodyPr wrap="square" rtlCol="0">
            <a:spAutoFit/>
          </a:bodyPr>
          <a:lstStyle/>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For each grid cell, get 2 predicted bounding boxes (2 anchor boxes)</a:t>
            </a:r>
          </a:p>
        </p:txBody>
      </p:sp>
    </p:spTree>
    <p:extLst>
      <p:ext uri="{BB962C8B-B14F-4D97-AF65-F5344CB8AC3E}">
        <p14:creationId xmlns:p14="http://schemas.microsoft.com/office/powerpoint/2010/main" val="4209495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5633</TotalTime>
  <Words>1193</Words>
  <Application>Microsoft Office PowerPoint</Application>
  <PresentationFormat>Widescreen</PresentationFormat>
  <Paragraphs>163</Paragraphs>
  <Slides>26</Slides>
  <Notes>1</Notes>
  <HiddenSlides>8</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26</vt:i4>
      </vt:variant>
    </vt:vector>
  </HeadingPairs>
  <TitlesOfParts>
    <vt:vector size="32" baseType="lpstr">
      <vt:lpstr>Arial</vt:lpstr>
      <vt:lpstr>Calibri</vt:lpstr>
      <vt:lpstr>Calibri Light</vt:lpstr>
      <vt:lpstr>Cambria Math</vt:lpstr>
      <vt:lpstr>Times New Roman</vt:lpstr>
      <vt:lpstr>Office Theme</vt:lpstr>
      <vt:lpstr>Object Localization and Detection</vt:lpstr>
      <vt:lpstr>Presentazione standard di PowerPoint</vt:lpstr>
      <vt:lpstr>Classification with localization</vt:lpstr>
      <vt:lpstr>Defining the target label</vt:lpstr>
      <vt:lpstr>Landmark detection</vt:lpstr>
      <vt:lpstr>(Object) Detection</vt:lpstr>
      <vt:lpstr>Sliding window detection</vt:lpstr>
      <vt:lpstr>Convolutional sliding window</vt:lpstr>
      <vt:lpstr>Turning FC layers into convolutional layers</vt:lpstr>
      <vt:lpstr>Conv implementation of sliding windows</vt:lpstr>
      <vt:lpstr>Presentazione standard di PowerPoint</vt:lpstr>
      <vt:lpstr>Another example</vt:lpstr>
      <vt:lpstr>Sliding window 8x8 with stride s=1</vt:lpstr>
      <vt:lpstr>Predicting bounding box efficiently: YOLO</vt:lpstr>
      <vt:lpstr>Yolo: training and testing</vt:lpstr>
      <vt:lpstr>Presentazione standard di PowerPoint</vt:lpstr>
      <vt:lpstr>Final architecture</vt:lpstr>
      <vt:lpstr>Evaluating object localization</vt:lpstr>
      <vt:lpstr>Non-max suppression</vt:lpstr>
      <vt:lpstr>Non-max suppression</vt:lpstr>
      <vt:lpstr>Localizing multiple objects</vt:lpstr>
      <vt:lpstr>Localizing multiple objects</vt:lpstr>
      <vt:lpstr>Localizing multiple objects</vt:lpstr>
      <vt:lpstr>Presentazione standard di PowerPoint</vt:lpstr>
      <vt:lpstr>Summing up</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Transfer Learning</dc:title>
  <dc:creator>Luigi Portinale</dc:creator>
  <cp:lastModifiedBy>Luigi Portinale</cp:lastModifiedBy>
  <cp:revision>39</cp:revision>
  <dcterms:created xsi:type="dcterms:W3CDTF">2021-02-24T09:45:16Z</dcterms:created>
  <dcterms:modified xsi:type="dcterms:W3CDTF">2023-05-01T19:39:35Z</dcterms:modified>
</cp:coreProperties>
</file>