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0" r:id="rId6"/>
    <p:sldId id="259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41437-590B-4175-9E73-EC5735120A04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0B365-437B-4A24-8D34-5087CE24B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5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7A59-DB62-4302-8242-2AC0D3F3A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7FD49-D870-47A7-AE01-36625F845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B4852-1917-496C-AE47-9CA5A1D5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F09A-F733-4E73-8759-B4DB649B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0AF73-0DDA-4AD2-A211-CB0C503F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25E9-F298-46C3-B9CC-64CCC8F7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15F-BE30-487D-A50E-65C42329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7273-6492-4424-8FFC-AE95CF08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09822-B31A-4104-8C01-08F2CF38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6A6E2-8BE8-44DB-AEDA-B803E83F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C5D9-F18C-4759-9DAD-13C1243E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6C8EC-D751-4502-81E0-A8E0B541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4EB3-539A-4095-8A83-68F13DBA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0CB7C-0826-4246-98C2-EFE4DCE2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6FC66-CA39-4FA1-8B88-46BC9872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E76C-EABE-45D1-B510-41C75EEA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65E9-A941-4261-93CC-EAAB14A91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E7489-EEAF-428C-837D-E8A25B0FB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D0567-6AA9-4E90-B60A-F6D408DE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96323-D378-460E-BA7B-0C8E0749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651CF-AB0C-4DE8-9402-8DD98123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7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5635-6FCD-47FD-B12E-6CAFAC46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8579-D409-4521-B62D-6D52ABC9D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5D522-1F03-4060-9AED-653E361D9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0BEE-7C1E-4C2E-970C-6FCEA2953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8091E-2000-4160-B18E-0FC6DEFF2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CB898-3270-4E39-8CD5-6F6F1364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B8638-17A0-4801-AFDF-E727E15C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46AFB-10F7-462B-8998-AA66ECC0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8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4871-7417-4D36-AD64-3626EC74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B79CC-5AD9-43CA-9D2C-F05714EC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AC15D-43A5-47A6-8336-FC707BB5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99915-96C1-4FDC-8D0E-B4BCC600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5E09D-C499-45C2-AC07-8B7ABDE9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6C84D-64F2-49D8-BB1C-7203CCBE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8BB06-E533-40AA-9037-0E4D371E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3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8739-D236-4131-93EB-D20377B17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1A-4D9E-4E29-9224-C7D8759A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5ADC8-10DC-4FDE-A8FF-47D425790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76EC4-E117-4361-B310-935C72DC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CBDA9-C21C-4939-BBB2-BFDE429E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DD9ED-30ED-4F74-96B9-89B40421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120-2396-49B8-B785-EE7AD61E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69DE7-40A7-408B-80ED-6896EF145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A1F62-04B8-4C32-B4D7-F1666999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B4020-057D-4611-A938-794C0101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33948-FF3C-4CB5-8252-64D3EB7E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43A69-17DE-44CE-B795-270E9397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4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5977-3B73-4783-A82A-EBB063E9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EED5E-8D7C-4DBB-B72D-9974F8DA3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2172-6F3D-42F5-BDA2-7E86A9C7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9556-EE72-4A1D-A7B5-18914882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9DED-91BF-4033-BA58-8B0DA81F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7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A3E97-53EE-4270-BE2E-7310EB346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539B5-C765-47A5-AA92-AE8D26DAD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D32C2-F3E9-4D28-A301-7152B917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DDFA5-7FBC-46D7-99F2-21BCB02E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2D8D2-905B-4DC9-BEA2-C9B069EA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5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93196-04E0-41BA-ABBE-768E198E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6A488-5030-4DCB-B9CC-33D0801B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40198-66A2-4D29-9B54-B42AD3095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8C943-6D8A-49C8-A05B-9423A5F608F1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DDEDE-7DE2-49BA-838C-3C5843088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DEFE-BC83-4950-B90B-C233C9A1B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0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BB9D-64F4-4546-8DC0-1F4E5AC0F1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: Residual Neural Nets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53DB10F-5041-495D-A5EC-A3781A45D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7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8F556A-E4B6-430F-A8D7-46C1749CB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7" y="0"/>
            <a:ext cx="10515600" cy="1325563"/>
          </a:xfrm>
        </p:spPr>
        <p:txBody>
          <a:bodyPr/>
          <a:lstStyle/>
          <a:p>
            <a:r>
              <a:rPr lang="en-US" dirty="0"/>
              <a:t>Residual block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4570E-4BB4-4FFE-8084-9A3EA7B0E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369" y="662781"/>
            <a:ext cx="4476750" cy="1543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1062E2-4B1F-4657-B5A3-651E23F08C5C}"/>
                  </a:ext>
                </a:extLst>
              </p:cNvPr>
              <p:cNvSpPr txBox="1"/>
              <p:nvPr/>
            </p:nvSpPr>
            <p:spPr>
              <a:xfrm>
                <a:off x="-70413" y="3894918"/>
                <a:ext cx="12253419" cy="389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m:rPr>
                          <m:nor/>
                        </m:rPr>
                        <a:rPr lang="en-US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Linear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+1]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Linear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m:rPr>
                          <m:nor/>
                        </m:rPr>
                        <a:rPr lang="en-US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ReLU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+2]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1062E2-4B1F-4657-B5A3-651E23F08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413" y="3894918"/>
                <a:ext cx="12253419" cy="389145"/>
              </a:xfrm>
              <a:prstGeom prst="rect">
                <a:avLst/>
              </a:prstGeom>
              <a:blipFill>
                <a:blip r:embed="rId3"/>
                <a:stretch>
                  <a:fillRect t="-156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4D9BC1-3310-4E37-B428-04B45AF31025}"/>
              </a:ext>
            </a:extLst>
          </p:cNvPr>
          <p:cNvCxnSpPr>
            <a:cxnSpLocks/>
          </p:cNvCxnSpPr>
          <p:nvPr/>
        </p:nvCxnSpPr>
        <p:spPr>
          <a:xfrm flipV="1">
            <a:off x="684834" y="3102016"/>
            <a:ext cx="0" cy="7929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4A3A67-74DC-4E33-9C1A-6ADD1989C415}"/>
              </a:ext>
            </a:extLst>
          </p:cNvPr>
          <p:cNvCxnSpPr>
            <a:cxnSpLocks/>
          </p:cNvCxnSpPr>
          <p:nvPr/>
        </p:nvCxnSpPr>
        <p:spPr>
          <a:xfrm>
            <a:off x="684834" y="3102015"/>
            <a:ext cx="794023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07D6C9-64F8-48AF-A05A-ED51B0657286}"/>
              </a:ext>
            </a:extLst>
          </p:cNvPr>
          <p:cNvCxnSpPr>
            <a:cxnSpLocks/>
          </p:cNvCxnSpPr>
          <p:nvPr/>
        </p:nvCxnSpPr>
        <p:spPr>
          <a:xfrm>
            <a:off x="8625066" y="3102015"/>
            <a:ext cx="1" cy="534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B701B85-BEAC-4D7B-A8BA-3EFEC5D27067}"/>
              </a:ext>
            </a:extLst>
          </p:cNvPr>
          <p:cNvSpPr txBox="1"/>
          <p:nvPr/>
        </p:nvSpPr>
        <p:spPr>
          <a:xfrm>
            <a:off x="3948895" y="2777924"/>
            <a:ext cx="2707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short-cut / skip connection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090176-9AC4-4241-8201-F1AF347A7736}"/>
                  </a:ext>
                </a:extLst>
              </p:cNvPr>
              <p:cNvSpPr txBox="1"/>
              <p:nvPr/>
            </p:nvSpPr>
            <p:spPr>
              <a:xfrm>
                <a:off x="8484001" y="3705284"/>
                <a:ext cx="2821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090176-9AC4-4241-8201-F1AF347A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001" y="3705284"/>
                <a:ext cx="282129" cy="276999"/>
              </a:xfrm>
              <a:prstGeom prst="rect">
                <a:avLst/>
              </a:prstGeom>
              <a:blipFill>
                <a:blip r:embed="rId4"/>
                <a:stretch>
                  <a:fillRect l="-28261" t="-2222" r="-26087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71A345-71C7-4634-A391-11DC4E60C7A6}"/>
                  </a:ext>
                </a:extLst>
              </p:cNvPr>
              <p:cNvSpPr txBox="1"/>
              <p:nvPr/>
            </p:nvSpPr>
            <p:spPr>
              <a:xfrm>
                <a:off x="8008549" y="4729945"/>
                <a:ext cx="2897140" cy="362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71A345-71C7-4634-A391-11DC4E60C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49" y="4729945"/>
                <a:ext cx="2897140" cy="362022"/>
              </a:xfrm>
              <a:prstGeom prst="rect">
                <a:avLst/>
              </a:prstGeom>
              <a:blipFill>
                <a:blip r:embed="rId5"/>
                <a:stretch>
                  <a:fillRect l="-1053" t="-5085" r="-2947" b="-3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00DA67-7149-4B2F-982F-EBCCA823E8B3}"/>
              </a:ext>
            </a:extLst>
          </p:cNvPr>
          <p:cNvCxnSpPr/>
          <p:nvPr/>
        </p:nvCxnSpPr>
        <p:spPr>
          <a:xfrm>
            <a:off x="9248172" y="4284063"/>
            <a:ext cx="0" cy="445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A7DFAB9-1F9F-4BF9-9A27-0764AB12533D}"/>
              </a:ext>
            </a:extLst>
          </p:cNvPr>
          <p:cNvSpPr/>
          <p:nvPr/>
        </p:nvSpPr>
        <p:spPr>
          <a:xfrm>
            <a:off x="9595413" y="3894918"/>
            <a:ext cx="2465406" cy="389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B411D6B-8D19-48D8-BCEA-B8DB84B1E01E}"/>
              </a:ext>
            </a:extLst>
          </p:cNvPr>
          <p:cNvCxnSpPr>
            <a:cxnSpLocks/>
          </p:cNvCxnSpPr>
          <p:nvPr/>
        </p:nvCxnSpPr>
        <p:spPr>
          <a:xfrm flipV="1">
            <a:off x="5798916" y="393539"/>
            <a:ext cx="0" cy="10764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8FB42D2-E73E-45B3-80ED-3FF9D29E0CCD}"/>
              </a:ext>
            </a:extLst>
          </p:cNvPr>
          <p:cNvCxnSpPr/>
          <p:nvPr/>
        </p:nvCxnSpPr>
        <p:spPr>
          <a:xfrm>
            <a:off x="5798916" y="393539"/>
            <a:ext cx="200242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E600F1F-384B-40F5-ADDF-E8C2CCAF31EE}"/>
              </a:ext>
            </a:extLst>
          </p:cNvPr>
          <p:cNvCxnSpPr>
            <a:cxnSpLocks/>
          </p:cNvCxnSpPr>
          <p:nvPr/>
        </p:nvCxnSpPr>
        <p:spPr>
          <a:xfrm>
            <a:off x="7801337" y="393539"/>
            <a:ext cx="0" cy="370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890341F3-D7E7-4B30-BD0F-635C08543F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96243"/>
            <a:ext cx="6467475" cy="25717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911A8F5-6EB1-4EE1-9894-1015BDABB18C}"/>
              </a:ext>
            </a:extLst>
          </p:cNvPr>
          <p:cNvSpPr txBox="1"/>
          <p:nvPr/>
        </p:nvSpPr>
        <p:spPr>
          <a:xfrm>
            <a:off x="567160" y="5610060"/>
            <a:ext cx="7814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Using residual blocks we can build deeper networks!</a:t>
            </a:r>
          </a:p>
        </p:txBody>
      </p:sp>
    </p:spTree>
    <p:extLst>
      <p:ext uri="{BB962C8B-B14F-4D97-AF65-F5344CB8AC3E}">
        <p14:creationId xmlns:p14="http://schemas.microsoft.com/office/powerpoint/2010/main" val="396215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31" grpId="0" animBg="1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4A25-29CD-4614-A28F-A4D43A94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94" y="0"/>
            <a:ext cx="10515600" cy="1325563"/>
          </a:xfrm>
        </p:spPr>
        <p:txBody>
          <a:bodyPr/>
          <a:lstStyle/>
          <a:p>
            <a:r>
              <a:rPr lang="en-US" dirty="0"/>
              <a:t>Residual Nets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39F85-4010-4670-A316-34FF38B0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872"/>
            <a:ext cx="12192000" cy="1307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0698B3-3E45-4F77-9451-DF28C0AAD412}"/>
              </a:ext>
            </a:extLst>
          </p:cNvPr>
          <p:cNvSpPr txBox="1"/>
          <p:nvPr/>
        </p:nvSpPr>
        <p:spPr>
          <a:xfrm>
            <a:off x="4674815" y="3429000"/>
            <a:ext cx="1476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 network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53F480-FE54-4E2C-9AF0-C0974F62F04A}"/>
              </a:ext>
            </a:extLst>
          </p:cNvPr>
          <p:cNvGrpSpPr/>
          <p:nvPr/>
        </p:nvGrpSpPr>
        <p:grpSpPr>
          <a:xfrm>
            <a:off x="717630" y="1437551"/>
            <a:ext cx="1666755" cy="1134921"/>
            <a:chOff x="717630" y="1437551"/>
            <a:chExt cx="1666755" cy="113492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CBA8E43-BF9C-49DE-B01C-CAED75C14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30" y="1437551"/>
              <a:ext cx="0" cy="11349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0040AFF-9EF5-42E0-ABDB-7735D76476AD}"/>
                </a:ext>
              </a:extLst>
            </p:cNvPr>
            <p:cNvCxnSpPr/>
            <p:nvPr/>
          </p:nvCxnSpPr>
          <p:spPr>
            <a:xfrm>
              <a:off x="740780" y="1437551"/>
              <a:ext cx="16436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E17DD9-E2EB-49A0-8D2F-227600683BFD}"/>
                </a:ext>
              </a:extLst>
            </p:cNvPr>
            <p:cNvCxnSpPr/>
            <p:nvPr/>
          </p:nvCxnSpPr>
          <p:spPr>
            <a:xfrm>
              <a:off x="2384385" y="1437551"/>
              <a:ext cx="0" cy="5081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DF4F0D-BBB7-45CB-BB6C-9EA013BCDC00}"/>
              </a:ext>
            </a:extLst>
          </p:cNvPr>
          <p:cNvGrpSpPr/>
          <p:nvPr/>
        </p:nvGrpSpPr>
        <p:grpSpPr>
          <a:xfrm>
            <a:off x="2826151" y="1437550"/>
            <a:ext cx="1666755" cy="1134921"/>
            <a:chOff x="717630" y="1437551"/>
            <a:chExt cx="1666755" cy="113492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D09C4AE-954A-4A28-ABAB-661BAA485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30" y="1437551"/>
              <a:ext cx="0" cy="11349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CB5B97-66CF-4BAF-B458-E9EE02D0802E}"/>
                </a:ext>
              </a:extLst>
            </p:cNvPr>
            <p:cNvCxnSpPr/>
            <p:nvPr/>
          </p:nvCxnSpPr>
          <p:spPr>
            <a:xfrm>
              <a:off x="740780" y="1437551"/>
              <a:ext cx="16436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FB1C63F-9C93-498A-AEAF-0A5B13FAA06C}"/>
                </a:ext>
              </a:extLst>
            </p:cNvPr>
            <p:cNvCxnSpPr/>
            <p:nvPr/>
          </p:nvCxnSpPr>
          <p:spPr>
            <a:xfrm>
              <a:off x="2384385" y="1437551"/>
              <a:ext cx="0" cy="5081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D58A97-7048-4F5A-BB98-B2DD5C459D8D}"/>
              </a:ext>
            </a:extLst>
          </p:cNvPr>
          <p:cNvGrpSpPr/>
          <p:nvPr/>
        </p:nvGrpSpPr>
        <p:grpSpPr>
          <a:xfrm>
            <a:off x="4934672" y="1437549"/>
            <a:ext cx="1666755" cy="1134921"/>
            <a:chOff x="717630" y="1437551"/>
            <a:chExt cx="1666755" cy="113492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4F5BE5A-066C-4DB2-94C5-415C654AC8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30" y="1437551"/>
              <a:ext cx="0" cy="11349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475F56-A255-452D-BA52-A2139F8BF67E}"/>
                </a:ext>
              </a:extLst>
            </p:cNvPr>
            <p:cNvCxnSpPr/>
            <p:nvPr/>
          </p:nvCxnSpPr>
          <p:spPr>
            <a:xfrm>
              <a:off x="740780" y="1437551"/>
              <a:ext cx="16436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737B5C4-15A0-4F45-8802-68D806B1B673}"/>
                </a:ext>
              </a:extLst>
            </p:cNvPr>
            <p:cNvCxnSpPr/>
            <p:nvPr/>
          </p:nvCxnSpPr>
          <p:spPr>
            <a:xfrm>
              <a:off x="2384385" y="1437551"/>
              <a:ext cx="0" cy="5081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50EE65-4A3E-47DF-806E-2F3F2C487ABA}"/>
              </a:ext>
            </a:extLst>
          </p:cNvPr>
          <p:cNvGrpSpPr/>
          <p:nvPr/>
        </p:nvGrpSpPr>
        <p:grpSpPr>
          <a:xfrm>
            <a:off x="7043192" y="1437549"/>
            <a:ext cx="1666755" cy="1134921"/>
            <a:chOff x="717630" y="1437551"/>
            <a:chExt cx="1666755" cy="113492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4C6E9B-FF6B-4E61-BC86-C8005FD333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30" y="1437551"/>
              <a:ext cx="0" cy="11349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589AB25-5398-4BE9-B75D-461B329EAE5E}"/>
                </a:ext>
              </a:extLst>
            </p:cNvPr>
            <p:cNvCxnSpPr/>
            <p:nvPr/>
          </p:nvCxnSpPr>
          <p:spPr>
            <a:xfrm>
              <a:off x="740780" y="1437551"/>
              <a:ext cx="16436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852F2EE-CC87-45C9-8B21-364AB16AA582}"/>
                </a:ext>
              </a:extLst>
            </p:cNvPr>
            <p:cNvCxnSpPr/>
            <p:nvPr/>
          </p:nvCxnSpPr>
          <p:spPr>
            <a:xfrm>
              <a:off x="2384385" y="1437551"/>
              <a:ext cx="0" cy="5081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9CCD71-A14E-4182-B3FF-6C255E23FD10}"/>
              </a:ext>
            </a:extLst>
          </p:cNvPr>
          <p:cNvGrpSpPr/>
          <p:nvPr/>
        </p:nvGrpSpPr>
        <p:grpSpPr>
          <a:xfrm>
            <a:off x="9004139" y="1437549"/>
            <a:ext cx="1666755" cy="1134921"/>
            <a:chOff x="717630" y="1437551"/>
            <a:chExt cx="1666755" cy="113492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E9BF1C2-607E-4714-A508-BB4628E5F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30" y="1437551"/>
              <a:ext cx="0" cy="113492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097C55-1353-49C5-AEE2-F1C2C559D17E}"/>
                </a:ext>
              </a:extLst>
            </p:cNvPr>
            <p:cNvCxnSpPr/>
            <p:nvPr/>
          </p:nvCxnSpPr>
          <p:spPr>
            <a:xfrm>
              <a:off x="740780" y="1437551"/>
              <a:ext cx="164360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142FB04-FFD7-43DD-9FCC-69F480312923}"/>
                </a:ext>
              </a:extLst>
            </p:cNvPr>
            <p:cNvCxnSpPr/>
            <p:nvPr/>
          </p:nvCxnSpPr>
          <p:spPr>
            <a:xfrm>
              <a:off x="2384385" y="1437551"/>
              <a:ext cx="0" cy="5081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3D058A8-341B-4451-A8FB-D5B4C47291D8}"/>
              </a:ext>
            </a:extLst>
          </p:cNvPr>
          <p:cNvSpPr txBox="1"/>
          <p:nvPr/>
        </p:nvSpPr>
        <p:spPr>
          <a:xfrm>
            <a:off x="6032336" y="3429000"/>
            <a:ext cx="133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Residual net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5498D63-BAE0-4BF6-9822-3FB7030F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81" y="3869178"/>
            <a:ext cx="3153439" cy="276887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62D49E2-E873-4669-A6EB-0A760DDBE243}"/>
              </a:ext>
            </a:extLst>
          </p:cNvPr>
          <p:cNvSpPr txBox="1"/>
          <p:nvPr/>
        </p:nvSpPr>
        <p:spPr>
          <a:xfrm>
            <a:off x="3868632" y="5810491"/>
            <a:ext cx="80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theory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C2DD80-8135-4CC2-BB4E-3F85248FAAA6}"/>
              </a:ext>
            </a:extLst>
          </p:cNvPr>
          <p:cNvSpPr txBox="1"/>
          <p:nvPr/>
        </p:nvSpPr>
        <p:spPr>
          <a:xfrm>
            <a:off x="3093868" y="5226657"/>
            <a:ext cx="77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reality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9E331E-4535-4409-B108-3D008729A1B8}"/>
              </a:ext>
            </a:extLst>
          </p:cNvPr>
          <p:cNvSpPr txBox="1"/>
          <p:nvPr/>
        </p:nvSpPr>
        <p:spPr>
          <a:xfrm>
            <a:off x="3120064" y="4827489"/>
            <a:ext cx="2912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exploding/vanishing gradient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32CFC47-7B27-46C8-A77E-11FED2AE8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867" y="3891454"/>
            <a:ext cx="3400028" cy="2913344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0B74EBD-6AFC-4901-AE3A-BE896EB48484}"/>
              </a:ext>
            </a:extLst>
          </p:cNvPr>
          <p:cNvSpPr/>
          <p:nvPr/>
        </p:nvSpPr>
        <p:spPr>
          <a:xfrm>
            <a:off x="7720314" y="4375230"/>
            <a:ext cx="2812648" cy="1755286"/>
          </a:xfrm>
          <a:custGeom>
            <a:avLst/>
            <a:gdLst>
              <a:gd name="connsiteX0" fmla="*/ 0 w 2812648"/>
              <a:gd name="connsiteY0" fmla="*/ 0 h 1755286"/>
              <a:gd name="connsiteX1" fmla="*/ 69448 w 2812648"/>
              <a:gd name="connsiteY1" fmla="*/ 520861 h 1755286"/>
              <a:gd name="connsiteX2" fmla="*/ 173620 w 2812648"/>
              <a:gd name="connsiteY2" fmla="*/ 821803 h 1755286"/>
              <a:gd name="connsiteX3" fmla="*/ 752354 w 2812648"/>
              <a:gd name="connsiteY3" fmla="*/ 1423686 h 1755286"/>
              <a:gd name="connsiteX4" fmla="*/ 1469985 w 2812648"/>
              <a:gd name="connsiteY4" fmla="*/ 1713054 h 1755286"/>
              <a:gd name="connsiteX5" fmla="*/ 2812648 w 2812648"/>
              <a:gd name="connsiteY5" fmla="*/ 1747778 h 1755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648" h="1755286">
                <a:moveTo>
                  <a:pt x="0" y="0"/>
                </a:moveTo>
                <a:cubicBezTo>
                  <a:pt x="20255" y="191947"/>
                  <a:pt x="40511" y="383894"/>
                  <a:pt x="69448" y="520861"/>
                </a:cubicBezTo>
                <a:cubicBezTo>
                  <a:pt x="98385" y="657828"/>
                  <a:pt x="59802" y="671332"/>
                  <a:pt x="173620" y="821803"/>
                </a:cubicBezTo>
                <a:cubicBezTo>
                  <a:pt x="287438" y="972274"/>
                  <a:pt x="536293" y="1275144"/>
                  <a:pt x="752354" y="1423686"/>
                </a:cubicBezTo>
                <a:cubicBezTo>
                  <a:pt x="968415" y="1572228"/>
                  <a:pt x="1126603" y="1659039"/>
                  <a:pt x="1469985" y="1713054"/>
                </a:cubicBezTo>
                <a:cubicBezTo>
                  <a:pt x="1813367" y="1767069"/>
                  <a:pt x="2313007" y="1757423"/>
                  <a:pt x="2812648" y="1747778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4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1" grpId="0"/>
      <p:bldP spid="34" grpId="0"/>
      <p:bldP spid="35" grpId="0"/>
      <p:bldP spid="36" grpId="0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0C41-79C1-47F4-A5B8-BA5720E6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292929"/>
                </a:solidFill>
                <a:effectLst/>
                <a:latin typeface="charter"/>
              </a:rPr>
              <a:t>K. He, X. Zhang, S. Ren and J. Sun, “Deep Residual Learning for Image Recognition,” in </a:t>
            </a:r>
            <a:r>
              <a:rPr lang="en-US" sz="2800" b="0" i="1" dirty="0">
                <a:solidFill>
                  <a:srgbClr val="292929"/>
                </a:solidFill>
                <a:effectLst/>
                <a:latin typeface="charter"/>
              </a:rPr>
              <a:t>CVPR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charter"/>
              </a:rPr>
              <a:t>, 2016.</a:t>
            </a:r>
            <a:endParaRPr lang="en-US" sz="6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0A5BA-D6E7-4DF7-8F65-FAC226B5E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52" y="2204054"/>
            <a:ext cx="7786597" cy="39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9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FEE9A7-960B-44B8-9CA3-C37FA02C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vs deep nets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88BD-5307-4156-9356-00E7CBEC1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a “shallow” model is able to achieve an accuracy, then their deeper counterparts should at least have the same accuracy.</a:t>
            </a:r>
          </a:p>
          <a:p>
            <a:r>
              <a:rPr lang="en-US" dirty="0"/>
              <a:t>However, when the model gets deeper, it becomes more and more difficult for the layers to propagate the information from shallow layers and the information is lost (degradation problem).</a:t>
            </a:r>
          </a:p>
          <a:p>
            <a:r>
              <a:rPr lang="en-US" dirty="0"/>
              <a:t>To address this the problem, the deeper layers have to propagate the information from the shallow layers directly, i.e. identity mapping</a:t>
            </a:r>
          </a:p>
          <a:p>
            <a:r>
              <a:rPr lang="en-US" u="sng" dirty="0"/>
              <a:t>Example</a:t>
            </a:r>
            <a:r>
              <a:rPr lang="en-US" dirty="0"/>
              <a:t>: suppose we build a 9-layers 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  <a:r>
              <a:rPr lang="en-US" dirty="0"/>
              <a:t> and then a 30-layers 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  <a:r>
              <a:rPr lang="en-US" dirty="0"/>
              <a:t> by adding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  <a:r>
              <a:rPr lang="en-US" dirty="0"/>
              <a:t> another 21 layers; 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  <a:r>
              <a:rPr lang="en-US" dirty="0"/>
              <a:t> performs worse than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  <a:r>
              <a:rPr lang="en-US" dirty="0"/>
              <a:t>, we can get back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  <a:r>
              <a:rPr lang="en-US" dirty="0"/>
              <a:t> performance by making the 21 additional layers to learn the </a:t>
            </a:r>
            <a:r>
              <a:rPr lang="en-US" dirty="0" err="1"/>
              <a:t>indentity</a:t>
            </a:r>
            <a:r>
              <a:rPr lang="en-US" dirty="0"/>
              <a:t> mapping</a:t>
            </a:r>
          </a:p>
        </p:txBody>
      </p:sp>
    </p:spTree>
    <p:extLst>
      <p:ext uri="{BB962C8B-B14F-4D97-AF65-F5344CB8AC3E}">
        <p14:creationId xmlns:p14="http://schemas.microsoft.com/office/powerpoint/2010/main" val="356662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040E-5137-449C-9DA4-38BB88CB2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33" y="0"/>
            <a:ext cx="10515600" cy="1325563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ResNet</a:t>
            </a:r>
            <a:r>
              <a:rPr lang="en-US" dirty="0"/>
              <a:t> works?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BE895-6021-4942-AF48-D8673D0F935C}"/>
              </a:ext>
            </a:extLst>
          </p:cNvPr>
          <p:cNvSpPr/>
          <p:nvPr/>
        </p:nvSpPr>
        <p:spPr>
          <a:xfrm>
            <a:off x="2025570" y="1412111"/>
            <a:ext cx="1956121" cy="10417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BigNN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1B921C-412D-459A-B660-06D1E8A1F6E2}"/>
                  </a:ext>
                </a:extLst>
              </p:cNvPr>
              <p:cNvSpPr txBox="1"/>
              <p:nvPr/>
            </p:nvSpPr>
            <p:spPr>
              <a:xfrm>
                <a:off x="983848" y="1686750"/>
                <a:ext cx="9215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1B921C-412D-459A-B660-06D1E8A1F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48" y="1686750"/>
                <a:ext cx="921534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B970EB-7526-42AC-B387-1DA247E85F82}"/>
                  </a:ext>
                </a:extLst>
              </p:cNvPr>
              <p:cNvSpPr txBox="1"/>
              <p:nvPr/>
            </p:nvSpPr>
            <p:spPr>
              <a:xfrm>
                <a:off x="4101879" y="1686749"/>
                <a:ext cx="1271823" cy="513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B970EB-7526-42AC-B387-1DA247E85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879" y="1686749"/>
                <a:ext cx="1271823" cy="5136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28BD19-1E35-43FF-8128-6C183B597B78}"/>
                  </a:ext>
                </a:extLst>
              </p:cNvPr>
              <p:cNvSpPr txBox="1"/>
              <p:nvPr/>
            </p:nvSpPr>
            <p:spPr>
              <a:xfrm>
                <a:off x="5591055" y="1769464"/>
                <a:ext cx="5049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28BD19-1E35-43FF-8128-6C183B597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055" y="1769464"/>
                <a:ext cx="50494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B0F611E-F42A-413E-9E30-20DC536AE9E5}"/>
              </a:ext>
            </a:extLst>
          </p:cNvPr>
          <p:cNvGrpSpPr/>
          <p:nvPr/>
        </p:nvGrpSpPr>
        <p:grpSpPr>
          <a:xfrm>
            <a:off x="6215605" y="1064871"/>
            <a:ext cx="416689" cy="2016889"/>
            <a:chOff x="6979534" y="1412111"/>
            <a:chExt cx="416689" cy="201688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A2CAB8B-45DE-4915-8F3A-7A4B8C0A0B8A}"/>
                </a:ext>
              </a:extLst>
            </p:cNvPr>
            <p:cNvSpPr/>
            <p:nvPr/>
          </p:nvSpPr>
          <p:spPr>
            <a:xfrm>
              <a:off x="6979534" y="1412111"/>
              <a:ext cx="416689" cy="20168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7B3A76-6F3E-4F0E-8212-1EE47A07EB48}"/>
                </a:ext>
              </a:extLst>
            </p:cNvPr>
            <p:cNvSpPr/>
            <p:nvPr/>
          </p:nvSpPr>
          <p:spPr>
            <a:xfrm>
              <a:off x="7041265" y="1596310"/>
              <a:ext cx="293225" cy="3472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1F6B633-EDFE-49DE-84ED-34D345AD0CBB}"/>
                </a:ext>
              </a:extLst>
            </p:cNvPr>
            <p:cNvSpPr/>
            <p:nvPr/>
          </p:nvSpPr>
          <p:spPr>
            <a:xfrm>
              <a:off x="7041264" y="2030098"/>
              <a:ext cx="293225" cy="3472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2F569-5AD9-498B-9580-CDF88930CF61}"/>
                </a:ext>
              </a:extLst>
            </p:cNvPr>
            <p:cNvSpPr/>
            <p:nvPr/>
          </p:nvSpPr>
          <p:spPr>
            <a:xfrm>
              <a:off x="7041263" y="2951414"/>
              <a:ext cx="293225" cy="3472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D3B9F9-595C-476A-9649-8C8FA58037C8}"/>
              </a:ext>
            </a:extLst>
          </p:cNvPr>
          <p:cNvGrpSpPr/>
          <p:nvPr/>
        </p:nvGrpSpPr>
        <p:grpSpPr>
          <a:xfrm>
            <a:off x="7363809" y="1064871"/>
            <a:ext cx="416689" cy="2016889"/>
            <a:chOff x="6979534" y="1412111"/>
            <a:chExt cx="416689" cy="201688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CCC4385-12A0-4DC1-B9DE-DD18940F95CD}"/>
                </a:ext>
              </a:extLst>
            </p:cNvPr>
            <p:cNvSpPr/>
            <p:nvPr/>
          </p:nvSpPr>
          <p:spPr>
            <a:xfrm>
              <a:off x="6979534" y="1412111"/>
              <a:ext cx="416689" cy="20168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65194C4-B2FC-4EEE-94A7-97A0F08203EB}"/>
                </a:ext>
              </a:extLst>
            </p:cNvPr>
            <p:cNvSpPr/>
            <p:nvPr/>
          </p:nvSpPr>
          <p:spPr>
            <a:xfrm>
              <a:off x="7041265" y="1596310"/>
              <a:ext cx="293225" cy="3472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0903C7-11BB-43E6-B503-D2234137FA3F}"/>
                </a:ext>
              </a:extLst>
            </p:cNvPr>
            <p:cNvSpPr/>
            <p:nvPr/>
          </p:nvSpPr>
          <p:spPr>
            <a:xfrm>
              <a:off x="7041264" y="2030098"/>
              <a:ext cx="293225" cy="3472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45F2703-1982-457D-A41D-D05FB57607EE}"/>
                </a:ext>
              </a:extLst>
            </p:cNvPr>
            <p:cNvSpPr/>
            <p:nvPr/>
          </p:nvSpPr>
          <p:spPr>
            <a:xfrm>
              <a:off x="7041263" y="2951414"/>
              <a:ext cx="293225" cy="3472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6615B4-D635-4C36-BC5E-909ADB479081}"/>
                  </a:ext>
                </a:extLst>
              </p:cNvPr>
              <p:cNvSpPr txBox="1"/>
              <p:nvPr/>
            </p:nvSpPr>
            <p:spPr>
              <a:xfrm>
                <a:off x="6732316" y="1794474"/>
                <a:ext cx="5049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6615B4-D635-4C36-BC5E-909ADB479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316" y="1794474"/>
                <a:ext cx="50494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A238BB-6C74-4BA1-879D-FAC3C4A3C479}"/>
                  </a:ext>
                </a:extLst>
              </p:cNvPr>
              <p:cNvSpPr txBox="1"/>
              <p:nvPr/>
            </p:nvSpPr>
            <p:spPr>
              <a:xfrm>
                <a:off x="7954510" y="1769464"/>
                <a:ext cx="1534972" cy="449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+2]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A238BB-6C74-4BA1-879D-FAC3C4A3C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510" y="1769464"/>
                <a:ext cx="1534972" cy="4492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3715C7-35A0-47A2-BE1A-3ED343A47176}"/>
              </a:ext>
            </a:extLst>
          </p:cNvPr>
          <p:cNvCxnSpPr>
            <a:cxnSpLocks/>
          </p:cNvCxnSpPr>
          <p:nvPr/>
        </p:nvCxnSpPr>
        <p:spPr>
          <a:xfrm flipH="1" flipV="1">
            <a:off x="5843528" y="748596"/>
            <a:ext cx="6319" cy="12363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DBCA089-33BD-4F0E-819F-8A891FF7FD76}"/>
              </a:ext>
            </a:extLst>
          </p:cNvPr>
          <p:cNvCxnSpPr>
            <a:cxnSpLocks/>
          </p:cNvCxnSpPr>
          <p:nvPr/>
        </p:nvCxnSpPr>
        <p:spPr>
          <a:xfrm>
            <a:off x="5843527" y="752354"/>
            <a:ext cx="17263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2919A5-C09B-4783-B421-0516CD7E8428}"/>
              </a:ext>
            </a:extLst>
          </p:cNvPr>
          <p:cNvCxnSpPr>
            <a:endCxn id="13" idx="0"/>
          </p:cNvCxnSpPr>
          <p:nvPr/>
        </p:nvCxnSpPr>
        <p:spPr>
          <a:xfrm>
            <a:off x="7572150" y="748596"/>
            <a:ext cx="4" cy="316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32AB021-A4BF-4125-A9D1-70DC6EE867F5}"/>
                  </a:ext>
                </a:extLst>
              </p:cNvPr>
              <p:cNvSpPr txBox="1"/>
              <p:nvPr/>
            </p:nvSpPr>
            <p:spPr>
              <a:xfrm>
                <a:off x="1040079" y="3429000"/>
                <a:ext cx="3927101" cy="394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32AB021-A4BF-4125-A9D1-70DC6EE86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79" y="3429000"/>
                <a:ext cx="3927101" cy="394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3C3A9D-00A7-499F-A8E5-F919A3946AD3}"/>
                  </a:ext>
                </a:extLst>
              </p:cNvPr>
              <p:cNvSpPr txBox="1"/>
              <p:nvPr/>
            </p:nvSpPr>
            <p:spPr>
              <a:xfrm>
                <a:off x="327422" y="4133535"/>
                <a:ext cx="11776365" cy="2491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We notice that if weights are zero,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+2]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200" dirty="0"/>
                  <a:t>, thus it is easy for the res block </a:t>
                </a:r>
                <a:br>
                  <a:rPr lang="en-US" sz="2200" dirty="0"/>
                </a:br>
                <a:r>
                  <a:rPr lang="en-US" sz="2200" dirty="0"/>
                  <a:t>to learn the identity function (NB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g=</a:t>
                </a:r>
                <a:r>
                  <a:rPr 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</a:t>
                </a:r>
                <a:r>
                  <a:rPr lang="en-US" sz="22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This is what happens with regularization (where weights are kept small)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It follows that adding these two layers in the network doesn’t really hurt our neural networks </a:t>
                </a:r>
                <a:br>
                  <a:rPr lang="en-US" sz="2200" dirty="0"/>
                </a:br>
                <a:r>
                  <a:rPr lang="en-US" sz="2200" dirty="0"/>
                  <a:t>ability to do as well as this simpler network without these two extra layers.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residual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+2]</m:t>
                        </m:r>
                      </m:sup>
                    </m:sSup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+1]</m:t>
                        </m:r>
                      </m:sup>
                    </m:sSup>
                  </m:oMath>
                </a14:m>
                <a:r>
                  <a:rPr lang="en-US" sz="2200" dirty="0"/>
                  <a:t> can be (easily) learned by the res block in case it is needed to improve the</a:t>
                </a:r>
                <a:br>
                  <a:rPr lang="en-US" sz="2200" dirty="0"/>
                </a:br>
                <a:r>
                  <a:rPr lang="en-US" sz="2200" dirty="0"/>
                  <a:t>performance </a:t>
                </a:r>
                <a:r>
                  <a:rPr lang="en-US" sz="2200" dirty="0" err="1"/>
                  <a:t>wrt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BigNN</a:t>
                </a:r>
                <a:endParaRPr lang="en-US" sz="2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3C3A9D-00A7-499F-A8E5-F919A3946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2" y="4133535"/>
                <a:ext cx="11776365" cy="2491323"/>
              </a:xfrm>
              <a:prstGeom prst="rect">
                <a:avLst/>
              </a:prstGeom>
              <a:blipFill>
                <a:blip r:embed="rId8"/>
                <a:stretch>
                  <a:fillRect l="-621" t="-978" b="-4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3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8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1F1B-EC8C-487C-9788-62152205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Typical situation</a:t>
            </a:r>
          </a:p>
        </p:txBody>
      </p:sp>
      <p:pic>
        <p:nvPicPr>
          <p:cNvPr id="1026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118B6B29-8FAB-43C2-947C-14408349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41020" y="1450932"/>
            <a:ext cx="7073369" cy="530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44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DCC446-97E2-42C4-A5B3-E6DB2359CA3A}"/>
                  </a:ext>
                </a:extLst>
              </p:cNvPr>
              <p:cNvSpPr txBox="1"/>
              <p:nvPr/>
            </p:nvSpPr>
            <p:spPr>
              <a:xfrm>
                <a:off x="348805" y="861575"/>
                <a:ext cx="5243230" cy="526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+2]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DCC446-97E2-42C4-A5B3-E6DB2359C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05" y="861575"/>
                <a:ext cx="5243230" cy="52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EDA8476-22CE-469C-B45C-58D55A66F0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630" y="2997226"/>
                <a:ext cx="10515600" cy="338779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3200" dirty="0"/>
                  <a:t>Suppose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3200" dirty="0"/>
                  <a:t> have different dimensions</a:t>
                </a:r>
              </a:p>
              <a:p>
                <a:pPr lvl="1"/>
                <a:r>
                  <a:rPr lang="en-US" sz="2600" dirty="0"/>
                  <a:t>The sum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600" dirty="0"/>
                  <a:t> is not properly defined</a:t>
                </a:r>
              </a:p>
              <a:p>
                <a:pPr lvl="1"/>
                <a:r>
                  <a:rPr lang="en-US" sz="2600" dirty="0"/>
                  <a:t>Let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lvl="1"/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 define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6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+2]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/>
              </a:p>
              <a:p>
                <a:pPr lvl="1"/>
                <a:r>
                  <a:rPr lang="en-US" sz="2600" dirty="0"/>
                  <a:t>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600" dirty="0"/>
                  <a:t> can be considered a weight matrix to learn or a matrix that zero-pads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600" dirty="0"/>
                  <a:t>; in case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600" dirty="0"/>
                  <a:t> the matrix is applied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600" dirty="0"/>
                  <a:t>.</a:t>
                </a:r>
              </a:p>
              <a:p>
                <a:pPr lvl="1"/>
                <a:r>
                  <a:rPr lang="en-US" sz="2600" b="1" dirty="0"/>
                  <a:t>Often in </a:t>
                </a:r>
                <a:r>
                  <a:rPr lang="en-US" sz="2600" b="1" dirty="0" err="1"/>
                  <a:t>ResNets</a:t>
                </a:r>
                <a:r>
                  <a:rPr lang="en-US" sz="2600" b="1" dirty="0"/>
                  <a:t> for images, </a:t>
                </a:r>
                <a:r>
                  <a:rPr lang="en-US" sz="2600" b="1" i="1" dirty="0"/>
                  <a:t>same</a:t>
                </a:r>
                <a:r>
                  <a:rPr lang="en-US" sz="2600" b="1" dirty="0"/>
                  <a:t> convolution is used so that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600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EDA8476-22CE-469C-B45C-58D55A66F0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630" y="2997226"/>
                <a:ext cx="10515600" cy="3387796"/>
              </a:xfrm>
              <a:blipFill>
                <a:blip r:embed="rId3"/>
                <a:stretch>
                  <a:fillRect l="-1333" t="-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3A40C765-09D9-44D0-8A28-D00A1F57C6F5}"/>
              </a:ext>
            </a:extLst>
          </p:cNvPr>
          <p:cNvGrpSpPr/>
          <p:nvPr/>
        </p:nvGrpSpPr>
        <p:grpSpPr>
          <a:xfrm>
            <a:off x="6853868" y="221612"/>
            <a:ext cx="4659144" cy="2333164"/>
            <a:chOff x="4830338" y="748596"/>
            <a:chExt cx="4659144" cy="23331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42A8B2D-6485-45FB-9CF2-23E1A6C723F9}"/>
                    </a:ext>
                  </a:extLst>
                </p:cNvPr>
                <p:cNvSpPr txBox="1"/>
                <p:nvPr/>
              </p:nvSpPr>
              <p:spPr>
                <a:xfrm>
                  <a:off x="4830338" y="1729946"/>
                  <a:ext cx="673711" cy="5136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42A8B2D-6485-45FB-9CF2-23E1A6C72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0338" y="1729946"/>
                  <a:ext cx="673711" cy="51360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11DC189-46A6-4AD2-BFF5-CD81890A8F8E}"/>
                    </a:ext>
                  </a:extLst>
                </p:cNvPr>
                <p:cNvSpPr txBox="1"/>
                <p:nvPr/>
              </p:nvSpPr>
              <p:spPr>
                <a:xfrm>
                  <a:off x="5591055" y="1769464"/>
                  <a:ext cx="50494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11DC189-46A6-4AD2-BFF5-CD81890A8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055" y="1769464"/>
                  <a:ext cx="504945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5D5BC42-BF93-4D75-9910-D66ED3F0484E}"/>
                </a:ext>
              </a:extLst>
            </p:cNvPr>
            <p:cNvGrpSpPr/>
            <p:nvPr/>
          </p:nvGrpSpPr>
          <p:grpSpPr>
            <a:xfrm>
              <a:off x="6215605" y="1064871"/>
              <a:ext cx="416689" cy="2016889"/>
              <a:chOff x="6979534" y="1412111"/>
              <a:chExt cx="416689" cy="2016889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9FF770E-F5D6-479C-86EC-3E06A6C8D6F8}"/>
                  </a:ext>
                </a:extLst>
              </p:cNvPr>
              <p:cNvSpPr/>
              <p:nvPr/>
            </p:nvSpPr>
            <p:spPr>
              <a:xfrm>
                <a:off x="6979534" y="1412111"/>
                <a:ext cx="416689" cy="201688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2E61C68-C3C8-4263-A299-915A662F81E1}"/>
                  </a:ext>
                </a:extLst>
              </p:cNvPr>
              <p:cNvSpPr/>
              <p:nvPr/>
            </p:nvSpPr>
            <p:spPr>
              <a:xfrm>
                <a:off x="7041265" y="1596310"/>
                <a:ext cx="293225" cy="347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EA08FB6-B271-404F-B69A-17A124C4571D}"/>
                  </a:ext>
                </a:extLst>
              </p:cNvPr>
              <p:cNvSpPr/>
              <p:nvPr/>
            </p:nvSpPr>
            <p:spPr>
              <a:xfrm>
                <a:off x="7041264" y="2030098"/>
                <a:ext cx="293225" cy="347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5F091ED-FB3C-42EE-9C59-7E3F34BF94D9}"/>
                  </a:ext>
                </a:extLst>
              </p:cNvPr>
              <p:cNvSpPr/>
              <p:nvPr/>
            </p:nvSpPr>
            <p:spPr>
              <a:xfrm>
                <a:off x="7041263" y="2951414"/>
                <a:ext cx="293225" cy="347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5B2A4A4-79EF-40FA-804A-86D3DE000EF9}"/>
                </a:ext>
              </a:extLst>
            </p:cNvPr>
            <p:cNvGrpSpPr/>
            <p:nvPr/>
          </p:nvGrpSpPr>
          <p:grpSpPr>
            <a:xfrm>
              <a:off x="7363809" y="1064871"/>
              <a:ext cx="416689" cy="2016889"/>
              <a:chOff x="6979534" y="1412111"/>
              <a:chExt cx="416689" cy="2016889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8E42984-2911-4F70-A163-894AA7E6AECA}"/>
                  </a:ext>
                </a:extLst>
              </p:cNvPr>
              <p:cNvSpPr/>
              <p:nvPr/>
            </p:nvSpPr>
            <p:spPr>
              <a:xfrm>
                <a:off x="6979534" y="1412111"/>
                <a:ext cx="416689" cy="201688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A4DD33F-7ACB-4332-845D-2A51FE57BFCD}"/>
                  </a:ext>
                </a:extLst>
              </p:cNvPr>
              <p:cNvSpPr/>
              <p:nvPr/>
            </p:nvSpPr>
            <p:spPr>
              <a:xfrm>
                <a:off x="7041265" y="1596310"/>
                <a:ext cx="293225" cy="347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5D59025-047E-4962-A92A-AB7BF452C0C3}"/>
                  </a:ext>
                </a:extLst>
              </p:cNvPr>
              <p:cNvSpPr/>
              <p:nvPr/>
            </p:nvSpPr>
            <p:spPr>
              <a:xfrm>
                <a:off x="7041264" y="2030098"/>
                <a:ext cx="293225" cy="347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F7887B7-3C4C-4CE9-BC82-0E7E170705AE}"/>
                  </a:ext>
                </a:extLst>
              </p:cNvPr>
              <p:cNvSpPr/>
              <p:nvPr/>
            </p:nvSpPr>
            <p:spPr>
              <a:xfrm>
                <a:off x="7041263" y="2951414"/>
                <a:ext cx="293225" cy="3472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1F11DE3-494C-4E12-98F1-2482C371A598}"/>
                    </a:ext>
                  </a:extLst>
                </p:cNvPr>
                <p:cNvSpPr txBox="1"/>
                <p:nvPr/>
              </p:nvSpPr>
              <p:spPr>
                <a:xfrm>
                  <a:off x="6732316" y="1794474"/>
                  <a:ext cx="504945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1F11DE3-494C-4E12-98F1-2482C371A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316" y="1794474"/>
                  <a:ext cx="504945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4DB6025-A69B-4224-96BC-5D3B78804B80}"/>
                    </a:ext>
                  </a:extLst>
                </p:cNvPr>
                <p:cNvSpPr txBox="1"/>
                <p:nvPr/>
              </p:nvSpPr>
              <p:spPr>
                <a:xfrm>
                  <a:off x="7954510" y="1769464"/>
                  <a:ext cx="1534972" cy="4492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⟶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+2]</m:t>
                            </m:r>
                          </m:sup>
                        </m:sSup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4DB6025-A69B-4224-96BC-5D3B78804B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4510" y="1769464"/>
                  <a:ext cx="1534972" cy="44929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12EC82-A922-42A0-A8EE-23C3E7397D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3528" y="748596"/>
              <a:ext cx="6319" cy="123631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A773D68-29BC-46CA-A051-C47F77D13B1E}"/>
                </a:ext>
              </a:extLst>
            </p:cNvPr>
            <p:cNvCxnSpPr>
              <a:cxnSpLocks/>
            </p:cNvCxnSpPr>
            <p:nvPr/>
          </p:nvCxnSpPr>
          <p:spPr>
            <a:xfrm>
              <a:off x="5843527" y="752354"/>
              <a:ext cx="172631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0B38A82-4462-40EC-B22C-3D407C9E49DC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7572150" y="748596"/>
              <a:ext cx="4" cy="31627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748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4E1C4A-F52C-4377-A78D-CA383E3D9CC1}"/>
                  </a:ext>
                </a:extLst>
              </p:cNvPr>
              <p:cNvSpPr txBox="1"/>
              <p:nvPr/>
            </p:nvSpPr>
            <p:spPr>
              <a:xfrm>
                <a:off x="1770927" y="1469984"/>
                <a:ext cx="1375889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4E1C4A-F52C-4377-A78D-CA383E3D9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927" y="1469984"/>
                <a:ext cx="1375889" cy="613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E55E8B-0DE4-4BBD-B609-43A660D8CEB1}"/>
                  </a:ext>
                </a:extLst>
              </p:cNvPr>
              <p:cNvSpPr txBox="1"/>
              <p:nvPr/>
            </p:nvSpPr>
            <p:spPr>
              <a:xfrm>
                <a:off x="4277104" y="1086899"/>
                <a:ext cx="1818896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E55E8B-0DE4-4BBD-B609-43A660D8C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104" y="1086899"/>
                <a:ext cx="1818896" cy="1379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B8F17A-41CE-49C3-9CD0-F58BE6CAA5F0}"/>
                  </a:ext>
                </a:extLst>
              </p:cNvPr>
              <p:cNvSpPr txBox="1"/>
              <p:nvPr/>
            </p:nvSpPr>
            <p:spPr>
              <a:xfrm>
                <a:off x="7141580" y="1469984"/>
                <a:ext cx="2545825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B8F17A-41CE-49C3-9CD0-F58BE6CA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580" y="1469984"/>
                <a:ext cx="2545825" cy="1379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A348F-3BB8-467B-9B0A-F050001BB732}"/>
                  </a:ext>
                </a:extLst>
              </p:cNvPr>
              <p:cNvSpPr txBox="1"/>
              <p:nvPr/>
            </p:nvSpPr>
            <p:spPr>
              <a:xfrm>
                <a:off x="1307939" y="3067291"/>
                <a:ext cx="3379067" cy="14209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2A348F-3BB8-467B-9B0A-F050001B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939" y="3067291"/>
                <a:ext cx="3379067" cy="1420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9862C6-1893-49C7-A79E-40F449E54958}"/>
                  </a:ext>
                </a:extLst>
              </p:cNvPr>
              <p:cNvSpPr txBox="1"/>
              <p:nvPr/>
            </p:nvSpPr>
            <p:spPr>
              <a:xfrm>
                <a:off x="5879940" y="3136487"/>
                <a:ext cx="2769476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pad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9862C6-1893-49C7-A79E-40F449E54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40" y="3136487"/>
                <a:ext cx="2769476" cy="13796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15445C-738D-45F1-8E8A-5D664827EA98}"/>
                  </a:ext>
                </a:extLst>
              </p:cNvPr>
              <p:cNvSpPr txBox="1"/>
              <p:nvPr/>
            </p:nvSpPr>
            <p:spPr>
              <a:xfrm>
                <a:off x="1966663" y="4904375"/>
                <a:ext cx="5249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15445C-738D-45F1-8E8A-5D664827E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663" y="4904375"/>
                <a:ext cx="5249129" cy="369332"/>
              </a:xfrm>
              <a:prstGeom prst="rect">
                <a:avLst/>
              </a:prstGeom>
              <a:blipFill>
                <a:blip r:embed="rId7"/>
                <a:stretch>
                  <a:fillRect l="-348" r="-929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279280-1804-4E53-AC72-30D3B66E0A18}"/>
                  </a:ext>
                </a:extLst>
              </p:cNvPr>
              <p:cNvSpPr txBox="1"/>
              <p:nvPr/>
            </p:nvSpPr>
            <p:spPr>
              <a:xfrm>
                <a:off x="1966663" y="5388016"/>
                <a:ext cx="5344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=1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279280-1804-4E53-AC72-30D3B66E0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663" y="5388016"/>
                <a:ext cx="5344925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12F85-1963-4283-B84A-3F406BB05243}"/>
                  </a:ext>
                </a:extLst>
              </p:cNvPr>
              <p:cNvSpPr txBox="1"/>
              <p:nvPr/>
            </p:nvSpPr>
            <p:spPr>
              <a:xfrm>
                <a:off x="1966663" y="5871657"/>
                <a:ext cx="5344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=2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12F85-1963-4283-B84A-3F406BB05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663" y="5871657"/>
                <a:ext cx="5344925" cy="369332"/>
              </a:xfrm>
              <a:prstGeom prst="rect">
                <a:avLst/>
              </a:prstGeom>
              <a:blipFill>
                <a:blip r:embed="rId9"/>
                <a:stretch>
                  <a:fillRect l="-342" r="-913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96CDCE-5046-4E4C-B1F2-78B4130D2097}"/>
                  </a:ext>
                </a:extLst>
              </p:cNvPr>
              <p:cNvSpPr txBox="1"/>
              <p:nvPr/>
            </p:nvSpPr>
            <p:spPr>
              <a:xfrm>
                <a:off x="1966662" y="6326362"/>
                <a:ext cx="53119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=0   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96CDCE-5046-4E4C-B1F2-78B4130D2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662" y="6326362"/>
                <a:ext cx="5311967" cy="369332"/>
              </a:xfrm>
              <a:prstGeom prst="rect">
                <a:avLst/>
              </a:prstGeom>
              <a:blipFill>
                <a:blip r:embed="rId10"/>
                <a:stretch>
                  <a:fillRect l="-344" r="-918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3">
            <a:extLst>
              <a:ext uri="{FF2B5EF4-FFF2-40B4-BE49-F238E27FC236}">
                <a16:creationId xmlns:a16="http://schemas.microsoft.com/office/drawing/2014/main" id="{D7550C9A-7258-4DD7-B841-A7F36991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128"/>
            <a:ext cx="10515600" cy="1325563"/>
          </a:xfrm>
        </p:spPr>
        <p:txBody>
          <a:bodyPr/>
          <a:lstStyle/>
          <a:p>
            <a:r>
              <a:rPr lang="en-US" dirty="0"/>
              <a:t>Example: a possible zero-pad</a:t>
            </a:r>
          </a:p>
        </p:txBody>
      </p:sp>
    </p:spTree>
    <p:extLst>
      <p:ext uri="{BB962C8B-B14F-4D97-AF65-F5344CB8AC3E}">
        <p14:creationId xmlns:p14="http://schemas.microsoft.com/office/powerpoint/2010/main" val="342181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916-BA92-4FA9-8B53-647AE3BC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on Images: ResNet34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50D43-5472-436C-90F4-A727F6B61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example of a </a:t>
            </a:r>
            <a:r>
              <a:rPr lang="en-US" i="1" dirty="0"/>
              <a:t>plain</a:t>
            </a:r>
            <a:r>
              <a:rPr lang="en-US" dirty="0"/>
              <a:t> network in which we input an image and then have a number of </a:t>
            </a:r>
            <a:r>
              <a:rPr lang="en-US" i="1" dirty="0"/>
              <a:t>conv</a:t>
            </a:r>
            <a:r>
              <a:rPr lang="en-US" dirty="0"/>
              <a:t> layers until eventually we have a </a:t>
            </a:r>
            <a:r>
              <a:rPr lang="en-US" i="1" dirty="0" err="1"/>
              <a:t>softmax</a:t>
            </a:r>
            <a:r>
              <a:rPr lang="en-US" dirty="0"/>
              <a:t> output at the end.</a:t>
            </a:r>
          </a:p>
        </p:txBody>
      </p:sp>
      <p:pic>
        <p:nvPicPr>
          <p:cNvPr id="2050" name="Picture 2" descr="Neural network">
            <a:extLst>
              <a:ext uri="{FF2B5EF4-FFF2-40B4-BE49-F238E27FC236}">
                <a16:creationId xmlns:a16="http://schemas.microsoft.com/office/drawing/2014/main" id="{F0EF4302-2261-4F54-9F18-68518BC63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3334"/>
            <a:ext cx="12192000" cy="266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3F1FFC-C35C-43C2-8897-CCC15F88F710}"/>
                  </a:ext>
                </a:extLst>
              </p:cNvPr>
              <p:cNvSpPr txBox="1"/>
              <p:nvPr/>
            </p:nvSpPr>
            <p:spPr>
              <a:xfrm>
                <a:off x="416689" y="5686140"/>
                <a:ext cx="2832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conv</m:t>
                    </m:r>
                  </m:oMath>
                </a14:m>
                <a:r>
                  <a:rPr lang="en-US" dirty="0"/>
                  <a:t>, 64 </a:t>
                </a:r>
                <a:r>
                  <a:rPr lang="en-US" dirty="0">
                    <a:sym typeface="Wingdings" panose="05000000000000000000" pitchFamily="2" charset="2"/>
                  </a:rPr>
                  <a:t> 64 </a:t>
                </a:r>
                <a:r>
                  <a:rPr lang="en-US" dirty="0" err="1">
                    <a:sym typeface="Wingdings" panose="05000000000000000000" pitchFamily="2" charset="2"/>
                  </a:rPr>
                  <a:t>filtri</a:t>
                </a:r>
                <a:r>
                  <a:rPr lang="en-US" dirty="0">
                    <a:sym typeface="Wingdings" panose="05000000000000000000" pitchFamily="2" charset="2"/>
                  </a:rPr>
                  <a:t> 7x7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3F1FFC-C35C-43C2-8897-CCC15F88F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9" y="5686140"/>
                <a:ext cx="2832570" cy="276999"/>
              </a:xfrm>
              <a:prstGeom prst="rect">
                <a:avLst/>
              </a:prstGeom>
              <a:blipFill>
                <a:blip r:embed="rId3"/>
                <a:stretch>
                  <a:fillRect l="-2796" t="-31111" r="-2366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650EAA-C8EC-4A97-BFA9-12616AD08CD3}"/>
                  </a:ext>
                </a:extLst>
              </p:cNvPr>
              <p:cNvSpPr txBox="1"/>
              <p:nvPr/>
            </p:nvSpPr>
            <p:spPr>
              <a:xfrm>
                <a:off x="416689" y="6143041"/>
                <a:ext cx="7235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3×3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conv</m:t>
                    </m:r>
                  </m:oMath>
                </a14:m>
                <a:r>
                  <a:rPr lang="en-US" dirty="0"/>
                  <a:t>, 128, /2 </a:t>
                </a:r>
                <a:r>
                  <a:rPr lang="en-US" dirty="0">
                    <a:sym typeface="Wingdings" panose="05000000000000000000" pitchFamily="2" charset="2"/>
                  </a:rPr>
                  <a:t> 128 </a:t>
                </a:r>
                <a:r>
                  <a:rPr lang="en-US" dirty="0" err="1">
                    <a:sym typeface="Wingdings" panose="05000000000000000000" pitchFamily="2" charset="2"/>
                  </a:rPr>
                  <a:t>filtri</a:t>
                </a:r>
                <a:r>
                  <a:rPr lang="en-US" dirty="0">
                    <a:sym typeface="Wingdings" panose="05000000000000000000" pitchFamily="2" charset="2"/>
                  </a:rPr>
                  <a:t> 3x3  </a:t>
                </a:r>
                <a:r>
                  <a:rPr lang="en-US" dirty="0" err="1">
                    <a:sym typeface="Wingdings" panose="05000000000000000000" pitchFamily="2" charset="2"/>
                  </a:rPr>
                  <a:t>seguiti</a:t>
                </a:r>
                <a:r>
                  <a:rPr lang="en-US" dirty="0">
                    <a:sym typeface="Wingdings" panose="05000000000000000000" pitchFamily="2" charset="2"/>
                  </a:rPr>
                  <a:t> da un pool </a:t>
                </a:r>
                <a:r>
                  <a:rPr lang="en-US" dirty="0" err="1">
                    <a:sym typeface="Wingdings" panose="05000000000000000000" pitchFamily="2" charset="2"/>
                  </a:rPr>
                  <a:t>che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dimezza</a:t>
                </a:r>
                <a:r>
                  <a:rPr lang="en-US" dirty="0">
                    <a:sym typeface="Wingdings" panose="05000000000000000000" pitchFamily="2" charset="2"/>
                  </a:rPr>
                  <a:t> size (2x2)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650EAA-C8EC-4A97-BFA9-12616AD08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9" y="6143041"/>
                <a:ext cx="7235892" cy="276999"/>
              </a:xfrm>
              <a:prstGeom prst="rect">
                <a:avLst/>
              </a:prstGeom>
              <a:blipFill>
                <a:blip r:embed="rId4"/>
                <a:stretch>
                  <a:fillRect l="-1095" t="-31111" r="-117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E8290DD-7BFC-4BEC-B363-EB9ED611D9B8}"/>
              </a:ext>
            </a:extLst>
          </p:cNvPr>
          <p:cNvSpPr txBox="1"/>
          <p:nvPr/>
        </p:nvSpPr>
        <p:spPr>
          <a:xfrm>
            <a:off x="317339" y="6488668"/>
            <a:ext cx="3534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 non </a:t>
            </a:r>
            <a:r>
              <a:rPr lang="en-US" dirty="0" err="1"/>
              <a:t>detto</a:t>
            </a:r>
            <a:r>
              <a:rPr lang="en-US" dirty="0"/>
              <a:t> </a:t>
            </a:r>
            <a:r>
              <a:rPr lang="en-US" dirty="0" err="1"/>
              <a:t>diversamente</a:t>
            </a:r>
            <a:r>
              <a:rPr lang="en-US" dirty="0"/>
              <a:t> stride=1</a:t>
            </a:r>
          </a:p>
        </p:txBody>
      </p:sp>
    </p:spTree>
    <p:extLst>
      <p:ext uri="{BB962C8B-B14F-4D97-AF65-F5344CB8AC3E}">
        <p14:creationId xmlns:p14="http://schemas.microsoft.com/office/powerpoint/2010/main" val="80976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9593-CEBB-4B4F-9597-141E6A81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ResNet64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FF871-3678-48DD-8428-C6C2D186B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4380"/>
            <a:ext cx="12192000" cy="2029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3FFEA-0277-4097-8AAF-999AC3B9D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91" y="5330190"/>
            <a:ext cx="65246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7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3353</TotalTime>
  <Words>617</Words>
  <Application>Microsoft Office PowerPoint</Application>
  <PresentationFormat>Widescreen</PresentationFormat>
  <Paragraphs>59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charter</vt:lpstr>
      <vt:lpstr>Times New Roman</vt:lpstr>
      <vt:lpstr>Office Theme</vt:lpstr>
      <vt:lpstr>ResNet: Residual Neural Nets</vt:lpstr>
      <vt:lpstr>Residual block</vt:lpstr>
      <vt:lpstr>Residual Nets</vt:lpstr>
      <vt:lpstr>K. He, X. Zhang, S. Ren and J. Sun, “Deep Residual Learning for Image Recognition,” in CVPR, 2016.</vt:lpstr>
      <vt:lpstr>Shallow vs deep nets</vt:lpstr>
      <vt:lpstr>Why ResNet works?</vt:lpstr>
      <vt:lpstr>Typical situation</vt:lpstr>
      <vt:lpstr>PowerPoint Presentation</vt:lpstr>
      <vt:lpstr>Example: a possible zero-pad</vt:lpstr>
      <vt:lpstr>ResNet on Images: ResNet34</vt:lpstr>
      <vt:lpstr>ResNet64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CNN: Convolutional Neural Nets</dc:title>
  <dc:creator>Luigi Portinale</dc:creator>
  <cp:lastModifiedBy>Luigi Portinale</cp:lastModifiedBy>
  <cp:revision>74</cp:revision>
  <dcterms:created xsi:type="dcterms:W3CDTF">2021-08-27T09:15:10Z</dcterms:created>
  <dcterms:modified xsi:type="dcterms:W3CDTF">2022-01-07T17:00:44Z</dcterms:modified>
</cp:coreProperties>
</file>