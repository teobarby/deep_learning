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8" y="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C7028-006A-4C6C-B4B1-A20F1724AD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D74938-1530-4611-B6BE-1392C572C0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0AFB4-6091-4B4C-AA41-7164FED1B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9/30/2021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12C88-7AA8-4482-9CF1-79161681C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08CCD-35B8-4B0B-8EB4-58A981266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968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11DB7-21B2-43DB-B55F-49B3F7E35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415D4-2893-4111-A9B5-BADBB6743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3FDF2-49E8-495D-8143-8419F6D5F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9/30/2021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1CEF5-5FF1-443D-B894-121A4D5BC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E9A79-8FF0-48F8-9BC3-D3C9A64D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451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D0D13-AE52-442C-8CE0-D4F47F2C0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DB336-98A7-4A6F-A059-D7C54FF63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D3F25-B065-4557-939E-578909E5D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9/30/2021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5FF89-F335-4B6F-893C-5184553E9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27C7E-D604-4816-8204-216B11E0B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25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4D6D2-C824-4567-8754-8C2D6946F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EB922-BB93-496D-9D42-376F89E06A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EF5CD5-ADF2-4568-8EC4-06FB84B0DA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E5E49B-8E9D-4E6E-AD50-7C55064DB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9/30/2021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CA4584-34B2-4AF1-8465-EAF252C84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74D1DA-DD48-440F-BD3F-80EBB9D5C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97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6B3C5-F3F9-466A-83C7-1D27C6005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4F98F-F8DC-459E-9118-C1270CAFF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DC8FA0-1F58-410B-9534-6D329D5529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09C43-871A-40CA-85FE-233CAD7554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6FD94E-330C-45DC-B3B0-50A8D3863B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DF7D48-A5C2-41DF-9F53-024509CC6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9/30/2021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4A631C-68FF-4EDF-B53D-CCE849C61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FA24E0-7F6B-469C-B1EB-296333349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992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8CD14-8741-4890-BCE1-BB1EE216D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719C96-F64D-4EC4-80B5-6AAFBAC78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9/30/2021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52099-B319-4D8E-A813-8E7744C59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01228F-A5B8-4DC7-B85A-69AAC04FD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67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9C8E7E-3920-4444-A61B-6909202F9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9/30/2021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CB5FE-0094-4BC3-9193-5F89B2CA4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487D74-6204-4248-94D1-AE4A66B51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923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00F48-0D18-408D-A852-CD2806992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41340-010A-4AE6-91AF-DD83936CB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D29F72-6135-4D6B-8969-6B4F1773C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A4EEAD-57AE-4E52-A2A8-963E983E3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9/30/2021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4CA5F1-E01B-4719-98FD-7DAD6D28F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B3F2A9-2748-45A4-9ED9-3E42FA9A1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410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1208E-AED5-4186-9AE1-E00A3085C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C8E83C-41D6-4792-A50E-A0FAD2F7F1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0E4E2D-77E8-4C9F-BD2C-196D0C80B4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65B51B-3C89-4D0C-BF03-70D870717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9/30/2021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304DC4-3AFF-4162-9DA8-D2212744D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B208A8-139D-4F67-965A-4C732AAB4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016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2D817-D313-4587-A3EC-3FCA668FE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726F0E-932D-41A4-AC5A-0F3CE13AE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8EF1F-CCB8-476C-8C07-C154588B0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9/30/2021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B851F-E025-4528-9A5D-0C1062943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3F473-7842-4275-9356-6C0ADFC63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74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7CC8E-64DC-417D-9A5B-183CB60DA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39E554-6670-4B02-A42D-16C4A1CC5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C9813-5839-446A-8183-465A73054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9/30/2021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0CF36-FFD3-4E91-8836-DB3A31339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49F81-ECFD-41D0-B88F-FC7D5E6D1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674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1F1627-2B15-4D9C-891C-17BBDA6AA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F4AA5-B571-4C72-8874-1CB4930B5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B120C-2861-47AE-B94B-476A58D72E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6950D-B03A-48F2-9585-F61F5A446804}" type="datetimeFigureOut">
              <a:rPr lang="en-US" smtClean="0"/>
              <a:t>9/30/2021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E56E5-9ED8-4569-BF1E-9727A890E0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9A8D4-B3D7-49A8-B692-1812371AB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89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663FB-35DC-4B74-9070-1CB2537EED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Transfer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0EF9E3-5A29-448B-BD71-63BAF5B589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869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ADBD9-A88A-444C-AF36-21F509B28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25738-62B7-4463-BB6B-482B51ED4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Finetuning</a:t>
            </a:r>
          </a:p>
          <a:p>
            <a:pPr lvl="1"/>
            <a:r>
              <a:rPr lang="en-US" dirty="0"/>
              <a:t>start with a pretrained model and update all of the model’s parameters for the new task, in essence retraining the whole model.</a:t>
            </a:r>
          </a:p>
          <a:p>
            <a:r>
              <a:rPr lang="en-US" dirty="0"/>
              <a:t>Feature extraction</a:t>
            </a:r>
          </a:p>
          <a:p>
            <a:pPr lvl="1"/>
            <a:r>
              <a:rPr lang="en-US" dirty="0"/>
              <a:t>start with a pretrained model and only update the final layer weights from which we derive predictions.</a:t>
            </a:r>
          </a:p>
          <a:p>
            <a:pPr lvl="1"/>
            <a:r>
              <a:rPr lang="en-US"/>
              <a:t>it is called feature extraction because we use the pretrained CNN as a fixed feature-extractor, and only change the output layer.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233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BBCB9-C5F4-46B7-B117-9F1FA70DF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675BDD-0631-40ED-B359-207B84E77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97018"/>
            <a:ext cx="12192000" cy="1456992"/>
          </a:xfrm>
          <a:prstGeom prst="rect">
            <a:avLst/>
          </a:prstGeom>
        </p:spPr>
      </p:pic>
      <p:pic>
        <p:nvPicPr>
          <p:cNvPr id="1026" name="Picture 2" descr="Van cat - Wikipedia">
            <a:extLst>
              <a:ext uri="{FF2B5EF4-FFF2-40B4-BE49-F238E27FC236}">
                <a16:creationId xmlns:a16="http://schemas.microsoft.com/office/drawing/2014/main" id="{29814BE9-02ED-447B-B1E1-EDC5DE9E4F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8330" y="435348"/>
            <a:ext cx="1255340" cy="1255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ow the Cat Gets Its Stripes: It's Genetics, Not a Folk Tale - The New York  Times">
            <a:extLst>
              <a:ext uri="{FF2B5EF4-FFF2-40B4-BE49-F238E27FC236}">
                <a16:creationId xmlns:a16="http://schemas.microsoft.com/office/drawing/2014/main" id="{9D76A480-C5ED-4C32-84A8-1F4AD903F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0768" y="435348"/>
            <a:ext cx="1255340" cy="1255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What Do Cats Think About Us? You May Be Surprised">
            <a:extLst>
              <a:ext uri="{FF2B5EF4-FFF2-40B4-BE49-F238E27FC236}">
                <a16:creationId xmlns:a16="http://schemas.microsoft.com/office/drawing/2014/main" id="{95B6C40F-3B0A-4785-AA78-23FA6DDE3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2237" y="147917"/>
            <a:ext cx="1071563" cy="1071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Cats Recognize Their Own Names--Even If They Choose to Ignore Them -  Scientific American">
            <a:extLst>
              <a:ext uri="{FF2B5EF4-FFF2-40B4-BE49-F238E27FC236}">
                <a16:creationId xmlns:a16="http://schemas.microsoft.com/office/drawing/2014/main" id="{F46E911F-C095-4410-8B03-B2E4769674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2390" y="1861307"/>
            <a:ext cx="1238645" cy="983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2449B1-6E9C-4234-B823-182D5255AADC}"/>
              </a:ext>
            </a:extLst>
          </p:cNvPr>
          <p:cNvSpPr txBox="1"/>
          <p:nvPr/>
        </p:nvSpPr>
        <p:spPr>
          <a:xfrm>
            <a:off x="5749110" y="1703990"/>
            <a:ext cx="693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Nives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220B8C-3D66-4A75-AB3F-F5108EBDB158}"/>
              </a:ext>
            </a:extLst>
          </p:cNvPr>
          <p:cNvSpPr txBox="1"/>
          <p:nvPr/>
        </p:nvSpPr>
        <p:spPr>
          <a:xfrm>
            <a:off x="7871012" y="1667714"/>
            <a:ext cx="763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Tigger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A0E3BB-B53E-47D6-80CF-C21B254571E6}"/>
              </a:ext>
            </a:extLst>
          </p:cNvPr>
          <p:cNvSpPr txBox="1"/>
          <p:nvPr/>
        </p:nvSpPr>
        <p:spPr>
          <a:xfrm>
            <a:off x="11339036" y="1298382"/>
            <a:ext cx="786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others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FAAB77-9C89-43C8-BA62-EBA993C62C5F}"/>
              </a:ext>
            </a:extLst>
          </p:cNvPr>
          <p:cNvSpPr txBox="1"/>
          <p:nvPr/>
        </p:nvSpPr>
        <p:spPr>
          <a:xfrm>
            <a:off x="10333318" y="4703482"/>
            <a:ext cx="12490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Softmax</a:t>
            </a:r>
            <a:br>
              <a:rPr lang="en-US" dirty="0"/>
            </a:br>
            <a:r>
              <a:rPr lang="en-US" dirty="0"/>
              <a:t>1000 labels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93AC0EAB-E6C4-42BF-B61D-96811BFBAAC5}"/>
              </a:ext>
            </a:extLst>
          </p:cNvPr>
          <p:cNvSpPr/>
          <p:nvPr/>
        </p:nvSpPr>
        <p:spPr>
          <a:xfrm rot="16200000">
            <a:off x="5045103" y="1836533"/>
            <a:ext cx="846455" cy="7566660"/>
          </a:xfrm>
          <a:prstGeom prst="leftBrace">
            <a:avLst>
              <a:gd name="adj1" fmla="val 8333"/>
              <a:gd name="adj2" fmla="val 50387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FA6496-FE4E-4C03-B40B-CB69BE28FB3C}"/>
              </a:ext>
            </a:extLst>
          </p:cNvPr>
          <p:cNvSpPr txBox="1"/>
          <p:nvPr/>
        </p:nvSpPr>
        <p:spPr>
          <a:xfrm>
            <a:off x="4491990" y="6043091"/>
            <a:ext cx="21400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Freeze weights!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E439308-02B3-48EC-89B9-C200FEF05BB6}"/>
              </a:ext>
            </a:extLst>
          </p:cNvPr>
          <p:cNvCxnSpPr>
            <a:cxnSpLocks/>
          </p:cNvCxnSpPr>
          <p:nvPr/>
        </p:nvCxnSpPr>
        <p:spPr>
          <a:xfrm flipV="1">
            <a:off x="10182390" y="3861468"/>
            <a:ext cx="1045845" cy="139044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3B5DB87-D5A3-449D-AEF8-AF0853B74110}"/>
              </a:ext>
            </a:extLst>
          </p:cNvPr>
          <p:cNvCxnSpPr>
            <a:cxnSpLocks/>
          </p:cNvCxnSpPr>
          <p:nvPr/>
        </p:nvCxnSpPr>
        <p:spPr>
          <a:xfrm>
            <a:off x="10073060" y="4066104"/>
            <a:ext cx="1457303" cy="9274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50D5D552-E939-4C21-B374-4F39B20DECD0}"/>
              </a:ext>
            </a:extLst>
          </p:cNvPr>
          <p:cNvSpPr/>
          <p:nvPr/>
        </p:nvSpPr>
        <p:spPr>
          <a:xfrm>
            <a:off x="10479333" y="5685120"/>
            <a:ext cx="320638" cy="29191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081BBDA-D065-470E-8A37-6C5A00E95D0A}"/>
              </a:ext>
            </a:extLst>
          </p:cNvPr>
          <p:cNvCxnSpPr/>
          <p:nvPr/>
        </p:nvCxnSpPr>
        <p:spPr>
          <a:xfrm>
            <a:off x="9632170" y="4873662"/>
            <a:ext cx="701148" cy="8527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3C42179-458E-4200-8143-D8451F88D5E7}"/>
              </a:ext>
            </a:extLst>
          </p:cNvPr>
          <p:cNvCxnSpPr/>
          <p:nvPr/>
        </p:nvCxnSpPr>
        <p:spPr>
          <a:xfrm>
            <a:off x="10931279" y="5889290"/>
            <a:ext cx="4897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08A69A9-F36F-4F42-B714-E909FEC9C4ED}"/>
              </a:ext>
            </a:extLst>
          </p:cNvPr>
          <p:cNvSpPr txBox="1"/>
          <p:nvPr/>
        </p:nvSpPr>
        <p:spPr>
          <a:xfrm>
            <a:off x="11353800" y="5427625"/>
            <a:ext cx="7866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Nives</a:t>
            </a:r>
            <a:br>
              <a:rPr lang="en-US" dirty="0"/>
            </a:br>
            <a:r>
              <a:rPr lang="en-US" dirty="0"/>
              <a:t>Tigger</a:t>
            </a:r>
            <a:br>
              <a:rPr lang="en-US" dirty="0"/>
            </a:br>
            <a:r>
              <a:rPr lang="en-US" dirty="0"/>
              <a:t>others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43D8F1-F223-45BE-9ECA-698C8384EFD1}"/>
              </a:ext>
            </a:extLst>
          </p:cNvPr>
          <p:cNvSpPr txBox="1"/>
          <p:nvPr/>
        </p:nvSpPr>
        <p:spPr>
          <a:xfrm>
            <a:off x="10240195" y="6055194"/>
            <a:ext cx="9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softmax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841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3" grpId="0" animBg="1"/>
      <p:bldP spid="14" grpId="0"/>
      <p:bldP spid="19" grpId="0" animBg="1"/>
      <p:bldP spid="25" grpId="0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AE4CC7-BAE0-47C7-B2A9-2A3E930BE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48453"/>
            <a:ext cx="12192000" cy="1456992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384000A-DD28-43C7-8898-3D17BD82400B}"/>
              </a:ext>
            </a:extLst>
          </p:cNvPr>
          <p:cNvGrpSpPr/>
          <p:nvPr/>
        </p:nvGrpSpPr>
        <p:grpSpPr>
          <a:xfrm>
            <a:off x="1719291" y="5448093"/>
            <a:ext cx="4987399" cy="1306448"/>
            <a:chOff x="1685001" y="5196635"/>
            <a:chExt cx="8304372" cy="1212133"/>
          </a:xfrm>
        </p:grpSpPr>
        <p:sp>
          <p:nvSpPr>
            <p:cNvPr id="5" name="Left Brace 4">
              <a:extLst>
                <a:ext uri="{FF2B5EF4-FFF2-40B4-BE49-F238E27FC236}">
                  <a16:creationId xmlns:a16="http://schemas.microsoft.com/office/drawing/2014/main" id="{F2707DBC-7FE3-464F-9B9E-3230A63CE5F0}"/>
                </a:ext>
              </a:extLst>
            </p:cNvPr>
            <p:cNvSpPr/>
            <p:nvPr/>
          </p:nvSpPr>
          <p:spPr>
            <a:xfrm rot="16200000">
              <a:off x="5045103" y="1836533"/>
              <a:ext cx="846455" cy="7566660"/>
            </a:xfrm>
            <a:prstGeom prst="leftBrace">
              <a:avLst>
                <a:gd name="adj1" fmla="val 8333"/>
                <a:gd name="adj2" fmla="val 50387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7DD0343-D1CA-4388-96DF-8FA8773FA37A}"/>
                </a:ext>
              </a:extLst>
            </p:cNvPr>
            <p:cNvSpPr txBox="1"/>
            <p:nvPr/>
          </p:nvSpPr>
          <p:spPr>
            <a:xfrm>
              <a:off x="1827544" y="5980432"/>
              <a:ext cx="8161829" cy="4283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Freeze few layers if more labeled data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1C57827-B8A3-4303-B03B-22EF903AE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2363"/>
            <a:ext cx="12192000" cy="1456992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5325154-951E-44C9-A901-8547F2ED3E86}"/>
              </a:ext>
            </a:extLst>
          </p:cNvPr>
          <p:cNvSpPr/>
          <p:nvPr/>
        </p:nvSpPr>
        <p:spPr>
          <a:xfrm>
            <a:off x="1343025" y="617220"/>
            <a:ext cx="8229600" cy="184023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1EB7AB-F134-4D7C-80DA-B4D16732FE3F}"/>
              </a:ext>
            </a:extLst>
          </p:cNvPr>
          <p:cNvSpPr txBox="1"/>
          <p:nvPr/>
        </p:nvSpPr>
        <p:spPr>
          <a:xfrm>
            <a:off x="2360295" y="2536306"/>
            <a:ext cx="59990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Precompute final layer for each training example (embedding)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and save it to disk, then back prop only the soft-max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062EBD-D9D8-4BF1-8929-22E3307AF78F}"/>
              </a:ext>
            </a:extLst>
          </p:cNvPr>
          <p:cNvSpPr txBox="1"/>
          <p:nvPr/>
        </p:nvSpPr>
        <p:spPr>
          <a:xfrm>
            <a:off x="9709785" y="432554"/>
            <a:ext cx="1643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Embedding of 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94602D1-E4E9-4C55-8B3D-B6F156F25FC7}"/>
              </a:ext>
            </a:extLst>
          </p:cNvPr>
          <p:cNvCxnSpPr/>
          <p:nvPr/>
        </p:nvCxnSpPr>
        <p:spPr>
          <a:xfrm flipH="1">
            <a:off x="9475470" y="811530"/>
            <a:ext cx="1080135" cy="3143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741B1B6-1B76-455E-84AD-9EC45CDD1179}"/>
              </a:ext>
            </a:extLst>
          </p:cNvPr>
          <p:cNvSpPr/>
          <p:nvPr/>
        </p:nvSpPr>
        <p:spPr>
          <a:xfrm>
            <a:off x="8943975" y="662940"/>
            <a:ext cx="3248025" cy="1688044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904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9A582-42C7-47CE-B4DE-1F77BFE3BC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Augmentation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DC7A43-2006-4684-92ED-342FE5083A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135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6E4779-60B3-483B-9CB4-4B1BBCE5A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03" y="483188"/>
            <a:ext cx="5301397" cy="14048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AE16C2-ABBB-463B-99F8-9405B8F27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118" y="242443"/>
            <a:ext cx="4607320" cy="2246068"/>
          </a:xfrm>
          <a:prstGeom prst="rect">
            <a:avLst/>
          </a:prstGeom>
        </p:spPr>
      </p:pic>
      <p:pic>
        <p:nvPicPr>
          <p:cNvPr id="1026" name="Picture 2" descr="Rotate The Image by any arbitary Angle In Python Using Shear  Transformation|Gautam Agrawal | Medium">
            <a:extLst>
              <a:ext uri="{FF2B5EF4-FFF2-40B4-BE49-F238E27FC236}">
                <a16:creationId xmlns:a16="http://schemas.microsoft.com/office/drawing/2014/main" id="{3DD89B6C-C5FE-447B-B0DF-04A99BB705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71" y="3210828"/>
            <a:ext cx="6335059" cy="1809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CC4DA9-A887-4821-95EA-CF05BA191322}"/>
              </a:ext>
            </a:extLst>
          </p:cNvPr>
          <p:cNvSpPr txBox="1"/>
          <p:nvPr/>
        </p:nvSpPr>
        <p:spPr>
          <a:xfrm>
            <a:off x="1996142" y="2771056"/>
            <a:ext cx="2258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Shearing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taglio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Image warping: (a) source, (b)-(e) warped images using arbitrary... |  Download Scientific Diagram">
            <a:extLst>
              <a:ext uri="{FF2B5EF4-FFF2-40B4-BE49-F238E27FC236}">
                <a16:creationId xmlns:a16="http://schemas.microsoft.com/office/drawing/2014/main" id="{F9DF6989-4162-4445-A093-4C3775332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8877" y="3406154"/>
            <a:ext cx="5038725" cy="1481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1DBB243-593B-4EF5-88DF-98E5C61AF25B}"/>
              </a:ext>
            </a:extLst>
          </p:cNvPr>
          <p:cNvSpPr txBox="1"/>
          <p:nvPr/>
        </p:nvSpPr>
        <p:spPr>
          <a:xfrm>
            <a:off x="8495259" y="2825066"/>
            <a:ext cx="2108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(local) Warping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A tree branch with a body of water in the background&#10;&#10;Description automatically generated with low confidence">
            <a:extLst>
              <a:ext uri="{FF2B5EF4-FFF2-40B4-BE49-F238E27FC236}">
                <a16:creationId xmlns:a16="http://schemas.microsoft.com/office/drawing/2014/main" id="{7195E41F-347B-4B63-B1F3-FD94811824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935730" y="5389368"/>
            <a:ext cx="1790535" cy="1342901"/>
          </a:xfrm>
          <a:prstGeom prst="rect">
            <a:avLst/>
          </a:prstGeom>
        </p:spPr>
      </p:pic>
      <p:pic>
        <p:nvPicPr>
          <p:cNvPr id="17" name="Picture 16" descr="A tree branch with a body of water in the background&#10;&#10;Description automatically generated with low confidence">
            <a:extLst>
              <a:ext uri="{FF2B5EF4-FFF2-40B4-BE49-F238E27FC236}">
                <a16:creationId xmlns:a16="http://schemas.microsoft.com/office/drawing/2014/main" id="{08A4DAA5-81AD-4335-8547-F09A07596C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337705" y="5215935"/>
            <a:ext cx="1790535" cy="1342901"/>
          </a:xfrm>
          <a:prstGeom prst="rect">
            <a:avLst/>
          </a:prstGeom>
          <a:scene3d>
            <a:camera prst="orthographicFront">
              <a:rot lat="0" lon="0" rev="1200000"/>
            </a:camera>
            <a:lightRig rig="threePt" dir="t"/>
          </a:scene3d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CBD4EA9-258A-47B1-BF8E-47F17CF1B0B8}"/>
              </a:ext>
            </a:extLst>
          </p:cNvPr>
          <p:cNvSpPr txBox="1"/>
          <p:nvPr/>
        </p:nvSpPr>
        <p:spPr>
          <a:xfrm>
            <a:off x="2462306" y="5829986"/>
            <a:ext cx="1247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Rotation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DCF4259-FCBF-471C-832B-CD61D7629516}"/>
              </a:ext>
            </a:extLst>
          </p:cNvPr>
          <p:cNvCxnSpPr/>
          <p:nvPr/>
        </p:nvCxnSpPr>
        <p:spPr>
          <a:xfrm>
            <a:off x="6149788" y="6125882"/>
            <a:ext cx="103393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2901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B4CFC8-3590-4D68-B906-624D92957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245" y="0"/>
            <a:ext cx="8695509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303D2F-B96C-4BCA-8EF3-5710FF0BF744}"/>
              </a:ext>
            </a:extLst>
          </p:cNvPr>
          <p:cNvSpPr txBox="1"/>
          <p:nvPr/>
        </p:nvSpPr>
        <p:spPr>
          <a:xfrm>
            <a:off x="5852160" y="1274445"/>
            <a:ext cx="1109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     G     B</a:t>
            </a:r>
          </a:p>
        </p:txBody>
      </p:sp>
    </p:spTree>
    <p:extLst>
      <p:ext uri="{BB962C8B-B14F-4D97-AF65-F5344CB8AC3E}">
        <p14:creationId xmlns:p14="http://schemas.microsoft.com/office/powerpoint/2010/main" val="38539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FE3CE-7C42-4378-B53B-6EB924BA9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availability vs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DDB97-E6BE-45D5-BC1C-33E354F61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54855"/>
            <a:ext cx="10515600" cy="162210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Knowledge sources</a:t>
            </a:r>
          </a:p>
          <a:p>
            <a:pPr lvl="1"/>
            <a:r>
              <a:rPr lang="en-US" dirty="0"/>
              <a:t>Labeled data</a:t>
            </a:r>
          </a:p>
          <a:p>
            <a:pPr lvl="1"/>
            <a:r>
              <a:rPr lang="en-US" dirty="0"/>
              <a:t>Hand-crafted features / network architectures / other</a:t>
            </a:r>
          </a:p>
          <a:p>
            <a:pPr lvl="1"/>
            <a:r>
              <a:rPr lang="en-US" dirty="0"/>
              <a:t>Transfer learning</a:t>
            </a:r>
          </a:p>
          <a:p>
            <a:pPr lvl="1"/>
            <a:r>
              <a:rPr lang="en-US" dirty="0"/>
              <a:t>Data augmentation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1EFEE1-3863-404A-9AC8-17A493647193}"/>
              </a:ext>
            </a:extLst>
          </p:cNvPr>
          <p:cNvCxnSpPr/>
          <p:nvPr/>
        </p:nvCxnSpPr>
        <p:spPr>
          <a:xfrm>
            <a:off x="838200" y="2371725"/>
            <a:ext cx="10191750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C7AB878-D8D4-4892-85C8-D9A6A79E8BB2}"/>
              </a:ext>
            </a:extLst>
          </p:cNvPr>
          <p:cNvSpPr txBox="1"/>
          <p:nvPr/>
        </p:nvSpPr>
        <p:spPr>
          <a:xfrm>
            <a:off x="40005" y="1656814"/>
            <a:ext cx="24774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Less data</a:t>
            </a:r>
            <a:br>
              <a:rPr lang="en-US" dirty="0"/>
            </a:br>
            <a:r>
              <a:rPr lang="en-US" dirty="0"/>
              <a:t>sophisticated algorithms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0B5A06-0EB6-47DC-B7B2-21B5F99D132A}"/>
              </a:ext>
            </a:extLst>
          </p:cNvPr>
          <p:cNvSpPr txBox="1"/>
          <p:nvPr/>
        </p:nvSpPr>
        <p:spPr>
          <a:xfrm>
            <a:off x="9739685" y="1668364"/>
            <a:ext cx="19335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Lots of  data</a:t>
            </a:r>
            <a:br>
              <a:rPr lang="en-US" dirty="0"/>
            </a:br>
            <a:r>
              <a:rPr lang="en-US" dirty="0"/>
              <a:t>simpler algorithms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1CDC37-16B0-47F8-A762-EB9D312869E5}"/>
              </a:ext>
            </a:extLst>
          </p:cNvPr>
          <p:cNvSpPr txBox="1"/>
          <p:nvPr/>
        </p:nvSpPr>
        <p:spPr>
          <a:xfrm>
            <a:off x="2577465" y="3095224"/>
            <a:ext cx="10818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Object</a:t>
            </a:r>
            <a:br>
              <a:rPr lang="en-US" dirty="0"/>
            </a:br>
            <a:r>
              <a:rPr lang="en-US" dirty="0"/>
              <a:t>detection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675516-4B0C-4607-8E7E-31DBBC484940}"/>
              </a:ext>
            </a:extLst>
          </p:cNvPr>
          <p:cNvSpPr txBox="1"/>
          <p:nvPr/>
        </p:nvSpPr>
        <p:spPr>
          <a:xfrm>
            <a:off x="6016566" y="3052763"/>
            <a:ext cx="12521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Image</a:t>
            </a:r>
            <a:br>
              <a:rPr lang="en-US" dirty="0"/>
            </a:br>
            <a:r>
              <a:rPr lang="en-US" dirty="0"/>
              <a:t>recognition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593F92-BC78-4604-9363-A5A2DFCC39E7}"/>
              </a:ext>
            </a:extLst>
          </p:cNvPr>
          <p:cNvSpPr txBox="1"/>
          <p:nvPr/>
        </p:nvSpPr>
        <p:spPr>
          <a:xfrm>
            <a:off x="9049326" y="3095223"/>
            <a:ext cx="12521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Speech</a:t>
            </a:r>
            <a:br>
              <a:rPr lang="en-US" dirty="0"/>
            </a:br>
            <a:r>
              <a:rPr lang="en-US" dirty="0"/>
              <a:t>recognition</a:t>
            </a:r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5E8966F7-6319-484A-A468-46CE7DE523CA}"/>
              </a:ext>
            </a:extLst>
          </p:cNvPr>
          <p:cNvSpPr/>
          <p:nvPr/>
        </p:nvSpPr>
        <p:spPr>
          <a:xfrm>
            <a:off x="3051655" y="2459087"/>
            <a:ext cx="133453" cy="548775"/>
          </a:xfrm>
          <a:prstGeom prst="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Up 13">
            <a:extLst>
              <a:ext uri="{FF2B5EF4-FFF2-40B4-BE49-F238E27FC236}">
                <a16:creationId xmlns:a16="http://schemas.microsoft.com/office/drawing/2014/main" id="{27F470EE-1320-4F7A-AD5D-4F1F63415E0C}"/>
              </a:ext>
            </a:extLst>
          </p:cNvPr>
          <p:cNvSpPr/>
          <p:nvPr/>
        </p:nvSpPr>
        <p:spPr>
          <a:xfrm>
            <a:off x="6509182" y="2503988"/>
            <a:ext cx="133453" cy="548775"/>
          </a:xfrm>
          <a:prstGeom prst="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2A283957-229F-457A-A69F-8822F8F633B9}"/>
              </a:ext>
            </a:extLst>
          </p:cNvPr>
          <p:cNvSpPr/>
          <p:nvPr/>
        </p:nvSpPr>
        <p:spPr>
          <a:xfrm>
            <a:off x="9606232" y="2536380"/>
            <a:ext cx="133453" cy="548775"/>
          </a:xfrm>
          <a:prstGeom prst="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706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1211</TotalTime>
  <Words>174</Words>
  <Application>Microsoft Office PowerPoint</Application>
  <PresentationFormat>Widescreen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Transfer Learning</vt:lpstr>
      <vt:lpstr>Typologies</vt:lpstr>
      <vt:lpstr>Example</vt:lpstr>
      <vt:lpstr>PowerPoint Presentation</vt:lpstr>
      <vt:lpstr>Data Augmentation</vt:lpstr>
      <vt:lpstr>PowerPoint Presentation</vt:lpstr>
      <vt:lpstr>PowerPoint Presentation</vt:lpstr>
      <vt:lpstr>Data availability vs tasks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Transfer Learning</dc:title>
  <dc:creator>Luigi Portinale</dc:creator>
  <cp:lastModifiedBy>Luigi Portinale</cp:lastModifiedBy>
  <cp:revision>5</cp:revision>
  <dcterms:created xsi:type="dcterms:W3CDTF">2021-02-24T09:45:16Z</dcterms:created>
  <dcterms:modified xsi:type="dcterms:W3CDTF">2021-10-01T09:38:55Z</dcterms:modified>
</cp:coreProperties>
</file>