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41437-590B-4175-9E73-EC5735120A04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0B365-437B-4A24-8D34-5087CE24B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5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 pool same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fa padding in modo </a:t>
            </a:r>
            <a:r>
              <a:rPr lang="en-US" dirty="0" err="1"/>
              <a:t>che</a:t>
            </a:r>
            <a:r>
              <a:rPr lang="en-US" dirty="0"/>
              <a:t> output </a:t>
            </a:r>
            <a:r>
              <a:rPr lang="en-US" dirty="0" err="1"/>
              <a:t>abbia</a:t>
            </a:r>
            <a:r>
              <a:rPr lang="en-US" dirty="0"/>
              <a:t> </a:t>
            </a:r>
            <a:r>
              <a:rPr lang="en-US" dirty="0" err="1"/>
              <a:t>stessa</a:t>
            </a:r>
            <a:r>
              <a:rPr lang="en-US" dirty="0"/>
              <a:t> dim input (es: input 4x4 pool 2x2 stride=1 padding-&gt; input 5x5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0B365-437B-4A24-8D34-5087CE24B5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7A59-DB62-4302-8242-2AC0D3F3A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7FD49-D870-47A7-AE01-36625F845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B4852-1917-496C-AE47-9CA5A1D5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8F09A-F733-4E73-8759-B4DB649B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0AF73-0DDA-4AD2-A211-CB0C503F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25E9-F298-46C3-B9CC-64CCC8F7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E15F-BE30-487D-A50E-65C42329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E7273-6492-4424-8FFC-AE95CF08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09822-B31A-4104-8C01-08F2CF38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6A6E2-8BE8-44DB-AEDA-B803E83F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C5D9-F18C-4759-9DAD-13C1243E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6C8EC-D751-4502-81E0-A8E0B541C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64EB3-539A-4095-8A83-68F13DBA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0CB7C-0826-4246-98C2-EFE4DCE2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6FC66-CA39-4FA1-8B88-46BC9872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E76C-EABE-45D1-B510-41C75EEA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65E9-A941-4261-93CC-EAAB14A91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E7489-EEAF-428C-837D-E8A25B0FB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D0567-6AA9-4E90-B60A-F6D408DE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96323-D378-460E-BA7B-0C8E0749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651CF-AB0C-4DE8-9402-8DD98123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7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5635-6FCD-47FD-B12E-6CAFAC46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78579-D409-4521-B62D-6D52ABC9D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5D522-1F03-4060-9AED-653E361D9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0BEE-7C1E-4C2E-970C-6FCEA2953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8091E-2000-4160-B18E-0FC6DEFF2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CB898-3270-4E39-8CD5-6F6F1364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B8638-17A0-4801-AFDF-E727E15C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46AFB-10F7-462B-8998-AA66ECC0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8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4871-7417-4D36-AD64-3626EC74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B79CC-5AD9-43CA-9D2C-F05714EC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AC15D-43A5-47A6-8336-FC707BB5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99915-96C1-4FDC-8D0E-B4BCC600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2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5E09D-C499-45C2-AC07-8B7ABDE9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6C84D-64F2-49D8-BB1C-7203CCBE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8BB06-E533-40AA-9037-0E4D371E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3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8739-D236-4131-93EB-D20377B17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1A-4D9E-4E29-9224-C7D8759A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5ADC8-10DC-4FDE-A8FF-47D425790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76EC4-E117-4361-B310-935C72DC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CBDA9-C21C-4939-BBB2-BFDE429E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DD9ED-30ED-4F74-96B9-89B40421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8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E120-2396-49B8-B785-EE7AD61E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69DE7-40A7-408B-80ED-6896EF145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A1F62-04B8-4C32-B4D7-F1666999E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B4020-057D-4611-A938-794C0101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33948-FF3C-4CB5-8252-64D3EB7E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43A69-17DE-44CE-B795-270E9397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4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5977-3B73-4783-A82A-EBB063E9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EED5E-8D7C-4DBB-B72D-9974F8DA3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2172-6F3D-42F5-BDA2-7E86A9C7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F9556-EE72-4A1D-A7B5-18914882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9DED-91BF-4033-BA58-8B0DA81F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7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A3E97-53EE-4270-BE2E-7310EB346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539B5-C765-47A5-AA92-AE8D26DAD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D32C2-F3E9-4D28-A301-7152B917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DDFA5-7FBC-46D7-99F2-21BCB02E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2D8D2-905B-4DC9-BEA2-C9B069EA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5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693196-04E0-41BA-ABBE-768E198E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6A488-5030-4DCB-B9CC-33D0801B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40198-66A2-4D29-9B54-B42AD3095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8C943-6D8A-49C8-A05B-9423A5F608F1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DDEDE-7DE2-49BA-838C-3C5843088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DEFE-BC83-4950-B90B-C233C9A1B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0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BB9D-64F4-4546-8DC0-1F4E5AC0F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628"/>
            <a:ext cx="9144000" cy="2387600"/>
          </a:xfrm>
        </p:spPr>
        <p:txBody>
          <a:bodyPr/>
          <a:lstStyle/>
          <a:p>
            <a:r>
              <a:rPr lang="en-US" dirty="0"/>
              <a:t>Inception Net (</a:t>
            </a:r>
            <a:r>
              <a:rPr lang="en-US" dirty="0" err="1"/>
              <a:t>GoogLeNet</a:t>
            </a:r>
            <a:r>
              <a:rPr lang="en-US" dirty="0"/>
              <a:t>)</a:t>
            </a:r>
          </a:p>
        </p:txBody>
      </p:sp>
      <p:pic>
        <p:nvPicPr>
          <p:cNvPr id="1026" name="Picture 2" descr="We Need To Go Deeper | Know Your Meme">
            <a:extLst>
              <a:ext uri="{FF2B5EF4-FFF2-40B4-BE49-F238E27FC236}">
                <a16:creationId xmlns:a16="http://schemas.microsoft.com/office/drawing/2014/main" id="{F491BFD3-CDCC-41CC-8193-C3BD4AF51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109" y="2852201"/>
            <a:ext cx="6347781" cy="358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472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8F556A-E4B6-430F-A8D7-46C1749CB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045" y="113665"/>
            <a:ext cx="10515600" cy="1325563"/>
          </a:xfrm>
        </p:spPr>
        <p:txBody>
          <a:bodyPr/>
          <a:lstStyle/>
          <a:p>
            <a:r>
              <a:rPr lang="en-US" dirty="0"/>
              <a:t>1x1 Convolution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63A2C1-A356-43A5-8F30-7A984F276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045" y="1253331"/>
            <a:ext cx="10515600" cy="4351338"/>
          </a:xfrm>
        </p:spPr>
        <p:txBody>
          <a:bodyPr/>
          <a:lstStyle/>
          <a:p>
            <a:r>
              <a:rPr lang="en-US" dirty="0"/>
              <a:t>If you want to keep same dimensions of the input while reducing the depth</a:t>
            </a:r>
          </a:p>
          <a:p>
            <a:pPr lvl="1"/>
            <a:r>
              <a:rPr lang="en-US" dirty="0"/>
              <a:t>Use same convolution and a number of filters less than input depth</a:t>
            </a:r>
          </a:p>
          <a:p>
            <a:pPr marL="457200" lvl="1" indent="0">
              <a:buNone/>
            </a:pPr>
            <a:r>
              <a:rPr lang="en-US" dirty="0"/>
              <a:t>Or</a:t>
            </a:r>
          </a:p>
          <a:p>
            <a:pPr lvl="1"/>
            <a:r>
              <a:rPr lang="en-US" dirty="0"/>
              <a:t>Use 1x 1 convolution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21BAD9-EA7B-4086-9A1B-869BF2D4D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2000" cy="32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5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1FD4C4-452E-498A-A7FD-98428FD8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481"/>
            <a:ext cx="12192000" cy="3232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2A028-9FF7-4BB1-B290-AB9216A66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85" y="425282"/>
            <a:ext cx="2843508" cy="27156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8E7811D-66CB-4CF3-B7FA-8D5042577DB2}"/>
              </a:ext>
            </a:extLst>
          </p:cNvPr>
          <p:cNvSpPr/>
          <p:nvPr/>
        </p:nvSpPr>
        <p:spPr>
          <a:xfrm>
            <a:off x="10418445" y="1308735"/>
            <a:ext cx="331470" cy="3486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D337B-76BA-400F-9517-FDE564572377}"/>
              </a:ext>
            </a:extLst>
          </p:cNvPr>
          <p:cNvSpPr txBox="1"/>
          <p:nvPr/>
        </p:nvSpPr>
        <p:spPr>
          <a:xfrm>
            <a:off x="3727278" y="118815"/>
            <a:ext cx="5663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Activation function on a linear combination of 32 numbers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374B25-6B8E-4958-B4E8-01E348771934}"/>
              </a:ext>
            </a:extLst>
          </p:cNvPr>
          <p:cNvCxnSpPr/>
          <p:nvPr/>
        </p:nvCxnSpPr>
        <p:spPr>
          <a:xfrm>
            <a:off x="6680835" y="554355"/>
            <a:ext cx="3657600" cy="991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F3E5CD1-1A68-4DB1-BA5A-90DFEFF4F8B8}"/>
              </a:ext>
            </a:extLst>
          </p:cNvPr>
          <p:cNvSpPr/>
          <p:nvPr/>
        </p:nvSpPr>
        <p:spPr>
          <a:xfrm>
            <a:off x="1726479" y="4149090"/>
            <a:ext cx="274320" cy="33147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9F0DC4-0A6F-4DAF-A50F-17C5CDC75E5C}"/>
              </a:ext>
            </a:extLst>
          </p:cNvPr>
          <p:cNvSpPr/>
          <p:nvPr/>
        </p:nvSpPr>
        <p:spPr>
          <a:xfrm>
            <a:off x="1726479" y="4650105"/>
            <a:ext cx="274320" cy="331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87E5E7-8427-427D-BDB2-8397BDD8058B}"/>
              </a:ext>
            </a:extLst>
          </p:cNvPr>
          <p:cNvSpPr/>
          <p:nvPr/>
        </p:nvSpPr>
        <p:spPr>
          <a:xfrm>
            <a:off x="1715598" y="5890260"/>
            <a:ext cx="274320" cy="331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73049F-1F25-400A-9729-27847A5F9C06}"/>
              </a:ext>
            </a:extLst>
          </p:cNvPr>
          <p:cNvSpPr txBox="1"/>
          <p:nvPr/>
        </p:nvSpPr>
        <p:spPr>
          <a:xfrm flipH="1">
            <a:off x="1726479" y="4915277"/>
            <a:ext cx="274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B2AF7D-4858-4629-89FB-82E4249B6D83}"/>
                  </a:ext>
                </a:extLst>
              </p:cNvPr>
              <p:cNvSpPr txBox="1"/>
              <p:nvPr/>
            </p:nvSpPr>
            <p:spPr>
              <a:xfrm>
                <a:off x="774382" y="4265860"/>
                <a:ext cx="717440" cy="1830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</m:m>
                                    </m:e>
                                  </m:m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B2AF7D-4858-4629-89FB-82E4249B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82" y="4265860"/>
                <a:ext cx="717440" cy="18306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64D4F647-F43C-4BEA-A648-C66966C0A3F8}"/>
              </a:ext>
            </a:extLst>
          </p:cNvPr>
          <p:cNvSpPr/>
          <p:nvPr/>
        </p:nvSpPr>
        <p:spPr>
          <a:xfrm>
            <a:off x="3370494" y="4381688"/>
            <a:ext cx="274320" cy="33147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2571E1-EF0B-4FDD-8AF8-2DDEE364665A}"/>
              </a:ext>
            </a:extLst>
          </p:cNvPr>
          <p:cNvCxnSpPr>
            <a:stCxn id="13" idx="6"/>
            <a:endCxn id="18" idx="2"/>
          </p:cNvCxnSpPr>
          <p:nvPr/>
        </p:nvCxnSpPr>
        <p:spPr>
          <a:xfrm>
            <a:off x="2000799" y="4314825"/>
            <a:ext cx="1369695" cy="232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98B8CC-C199-43EE-BA86-995E506D2445}"/>
              </a:ext>
            </a:extLst>
          </p:cNvPr>
          <p:cNvCxnSpPr>
            <a:stCxn id="14" idx="6"/>
            <a:endCxn id="18" idx="2"/>
          </p:cNvCxnSpPr>
          <p:nvPr/>
        </p:nvCxnSpPr>
        <p:spPr>
          <a:xfrm flipV="1">
            <a:off x="2000799" y="4547423"/>
            <a:ext cx="1369695" cy="268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B8A2C7-A291-4DA0-A854-96336FBE942A}"/>
              </a:ext>
            </a:extLst>
          </p:cNvPr>
          <p:cNvCxnSpPr>
            <a:stCxn id="15" idx="6"/>
            <a:endCxn id="18" idx="2"/>
          </p:cNvCxnSpPr>
          <p:nvPr/>
        </p:nvCxnSpPr>
        <p:spPr>
          <a:xfrm flipV="1">
            <a:off x="1989918" y="4547423"/>
            <a:ext cx="1380576" cy="1508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07CC68-01E7-4F0F-AAEB-F0AA0E79428E}"/>
                  </a:ext>
                </a:extLst>
              </p:cNvPr>
              <p:cNvSpPr txBox="1"/>
              <p:nvPr/>
            </p:nvSpPr>
            <p:spPr>
              <a:xfrm>
                <a:off x="2509776" y="4098493"/>
                <a:ext cx="3171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07CC68-01E7-4F0F-AAEB-F0AA0E794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776" y="4098493"/>
                <a:ext cx="317138" cy="276999"/>
              </a:xfrm>
              <a:prstGeom prst="rect">
                <a:avLst/>
              </a:prstGeom>
              <a:blipFill>
                <a:blip r:embed="rId5"/>
                <a:stretch>
                  <a:fillRect l="-11538" r="-576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ED1285-C811-4977-8BAD-60AEA676101D}"/>
                  </a:ext>
                </a:extLst>
              </p:cNvPr>
              <p:cNvSpPr txBox="1"/>
              <p:nvPr/>
            </p:nvSpPr>
            <p:spPr>
              <a:xfrm>
                <a:off x="5605401" y="2416378"/>
                <a:ext cx="3171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ED1285-C811-4977-8BAD-60AEA6761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401" y="2416378"/>
                <a:ext cx="317138" cy="276999"/>
              </a:xfrm>
              <a:prstGeom prst="rect">
                <a:avLst/>
              </a:prstGeom>
              <a:blipFill>
                <a:blip r:embed="rId6"/>
                <a:stretch>
                  <a:fillRect l="-11538" r="-576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EA7B0C-4E82-40A0-AFA7-E0D1A90C2B2D}"/>
                  </a:ext>
                </a:extLst>
              </p:cNvPr>
              <p:cNvSpPr txBox="1"/>
              <p:nvPr/>
            </p:nvSpPr>
            <p:spPr>
              <a:xfrm>
                <a:off x="2220966" y="4402727"/>
                <a:ext cx="322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EA7B0C-4E82-40A0-AFA7-E0D1A90C2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966" y="4402727"/>
                <a:ext cx="322461" cy="276999"/>
              </a:xfrm>
              <a:prstGeom prst="rect">
                <a:avLst/>
              </a:prstGeom>
              <a:blipFill>
                <a:blip r:embed="rId7"/>
                <a:stretch>
                  <a:fillRect l="-9434" r="-943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98A90F-0DA0-418B-8042-B8D5DE2C433F}"/>
                  </a:ext>
                </a:extLst>
              </p:cNvPr>
              <p:cNvSpPr txBox="1"/>
              <p:nvPr/>
            </p:nvSpPr>
            <p:spPr>
              <a:xfrm>
                <a:off x="5882376" y="2234837"/>
                <a:ext cx="322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98A90F-0DA0-418B-8042-B8D5DE2C4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76" y="2234837"/>
                <a:ext cx="322461" cy="276999"/>
              </a:xfrm>
              <a:prstGeom prst="rect">
                <a:avLst/>
              </a:prstGeom>
              <a:blipFill>
                <a:blip r:embed="rId8"/>
                <a:stretch>
                  <a:fillRect l="-9434" r="-754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A9DD39-996D-4E07-BA27-58CB2013F226}"/>
                  </a:ext>
                </a:extLst>
              </p:cNvPr>
              <p:cNvSpPr txBox="1"/>
              <p:nvPr/>
            </p:nvSpPr>
            <p:spPr>
              <a:xfrm>
                <a:off x="2059735" y="5376942"/>
                <a:ext cx="4202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A9DD39-996D-4E07-BA27-58CB2013F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735" y="5376942"/>
                <a:ext cx="420243" cy="276999"/>
              </a:xfrm>
              <a:prstGeom prst="rect">
                <a:avLst/>
              </a:prstGeom>
              <a:blipFill>
                <a:blip r:embed="rId9"/>
                <a:stretch>
                  <a:fillRect l="-7246" r="-579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E821FA-BBC6-4BB5-88FA-161DA46732A4}"/>
                  </a:ext>
                </a:extLst>
              </p:cNvPr>
              <p:cNvSpPr txBox="1"/>
              <p:nvPr/>
            </p:nvSpPr>
            <p:spPr>
              <a:xfrm>
                <a:off x="6749845" y="1294933"/>
                <a:ext cx="4202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E821FA-BBC6-4BB5-88FA-161DA4673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845" y="1294933"/>
                <a:ext cx="420243" cy="276999"/>
              </a:xfrm>
              <a:prstGeom prst="rect">
                <a:avLst/>
              </a:prstGeom>
              <a:blipFill>
                <a:blip r:embed="rId10"/>
                <a:stretch>
                  <a:fillRect l="-7246" r="-7246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5046F7DC-4A99-4FC4-9148-019C54719FAA}"/>
              </a:ext>
            </a:extLst>
          </p:cNvPr>
          <p:cNvSpPr txBox="1"/>
          <p:nvPr/>
        </p:nvSpPr>
        <p:spPr>
          <a:xfrm>
            <a:off x="4475059" y="4980841"/>
            <a:ext cx="226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more filters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DC09BF-76F8-4E12-A063-9B9AA66DBFBF}"/>
              </a:ext>
            </a:extLst>
          </p:cNvPr>
          <p:cNvSpPr/>
          <p:nvPr/>
        </p:nvSpPr>
        <p:spPr>
          <a:xfrm>
            <a:off x="8212971" y="4122321"/>
            <a:ext cx="274320" cy="331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70D5F23-A001-4631-89FA-5D344EEA8B97}"/>
              </a:ext>
            </a:extLst>
          </p:cNvPr>
          <p:cNvSpPr/>
          <p:nvPr/>
        </p:nvSpPr>
        <p:spPr>
          <a:xfrm>
            <a:off x="8212971" y="4623336"/>
            <a:ext cx="274320" cy="331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A6CDC7-157D-4EE3-99C0-AB4DBC008822}"/>
              </a:ext>
            </a:extLst>
          </p:cNvPr>
          <p:cNvSpPr/>
          <p:nvPr/>
        </p:nvSpPr>
        <p:spPr>
          <a:xfrm>
            <a:off x="8202090" y="5863491"/>
            <a:ext cx="274320" cy="331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48D348-F0EC-40E1-9C9C-D9E75964A053}"/>
              </a:ext>
            </a:extLst>
          </p:cNvPr>
          <p:cNvSpPr txBox="1"/>
          <p:nvPr/>
        </p:nvSpPr>
        <p:spPr>
          <a:xfrm flipH="1">
            <a:off x="8212971" y="4888508"/>
            <a:ext cx="274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B75F6C4-6849-4ABD-8271-C03BEAAB7EB7}"/>
                  </a:ext>
                </a:extLst>
              </p:cNvPr>
              <p:cNvSpPr txBox="1"/>
              <p:nvPr/>
            </p:nvSpPr>
            <p:spPr>
              <a:xfrm>
                <a:off x="7260874" y="4239091"/>
                <a:ext cx="717440" cy="1830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</m:m>
                                    </m:e>
                                  </m:m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B75F6C4-6849-4ABD-8271-C03BEAAB7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874" y="4239091"/>
                <a:ext cx="717440" cy="18306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0554D561-D33D-440C-9A95-AA8CFA644E64}"/>
              </a:ext>
            </a:extLst>
          </p:cNvPr>
          <p:cNvSpPr/>
          <p:nvPr/>
        </p:nvSpPr>
        <p:spPr>
          <a:xfrm>
            <a:off x="9856986" y="4354919"/>
            <a:ext cx="274320" cy="33147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B5E265-87F2-4378-9ABF-5E79218BC69F}"/>
              </a:ext>
            </a:extLst>
          </p:cNvPr>
          <p:cNvCxnSpPr>
            <a:stCxn id="32" idx="6"/>
            <a:endCxn id="37" idx="2"/>
          </p:cNvCxnSpPr>
          <p:nvPr/>
        </p:nvCxnSpPr>
        <p:spPr>
          <a:xfrm>
            <a:off x="8487291" y="4288056"/>
            <a:ext cx="1369695" cy="232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0962DA9-377F-44F9-B2C2-20C9A1E195F8}"/>
              </a:ext>
            </a:extLst>
          </p:cNvPr>
          <p:cNvCxnSpPr>
            <a:stCxn id="33" idx="6"/>
            <a:endCxn id="37" idx="2"/>
          </p:cNvCxnSpPr>
          <p:nvPr/>
        </p:nvCxnSpPr>
        <p:spPr>
          <a:xfrm flipV="1">
            <a:off x="8487291" y="4520654"/>
            <a:ext cx="1369695" cy="268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C19D567-42B5-4418-AE34-A0507DF7A121}"/>
              </a:ext>
            </a:extLst>
          </p:cNvPr>
          <p:cNvCxnSpPr>
            <a:stCxn id="34" idx="6"/>
            <a:endCxn id="37" idx="2"/>
          </p:cNvCxnSpPr>
          <p:nvPr/>
        </p:nvCxnSpPr>
        <p:spPr>
          <a:xfrm flipV="1">
            <a:off x="8476410" y="4520654"/>
            <a:ext cx="1380576" cy="1508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97AA24FB-B241-456C-9E2C-1515B9AEBB90}"/>
              </a:ext>
            </a:extLst>
          </p:cNvPr>
          <p:cNvSpPr/>
          <p:nvPr/>
        </p:nvSpPr>
        <p:spPr>
          <a:xfrm>
            <a:off x="9856986" y="4969763"/>
            <a:ext cx="274320" cy="33147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A61EA0B-4776-4DA8-BD0E-16C2832BC8C7}"/>
              </a:ext>
            </a:extLst>
          </p:cNvPr>
          <p:cNvSpPr/>
          <p:nvPr/>
        </p:nvSpPr>
        <p:spPr>
          <a:xfrm>
            <a:off x="9874285" y="5738315"/>
            <a:ext cx="274320" cy="331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4FB3546-A36B-4CD2-B8AD-4CB8C84EDD04}"/>
              </a:ext>
            </a:extLst>
          </p:cNvPr>
          <p:cNvCxnSpPr>
            <a:stCxn id="32" idx="5"/>
            <a:endCxn id="44" idx="2"/>
          </p:cNvCxnSpPr>
          <p:nvPr/>
        </p:nvCxnSpPr>
        <p:spPr>
          <a:xfrm>
            <a:off x="8447118" y="4405248"/>
            <a:ext cx="1409868" cy="730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880933-5117-4D0F-B4E8-B86D6BE9CCB3}"/>
              </a:ext>
            </a:extLst>
          </p:cNvPr>
          <p:cNvCxnSpPr>
            <a:stCxn id="33" idx="6"/>
            <a:endCxn id="44" idx="2"/>
          </p:cNvCxnSpPr>
          <p:nvPr/>
        </p:nvCxnSpPr>
        <p:spPr>
          <a:xfrm>
            <a:off x="8487291" y="4789071"/>
            <a:ext cx="1285359" cy="32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C3C0658-F5AC-4F6A-A763-D624CBE6EAD6}"/>
              </a:ext>
            </a:extLst>
          </p:cNvPr>
          <p:cNvCxnSpPr>
            <a:endCxn id="45" idx="2"/>
          </p:cNvCxnSpPr>
          <p:nvPr/>
        </p:nvCxnSpPr>
        <p:spPr>
          <a:xfrm>
            <a:off x="8487291" y="4800367"/>
            <a:ext cx="1386994" cy="1103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48E8F19-1202-4DD7-BB38-C07A269B75A0}"/>
              </a:ext>
            </a:extLst>
          </p:cNvPr>
          <p:cNvCxnSpPr>
            <a:stCxn id="34" idx="6"/>
            <a:endCxn id="44" idx="2"/>
          </p:cNvCxnSpPr>
          <p:nvPr/>
        </p:nvCxnSpPr>
        <p:spPr>
          <a:xfrm flipV="1">
            <a:off x="8476410" y="5135498"/>
            <a:ext cx="1380576" cy="893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75AF434-ABD0-43E9-824D-D5891838FD5E}"/>
              </a:ext>
            </a:extLst>
          </p:cNvPr>
          <p:cNvCxnSpPr>
            <a:stCxn id="32" idx="5"/>
            <a:endCxn id="45" idx="1"/>
          </p:cNvCxnSpPr>
          <p:nvPr/>
        </p:nvCxnSpPr>
        <p:spPr>
          <a:xfrm>
            <a:off x="8447118" y="4405248"/>
            <a:ext cx="1467340" cy="138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9C09AD6-6DD7-4D59-B016-4AEED91D4CA7}"/>
              </a:ext>
            </a:extLst>
          </p:cNvPr>
          <p:cNvCxnSpPr>
            <a:stCxn id="34" idx="6"/>
            <a:endCxn id="45" idx="2"/>
          </p:cNvCxnSpPr>
          <p:nvPr/>
        </p:nvCxnSpPr>
        <p:spPr>
          <a:xfrm flipV="1">
            <a:off x="8476410" y="5904050"/>
            <a:ext cx="1397875" cy="125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16E4B26-8E56-4C5A-984B-C47DA72BD743}"/>
              </a:ext>
            </a:extLst>
          </p:cNvPr>
          <p:cNvSpPr txBox="1"/>
          <p:nvPr/>
        </p:nvSpPr>
        <p:spPr>
          <a:xfrm>
            <a:off x="3644814" y="6221730"/>
            <a:ext cx="2853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Network in  Network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FF00040-4261-47CC-A121-63BC5D5AE2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46832" y="6490192"/>
            <a:ext cx="2943225" cy="23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3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3" grpId="0" animBg="1"/>
      <p:bldP spid="14" grpId="0" animBg="1"/>
      <p:bldP spid="15" grpId="0" animBg="1"/>
      <p:bldP spid="16" grpId="0"/>
      <p:bldP spid="17" grpId="0"/>
      <p:bldP spid="18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/>
      <p:bldP spid="36" grpId="0"/>
      <p:bldP spid="37" grpId="0" animBg="1"/>
      <p:bldP spid="44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F9183-B6FD-45C2-939D-2796CCB1B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62" y="2000191"/>
            <a:ext cx="9099215" cy="38388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3FFB57-5867-477E-968A-643373E6B8D6}"/>
                  </a:ext>
                </a:extLst>
              </p:cNvPr>
              <p:cNvSpPr txBox="1"/>
              <p:nvPr/>
            </p:nvSpPr>
            <p:spPr>
              <a:xfrm>
                <a:off x="5134143" y="4979119"/>
                <a:ext cx="2760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each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: 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×1×192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3FFB57-5867-477E-968A-643373E6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43" y="4979119"/>
                <a:ext cx="2760371" cy="276999"/>
              </a:xfrm>
              <a:prstGeom prst="rect">
                <a:avLst/>
              </a:prstGeom>
              <a:blipFill>
                <a:blip r:embed="rId3"/>
                <a:stretch>
                  <a:fillRect l="-1766" r="-176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781D74D6-D534-4FD8-84D7-A3857106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sum up</a:t>
            </a:r>
          </a:p>
        </p:txBody>
      </p:sp>
    </p:spTree>
    <p:extLst>
      <p:ext uri="{BB962C8B-B14F-4D97-AF65-F5344CB8AC3E}">
        <p14:creationId xmlns:p14="http://schemas.microsoft.com/office/powerpoint/2010/main" val="82705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1395-8DF2-4D09-BF0A-DC0FADC3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38"/>
            <a:ext cx="10515600" cy="1325563"/>
          </a:xfrm>
        </p:spPr>
        <p:txBody>
          <a:bodyPr/>
          <a:lstStyle/>
          <a:p>
            <a:r>
              <a:rPr lang="en-US" dirty="0"/>
              <a:t>Inception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F7D55-B0F0-4E0F-9AC7-6A45158EB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0151"/>
            <a:ext cx="12192000" cy="41434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FFEF53-2904-4B8E-8BE9-EFACE85CD053}"/>
                  </a:ext>
                </a:extLst>
              </p:cNvPr>
              <p:cNvSpPr txBox="1"/>
              <p:nvPr/>
            </p:nvSpPr>
            <p:spPr>
              <a:xfrm>
                <a:off x="5180647" y="1481651"/>
                <a:ext cx="9441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64 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FFEF53-2904-4B8E-8BE9-EFACE85CD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647" y="1481651"/>
                <a:ext cx="944168" cy="276999"/>
              </a:xfrm>
              <a:prstGeom prst="rect">
                <a:avLst/>
              </a:prstGeom>
              <a:blipFill>
                <a:blip r:embed="rId4"/>
                <a:stretch>
                  <a:fillRect l="-5806" r="-645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E75217C-6416-4B4F-9FC6-3059F22C8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522" y="86838"/>
            <a:ext cx="4420553" cy="222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7C1652-C58A-4D3A-A391-F660CF5C5A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58650"/>
            <a:ext cx="12192000" cy="4125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33D1C4-0E09-4B6C-B057-691A5FCFEC5F}"/>
                  </a:ext>
                </a:extLst>
              </p:cNvPr>
              <p:cNvSpPr txBox="1"/>
              <p:nvPr/>
            </p:nvSpPr>
            <p:spPr>
              <a:xfrm>
                <a:off x="5312092" y="2583893"/>
                <a:ext cx="10900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128 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filters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same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33D1C4-0E09-4B6C-B057-691A5FCFE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092" y="2583893"/>
                <a:ext cx="1090042" cy="553998"/>
              </a:xfrm>
              <a:prstGeom prst="rect">
                <a:avLst/>
              </a:prstGeom>
              <a:blipFill>
                <a:blip r:embed="rId7"/>
                <a:stretch>
                  <a:fillRect l="-4469" r="-3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567119F-2606-4751-97A0-C943595BDC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834808"/>
            <a:ext cx="12192000" cy="4136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A1AE5D-ECD0-4EB6-810B-E5DF8E14FC59}"/>
                  </a:ext>
                </a:extLst>
              </p:cNvPr>
              <p:cNvSpPr txBox="1"/>
              <p:nvPr/>
            </p:nvSpPr>
            <p:spPr>
              <a:xfrm>
                <a:off x="5180647" y="3783633"/>
                <a:ext cx="10900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filters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same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A1AE5D-ECD0-4EB6-810B-E5DF8E14F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647" y="3783633"/>
                <a:ext cx="1090042" cy="553998"/>
              </a:xfrm>
              <a:prstGeom prst="rect">
                <a:avLst/>
              </a:prstGeom>
              <a:blipFill>
                <a:blip r:embed="rId9"/>
                <a:stretch>
                  <a:fillRect l="-5028" r="-2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0CD3C8-7A1E-468B-ADA6-47AEF410A681}"/>
                  </a:ext>
                </a:extLst>
              </p:cNvPr>
              <p:cNvSpPr txBox="1"/>
              <p:nvPr/>
            </p:nvSpPr>
            <p:spPr>
              <a:xfrm>
                <a:off x="5180647" y="2583893"/>
                <a:ext cx="10900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128 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filters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same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0CD3C8-7A1E-468B-ADA6-47AEF410A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647" y="2583893"/>
                <a:ext cx="1090042" cy="553998"/>
              </a:xfrm>
              <a:prstGeom prst="rect">
                <a:avLst/>
              </a:prstGeom>
              <a:blipFill>
                <a:blip r:embed="rId10"/>
                <a:stretch>
                  <a:fillRect l="-5028" r="-3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DCCC1CD5-AD76-47D4-BC7B-B265A1B358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887985"/>
            <a:ext cx="12192000" cy="4083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417946-EC72-437C-8FD9-5FE7752365EE}"/>
                  </a:ext>
                </a:extLst>
              </p:cNvPr>
              <p:cNvSpPr txBox="1"/>
              <p:nvPr/>
            </p:nvSpPr>
            <p:spPr>
              <a:xfrm>
                <a:off x="5180647" y="3721019"/>
                <a:ext cx="10900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filters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same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417946-EC72-437C-8FD9-5FE77523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647" y="3721019"/>
                <a:ext cx="1090042" cy="553998"/>
              </a:xfrm>
              <a:prstGeom prst="rect">
                <a:avLst/>
              </a:prstGeom>
              <a:blipFill>
                <a:blip r:embed="rId12"/>
                <a:stretch>
                  <a:fillRect l="-5028" r="-2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4CA2FF-5F6F-4C20-B39B-0F0542AC4FBD}"/>
                  </a:ext>
                </a:extLst>
              </p:cNvPr>
              <p:cNvSpPr txBox="1"/>
              <p:nvPr/>
            </p:nvSpPr>
            <p:spPr>
              <a:xfrm>
                <a:off x="5180647" y="2446390"/>
                <a:ext cx="10900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128 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filters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same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4CA2FF-5F6F-4C20-B39B-0F0542AC4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647" y="2446390"/>
                <a:ext cx="1090042" cy="553998"/>
              </a:xfrm>
              <a:prstGeom prst="rect">
                <a:avLst/>
              </a:prstGeom>
              <a:blipFill>
                <a:blip r:embed="rId13"/>
                <a:stretch>
                  <a:fillRect l="-5028" r="-3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9BBAEB-4FD2-4DF6-8FD1-FBE2DDFBF211}"/>
                  </a:ext>
                </a:extLst>
              </p:cNvPr>
              <p:cNvSpPr txBox="1"/>
              <p:nvPr/>
            </p:nvSpPr>
            <p:spPr>
              <a:xfrm>
                <a:off x="5180647" y="4930256"/>
                <a:ext cx="210153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pooling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same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pool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padding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9BBAEB-4FD2-4DF6-8FD1-FBE2DDFBF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647" y="4930256"/>
                <a:ext cx="2101537" cy="553998"/>
              </a:xfrm>
              <a:prstGeom prst="rect">
                <a:avLst/>
              </a:prstGeom>
              <a:blipFill>
                <a:blip r:embed="rId14"/>
                <a:stretch>
                  <a:fillRect l="-2319" t="-1099" r="-3768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A2B739-AB32-4884-A1B2-61894294C2B0}"/>
                  </a:ext>
                </a:extLst>
              </p:cNvPr>
              <p:cNvSpPr txBox="1"/>
              <p:nvPr/>
            </p:nvSpPr>
            <p:spPr>
              <a:xfrm>
                <a:off x="3962364" y="6401259"/>
                <a:ext cx="34544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𝟏𝟗𝟐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A2B739-AB32-4884-A1B2-61894294C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364" y="6401259"/>
                <a:ext cx="3454472" cy="276999"/>
              </a:xfrm>
              <a:prstGeom prst="rect">
                <a:avLst/>
              </a:prstGeom>
              <a:blipFill>
                <a:blip r:embed="rId15"/>
                <a:stretch>
                  <a:fillRect l="-1235" r="-141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7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5" grpId="0"/>
      <p:bldP spid="16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F6B9-2892-4559-B790-BD6EAD8C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99" y="-70880"/>
            <a:ext cx="10515600" cy="1325563"/>
          </a:xfrm>
        </p:spPr>
        <p:txBody>
          <a:bodyPr/>
          <a:lstStyle/>
          <a:p>
            <a:r>
              <a:rPr lang="en-US" dirty="0"/>
              <a:t>The problem of computational cost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AC947B-AC7D-452A-8D14-AF708772A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49" y="1992289"/>
            <a:ext cx="6001128" cy="28734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24AD7D-9D79-4B4D-888B-1717DFE3791D}"/>
                  </a:ext>
                </a:extLst>
              </p:cNvPr>
              <p:cNvSpPr txBox="1"/>
              <p:nvPr/>
            </p:nvSpPr>
            <p:spPr>
              <a:xfrm>
                <a:off x="6521913" y="1725854"/>
                <a:ext cx="5592300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each filter and for each output position</a:t>
                </a:r>
                <a:br>
                  <a:rPr lang="en-US" sz="2400" dirty="0"/>
                </a:br>
                <a:r>
                  <a:rPr lang="en-US" sz="2400" dirty="0"/>
                  <a:t>we perform 5 x 5 x 192 multiplications.</a:t>
                </a:r>
                <a:br>
                  <a:rPr lang="en-US" sz="2400" dirty="0"/>
                </a:br>
                <a:r>
                  <a:rPr lang="en-US" sz="2400" dirty="0"/>
                  <a:t>We have 28 x 28 positions and 32 filters</a:t>
                </a:r>
              </a:p>
              <a:p>
                <a:r>
                  <a:rPr lang="en-US" sz="24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𝟏𝟗𝟐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𝟐𝟖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𝟐𝟖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𝟑𝟐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𝟏𝟐𝟎</m:t>
                    </m:r>
                    <m:r>
                      <m:rPr>
                        <m:nor/>
                      </m:rP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M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24AD7D-9D79-4B4D-888B-1717DFE37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913" y="1725854"/>
                <a:ext cx="5592300" cy="1569660"/>
              </a:xfrm>
              <a:prstGeom prst="rect">
                <a:avLst/>
              </a:prstGeom>
              <a:blipFill>
                <a:blip r:embed="rId3"/>
                <a:stretch>
                  <a:fillRect l="-1745" t="-3101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1125B10-9FA2-4EF2-B36A-E00BF00D382E}"/>
              </a:ext>
            </a:extLst>
          </p:cNvPr>
          <p:cNvSpPr txBox="1"/>
          <p:nvPr/>
        </p:nvSpPr>
        <p:spPr>
          <a:xfrm>
            <a:off x="6055629" y="4989839"/>
            <a:ext cx="62840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By using 1x1 convolution we can reduce the cost </a:t>
            </a:r>
            <a:br>
              <a:rPr lang="en-US" sz="2400" dirty="0"/>
            </a:br>
            <a:r>
              <a:rPr lang="en-US" sz="2400" dirty="0"/>
              <a:t>by a factor of 10</a:t>
            </a:r>
          </a:p>
        </p:txBody>
      </p:sp>
    </p:spTree>
    <p:extLst>
      <p:ext uri="{BB962C8B-B14F-4D97-AF65-F5344CB8AC3E}">
        <p14:creationId xmlns:p14="http://schemas.microsoft.com/office/powerpoint/2010/main" val="113444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19ACA-169E-433B-986B-6E9C930C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1x1 Convolution to the rescue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479DD6-E4EC-4D50-8A5E-5E49F7B6F92E}"/>
                  </a:ext>
                </a:extLst>
              </p:cNvPr>
              <p:cNvSpPr txBox="1"/>
              <p:nvPr/>
            </p:nvSpPr>
            <p:spPr>
              <a:xfrm>
                <a:off x="339113" y="5556427"/>
                <a:ext cx="52853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×1×192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28×28×16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=2.4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479DD6-E4EC-4D50-8A5E-5E49F7B6F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13" y="5556427"/>
                <a:ext cx="5285358" cy="369332"/>
              </a:xfrm>
              <a:prstGeom prst="rect">
                <a:avLst/>
              </a:prstGeom>
              <a:blipFill>
                <a:blip r:embed="rId2"/>
                <a:stretch>
                  <a:fillRect r="-92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3FD614-FC5C-47C0-A971-4ADEF5DD86A5}"/>
                  </a:ext>
                </a:extLst>
              </p:cNvPr>
              <p:cNvSpPr txBox="1"/>
              <p:nvPr/>
            </p:nvSpPr>
            <p:spPr>
              <a:xfrm>
                <a:off x="6953445" y="5187095"/>
                <a:ext cx="5052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×5×16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28×28×32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3FD614-FC5C-47C0-A971-4ADEF5DD8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445" y="5187095"/>
                <a:ext cx="5052922" cy="369332"/>
              </a:xfrm>
              <a:prstGeom prst="rect">
                <a:avLst/>
              </a:prstGeom>
              <a:blipFill>
                <a:blip r:embed="rId3"/>
                <a:stretch>
                  <a:fillRect r="-965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98C80AC-29A0-497A-AAF1-71865043A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1687"/>
            <a:ext cx="12192000" cy="3674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93D5EF-09F7-47E9-BB84-5731B568E5BB}"/>
                  </a:ext>
                </a:extLst>
              </p:cNvPr>
              <p:cNvSpPr txBox="1"/>
              <p:nvPr/>
            </p:nvSpPr>
            <p:spPr>
              <a:xfrm>
                <a:off x="5183618" y="6215875"/>
                <a:ext cx="17104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:12.4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93D5EF-09F7-47E9-BB84-5731B568E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618" y="6215875"/>
                <a:ext cx="1710405" cy="369332"/>
              </a:xfrm>
              <a:prstGeom prst="rect">
                <a:avLst/>
              </a:prstGeom>
              <a:blipFill>
                <a:blip r:embed="rId5"/>
                <a:stretch>
                  <a:fillRect l="-3915" r="-427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01FBD76-849A-4984-B0F8-6440348A0161}"/>
              </a:ext>
            </a:extLst>
          </p:cNvPr>
          <p:cNvSpPr txBox="1"/>
          <p:nvPr/>
        </p:nvSpPr>
        <p:spPr>
          <a:xfrm>
            <a:off x="5722570" y="1905794"/>
            <a:ext cx="1865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bottleneck layer</a:t>
            </a:r>
          </a:p>
        </p:txBody>
      </p:sp>
    </p:spTree>
    <p:extLst>
      <p:ext uri="{BB962C8B-B14F-4D97-AF65-F5344CB8AC3E}">
        <p14:creationId xmlns:p14="http://schemas.microsoft.com/office/powerpoint/2010/main" val="204701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C82B-0CE8-45DB-AF4C-A05B629B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20" y="-185937"/>
            <a:ext cx="10515600" cy="1325563"/>
          </a:xfrm>
        </p:spPr>
        <p:txBody>
          <a:bodyPr/>
          <a:lstStyle/>
          <a:p>
            <a:r>
              <a:rPr lang="en-US" dirty="0"/>
              <a:t>Inception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83BDD-1855-4D28-9624-9E43903E3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58" y="944678"/>
            <a:ext cx="10360862" cy="5667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1083AD-6FE4-420C-840F-20E7BCF82AC3}"/>
                  </a:ext>
                </a:extLst>
              </p:cNvPr>
              <p:cNvSpPr txBox="1"/>
              <p:nvPr/>
            </p:nvSpPr>
            <p:spPr>
              <a:xfrm>
                <a:off x="775119" y="4508415"/>
                <a:ext cx="14859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×28×192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1083AD-6FE4-420C-840F-20E7BCF82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19" y="4508415"/>
                <a:ext cx="1485984" cy="276999"/>
              </a:xfrm>
              <a:prstGeom prst="rect">
                <a:avLst/>
              </a:prstGeom>
              <a:blipFill>
                <a:blip r:embed="rId3"/>
                <a:stretch>
                  <a:fillRect l="-3279" r="-368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9FD33B-FF3D-4FC2-8DCF-62BB89D5A329}"/>
                  </a:ext>
                </a:extLst>
              </p:cNvPr>
              <p:cNvSpPr txBox="1"/>
              <p:nvPr/>
            </p:nvSpPr>
            <p:spPr>
              <a:xfrm>
                <a:off x="8975450" y="4442812"/>
                <a:ext cx="14859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×28×256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9FD33B-FF3D-4FC2-8DCF-62BB89D5A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450" y="4442812"/>
                <a:ext cx="1485984" cy="276999"/>
              </a:xfrm>
              <a:prstGeom prst="rect">
                <a:avLst/>
              </a:prstGeom>
              <a:blipFill>
                <a:blip r:embed="rId4"/>
                <a:stretch>
                  <a:fillRect l="-3279" r="-368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6E6729-11CF-41E6-8292-F6099A8F45A6}"/>
                  </a:ext>
                </a:extLst>
              </p:cNvPr>
              <p:cNvSpPr txBox="1"/>
              <p:nvPr/>
            </p:nvSpPr>
            <p:spPr>
              <a:xfrm>
                <a:off x="3251872" y="3778436"/>
                <a:ext cx="3093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6E6729-11CF-41E6-8292-F6099A8F4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872" y="3778436"/>
                <a:ext cx="309379" cy="276999"/>
              </a:xfrm>
              <a:prstGeom prst="rect">
                <a:avLst/>
              </a:prstGeom>
              <a:blipFill>
                <a:blip r:embed="rId5"/>
                <a:stretch>
                  <a:fillRect l="-17647" r="-1764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CC7486-4C3C-4515-A23C-DAD85E3D9DDF}"/>
                  </a:ext>
                </a:extLst>
              </p:cNvPr>
              <p:cNvSpPr txBox="1"/>
              <p:nvPr/>
            </p:nvSpPr>
            <p:spPr>
              <a:xfrm>
                <a:off x="5544089" y="4055435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CC7486-4C3C-4515-A23C-DAD85E3D9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89" y="4055435"/>
                <a:ext cx="309380" cy="276999"/>
              </a:xfrm>
              <a:prstGeom prst="rect">
                <a:avLst/>
              </a:prstGeom>
              <a:blipFill>
                <a:blip r:embed="rId6"/>
                <a:stretch>
                  <a:fillRect l="-17647" r="-1764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D2A0E9-0161-403C-8082-E5AA492445C1}"/>
                  </a:ext>
                </a:extLst>
              </p:cNvPr>
              <p:cNvSpPr txBox="1"/>
              <p:nvPr/>
            </p:nvSpPr>
            <p:spPr>
              <a:xfrm>
                <a:off x="3869546" y="5029200"/>
                <a:ext cx="1357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D2A0E9-0161-403C-8082-E5AA49244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546" y="5029200"/>
                <a:ext cx="1357744" cy="276999"/>
              </a:xfrm>
              <a:prstGeom prst="rect">
                <a:avLst/>
              </a:prstGeom>
              <a:blipFill>
                <a:blip r:embed="rId7"/>
                <a:stretch>
                  <a:fillRect l="-4054" r="-405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26C80-DA38-4DC9-814F-F705DE3777CC}"/>
                  </a:ext>
                </a:extLst>
              </p:cNvPr>
              <p:cNvSpPr txBox="1"/>
              <p:nvPr/>
            </p:nvSpPr>
            <p:spPr>
              <a:xfrm>
                <a:off x="6220140" y="5029200"/>
                <a:ext cx="1357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26C80-DA38-4DC9-814F-F705DE377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140" y="5029200"/>
                <a:ext cx="1357744" cy="276999"/>
              </a:xfrm>
              <a:prstGeom prst="rect">
                <a:avLst/>
              </a:prstGeom>
              <a:blipFill>
                <a:blip r:embed="rId8"/>
                <a:stretch>
                  <a:fillRect l="-3587" r="-403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F9D17C-FE38-418F-9E34-10ECC3001EB9}"/>
                  </a:ext>
                </a:extLst>
              </p:cNvPr>
              <p:cNvSpPr txBox="1"/>
              <p:nvPr/>
            </p:nvSpPr>
            <p:spPr>
              <a:xfrm>
                <a:off x="3251871" y="2936129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F9D17C-FE38-418F-9E34-10ECC3001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871" y="2936129"/>
                <a:ext cx="309380" cy="276999"/>
              </a:xfrm>
              <a:prstGeom prst="rect">
                <a:avLst/>
              </a:prstGeom>
              <a:blipFill>
                <a:blip r:embed="rId9"/>
                <a:stretch>
                  <a:fillRect l="-17647" r="-1764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B20A26-A3B2-4025-9BB8-D9C95FF0BCC6}"/>
                  </a:ext>
                </a:extLst>
              </p:cNvPr>
              <p:cNvSpPr txBox="1"/>
              <p:nvPr/>
            </p:nvSpPr>
            <p:spPr>
              <a:xfrm>
                <a:off x="5544089" y="2630319"/>
                <a:ext cx="4376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B20A26-A3B2-4025-9BB8-D9C95FF0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89" y="2630319"/>
                <a:ext cx="437620" cy="276999"/>
              </a:xfrm>
              <a:prstGeom prst="rect">
                <a:avLst/>
              </a:prstGeom>
              <a:blipFill>
                <a:blip r:embed="rId10"/>
                <a:stretch>
                  <a:fillRect l="-11111" r="-1388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7E41FF-15D2-4DBC-A2E9-81F35BC68C1A}"/>
                  </a:ext>
                </a:extLst>
              </p:cNvPr>
              <p:cNvSpPr txBox="1"/>
              <p:nvPr/>
            </p:nvSpPr>
            <p:spPr>
              <a:xfrm>
                <a:off x="3869546" y="3598911"/>
                <a:ext cx="1357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×28×96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7E41FF-15D2-4DBC-A2E9-81F35BC68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546" y="3598911"/>
                <a:ext cx="1357744" cy="276999"/>
              </a:xfrm>
              <a:prstGeom prst="rect">
                <a:avLst/>
              </a:prstGeom>
              <a:blipFill>
                <a:blip r:embed="rId11"/>
                <a:stretch>
                  <a:fillRect l="-4054" r="-405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E4478C-DBD6-4D31-B74E-DA136E4BFFD3}"/>
                  </a:ext>
                </a:extLst>
              </p:cNvPr>
              <p:cNvSpPr txBox="1"/>
              <p:nvPr/>
            </p:nvSpPr>
            <p:spPr>
              <a:xfrm>
                <a:off x="6096000" y="3584704"/>
                <a:ext cx="14859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×28×128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E4478C-DBD6-4D31-B74E-DA136E4BF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84704"/>
                <a:ext cx="1485983" cy="276999"/>
              </a:xfrm>
              <a:prstGeom prst="rect">
                <a:avLst/>
              </a:prstGeom>
              <a:blipFill>
                <a:blip r:embed="rId12"/>
                <a:stretch>
                  <a:fillRect l="-3279" r="-327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F603158-9AFD-45C1-B9E3-4D91C8EDE44E}"/>
              </a:ext>
            </a:extLst>
          </p:cNvPr>
          <p:cNvSpPr txBox="1"/>
          <p:nvPr/>
        </p:nvSpPr>
        <p:spPr>
          <a:xfrm>
            <a:off x="3714856" y="1439271"/>
            <a:ext cx="2340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D7C1F7-6E4F-4270-9868-A4AC5D9976E8}"/>
                  </a:ext>
                </a:extLst>
              </p:cNvPr>
              <p:cNvSpPr txBox="1"/>
              <p:nvPr/>
            </p:nvSpPr>
            <p:spPr>
              <a:xfrm>
                <a:off x="6160119" y="2099373"/>
                <a:ext cx="1357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×28×64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D7C1F7-6E4F-4270-9868-A4AC5D997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119" y="2099373"/>
                <a:ext cx="1357744" cy="276999"/>
              </a:xfrm>
              <a:prstGeom prst="rect">
                <a:avLst/>
              </a:prstGeom>
              <a:blipFill>
                <a:blip r:embed="rId13"/>
                <a:stretch>
                  <a:fillRect l="-4054" r="-405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41294E-253F-408E-82C2-CE1DCC9CC656}"/>
                  </a:ext>
                </a:extLst>
              </p:cNvPr>
              <p:cNvSpPr txBox="1"/>
              <p:nvPr/>
            </p:nvSpPr>
            <p:spPr>
              <a:xfrm>
                <a:off x="3869546" y="6530996"/>
                <a:ext cx="14859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×28×192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41294E-253F-408E-82C2-CE1DCC9C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546" y="6530996"/>
                <a:ext cx="1485984" cy="276999"/>
              </a:xfrm>
              <a:prstGeom prst="rect">
                <a:avLst/>
              </a:prstGeom>
              <a:blipFill>
                <a:blip r:embed="rId14"/>
                <a:stretch>
                  <a:fillRect l="-3689" r="-327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463D2F-B2BF-4D79-B329-F327EDFE1172}"/>
                  </a:ext>
                </a:extLst>
              </p:cNvPr>
              <p:cNvSpPr txBox="1"/>
              <p:nvPr/>
            </p:nvSpPr>
            <p:spPr>
              <a:xfrm>
                <a:off x="5592840" y="5480551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463D2F-B2BF-4D79-B329-F327EDFE1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840" y="5480551"/>
                <a:ext cx="309380" cy="276999"/>
              </a:xfrm>
              <a:prstGeom prst="rect">
                <a:avLst/>
              </a:prstGeom>
              <a:blipFill>
                <a:blip r:embed="rId15"/>
                <a:stretch>
                  <a:fillRect l="-17647" r="-1764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656829-27E7-40E5-82D2-DFC151C9638E}"/>
                  </a:ext>
                </a:extLst>
              </p:cNvPr>
              <p:cNvSpPr txBox="1"/>
              <p:nvPr/>
            </p:nvSpPr>
            <p:spPr>
              <a:xfrm>
                <a:off x="6160119" y="6530995"/>
                <a:ext cx="1357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×28×32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656829-27E7-40E5-82D2-DFC151C96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119" y="6530995"/>
                <a:ext cx="1357744" cy="276999"/>
              </a:xfrm>
              <a:prstGeom prst="rect">
                <a:avLst/>
              </a:prstGeom>
              <a:blipFill>
                <a:blip r:embed="rId16"/>
                <a:stretch>
                  <a:fillRect l="-4054" r="-405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0E78D752-A4B6-42F4-BABE-A2AFB217D6C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75450" y="259336"/>
            <a:ext cx="2614613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0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3683-61E8-4308-AAB9-DF653513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" y="-20368"/>
            <a:ext cx="10515600" cy="1325563"/>
          </a:xfrm>
        </p:spPr>
        <p:txBody>
          <a:bodyPr/>
          <a:lstStyle/>
          <a:p>
            <a:r>
              <a:rPr lang="en-US" dirty="0"/>
              <a:t>Inception net (</a:t>
            </a:r>
            <a:r>
              <a:rPr lang="en-US" dirty="0" err="1"/>
              <a:t>GoogLeNet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554099-AF51-4776-9C31-876F2077A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015"/>
            <a:ext cx="12192000" cy="26767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3A49EF-B98F-4987-A521-8D28379CB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3127"/>
            <a:ext cx="12192000" cy="2569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054085-C866-4699-89EE-C00506A8D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75" y="252873"/>
            <a:ext cx="2893455" cy="155006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665BB1-6120-4BCB-BBAC-3C719F84E77A}"/>
              </a:ext>
            </a:extLst>
          </p:cNvPr>
          <p:cNvCxnSpPr/>
          <p:nvPr/>
        </p:nvCxnSpPr>
        <p:spPr>
          <a:xfrm flipV="1">
            <a:off x="6812583" y="1352347"/>
            <a:ext cx="1737965" cy="10335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8E3F9B26-84E8-49D1-AD7C-5FF6E2404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015"/>
            <a:ext cx="12401928" cy="367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BF54F4-3A28-47AA-B6A3-7CFEC328C11D}"/>
              </a:ext>
            </a:extLst>
          </p:cNvPr>
          <p:cNvSpPr txBox="1"/>
          <p:nvPr/>
        </p:nvSpPr>
        <p:spPr>
          <a:xfrm>
            <a:off x="0" y="3413174"/>
            <a:ext cx="250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Preliminary convolutions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73054-0335-4EEB-8036-4B8110D20067}"/>
              </a:ext>
            </a:extLst>
          </p:cNvPr>
          <p:cNvSpPr txBox="1"/>
          <p:nvPr/>
        </p:nvSpPr>
        <p:spPr>
          <a:xfrm>
            <a:off x="6812583" y="5341042"/>
            <a:ext cx="205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Auxialiary</a:t>
            </a:r>
            <a:r>
              <a:rPr lang="en-US" dirty="0"/>
              <a:t> classifiers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6521AC-7C3D-40DB-876D-A162679D2D6A}"/>
              </a:ext>
            </a:extLst>
          </p:cNvPr>
          <p:cNvCxnSpPr/>
          <p:nvPr/>
        </p:nvCxnSpPr>
        <p:spPr>
          <a:xfrm flipH="1" flipV="1">
            <a:off x="6630914" y="5086118"/>
            <a:ext cx="1186903" cy="24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A9CC63-4637-46B9-A1A5-C71EEFAC3F77}"/>
              </a:ext>
            </a:extLst>
          </p:cNvPr>
          <p:cNvCxnSpPr/>
          <p:nvPr/>
        </p:nvCxnSpPr>
        <p:spPr>
          <a:xfrm flipV="1">
            <a:off x="7840461" y="4735457"/>
            <a:ext cx="1224816" cy="532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137A70-FF34-4115-A0F3-70ABB6E2B674}"/>
                  </a:ext>
                </a:extLst>
              </p:cNvPr>
              <p:cNvSpPr txBox="1"/>
              <p:nvPr/>
            </p:nvSpPr>
            <p:spPr>
              <a:xfrm>
                <a:off x="520784" y="5341042"/>
                <a:ext cx="782925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auxiliary classifiers are soft-max ending with</a:t>
                </a:r>
                <a:br>
                  <a:rPr lang="en-US" dirty="0"/>
                </a:br>
                <a:r>
                  <a:rPr lang="en-US" dirty="0"/>
                  <a:t>same labels of final soft-max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They are used only in training (not in prediction) to compute an </a:t>
                </a:r>
                <a:br>
                  <a:rPr lang="en-US" dirty="0"/>
                </a:br>
                <a:r>
                  <a:rPr lang="en-US" dirty="0"/>
                  <a:t>intermediate loss such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total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loss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=0.3 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aux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loss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+0.3 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aux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loss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final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loss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137A70-FF34-4115-A0F3-70ABB6E2B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84" y="5341042"/>
                <a:ext cx="7829259" cy="1200329"/>
              </a:xfrm>
              <a:prstGeom prst="rect">
                <a:avLst/>
              </a:prstGeom>
              <a:blipFill>
                <a:blip r:embed="rId6"/>
                <a:stretch>
                  <a:fillRect l="-467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79C06C4-AD56-4832-85EF-799B6F4F2EF2}"/>
              </a:ext>
            </a:extLst>
          </p:cNvPr>
          <p:cNvSpPr txBox="1"/>
          <p:nvPr/>
        </p:nvSpPr>
        <p:spPr>
          <a:xfrm>
            <a:off x="3706045" y="1352347"/>
            <a:ext cx="2809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pool connection</a:t>
            </a:r>
            <a:br>
              <a:rPr lang="en-US" dirty="0"/>
            </a:br>
            <a:r>
              <a:rPr lang="en-US" dirty="0"/>
              <a:t>between inception modules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8FA066-9146-41AF-90EA-8F68B2AA4CF1}"/>
              </a:ext>
            </a:extLst>
          </p:cNvPr>
          <p:cNvCxnSpPr/>
          <p:nvPr/>
        </p:nvCxnSpPr>
        <p:spPr>
          <a:xfrm flipV="1">
            <a:off x="4347942" y="2133015"/>
            <a:ext cx="538951" cy="1649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0A98BD-CA7F-46E0-805D-4C525C24E683}"/>
              </a:ext>
            </a:extLst>
          </p:cNvPr>
          <p:cNvCxnSpPr/>
          <p:nvPr/>
        </p:nvCxnSpPr>
        <p:spPr>
          <a:xfrm flipH="1" flipV="1">
            <a:off x="5110951" y="2133015"/>
            <a:ext cx="3954326" cy="1040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28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8F8D4-762C-4827-9850-F28E2E7A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552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5200" dirty="0"/>
              <a:t>Details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1254039-8B57-4CBB-9FAB-8B6B9B679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280" y="1111316"/>
            <a:ext cx="10544372" cy="574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69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5005</TotalTime>
  <Words>319</Words>
  <Application>Microsoft Office PowerPoint</Application>
  <PresentationFormat>Widescreen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Inception Net (GoogLeNet)</vt:lpstr>
      <vt:lpstr>1x1 Convolution</vt:lpstr>
      <vt:lpstr>PowerPoint Presentation</vt:lpstr>
      <vt:lpstr>To sum up</vt:lpstr>
      <vt:lpstr>Inception module</vt:lpstr>
      <vt:lpstr>The problem of computational cost</vt:lpstr>
      <vt:lpstr>1x1 Convolution to the rescue</vt:lpstr>
      <vt:lpstr>Inception module</vt:lpstr>
      <vt:lpstr>Inception net (GoogLeNet)</vt:lpstr>
      <vt:lpstr>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CNN: Convolutional Neural Nets</dc:title>
  <dc:creator>Luigi Portinale</dc:creator>
  <cp:lastModifiedBy>Luigi Portinale</cp:lastModifiedBy>
  <cp:revision>89</cp:revision>
  <dcterms:created xsi:type="dcterms:W3CDTF">2021-08-27T09:15:10Z</dcterms:created>
  <dcterms:modified xsi:type="dcterms:W3CDTF">2021-09-23T16:11:00Z</dcterms:modified>
</cp:coreProperties>
</file>