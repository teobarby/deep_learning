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9" r:id="rId27"/>
    <p:sldId id="281" r:id="rId28"/>
    <p:sldId id="282" r:id="rId29"/>
    <p:sldId id="283" r:id="rId30"/>
    <p:sldId id="284" r:id="rId31"/>
    <p:sldId id="285" r:id="rId32"/>
    <p:sldId id="29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300" r:id="rId43"/>
    <p:sldId id="296" r:id="rId44"/>
    <p:sldId id="297" r:id="rId45"/>
    <p:sldId id="29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41437-590B-4175-9E73-EC5735120A0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0B365-437B-4A24-8D34-5087CE24B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5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7A59-DB62-4302-8242-2AC0D3F3A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7FD49-D870-47A7-AE01-36625F845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B4852-1917-496C-AE47-9CA5A1D5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F09A-F733-4E73-8759-B4DB649B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0AF73-0DDA-4AD2-A211-CB0C503F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25E9-F298-46C3-B9CC-64CCC8F7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15F-BE30-487D-A50E-65C42329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7273-6492-4424-8FFC-AE95CF08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09822-B31A-4104-8C01-08F2CF38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6A6E2-8BE8-44DB-AEDA-B803E83F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C5D9-F18C-4759-9DAD-13C1243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6C8EC-D751-4502-81E0-A8E0B541C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4EB3-539A-4095-8A83-68F13DBA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CB7C-0826-4246-98C2-EFE4DCE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6FC66-CA39-4FA1-8B88-46BC987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76C-EABE-45D1-B510-41C75EEA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65E9-A941-4261-93CC-EAAB14A91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E7489-EEAF-428C-837D-E8A25B0F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D0567-6AA9-4E90-B60A-F6D408DE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96323-D378-460E-BA7B-0C8E0749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651CF-AB0C-4DE8-9402-8DD98123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5635-6FCD-47FD-B12E-6CAFAC46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8579-D409-4521-B62D-6D52ABC9D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5D522-1F03-4060-9AED-653E361D9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0BEE-7C1E-4C2E-970C-6FCEA2953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8091E-2000-4160-B18E-0FC6DEFF2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CB898-3270-4E39-8CD5-6F6F1364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B8638-17A0-4801-AFDF-E727E15C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46AFB-10F7-462B-8998-AA66ECC0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8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4871-7417-4D36-AD64-3626EC74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B79CC-5AD9-43CA-9D2C-F05714EC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AC15D-43A5-47A6-8336-FC707BB5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9915-96C1-4FDC-8D0E-B4BCC600C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5E09D-C499-45C2-AC07-8B7ABDE9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6C84D-64F2-49D8-BB1C-7203CCBE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8BB06-E533-40AA-9037-0E4D371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8739-D236-4131-93EB-D20377B17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1A-4D9E-4E29-9224-C7D8759A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5ADC8-10DC-4FDE-A8FF-47D425790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76EC4-E117-4361-B310-935C72DC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CBDA9-C21C-4939-BBB2-BFDE429E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DD9ED-30ED-4F74-96B9-89B40421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120-2396-49B8-B785-EE7AD61E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69DE7-40A7-408B-80ED-6896EF145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A1F62-04B8-4C32-B4D7-F1666999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B4020-057D-4611-A938-794C0101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33948-FF3C-4CB5-8252-64D3EB7E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43A69-17DE-44CE-B795-270E9397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4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5977-3B73-4783-A82A-EBB063E9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EED5E-8D7C-4DBB-B72D-9974F8DA3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2172-6F3D-42F5-BDA2-7E86A9C79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9556-EE72-4A1D-A7B5-18914882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89DED-91BF-4033-BA58-8B0DA81F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7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A3E97-53EE-4270-BE2E-7310EB346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539B5-C765-47A5-AA92-AE8D26DA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D32C2-F3E9-4D28-A301-7152B917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DDFA5-7FBC-46D7-99F2-21BCB02E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2D8D2-905B-4DC9-BEA2-C9B069EA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5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93196-04E0-41BA-ABBE-768E198E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6A488-5030-4DCB-B9CC-33D0801B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40198-66A2-4D29-9B54-B42AD309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8C943-6D8A-49C8-A05B-9423A5F608F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DDEDE-7DE2-49BA-838C-3C5843088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DEFE-BC83-4950-B90B-C233C9A1B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346A7-3D97-47AB-BFC1-84F89D61DA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0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7.png"/><Relationship Id="rId18" Type="http://schemas.openxmlformats.org/officeDocument/2006/relationships/image" Target="../media/image23.png"/><Relationship Id="rId26" Type="http://schemas.openxmlformats.org/officeDocument/2006/relationships/image" Target="../media/image47.png"/><Relationship Id="rId3" Type="http://schemas.openxmlformats.org/officeDocument/2006/relationships/image" Target="../media/image36.png"/><Relationship Id="rId21" Type="http://schemas.openxmlformats.org/officeDocument/2006/relationships/image" Target="../media/image2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22.png"/><Relationship Id="rId25" Type="http://schemas.openxmlformats.org/officeDocument/2006/relationships/image" Target="../media/image46.png"/><Relationship Id="rId2" Type="http://schemas.openxmlformats.org/officeDocument/2006/relationships/image" Target="../media/image16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29.png"/><Relationship Id="rId5" Type="http://schemas.openxmlformats.org/officeDocument/2006/relationships/image" Target="../media/image38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2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7.png"/><Relationship Id="rId18" Type="http://schemas.openxmlformats.org/officeDocument/2006/relationships/image" Target="../media/image23.png"/><Relationship Id="rId26" Type="http://schemas.openxmlformats.org/officeDocument/2006/relationships/image" Target="../media/image47.png"/><Relationship Id="rId3" Type="http://schemas.openxmlformats.org/officeDocument/2006/relationships/image" Target="../media/image36.png"/><Relationship Id="rId21" Type="http://schemas.openxmlformats.org/officeDocument/2006/relationships/image" Target="../media/image2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22.png"/><Relationship Id="rId25" Type="http://schemas.openxmlformats.org/officeDocument/2006/relationships/image" Target="../media/image46.png"/><Relationship Id="rId2" Type="http://schemas.openxmlformats.org/officeDocument/2006/relationships/image" Target="../media/image16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29.png"/><Relationship Id="rId5" Type="http://schemas.openxmlformats.org/officeDocument/2006/relationships/image" Target="../media/image5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48.png"/><Relationship Id="rId10" Type="http://schemas.openxmlformats.org/officeDocument/2006/relationships/image" Target="../media/image55.png"/><Relationship Id="rId19" Type="http://schemas.openxmlformats.org/officeDocument/2006/relationships/image" Target="../media/image2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17.png"/><Relationship Id="rId18" Type="http://schemas.openxmlformats.org/officeDocument/2006/relationships/image" Target="../media/image23.png"/><Relationship Id="rId26" Type="http://schemas.openxmlformats.org/officeDocument/2006/relationships/image" Target="../media/image47.png"/><Relationship Id="rId3" Type="http://schemas.openxmlformats.org/officeDocument/2006/relationships/image" Target="../media/image36.png"/><Relationship Id="rId21" Type="http://schemas.openxmlformats.org/officeDocument/2006/relationships/image" Target="../media/image26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22.png"/><Relationship Id="rId25" Type="http://schemas.openxmlformats.org/officeDocument/2006/relationships/image" Target="../media/image46.png"/><Relationship Id="rId2" Type="http://schemas.openxmlformats.org/officeDocument/2006/relationships/image" Target="../media/image16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29.png"/><Relationship Id="rId5" Type="http://schemas.openxmlformats.org/officeDocument/2006/relationships/image" Target="../media/image59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48.png"/><Relationship Id="rId10" Type="http://schemas.openxmlformats.org/officeDocument/2006/relationships/image" Target="../media/image64.png"/><Relationship Id="rId19" Type="http://schemas.openxmlformats.org/officeDocument/2006/relationships/image" Target="../media/image2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18.png"/><Relationship Id="rId3" Type="http://schemas.openxmlformats.org/officeDocument/2006/relationships/image" Target="../media/image36.png"/><Relationship Id="rId21" Type="http://schemas.openxmlformats.org/officeDocument/2006/relationships/image" Target="../media/image27.png"/><Relationship Id="rId7" Type="http://schemas.openxmlformats.org/officeDocument/2006/relationships/image" Target="../media/image71.png"/><Relationship Id="rId12" Type="http://schemas.openxmlformats.org/officeDocument/2006/relationships/image" Target="../media/image17.png"/><Relationship Id="rId17" Type="http://schemas.openxmlformats.org/officeDocument/2006/relationships/image" Target="../media/image23.png"/><Relationship Id="rId25" Type="http://schemas.openxmlformats.org/officeDocument/2006/relationships/image" Target="../media/image47.png"/><Relationship Id="rId2" Type="http://schemas.openxmlformats.org/officeDocument/2006/relationships/image" Target="../media/image16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46.png"/><Relationship Id="rId5" Type="http://schemas.openxmlformats.org/officeDocument/2006/relationships/image" Target="../media/image69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67.png"/><Relationship Id="rId10" Type="http://schemas.openxmlformats.org/officeDocument/2006/relationships/image" Target="../media/image74.png"/><Relationship Id="rId19" Type="http://schemas.openxmlformats.org/officeDocument/2006/relationships/image" Target="../media/image25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image" Target="../media/image28.png"/><Relationship Id="rId7" Type="http://schemas.openxmlformats.org/officeDocument/2006/relationships/image" Target="../media/image80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84.pn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11" Type="http://schemas.openxmlformats.org/officeDocument/2006/relationships/image" Target="../media/image17.png"/><Relationship Id="rId24" Type="http://schemas.openxmlformats.org/officeDocument/2006/relationships/image" Target="../media/image47.png"/><Relationship Id="rId5" Type="http://schemas.openxmlformats.org/officeDocument/2006/relationships/image" Target="../media/image78.png"/><Relationship Id="rId15" Type="http://schemas.openxmlformats.org/officeDocument/2006/relationships/image" Target="../media/image22.png"/><Relationship Id="rId23" Type="http://schemas.openxmlformats.org/officeDocument/2006/relationships/image" Target="../media/image46.png"/><Relationship Id="rId28" Type="http://schemas.openxmlformats.org/officeDocument/2006/relationships/image" Target="../media/image76.png"/><Relationship Id="rId10" Type="http://schemas.openxmlformats.org/officeDocument/2006/relationships/image" Target="../media/image83.png"/><Relationship Id="rId19" Type="http://schemas.openxmlformats.org/officeDocument/2006/relationships/image" Target="../media/image26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image" Target="../media/image28.png"/><Relationship Id="rId7" Type="http://schemas.openxmlformats.org/officeDocument/2006/relationships/image" Target="../media/image88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84.pn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png"/><Relationship Id="rId11" Type="http://schemas.openxmlformats.org/officeDocument/2006/relationships/image" Target="../media/image17.png"/><Relationship Id="rId24" Type="http://schemas.openxmlformats.org/officeDocument/2006/relationships/image" Target="../media/image47.png"/><Relationship Id="rId5" Type="http://schemas.openxmlformats.org/officeDocument/2006/relationships/image" Target="../media/image86.png"/><Relationship Id="rId15" Type="http://schemas.openxmlformats.org/officeDocument/2006/relationships/image" Target="../media/image22.png"/><Relationship Id="rId23" Type="http://schemas.openxmlformats.org/officeDocument/2006/relationships/image" Target="../media/image46.png"/><Relationship Id="rId28" Type="http://schemas.openxmlformats.org/officeDocument/2006/relationships/image" Target="../media/image76.png"/><Relationship Id="rId10" Type="http://schemas.openxmlformats.org/officeDocument/2006/relationships/image" Target="../media/image91.png"/><Relationship Id="rId19" Type="http://schemas.openxmlformats.org/officeDocument/2006/relationships/image" Target="../media/image2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image" Target="../media/image28.png"/><Relationship Id="rId7" Type="http://schemas.openxmlformats.org/officeDocument/2006/relationships/image" Target="../media/image95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84.pn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.png"/><Relationship Id="rId11" Type="http://schemas.openxmlformats.org/officeDocument/2006/relationships/image" Target="../media/image17.png"/><Relationship Id="rId24" Type="http://schemas.openxmlformats.org/officeDocument/2006/relationships/image" Target="../media/image47.png"/><Relationship Id="rId5" Type="http://schemas.openxmlformats.org/officeDocument/2006/relationships/image" Target="../media/image93.png"/><Relationship Id="rId15" Type="http://schemas.openxmlformats.org/officeDocument/2006/relationships/image" Target="../media/image22.png"/><Relationship Id="rId23" Type="http://schemas.openxmlformats.org/officeDocument/2006/relationships/image" Target="../media/image46.png"/><Relationship Id="rId28" Type="http://schemas.openxmlformats.org/officeDocument/2006/relationships/image" Target="../media/image76.png"/><Relationship Id="rId10" Type="http://schemas.openxmlformats.org/officeDocument/2006/relationships/image" Target="../media/image98.png"/><Relationship Id="rId19" Type="http://schemas.openxmlformats.org/officeDocument/2006/relationships/image" Target="../media/image2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48.png"/><Relationship Id="rId3" Type="http://schemas.openxmlformats.org/officeDocument/2006/relationships/image" Target="../media/image36.png"/><Relationship Id="rId21" Type="http://schemas.openxmlformats.org/officeDocument/2006/relationships/image" Target="../media/image28.png"/><Relationship Id="rId34" Type="http://schemas.openxmlformats.org/officeDocument/2006/relationships/image" Target="../media/image111.png"/><Relationship Id="rId7" Type="http://schemas.openxmlformats.org/officeDocument/2006/relationships/image" Target="../media/image103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84.png"/><Relationship Id="rId33" Type="http://schemas.openxmlformats.org/officeDocument/2006/relationships/image" Target="../media/image110.pn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2.png"/><Relationship Id="rId11" Type="http://schemas.openxmlformats.org/officeDocument/2006/relationships/image" Target="../media/image17.png"/><Relationship Id="rId24" Type="http://schemas.openxmlformats.org/officeDocument/2006/relationships/image" Target="../media/image47.png"/><Relationship Id="rId32" Type="http://schemas.openxmlformats.org/officeDocument/2006/relationships/image" Target="../media/image109.png"/><Relationship Id="rId5" Type="http://schemas.openxmlformats.org/officeDocument/2006/relationships/image" Target="../media/image101.png"/><Relationship Id="rId15" Type="http://schemas.openxmlformats.org/officeDocument/2006/relationships/image" Target="../media/image22.png"/><Relationship Id="rId23" Type="http://schemas.openxmlformats.org/officeDocument/2006/relationships/image" Target="../media/image46.png"/><Relationship Id="rId28" Type="http://schemas.openxmlformats.org/officeDocument/2006/relationships/image" Target="../media/image76.png"/><Relationship Id="rId36" Type="http://schemas.openxmlformats.org/officeDocument/2006/relationships/image" Target="../media/image113.png"/><Relationship Id="rId10" Type="http://schemas.openxmlformats.org/officeDocument/2006/relationships/image" Target="../media/image106.png"/><Relationship Id="rId19" Type="http://schemas.openxmlformats.org/officeDocument/2006/relationships/image" Target="../media/image26.png"/><Relationship Id="rId31" Type="http://schemas.openxmlformats.org/officeDocument/2006/relationships/image" Target="../media/image108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67.png"/><Relationship Id="rId30" Type="http://schemas.openxmlformats.org/officeDocument/2006/relationships/image" Target="../media/image107.png"/><Relationship Id="rId35" Type="http://schemas.openxmlformats.org/officeDocument/2006/relationships/image" Target="../media/image112.png"/><Relationship Id="rId8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29.png"/><Relationship Id="rId7" Type="http://schemas.openxmlformats.org/officeDocument/2006/relationships/image" Target="../media/image1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7.png"/><Relationship Id="rId3" Type="http://schemas.openxmlformats.org/officeDocument/2006/relationships/image" Target="../media/image135.png"/><Relationship Id="rId21" Type="http://schemas.openxmlformats.org/officeDocument/2006/relationships/image" Target="../media/image152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6.png"/><Relationship Id="rId2" Type="http://schemas.openxmlformats.org/officeDocument/2006/relationships/image" Target="../media/image130.png"/><Relationship Id="rId16" Type="http://schemas.openxmlformats.org/officeDocument/2006/relationships/image" Target="../media/image148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5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4.png"/><Relationship Id="rId10" Type="http://schemas.openxmlformats.org/officeDocument/2006/relationships/image" Target="../media/image142.png"/><Relationship Id="rId19" Type="http://schemas.openxmlformats.org/officeDocument/2006/relationships/image" Target="../media/image17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5.png"/><Relationship Id="rId2" Type="http://schemas.openxmlformats.org/officeDocument/2006/relationships/image" Target="../media/image160.png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5" Type="http://schemas.openxmlformats.org/officeDocument/2006/relationships/image" Target="../media/image173.png"/><Relationship Id="rId10" Type="http://schemas.openxmlformats.org/officeDocument/2006/relationships/image" Target="../media/image168.png"/><Relationship Id="rId19" Type="http://schemas.openxmlformats.org/officeDocument/2006/relationships/image" Target="../media/image177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3" Type="http://schemas.openxmlformats.org/officeDocument/2006/relationships/image" Target="../media/image204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2" Type="http://schemas.openxmlformats.org/officeDocument/2006/relationships/image" Target="../media/image208.png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06.png"/><Relationship Id="rId15" Type="http://schemas.openxmlformats.org/officeDocument/2006/relationships/image" Target="../media/image219.png"/><Relationship Id="rId10" Type="http://schemas.openxmlformats.org/officeDocument/2006/relationships/image" Target="../media/image214.png"/><Relationship Id="rId4" Type="http://schemas.openxmlformats.org/officeDocument/2006/relationships/image" Target="../media/image209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41.png"/><Relationship Id="rId18" Type="http://schemas.openxmlformats.org/officeDocument/2006/relationships/image" Target="../media/image246.png"/><Relationship Id="rId26" Type="http://schemas.openxmlformats.org/officeDocument/2006/relationships/image" Target="../media/image254.png"/><Relationship Id="rId3" Type="http://schemas.openxmlformats.org/officeDocument/2006/relationships/image" Target="../media/image231.png"/><Relationship Id="rId21" Type="http://schemas.openxmlformats.org/officeDocument/2006/relationships/image" Target="../media/image249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17" Type="http://schemas.openxmlformats.org/officeDocument/2006/relationships/image" Target="../media/image245.png"/><Relationship Id="rId25" Type="http://schemas.openxmlformats.org/officeDocument/2006/relationships/image" Target="../media/image253.png"/><Relationship Id="rId2" Type="http://schemas.openxmlformats.org/officeDocument/2006/relationships/image" Target="../media/image2300.png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29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24" Type="http://schemas.openxmlformats.org/officeDocument/2006/relationships/image" Target="../media/image252.png"/><Relationship Id="rId5" Type="http://schemas.openxmlformats.org/officeDocument/2006/relationships/image" Target="../media/image233.png"/><Relationship Id="rId15" Type="http://schemas.openxmlformats.org/officeDocument/2006/relationships/image" Target="../media/image243.png"/><Relationship Id="rId23" Type="http://schemas.openxmlformats.org/officeDocument/2006/relationships/image" Target="../media/image251.png"/><Relationship Id="rId28" Type="http://schemas.openxmlformats.org/officeDocument/2006/relationships/image" Target="../media/image256.png"/><Relationship Id="rId10" Type="http://schemas.openxmlformats.org/officeDocument/2006/relationships/image" Target="../media/image238.png"/><Relationship Id="rId19" Type="http://schemas.openxmlformats.org/officeDocument/2006/relationships/image" Target="../media/image247.png"/><Relationship Id="rId4" Type="http://schemas.openxmlformats.org/officeDocument/2006/relationships/image" Target="../media/image232.png"/><Relationship Id="rId9" Type="http://schemas.openxmlformats.org/officeDocument/2006/relationships/image" Target="../media/image237.png"/><Relationship Id="rId14" Type="http://schemas.openxmlformats.org/officeDocument/2006/relationships/image" Target="../media/image242.png"/><Relationship Id="rId22" Type="http://schemas.openxmlformats.org/officeDocument/2006/relationships/image" Target="../media/image250.png"/><Relationship Id="rId27" Type="http://schemas.openxmlformats.org/officeDocument/2006/relationships/image" Target="../media/image255.png"/><Relationship Id="rId30" Type="http://schemas.openxmlformats.org/officeDocument/2006/relationships/image" Target="../media/image25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270.png"/><Relationship Id="rId3" Type="http://schemas.openxmlformats.org/officeDocument/2006/relationships/image" Target="../media/image260.png"/><Relationship Id="rId7" Type="http://schemas.openxmlformats.org/officeDocument/2006/relationships/image" Target="../media/image264.png"/><Relationship Id="rId12" Type="http://schemas.openxmlformats.org/officeDocument/2006/relationships/image" Target="../media/image269.png"/><Relationship Id="rId2" Type="http://schemas.openxmlformats.org/officeDocument/2006/relationships/image" Target="../media/image259.png"/><Relationship Id="rId16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3.png"/><Relationship Id="rId11" Type="http://schemas.openxmlformats.org/officeDocument/2006/relationships/image" Target="../media/image268.png"/><Relationship Id="rId5" Type="http://schemas.openxmlformats.org/officeDocument/2006/relationships/image" Target="../media/image262.png"/><Relationship Id="rId15" Type="http://schemas.openxmlformats.org/officeDocument/2006/relationships/image" Target="../media/image272.png"/><Relationship Id="rId10" Type="http://schemas.openxmlformats.org/officeDocument/2006/relationships/image" Target="../media/image267.png"/><Relationship Id="rId4" Type="http://schemas.openxmlformats.org/officeDocument/2006/relationships/image" Target="../media/image261.png"/><Relationship Id="rId9" Type="http://schemas.openxmlformats.org/officeDocument/2006/relationships/image" Target="../media/image266.png"/><Relationship Id="rId14" Type="http://schemas.openxmlformats.org/officeDocument/2006/relationships/image" Target="../media/image27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85.png"/><Relationship Id="rId18" Type="http://schemas.openxmlformats.org/officeDocument/2006/relationships/image" Target="../media/image290.png"/><Relationship Id="rId3" Type="http://schemas.openxmlformats.org/officeDocument/2006/relationships/image" Target="../media/image275.png"/><Relationship Id="rId21" Type="http://schemas.openxmlformats.org/officeDocument/2006/relationships/image" Target="../media/image293.png"/><Relationship Id="rId7" Type="http://schemas.openxmlformats.org/officeDocument/2006/relationships/image" Target="../media/image279.png"/><Relationship Id="rId12" Type="http://schemas.openxmlformats.org/officeDocument/2006/relationships/image" Target="../media/image284.png"/><Relationship Id="rId17" Type="http://schemas.openxmlformats.org/officeDocument/2006/relationships/image" Target="../media/image289.png"/><Relationship Id="rId2" Type="http://schemas.openxmlformats.org/officeDocument/2006/relationships/image" Target="../media/image274.png"/><Relationship Id="rId16" Type="http://schemas.openxmlformats.org/officeDocument/2006/relationships/image" Target="../media/image288.png"/><Relationship Id="rId20" Type="http://schemas.openxmlformats.org/officeDocument/2006/relationships/image" Target="../media/image2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77.png"/><Relationship Id="rId15" Type="http://schemas.openxmlformats.org/officeDocument/2006/relationships/image" Target="../media/image287.png"/><Relationship Id="rId23" Type="http://schemas.openxmlformats.org/officeDocument/2006/relationships/image" Target="../media/image295.png"/><Relationship Id="rId10" Type="http://schemas.openxmlformats.org/officeDocument/2006/relationships/image" Target="../media/image282.png"/><Relationship Id="rId19" Type="http://schemas.openxmlformats.org/officeDocument/2006/relationships/image" Target="../media/image291.png"/><Relationship Id="rId4" Type="http://schemas.openxmlformats.org/officeDocument/2006/relationships/image" Target="../media/image276.png"/><Relationship Id="rId9" Type="http://schemas.openxmlformats.org/officeDocument/2006/relationships/image" Target="../media/image281.png"/><Relationship Id="rId14" Type="http://schemas.openxmlformats.org/officeDocument/2006/relationships/image" Target="../media/image286.png"/><Relationship Id="rId22" Type="http://schemas.openxmlformats.org/officeDocument/2006/relationships/image" Target="../media/image29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png"/><Relationship Id="rId7" Type="http://schemas.openxmlformats.org/officeDocument/2006/relationships/image" Target="../media/image301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0.png"/><Relationship Id="rId5" Type="http://schemas.openxmlformats.org/officeDocument/2006/relationships/image" Target="../media/image299.png"/><Relationship Id="rId4" Type="http://schemas.openxmlformats.org/officeDocument/2006/relationships/image" Target="../media/image29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7" Type="http://schemas.openxmlformats.org/officeDocument/2006/relationships/image" Target="../media/image311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309.png"/><Relationship Id="rId4" Type="http://schemas.openxmlformats.org/officeDocument/2006/relationships/image" Target="../media/image308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20.png"/><Relationship Id="rId4" Type="http://schemas.openxmlformats.org/officeDocument/2006/relationships/image" Target="../media/image3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BB9D-64F4-4546-8DC0-1F4E5AC0F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CNN: Convolutional Neural Nets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49B1F-EE28-4D9D-9357-9C55D7A2B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499472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C077-1005-4F6D-9AEB-A9B11D2B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Problems</a:t>
            </a:r>
          </a:p>
        </p:txBody>
      </p:sp>
      <p:pic>
        <p:nvPicPr>
          <p:cNvPr id="5" name="Picture 4" descr="A picture containing text, cat, mammal&#10;&#10;Description automatically generated">
            <a:extLst>
              <a:ext uri="{FF2B5EF4-FFF2-40B4-BE49-F238E27FC236}">
                <a16:creationId xmlns:a16="http://schemas.microsoft.com/office/drawing/2014/main" id="{91D28F53-65BD-4D58-8757-7254F869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412129" cy="2412176"/>
          </a:xfrm>
          <a:prstGeom prst="rect">
            <a:avLst/>
          </a:prstGeom>
        </p:spPr>
      </p:pic>
      <p:pic>
        <p:nvPicPr>
          <p:cNvPr id="7" name="Picture 6" descr="A car driving down a street&#10;&#10;Description automatically generated with low confidence">
            <a:extLst>
              <a:ext uri="{FF2B5EF4-FFF2-40B4-BE49-F238E27FC236}">
                <a16:creationId xmlns:a16="http://schemas.microsoft.com/office/drawing/2014/main" id="{E4B99532-F842-472D-91C0-80FACD4D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44415"/>
            <a:ext cx="3636062" cy="23680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22C6C9-6B86-4A25-B878-58478D3F40E0}"/>
              </a:ext>
            </a:extLst>
          </p:cNvPr>
          <p:cNvSpPr/>
          <p:nvPr/>
        </p:nvSpPr>
        <p:spPr>
          <a:xfrm>
            <a:off x="1356167" y="5442295"/>
            <a:ext cx="1006997" cy="3819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A48AC-0A9D-417F-8E30-0423004EA9EA}"/>
              </a:ext>
            </a:extLst>
          </p:cNvPr>
          <p:cNvSpPr/>
          <p:nvPr/>
        </p:nvSpPr>
        <p:spPr>
          <a:xfrm rot="5400000">
            <a:off x="2529902" y="5397692"/>
            <a:ext cx="320494" cy="38196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31DEC2-1096-440C-BED4-03EA0D687C87}"/>
              </a:ext>
            </a:extLst>
          </p:cNvPr>
          <p:cNvSpPr txBox="1"/>
          <p:nvPr/>
        </p:nvSpPr>
        <p:spPr>
          <a:xfrm>
            <a:off x="4474262" y="5265508"/>
            <a:ext cx="1589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boxes</a:t>
            </a:r>
            <a:br>
              <a:rPr lang="en-US" dirty="0"/>
            </a:br>
            <a:r>
              <a:rPr lang="en-US" dirty="0"/>
              <a:t>around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B291B-CB51-4F99-AD7F-ADF4E5E95CF9}"/>
              </a:ext>
            </a:extLst>
          </p:cNvPr>
          <p:cNvSpPr txBox="1"/>
          <p:nvPr/>
        </p:nvSpPr>
        <p:spPr>
          <a:xfrm>
            <a:off x="7585506" y="1325098"/>
            <a:ext cx="32753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Style Transfer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FCE31C-466C-4E77-8F85-341A524A13B6}"/>
              </a:ext>
            </a:extLst>
          </p:cNvPr>
          <p:cNvGrpSpPr/>
          <p:nvPr/>
        </p:nvGrpSpPr>
        <p:grpSpPr>
          <a:xfrm>
            <a:off x="6923669" y="1795614"/>
            <a:ext cx="4452316" cy="4341453"/>
            <a:chOff x="6923669" y="1795614"/>
            <a:chExt cx="4452316" cy="4341453"/>
          </a:xfrm>
        </p:grpSpPr>
        <p:pic>
          <p:nvPicPr>
            <p:cNvPr id="13" name="Picture 1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A6338B5-10AA-41A3-9BD0-32A11F6C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0358" y="2068661"/>
              <a:ext cx="4345627" cy="406840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7E53FE-54AB-4EDD-9241-0C8E13310A57}"/>
                </a:ext>
              </a:extLst>
            </p:cNvPr>
            <p:cNvSpPr txBox="1"/>
            <p:nvPr/>
          </p:nvSpPr>
          <p:spPr>
            <a:xfrm>
              <a:off x="6923669" y="1795614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 </a:t>
              </a:r>
              <a:r>
                <a:rPr lang="en-US" dirty="0" err="1"/>
                <a:t>img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F9C226-F8A1-4852-BF9A-FE2A93044CEB}"/>
                </a:ext>
              </a:extLst>
            </p:cNvPr>
            <p:cNvSpPr txBox="1"/>
            <p:nvPr/>
          </p:nvSpPr>
          <p:spPr>
            <a:xfrm>
              <a:off x="10333328" y="1795614"/>
              <a:ext cx="102047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style </a:t>
              </a:r>
              <a:r>
                <a:rPr lang="en-US" dirty="0" err="1"/>
                <a:t>img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8984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4EC8-2A8A-4BBC-9DD2-0DFEE071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11"/>
            <a:ext cx="10515600" cy="1325563"/>
          </a:xfrm>
        </p:spPr>
        <p:txBody>
          <a:bodyPr/>
          <a:lstStyle/>
          <a:p>
            <a:r>
              <a:rPr lang="en-US" dirty="0"/>
              <a:t>Deep learning on  large images</a:t>
            </a:r>
          </a:p>
        </p:txBody>
      </p:sp>
      <p:pic>
        <p:nvPicPr>
          <p:cNvPr id="5" name="Picture 4" descr="A cat with green eyes&#10;&#10;Description automatically generated with medium confidence">
            <a:extLst>
              <a:ext uri="{FF2B5EF4-FFF2-40B4-BE49-F238E27FC236}">
                <a16:creationId xmlns:a16="http://schemas.microsoft.com/office/drawing/2014/main" id="{63AD1728-927A-497F-92F9-E2E043FC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71" y="3888731"/>
            <a:ext cx="2819400" cy="2714625"/>
          </a:xfrm>
          <a:prstGeom prst="rect">
            <a:avLst/>
          </a:prstGeom>
        </p:spPr>
      </p:pic>
      <p:pic>
        <p:nvPicPr>
          <p:cNvPr id="7" name="Picture 6" descr="A picture containing text, cat, mammal, orange&#10;&#10;Description automatically generated">
            <a:extLst>
              <a:ext uri="{FF2B5EF4-FFF2-40B4-BE49-F238E27FC236}">
                <a16:creationId xmlns:a16="http://schemas.microsoft.com/office/drawing/2014/main" id="{54CDEDC5-D63E-4103-8854-9EF6DB730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50" y="1478243"/>
            <a:ext cx="2190750" cy="2190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56C585-874B-45C5-B1A4-8DFB57FE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204" y="3888731"/>
            <a:ext cx="5419725" cy="2228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084E2E-272F-43E9-9C5D-CBE01A8CCB91}"/>
                  </a:ext>
                </a:extLst>
              </p:cNvPr>
              <p:cNvSpPr txBox="1"/>
              <p:nvPr/>
            </p:nvSpPr>
            <p:spPr>
              <a:xfrm>
                <a:off x="3242600" y="1588112"/>
                <a:ext cx="23355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×64×3=1288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084E2E-272F-43E9-9C5D-CBE01A8CC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600" y="1588112"/>
                <a:ext cx="2335576" cy="276999"/>
              </a:xfrm>
              <a:prstGeom prst="rect">
                <a:avLst/>
              </a:prstGeom>
              <a:blipFill>
                <a:blip r:embed="rId5"/>
                <a:stretch>
                  <a:fillRect l="-2089" r="-20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A9225E-2638-44B2-B485-A31F439F9D24}"/>
                  </a:ext>
                </a:extLst>
              </p:cNvPr>
              <p:cNvSpPr txBox="1"/>
              <p:nvPr/>
            </p:nvSpPr>
            <p:spPr>
              <a:xfrm>
                <a:off x="3084704" y="5102758"/>
                <a:ext cx="2651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×1000×3=3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A9225E-2638-44B2-B485-A31F439F9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704" y="5102758"/>
                <a:ext cx="2651367" cy="276999"/>
              </a:xfrm>
              <a:prstGeom prst="rect">
                <a:avLst/>
              </a:prstGeom>
              <a:blipFill>
                <a:blip r:embed="rId6"/>
                <a:stretch>
                  <a:fillRect l="-1609" r="-183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70EC72-2DB5-42E1-AFD4-5E5101004DB5}"/>
                  </a:ext>
                </a:extLst>
              </p:cNvPr>
              <p:cNvSpPr txBox="1"/>
              <p:nvPr/>
            </p:nvSpPr>
            <p:spPr>
              <a:xfrm>
                <a:off x="6609144" y="6464856"/>
                <a:ext cx="3686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70EC72-2DB5-42E1-AFD4-5E5101004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144" y="6464856"/>
                <a:ext cx="368691" cy="276999"/>
              </a:xfrm>
              <a:prstGeom prst="rect">
                <a:avLst/>
              </a:prstGeom>
              <a:blipFill>
                <a:blip r:embed="rId7"/>
                <a:stretch>
                  <a:fillRect l="-13115" r="-1639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684153-406D-47BD-A794-5B3D67D9EC28}"/>
                  </a:ext>
                </a:extLst>
              </p:cNvPr>
              <p:cNvSpPr txBox="1"/>
              <p:nvPr/>
            </p:nvSpPr>
            <p:spPr>
              <a:xfrm>
                <a:off x="7974957" y="6464855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684153-406D-47BD-A794-5B3D67D9E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957" y="6464855"/>
                <a:ext cx="565861" cy="276999"/>
              </a:xfrm>
              <a:prstGeom prst="rect">
                <a:avLst/>
              </a:prstGeom>
              <a:blipFill>
                <a:blip r:embed="rId8"/>
                <a:stretch>
                  <a:fillRect l="-8602" r="-1075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747B2E-CB03-463B-A9DA-ECF1DF40047F}"/>
                  </a:ext>
                </a:extLst>
              </p:cNvPr>
              <p:cNvSpPr txBox="1"/>
              <p:nvPr/>
            </p:nvSpPr>
            <p:spPr>
              <a:xfrm>
                <a:off x="6728355" y="3380196"/>
                <a:ext cx="1598130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:(1000,3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747B2E-CB03-463B-A9DA-ECF1DF400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355" y="3380196"/>
                <a:ext cx="1598130" cy="288797"/>
              </a:xfrm>
              <a:prstGeom prst="rect">
                <a:avLst/>
              </a:prstGeom>
              <a:blipFill>
                <a:blip r:embed="rId9"/>
                <a:stretch>
                  <a:fillRect l="-3435" t="-8333" r="-5344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Down 14">
            <a:extLst>
              <a:ext uri="{FF2B5EF4-FFF2-40B4-BE49-F238E27FC236}">
                <a16:creationId xmlns:a16="http://schemas.microsoft.com/office/drawing/2014/main" id="{0FEAF47D-08C0-47E3-AAB0-1EF64BA466B4}"/>
              </a:ext>
            </a:extLst>
          </p:cNvPr>
          <p:cNvSpPr/>
          <p:nvPr/>
        </p:nvSpPr>
        <p:spPr>
          <a:xfrm>
            <a:off x="7488820" y="3773347"/>
            <a:ext cx="196770" cy="358815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98F9FD89-B1CC-4259-B8A4-894E1D25DBCE}"/>
              </a:ext>
            </a:extLst>
          </p:cNvPr>
          <p:cNvSpPr/>
          <p:nvPr/>
        </p:nvSpPr>
        <p:spPr>
          <a:xfrm rot="10800000">
            <a:off x="6629970" y="6053557"/>
            <a:ext cx="196770" cy="358815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657C5D2-92A0-45A9-9416-1B0C8CE9DED4}"/>
              </a:ext>
            </a:extLst>
          </p:cNvPr>
          <p:cNvSpPr/>
          <p:nvPr/>
        </p:nvSpPr>
        <p:spPr>
          <a:xfrm rot="10800000">
            <a:off x="8220840" y="6065131"/>
            <a:ext cx="196770" cy="358815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0E1A1-415B-4A98-BDA6-E4318BCE3667}"/>
              </a:ext>
            </a:extLst>
          </p:cNvPr>
          <p:cNvSpPr txBox="1"/>
          <p:nvPr/>
        </p:nvSpPr>
        <p:spPr>
          <a:xfrm>
            <a:off x="7264088" y="2659416"/>
            <a:ext cx="461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Infeasable</a:t>
            </a:r>
            <a:r>
              <a:rPr lang="en-US" sz="2400" dirty="0">
                <a:solidFill>
                  <a:srgbClr val="FF0000"/>
                </a:solidFill>
              </a:rPr>
              <a:t> with standard Deep-FNN</a:t>
            </a:r>
          </a:p>
        </p:txBody>
      </p:sp>
    </p:spTree>
    <p:extLst>
      <p:ext uri="{BB962C8B-B14F-4D97-AF65-F5344CB8AC3E}">
        <p14:creationId xmlns:p14="http://schemas.microsoft.com/office/powerpoint/2010/main" val="178735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1DA7E0-F666-4624-BCD7-D3358824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Focusing on edge detection</a:t>
            </a:r>
          </a:p>
        </p:txBody>
      </p:sp>
      <p:pic>
        <p:nvPicPr>
          <p:cNvPr id="6" name="Picture 5" descr="A picture containing text, stove, kitchen appliance&#10;&#10;Description automatically generated">
            <a:extLst>
              <a:ext uri="{FF2B5EF4-FFF2-40B4-BE49-F238E27FC236}">
                <a16:creationId xmlns:a16="http://schemas.microsoft.com/office/drawing/2014/main" id="{7A1AE82D-5305-48AE-B480-B0D7B94A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07" y="1325563"/>
            <a:ext cx="8356621" cy="133933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00F5EC-B6E3-4AC4-99D1-EFF1E955629B}"/>
              </a:ext>
            </a:extLst>
          </p:cNvPr>
          <p:cNvSpPr/>
          <p:nvPr/>
        </p:nvSpPr>
        <p:spPr>
          <a:xfrm>
            <a:off x="1458411" y="1325564"/>
            <a:ext cx="2210764" cy="13393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oup of people standing in front of a fence&#10;&#10;Description automatically generated with low confidence">
            <a:extLst>
              <a:ext uri="{FF2B5EF4-FFF2-40B4-BE49-F238E27FC236}">
                <a16:creationId xmlns:a16="http://schemas.microsoft.com/office/drawing/2014/main" id="{C7E142F3-DFCB-443B-8E43-249997248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11" y="3990465"/>
            <a:ext cx="2210764" cy="1637603"/>
          </a:xfrm>
          <a:prstGeom prst="rect">
            <a:avLst/>
          </a:prstGeom>
        </p:spPr>
      </p:pic>
      <p:pic>
        <p:nvPicPr>
          <p:cNvPr id="13" name="Picture 1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48299A65-31A4-4280-92A6-07A720758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478" y="2942715"/>
            <a:ext cx="4157422" cy="1855239"/>
          </a:xfrm>
          <a:prstGeom prst="rect">
            <a:avLst/>
          </a:prstGeom>
        </p:spPr>
      </p:pic>
      <p:pic>
        <p:nvPicPr>
          <p:cNvPr id="15" name="Picture 1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19A1059-DE1F-4D14-AAE9-E2ACDE935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478" y="4926600"/>
            <a:ext cx="3972227" cy="190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5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E072-7051-47EE-9250-4DD2980A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41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pic>
        <p:nvPicPr>
          <p:cNvPr id="4" name="Picture 3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A7FB57A9-E234-4E19-A5AD-7546492B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pic>
        <p:nvPicPr>
          <p:cNvPr id="6" name="Picture 5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08F9C2F3-E6DC-4653-93D0-2546976E4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C69AA3-921C-4EA1-957F-AE573531E60F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C69AA3-921C-4EA1-957F-AE573531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4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C5FA66-B0D0-45B0-AEB8-4FB9EBF6EA52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C5FA66-B0D0-45B0-AEB8-4FB9EBF6E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5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86F2DD-2165-4A45-A161-37ACABF0F3FC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86F2DD-2165-4A45-A161-37ACABF0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6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5753F7-2195-466D-B8A5-7649864F4311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5753F7-2195-466D-B8A5-7649864F4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7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4856D5-4D35-4422-A843-2D7B900B7455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4856D5-4D35-4422-A843-2D7B900B7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05EEFE-6117-4146-AC4E-04D6CC33BAA7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05EEFE-6117-4146-AC4E-04D6CC33B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9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5AD402-7DD9-4692-BAA3-87927DD2CCAE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5AD402-7DD9-4692-BAA3-87927DD2C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0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7E54A-C4D3-4104-871B-DC6A11D6BEC2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A7E54A-C4D3-4104-871B-DC6A11D6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1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D877D-B00B-430B-AEB2-9EF66F3A4FA7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D877D-B00B-430B-AEB2-9EF66F3A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12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A392FC-B08E-4C5C-93D8-C2E4A93F4E4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A392FC-B08E-4C5C-93D8-C2E4A93F4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13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E3119E-A838-461F-A0E2-45BCA4FC4777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E3119E-A838-461F-A0E2-45BCA4FC4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14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BA76358-0EE2-4EC6-8960-7188D68328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C26AE3-8D9B-4B6A-9187-F6E25EA2ABDF}"/>
              </a:ext>
            </a:extLst>
          </p:cNvPr>
          <p:cNvSpPr txBox="1"/>
          <p:nvPr/>
        </p:nvSpPr>
        <p:spPr>
          <a:xfrm>
            <a:off x="5798916" y="1840375"/>
            <a:ext cx="1413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convolution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308F30-DE77-4001-B38F-0D30E36E264D}"/>
              </a:ext>
            </a:extLst>
          </p:cNvPr>
          <p:cNvCxnSpPr/>
          <p:nvPr/>
        </p:nvCxnSpPr>
        <p:spPr>
          <a:xfrm flipH="1">
            <a:off x="5706319" y="2296652"/>
            <a:ext cx="389681" cy="143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9D099B97-FAC5-4DC0-B64F-B4F8756A2B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335" y="1712048"/>
            <a:ext cx="4552950" cy="4514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74C8E7-DB0A-488B-9D00-54612403F824}"/>
                  </a:ext>
                </a:extLst>
              </p:cNvPr>
              <p:cNvSpPr txBox="1"/>
              <p:nvPr/>
            </p:nvSpPr>
            <p:spPr>
              <a:xfrm>
                <a:off x="3317590" y="1354229"/>
                <a:ext cx="8098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×1+0×0+1×−1+1×1+5×0+8×−1+2×1+7×0+2×−1=−5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74C8E7-DB0A-488B-9D00-54612403F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590" y="1354229"/>
                <a:ext cx="8098371" cy="276999"/>
              </a:xfrm>
              <a:prstGeom prst="rect">
                <a:avLst/>
              </a:prstGeom>
              <a:blipFill>
                <a:blip r:embed="rId17"/>
                <a:stretch>
                  <a:fillRect l="-150" r="-22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83D9A0-B298-4ECB-9076-58140072233E}"/>
                  </a:ext>
                </a:extLst>
              </p:cNvPr>
              <p:cNvSpPr txBox="1"/>
              <p:nvPr/>
            </p:nvSpPr>
            <p:spPr>
              <a:xfrm>
                <a:off x="9780666" y="297480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483D9A0-B298-4ECB-9076-581400722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74809"/>
                <a:ext cx="354264" cy="276999"/>
              </a:xfrm>
              <a:prstGeom prst="rect">
                <a:avLst/>
              </a:prstGeom>
              <a:blipFill>
                <a:blip r:embed="rId18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E87CCC-6E83-4BCE-8B86-470C1A237660}"/>
              </a:ext>
            </a:extLst>
          </p:cNvPr>
          <p:cNvCxnSpPr/>
          <p:nvPr/>
        </p:nvCxnSpPr>
        <p:spPr>
          <a:xfrm>
            <a:off x="7460929" y="1690688"/>
            <a:ext cx="2319737" cy="1284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F68A715D-48A5-410C-98AA-E785E250FD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7812" y="1699390"/>
            <a:ext cx="4505325" cy="4476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1302B2-1CCB-4230-AE74-A5253BA795DE}"/>
                  </a:ext>
                </a:extLst>
              </p:cNvPr>
              <p:cNvSpPr txBox="1"/>
              <p:nvPr/>
            </p:nvSpPr>
            <p:spPr>
              <a:xfrm>
                <a:off x="3286509" y="1584686"/>
                <a:ext cx="8098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×1+1×0+2×−1+5×1+8×0+9×−1+7×1+2×0+5×−1=−4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1302B2-1CCB-4230-AE74-A5253BA79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509" y="1584686"/>
                <a:ext cx="8098371" cy="276999"/>
              </a:xfrm>
              <a:prstGeom prst="rect">
                <a:avLst/>
              </a:prstGeom>
              <a:blipFill>
                <a:blip r:embed="rId20"/>
                <a:stretch>
                  <a:fillRect l="-150" r="-22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D432B6-110C-475F-AEC8-04B6AE6BB41C}"/>
                  </a:ext>
                </a:extLst>
              </p:cNvPr>
              <p:cNvSpPr txBox="1"/>
              <p:nvPr/>
            </p:nvSpPr>
            <p:spPr>
              <a:xfrm>
                <a:off x="10319414" y="2974693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D432B6-110C-475F-AEC8-04B6AE6BB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74693"/>
                <a:ext cx="354264" cy="276999"/>
              </a:xfrm>
              <a:prstGeom prst="rect">
                <a:avLst/>
              </a:prstGeom>
              <a:blipFill>
                <a:blip r:embed="rId21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66F275-47AB-4960-9F47-DA16CAE8E692}"/>
              </a:ext>
            </a:extLst>
          </p:cNvPr>
          <p:cNvCxnSpPr/>
          <p:nvPr/>
        </p:nvCxnSpPr>
        <p:spPr>
          <a:xfrm>
            <a:off x="8666825" y="1861685"/>
            <a:ext cx="1829721" cy="104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15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6" grpId="0"/>
      <p:bldP spid="26" grpId="1"/>
      <p:bldP spid="27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2125782" y="1733038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/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/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4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9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2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2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3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5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6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7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8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982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2847434" y="1698545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/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/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4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9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2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2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3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5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6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7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8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93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664337" y="2400099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/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/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C5A6E76-4F7A-45CA-AA75-DC92C79A7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769" y="4005045"/>
                  <a:ext cx="320601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4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9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2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2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3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5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6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7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8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9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84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1373593" y="2400099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/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1B8A7B-97A7-45D6-BF8F-7CB040E31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5A6E76-4F7A-45CA-AA75-DC92C79A7BD0}"/>
                </a:ext>
              </a:extLst>
            </p:cNvPr>
            <p:cNvSpPr txBox="1"/>
            <p:nvPr/>
          </p:nvSpPr>
          <p:spPr>
            <a:xfrm>
              <a:off x="7536769" y="4005045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3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9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20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2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4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5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6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7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8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/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blipFill>
                <a:blip r:embed="rId29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73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2108512" y="2400099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1B8A7B-97A7-45D6-BF8F-7CB040E31E01}"/>
                </a:ext>
              </a:extLst>
            </p:cNvPr>
            <p:cNvSpPr txBox="1"/>
            <p:nvPr/>
          </p:nvSpPr>
          <p:spPr>
            <a:xfrm>
              <a:off x="7517109" y="2627452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9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5A6E76-4F7A-45CA-AA75-DC92C79A7BD0}"/>
                </a:ext>
              </a:extLst>
            </p:cNvPr>
            <p:cNvSpPr txBox="1"/>
            <p:nvPr/>
          </p:nvSpPr>
          <p:spPr>
            <a:xfrm>
              <a:off x="7536769" y="4005045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2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3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19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0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3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4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5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6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7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/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blipFill>
                <a:blip r:embed="rId28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6093B4-1556-4364-8077-0D51E82B6FEE}"/>
              </a:ext>
            </a:extLst>
          </p:cNvPr>
          <p:cNvSpPr txBox="1"/>
          <p:nvPr/>
        </p:nvSpPr>
        <p:spPr>
          <a:xfrm>
            <a:off x="11013826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9173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2843073" y="2400099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437620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`9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437620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1B8A7B-97A7-45D6-BF8F-7CB040E31E01}"/>
                </a:ext>
              </a:extLst>
            </p:cNvPr>
            <p:cNvSpPr txBox="1"/>
            <p:nvPr/>
          </p:nvSpPr>
          <p:spPr>
            <a:xfrm>
              <a:off x="7517109" y="2627452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5A6E76-4F7A-45CA-AA75-DC92C79A7BD0}"/>
                </a:ext>
              </a:extLst>
            </p:cNvPr>
            <p:cNvSpPr txBox="1"/>
            <p:nvPr/>
          </p:nvSpPr>
          <p:spPr>
            <a:xfrm>
              <a:off x="7536769" y="4005045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2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3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19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0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3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4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5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6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7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/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blipFill>
                <a:blip r:embed="rId28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6093B4-1556-4364-8077-0D51E82B6FEE}"/>
              </a:ext>
            </a:extLst>
          </p:cNvPr>
          <p:cNvSpPr txBox="1"/>
          <p:nvPr/>
        </p:nvSpPr>
        <p:spPr>
          <a:xfrm>
            <a:off x="11013826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E40E31-5137-452B-8FD7-7183EF48726E}"/>
              </a:ext>
            </a:extLst>
          </p:cNvPr>
          <p:cNvSpPr txBox="1"/>
          <p:nvPr/>
        </p:nvSpPr>
        <p:spPr>
          <a:xfrm>
            <a:off x="11551052" y="347766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725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656352" y="3170201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1B8A7B-97A7-45D6-BF8F-7CB040E31E01}"/>
                </a:ext>
              </a:extLst>
            </p:cNvPr>
            <p:cNvSpPr txBox="1"/>
            <p:nvPr/>
          </p:nvSpPr>
          <p:spPr>
            <a:xfrm>
              <a:off x="7517109" y="2627452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5A6E76-4F7A-45CA-AA75-DC92C79A7BD0}"/>
                </a:ext>
              </a:extLst>
            </p:cNvPr>
            <p:cNvSpPr txBox="1"/>
            <p:nvPr/>
          </p:nvSpPr>
          <p:spPr>
            <a:xfrm>
              <a:off x="7536769" y="4005045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2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3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19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0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3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4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5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6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7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/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blipFill>
                <a:blip r:embed="rId28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6093B4-1556-4364-8077-0D51E82B6FEE}"/>
              </a:ext>
            </a:extLst>
          </p:cNvPr>
          <p:cNvSpPr txBox="1"/>
          <p:nvPr/>
        </p:nvSpPr>
        <p:spPr>
          <a:xfrm>
            <a:off x="11013826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B128E-C5AC-4846-B634-342FD77FFF07}"/>
              </a:ext>
            </a:extLst>
          </p:cNvPr>
          <p:cNvSpPr txBox="1"/>
          <p:nvPr/>
        </p:nvSpPr>
        <p:spPr>
          <a:xfrm>
            <a:off x="11576923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60CFE-5B86-4291-A668-FABEB98B88BC}"/>
                  </a:ext>
                </a:extLst>
              </p:cNvPr>
              <p:cNvSpPr txBox="1"/>
              <p:nvPr/>
            </p:nvSpPr>
            <p:spPr>
              <a:xfrm>
                <a:off x="9881295" y="4052182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60CFE-5B86-4291-A668-FABEB98B8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295" y="4052182"/>
                <a:ext cx="181139" cy="276999"/>
              </a:xfrm>
              <a:prstGeom prst="rect">
                <a:avLst/>
              </a:prstGeom>
              <a:blipFill>
                <a:blip r:embed="rId29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5158EB4-B559-4B34-B3FE-535AE8214366}"/>
              </a:ext>
            </a:extLst>
          </p:cNvPr>
          <p:cNvSpPr txBox="1"/>
          <p:nvPr/>
        </p:nvSpPr>
        <p:spPr>
          <a:xfrm>
            <a:off x="7000251" y="6156888"/>
            <a:ext cx="74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ETC….</a:t>
            </a:r>
          </a:p>
        </p:txBody>
      </p:sp>
    </p:spTree>
    <p:extLst>
      <p:ext uri="{BB962C8B-B14F-4D97-AF65-F5344CB8AC3E}">
        <p14:creationId xmlns:p14="http://schemas.microsoft.com/office/powerpoint/2010/main" val="1308488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6ADB6FE5-AFB8-49AB-B8A7-710014C9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5" y="1603938"/>
            <a:ext cx="4429125" cy="45529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5D8D1A-5320-4210-8870-CED3157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27"/>
            <a:ext cx="10515600" cy="1325563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E623EF-B15C-48D8-92EE-7070148F1854}"/>
              </a:ext>
            </a:extLst>
          </p:cNvPr>
          <p:cNvGrpSpPr/>
          <p:nvPr/>
        </p:nvGrpSpPr>
        <p:grpSpPr>
          <a:xfrm>
            <a:off x="2824280" y="3880411"/>
            <a:ext cx="2190750" cy="2190750"/>
            <a:chOff x="6582035" y="2423290"/>
            <a:chExt cx="2190750" cy="2190750"/>
          </a:xfrm>
        </p:grpSpPr>
        <p:pic>
          <p:nvPicPr>
            <p:cNvPr id="4" name="Picture 3" descr="A picture containing outdoor, white, cabinet&#10;&#10;Description automatically generated">
              <a:extLst>
                <a:ext uri="{FF2B5EF4-FFF2-40B4-BE49-F238E27FC236}">
                  <a16:creationId xmlns:a16="http://schemas.microsoft.com/office/drawing/2014/main" id="{CCF45C36-0B18-43EF-87BC-56CE1A8D4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2035" y="2423290"/>
              <a:ext cx="2190750" cy="21907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/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792AA51-3689-4CEB-AC59-C1153937E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2627453"/>
                  <a:ext cx="32060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1B8A7B-97A7-45D6-BF8F-7CB040E31E01}"/>
                </a:ext>
              </a:extLst>
            </p:cNvPr>
            <p:cNvSpPr txBox="1"/>
            <p:nvPr/>
          </p:nvSpPr>
          <p:spPr>
            <a:xfrm>
              <a:off x="7517109" y="2627452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7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/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575AD49-18BF-4D1F-B0AB-A0337933F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9" y="2627452"/>
                  <a:ext cx="320601" cy="4924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/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8CEDCA1-39F1-4FA0-BE30-F15CA27FE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746" y="3272443"/>
                  <a:ext cx="320601" cy="4924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/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5569FD-B1E6-40AD-91A9-004A1D439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109" y="3272443"/>
                  <a:ext cx="320601" cy="4924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/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4D524-B915-4032-BD5D-E2B823EF9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388" y="3272443"/>
                  <a:ext cx="320601" cy="492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/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5454A0-057D-4D41-B4E5-ABF626572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765" y="4005045"/>
                  <a:ext cx="320601" cy="4924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5A6E76-4F7A-45CA-AA75-DC92C79A7BD0}"/>
                </a:ext>
              </a:extLst>
            </p:cNvPr>
            <p:cNvSpPr txBox="1"/>
            <p:nvPr/>
          </p:nvSpPr>
          <p:spPr>
            <a:xfrm>
              <a:off x="7536769" y="4005045"/>
              <a:ext cx="20839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/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650F183-8606-46B6-8B0B-252653A95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369" y="4005045"/>
                  <a:ext cx="320601" cy="4924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" name="Picture 19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AE0B95CD-2D15-480D-B085-BF3B6B04F8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2152" y="2699313"/>
            <a:ext cx="3200400" cy="236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/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kernel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D8BF715-A717-4901-8703-75E1F955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41" y="5191256"/>
                <a:ext cx="1490793" cy="553998"/>
              </a:xfrm>
              <a:prstGeom prst="rect">
                <a:avLst/>
              </a:prstGeom>
              <a:blipFill>
                <a:blip r:embed="rId12"/>
                <a:stretch>
                  <a:fillRect l="-3673" r="-367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/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54A2249-376D-40EE-9119-1F601E5D9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2977587"/>
                <a:ext cx="200376" cy="307777"/>
              </a:xfrm>
              <a:prstGeom prst="rect">
                <a:avLst/>
              </a:prstGeom>
              <a:blipFill>
                <a:blip r:embed="rId13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/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81776E-B194-4527-963C-437D335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3726524"/>
                <a:ext cx="200376" cy="307777"/>
              </a:xfrm>
              <a:prstGeom prst="rect">
                <a:avLst/>
              </a:prstGeom>
              <a:blipFill>
                <a:blip r:embed="rId14"/>
                <a:stretch>
                  <a:fillRect l="-27273" r="-3030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/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3E0FA9-25FA-45B2-8971-5D31D109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875" y="4436962"/>
                <a:ext cx="200376" cy="307777"/>
              </a:xfrm>
              <a:prstGeom prst="rect">
                <a:avLst/>
              </a:prstGeom>
              <a:blipFill>
                <a:blip r:embed="rId15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/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EB9DE8-BEB1-4E62-B404-97DA15EC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53" y="2977587"/>
                <a:ext cx="200376" cy="307777"/>
              </a:xfrm>
              <a:prstGeom prst="rect">
                <a:avLst/>
              </a:prstGeom>
              <a:blipFill>
                <a:blip r:embed="rId16"/>
                <a:stretch>
                  <a:fillRect l="-31250" r="-31250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/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AAFB92-F51A-4B86-8119-9643259E0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929" y="3735407"/>
                <a:ext cx="200376" cy="307777"/>
              </a:xfrm>
              <a:prstGeom prst="rect">
                <a:avLst/>
              </a:prstGeom>
              <a:blipFill>
                <a:blip r:embed="rId17"/>
                <a:stretch>
                  <a:fillRect l="-30303" r="-2727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/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55DB1-CD06-4DCA-8B54-E65D03EA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61" y="4436962"/>
                <a:ext cx="200376" cy="307777"/>
              </a:xfrm>
              <a:prstGeom prst="rect">
                <a:avLst/>
              </a:prstGeom>
              <a:blipFill>
                <a:blip r:embed="rId18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/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9D2EB5-6445-4D56-89EB-B3428FC2A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2977586"/>
                <a:ext cx="392736" cy="307777"/>
              </a:xfrm>
              <a:prstGeom prst="rect">
                <a:avLst/>
              </a:prstGeom>
              <a:blipFill>
                <a:blip r:embed="rId19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/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4632FC0-B53C-4F19-B867-AF96994B1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007" y="3726523"/>
                <a:ext cx="392736" cy="307777"/>
              </a:xfrm>
              <a:prstGeom prst="rect">
                <a:avLst/>
              </a:prstGeom>
              <a:blipFill>
                <a:blip r:embed="rId20"/>
                <a:stretch>
                  <a:fillRect l="-4688" r="-1406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/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CF5A16-C1C0-4E2F-8402-1CC3CE5A4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47" y="4436961"/>
                <a:ext cx="392736" cy="307777"/>
              </a:xfrm>
              <a:prstGeom prst="rect">
                <a:avLst/>
              </a:prstGeom>
              <a:blipFill>
                <a:blip r:embed="rId21"/>
                <a:stretch>
                  <a:fillRect l="-3077" r="-13846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BABAFCB7-B3AA-4B04-8CD0-28A5FE754E6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5268" y="2618524"/>
            <a:ext cx="3022557" cy="2442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/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D83D81-2C23-4D34-BBAF-5F08792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666" y="2935299"/>
                <a:ext cx="354264" cy="276999"/>
              </a:xfrm>
              <a:prstGeom prst="rect">
                <a:avLst/>
              </a:prstGeom>
              <a:blipFill>
                <a:blip r:embed="rId23"/>
                <a:stretch>
                  <a:fillRect l="-1695" r="-1525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/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1DC415-0582-4126-B5BD-253C9C708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2935299"/>
                <a:ext cx="354264" cy="276999"/>
              </a:xfrm>
              <a:prstGeom prst="rect">
                <a:avLst/>
              </a:prstGeom>
              <a:blipFill>
                <a:blip r:embed="rId24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/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gray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img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(1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RGB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channel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045F1A3-144F-4594-B6FD-32462D87F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570" y="6156888"/>
                <a:ext cx="2584041" cy="553998"/>
              </a:xfrm>
              <a:prstGeom prst="rect">
                <a:avLst/>
              </a:prstGeom>
              <a:blipFill>
                <a:blip r:embed="rId25"/>
                <a:stretch>
                  <a:fillRect l="-1887" r="-2830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/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56D8ADF-000B-4576-85DC-7DAE2729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808" y="2936134"/>
                <a:ext cx="181139" cy="276999"/>
              </a:xfrm>
              <a:prstGeom prst="rect">
                <a:avLst/>
              </a:prstGeom>
              <a:blipFill>
                <a:blip r:embed="rId26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05D2CC5-2FC9-483E-9086-546123439F6E}"/>
              </a:ext>
            </a:extLst>
          </p:cNvPr>
          <p:cNvSpPr txBox="1"/>
          <p:nvPr/>
        </p:nvSpPr>
        <p:spPr>
          <a:xfrm>
            <a:off x="11500359" y="293529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/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9C4F27-C0B8-4D16-BC78-F27F75E7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3458408"/>
                <a:ext cx="482504" cy="276999"/>
              </a:xfrm>
              <a:prstGeom prst="rect">
                <a:avLst/>
              </a:prstGeom>
              <a:blipFill>
                <a:blip r:embed="rId27"/>
                <a:stretch>
                  <a:fillRect l="-1266" r="-126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/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498AE5-83A0-4675-9F10-30334C274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9414" y="3458408"/>
                <a:ext cx="354264" cy="276999"/>
              </a:xfrm>
              <a:prstGeom prst="rect">
                <a:avLst/>
              </a:prstGeom>
              <a:blipFill>
                <a:blip r:embed="rId28"/>
                <a:stretch>
                  <a:fillRect l="-3448" r="-1551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6093B4-1556-4364-8077-0D51E82B6FEE}"/>
              </a:ext>
            </a:extLst>
          </p:cNvPr>
          <p:cNvSpPr txBox="1"/>
          <p:nvPr/>
        </p:nvSpPr>
        <p:spPr>
          <a:xfrm>
            <a:off x="11013826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B128E-C5AC-4846-B634-342FD77FFF07}"/>
              </a:ext>
            </a:extLst>
          </p:cNvPr>
          <p:cNvSpPr txBox="1"/>
          <p:nvPr/>
        </p:nvSpPr>
        <p:spPr>
          <a:xfrm>
            <a:off x="11576923" y="34584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60CFE-5B86-4291-A668-FABEB98B88BC}"/>
                  </a:ext>
                </a:extLst>
              </p:cNvPr>
              <p:cNvSpPr txBox="1"/>
              <p:nvPr/>
            </p:nvSpPr>
            <p:spPr>
              <a:xfrm>
                <a:off x="9881295" y="4052182"/>
                <a:ext cx="181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60CFE-5B86-4291-A668-FABEB98B8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295" y="4052182"/>
                <a:ext cx="181139" cy="276999"/>
              </a:xfrm>
              <a:prstGeom prst="rect">
                <a:avLst/>
              </a:prstGeom>
              <a:blipFill>
                <a:blip r:embed="rId29"/>
                <a:stretch>
                  <a:fillRect l="-33333" r="-2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F5D7FE-CC49-46ED-B35C-A69E326ABEB9}"/>
                  </a:ext>
                </a:extLst>
              </p:cNvPr>
              <p:cNvSpPr txBox="1"/>
              <p:nvPr/>
            </p:nvSpPr>
            <p:spPr>
              <a:xfrm>
                <a:off x="10857997" y="4005936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EF5D7FE-CC49-46ED-B35C-A69E326AB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7997" y="4005936"/>
                <a:ext cx="354264" cy="276999"/>
              </a:xfrm>
              <a:prstGeom prst="rect">
                <a:avLst/>
              </a:prstGeom>
              <a:blipFill>
                <a:blip r:embed="rId30"/>
                <a:stretch>
                  <a:fillRect l="-1724" r="-1724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A0A3494-EF47-486C-87FD-D2FC05D10C8A}"/>
                  </a:ext>
                </a:extLst>
              </p:cNvPr>
              <p:cNvSpPr txBox="1"/>
              <p:nvPr/>
            </p:nvSpPr>
            <p:spPr>
              <a:xfrm>
                <a:off x="11458301" y="3998406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A0A3494-EF47-486C-87FD-D2FC05D10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8301" y="3998406"/>
                <a:ext cx="354264" cy="276999"/>
              </a:xfrm>
              <a:prstGeom prst="rect">
                <a:avLst/>
              </a:prstGeom>
              <a:blipFill>
                <a:blip r:embed="rId31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65A9B1-D074-4453-92D4-59C4F0A0D2BF}"/>
                  </a:ext>
                </a:extLst>
              </p:cNvPr>
              <p:cNvSpPr txBox="1"/>
              <p:nvPr/>
            </p:nvSpPr>
            <p:spPr>
              <a:xfrm>
                <a:off x="10352472" y="4043184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65A9B1-D074-4453-92D4-59C4F0A0D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472" y="4043184"/>
                <a:ext cx="354264" cy="276999"/>
              </a:xfrm>
              <a:prstGeom prst="rect">
                <a:avLst/>
              </a:prstGeom>
              <a:blipFill>
                <a:blip r:embed="rId32"/>
                <a:stretch>
                  <a:fillRect l="-1724" r="-1724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FD72CA-EB4B-430E-B6CD-91311B861A10}"/>
                  </a:ext>
                </a:extLst>
              </p:cNvPr>
              <p:cNvSpPr txBox="1"/>
              <p:nvPr/>
            </p:nvSpPr>
            <p:spPr>
              <a:xfrm>
                <a:off x="9779822" y="4590356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FD72CA-EB4B-430E-B6CD-91311B861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822" y="4590356"/>
                <a:ext cx="354264" cy="276999"/>
              </a:xfrm>
              <a:prstGeom prst="rect">
                <a:avLst/>
              </a:prstGeom>
              <a:blipFill>
                <a:blip r:embed="rId33"/>
                <a:stretch>
                  <a:fillRect l="-1724" r="-1724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31A19A-589E-4478-B60C-699ADA189D7B}"/>
                  </a:ext>
                </a:extLst>
              </p:cNvPr>
              <p:cNvSpPr txBox="1"/>
              <p:nvPr/>
            </p:nvSpPr>
            <p:spPr>
              <a:xfrm>
                <a:off x="10317902" y="4589863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531A19A-589E-4478-B60C-699ADA189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902" y="4589863"/>
                <a:ext cx="354264" cy="276999"/>
              </a:xfrm>
              <a:prstGeom prst="rect">
                <a:avLst/>
              </a:prstGeom>
              <a:blipFill>
                <a:blip r:embed="rId34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2D73D9-5AF5-4D2E-ABEC-E9F40A187783}"/>
                  </a:ext>
                </a:extLst>
              </p:cNvPr>
              <p:cNvSpPr txBox="1"/>
              <p:nvPr/>
            </p:nvSpPr>
            <p:spPr>
              <a:xfrm>
                <a:off x="10907434" y="4577016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2D73D9-5AF5-4D2E-ABEC-E9F40A18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434" y="4577016"/>
                <a:ext cx="354264" cy="276999"/>
              </a:xfrm>
              <a:prstGeom prst="rect">
                <a:avLst/>
              </a:prstGeom>
              <a:blipFill>
                <a:blip r:embed="rId35"/>
                <a:stretch>
                  <a:fillRect l="-1724" r="-1724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DBBF531-6611-49E5-A5E8-A38CF98CD88A}"/>
                  </a:ext>
                </a:extLst>
              </p:cNvPr>
              <p:cNvSpPr txBox="1"/>
              <p:nvPr/>
            </p:nvSpPr>
            <p:spPr>
              <a:xfrm>
                <a:off x="11399791" y="4566561"/>
                <a:ext cx="4071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16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DBBF531-6611-49E5-A5E8-A38CF98CD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9791" y="4566561"/>
                <a:ext cx="407163" cy="276999"/>
              </a:xfrm>
              <a:prstGeom prst="rect">
                <a:avLst/>
              </a:prstGeom>
              <a:blipFill>
                <a:blip r:embed="rId36"/>
                <a:stretch>
                  <a:fillRect l="-8955" t="-28261" r="-3432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58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AACF-EA4C-4403-9D86-41C7841A3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437"/>
            <a:ext cx="10515600" cy="1325563"/>
          </a:xfrm>
        </p:spPr>
        <p:txBody>
          <a:bodyPr/>
          <a:lstStyle/>
          <a:p>
            <a:r>
              <a:rPr lang="en-US" dirty="0"/>
              <a:t>Vertical edge detection</a:t>
            </a:r>
          </a:p>
        </p:txBody>
      </p:sp>
      <p:pic>
        <p:nvPicPr>
          <p:cNvPr id="4" name="Picture 3" descr="A picture containing text, crossword puzzle&#10;&#10;Description automatically generated">
            <a:extLst>
              <a:ext uri="{FF2B5EF4-FFF2-40B4-BE49-F238E27FC236}">
                <a16:creationId xmlns:a16="http://schemas.microsoft.com/office/drawing/2014/main" id="{CFF3CB24-EC07-43FC-8712-B82468EE5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2360"/>
            <a:ext cx="6680797" cy="3714951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49166115-AB1D-43F8-AD56-4B22CE86D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973" y="5403545"/>
            <a:ext cx="1219200" cy="1247775"/>
          </a:xfrm>
          <a:prstGeom prst="rect">
            <a:avLst/>
          </a:prstGeom>
        </p:spPr>
      </p:pic>
      <p:pic>
        <p:nvPicPr>
          <p:cNvPr id="8" name="Picture 7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4B1F034-8327-4B4F-BE45-9624D26B0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598" y="5397022"/>
            <a:ext cx="6724650" cy="1266825"/>
          </a:xfrm>
          <a:prstGeom prst="rect">
            <a:avLst/>
          </a:prstGeom>
        </p:spPr>
      </p:pic>
      <p:pic>
        <p:nvPicPr>
          <p:cNvPr id="10" name="Picture 9" descr="A picture containing text, electronics, cellphone&#10;&#10;Description automatically generated">
            <a:extLst>
              <a:ext uri="{FF2B5EF4-FFF2-40B4-BE49-F238E27FC236}">
                <a16:creationId xmlns:a16="http://schemas.microsoft.com/office/drawing/2014/main" id="{7799E61D-5FBF-408C-B3B3-FEB80A6EB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36" y="1802372"/>
            <a:ext cx="3086100" cy="3133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4B95D9-D993-417C-934D-7252749191D5}"/>
                  </a:ext>
                </a:extLst>
              </p:cNvPr>
              <p:cNvSpPr txBox="1"/>
              <p:nvPr/>
            </p:nvSpPr>
            <p:spPr>
              <a:xfrm>
                <a:off x="7878463" y="3230734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4B95D9-D993-417C-934D-72527491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463" y="3230734"/>
                <a:ext cx="298159" cy="369332"/>
              </a:xfrm>
              <a:prstGeom prst="rect">
                <a:avLst/>
              </a:prstGeom>
              <a:blipFill>
                <a:blip r:embed="rId6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9CFD6E-E613-40C2-9C8F-0E2393238D13}"/>
                  </a:ext>
                </a:extLst>
              </p:cNvPr>
              <p:cNvSpPr txBox="1"/>
              <p:nvPr/>
            </p:nvSpPr>
            <p:spPr>
              <a:xfrm>
                <a:off x="8176622" y="5842766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9CFD6E-E613-40C2-9C8F-0E239323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622" y="5842766"/>
                <a:ext cx="298159" cy="369332"/>
              </a:xfrm>
              <a:prstGeom prst="rect">
                <a:avLst/>
              </a:prstGeom>
              <a:blipFill>
                <a:blip r:embed="rId7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0C46C4F-B41B-48E5-9999-88ED6397B03B}"/>
              </a:ext>
            </a:extLst>
          </p:cNvPr>
          <p:cNvSpPr txBox="1"/>
          <p:nvPr/>
        </p:nvSpPr>
        <p:spPr>
          <a:xfrm>
            <a:off x="8719836" y="4964315"/>
            <a:ext cx="3022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Thick edge because small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76841-A145-48BF-8848-2C428F9CA282}"/>
              </a:ext>
            </a:extLst>
          </p:cNvPr>
          <p:cNvSpPr txBox="1"/>
          <p:nvPr/>
        </p:nvSpPr>
        <p:spPr>
          <a:xfrm>
            <a:off x="5672534" y="1479206"/>
            <a:ext cx="2026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px on the left</a:t>
            </a:r>
            <a:br>
              <a:rPr lang="en-US" dirty="0"/>
            </a:br>
            <a:r>
              <a:rPr lang="en-US" dirty="0"/>
              <a:t>dark px on the right</a:t>
            </a:r>
          </a:p>
        </p:txBody>
      </p:sp>
    </p:spTree>
    <p:extLst>
      <p:ext uri="{BB962C8B-B14F-4D97-AF65-F5344CB8AC3E}">
        <p14:creationId xmlns:p14="http://schemas.microsoft.com/office/powerpoint/2010/main" val="348978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electronics, calculator&#10;&#10;Description automatically generated">
            <a:extLst>
              <a:ext uri="{FF2B5EF4-FFF2-40B4-BE49-F238E27FC236}">
                <a16:creationId xmlns:a16="http://schemas.microsoft.com/office/drawing/2014/main" id="{A3C1A72F-DFD3-4A99-8ACF-EE72AA84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71437"/>
            <a:ext cx="11306175" cy="6715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4927F6-2950-4AC0-B37C-1AD16A4D4789}"/>
              </a:ext>
            </a:extLst>
          </p:cNvPr>
          <p:cNvSpPr txBox="1"/>
          <p:nvPr/>
        </p:nvSpPr>
        <p:spPr>
          <a:xfrm>
            <a:off x="10104698" y="3244333"/>
            <a:ext cx="1108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edge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8481F-F1FE-479C-9FAD-868BDF5D381F}"/>
              </a:ext>
            </a:extLst>
          </p:cNvPr>
          <p:cNvSpPr txBox="1"/>
          <p:nvPr/>
        </p:nvSpPr>
        <p:spPr>
          <a:xfrm>
            <a:off x="10014030" y="6301979"/>
            <a:ext cx="111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dark edge</a:t>
            </a:r>
          </a:p>
        </p:txBody>
      </p:sp>
    </p:spTree>
    <p:extLst>
      <p:ext uri="{BB962C8B-B14F-4D97-AF65-F5344CB8AC3E}">
        <p14:creationId xmlns:p14="http://schemas.microsoft.com/office/powerpoint/2010/main" val="2481850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FFD2F3-F415-4C9F-B395-4DEC52CD5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38" y="0"/>
            <a:ext cx="2105025" cy="2724150"/>
          </a:xfrm>
          <a:prstGeom prst="rect">
            <a:avLst/>
          </a:prstGeom>
        </p:spPr>
      </p:pic>
      <p:pic>
        <p:nvPicPr>
          <p:cNvPr id="6" name="Picture 5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A071C41F-D2F5-4A7F-8687-66A79AEB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750" y="28575"/>
            <a:ext cx="2114550" cy="2695575"/>
          </a:xfrm>
          <a:prstGeom prst="rect">
            <a:avLst/>
          </a:prstGeom>
        </p:spPr>
      </p:pic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BED6EAEC-838F-4A7E-8A40-117C63D2C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52" y="3149037"/>
            <a:ext cx="6743700" cy="32575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05A12D8-DAA3-4670-A788-BD7E10F7A15A}"/>
              </a:ext>
            </a:extLst>
          </p:cNvPr>
          <p:cNvGrpSpPr/>
          <p:nvPr/>
        </p:nvGrpSpPr>
        <p:grpSpPr>
          <a:xfrm>
            <a:off x="4220902" y="5511479"/>
            <a:ext cx="555566" cy="555584"/>
            <a:chOff x="7942171" y="3439610"/>
            <a:chExt cx="555566" cy="5555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8BF17D-9AB8-4E6C-A41E-0956515C2933}"/>
                </a:ext>
              </a:extLst>
            </p:cNvPr>
            <p:cNvSpPr/>
            <p:nvPr/>
          </p:nvSpPr>
          <p:spPr>
            <a:xfrm>
              <a:off x="8219954" y="3439610"/>
              <a:ext cx="277783" cy="277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0D7D79-AAA9-4634-9D57-9A93B49A4BC1}"/>
                </a:ext>
              </a:extLst>
            </p:cNvPr>
            <p:cNvCxnSpPr>
              <a:cxnSpLocks/>
              <a:stCxn id="9" idx="0"/>
              <a:endCxn id="9" idx="2"/>
            </p:cNvCxnSpPr>
            <p:nvPr/>
          </p:nvCxnSpPr>
          <p:spPr>
            <a:xfrm>
              <a:off x="8358846" y="3439610"/>
              <a:ext cx="0" cy="2777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4D9BB8-A8E1-4591-882D-BD06FCEEA701}"/>
                </a:ext>
              </a:extLst>
            </p:cNvPr>
            <p:cNvSpPr/>
            <p:nvPr/>
          </p:nvSpPr>
          <p:spPr>
            <a:xfrm>
              <a:off x="7942171" y="3717402"/>
              <a:ext cx="277783" cy="277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C427B3-26DB-4160-80BC-E58719E3394E}"/>
                </a:ext>
              </a:extLst>
            </p:cNvPr>
            <p:cNvSpPr/>
            <p:nvPr/>
          </p:nvSpPr>
          <p:spPr>
            <a:xfrm>
              <a:off x="7942171" y="3439610"/>
              <a:ext cx="277783" cy="2777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D3FDF3-6988-40DC-8834-25A64DD6AB4C}"/>
                </a:ext>
              </a:extLst>
            </p:cNvPr>
            <p:cNvSpPr/>
            <p:nvPr/>
          </p:nvSpPr>
          <p:spPr>
            <a:xfrm>
              <a:off x="8219954" y="3717402"/>
              <a:ext cx="277783" cy="2777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 descr="A picture containing text&#10;&#10;Description automatically generated">
            <a:extLst>
              <a:ext uri="{FF2B5EF4-FFF2-40B4-BE49-F238E27FC236}">
                <a16:creationId xmlns:a16="http://schemas.microsoft.com/office/drawing/2014/main" id="{0896CC2C-441B-44CA-BE4A-34F71AD20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237" y="3676288"/>
            <a:ext cx="3457575" cy="23907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3C48508-D647-4D75-8BAF-B6A85831B650}"/>
              </a:ext>
            </a:extLst>
          </p:cNvPr>
          <p:cNvSpPr/>
          <p:nvPr/>
        </p:nvSpPr>
        <p:spPr>
          <a:xfrm>
            <a:off x="9348485" y="4387166"/>
            <a:ext cx="393539" cy="39064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AE88A-A5D8-4443-9F4A-8E1ED18DD18C}"/>
              </a:ext>
            </a:extLst>
          </p:cNvPr>
          <p:cNvSpPr/>
          <p:nvPr/>
        </p:nvSpPr>
        <p:spPr>
          <a:xfrm>
            <a:off x="999138" y="3845084"/>
            <a:ext cx="1450838" cy="140982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59AA30-72EB-452C-8AD4-454402AE5284}"/>
              </a:ext>
            </a:extLst>
          </p:cNvPr>
          <p:cNvSpPr/>
          <p:nvPr/>
        </p:nvSpPr>
        <p:spPr>
          <a:xfrm>
            <a:off x="4230505" y="5699808"/>
            <a:ext cx="277783" cy="1789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DF1100-E00C-49EE-9277-4B23B85973C9}"/>
              </a:ext>
            </a:extLst>
          </p:cNvPr>
          <p:cNvSpPr txBox="1"/>
          <p:nvPr/>
        </p:nvSpPr>
        <p:spPr>
          <a:xfrm>
            <a:off x="4092114" y="6271750"/>
            <a:ext cx="1368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bright above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dark below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9ADD18-D8C8-41EC-8735-40A2C31BB0AD}"/>
              </a:ext>
            </a:extLst>
          </p:cNvPr>
          <p:cNvSpPr/>
          <p:nvPr/>
        </p:nvSpPr>
        <p:spPr>
          <a:xfrm>
            <a:off x="10949409" y="4387166"/>
            <a:ext cx="393539" cy="39064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682B0B-3C2F-42BA-98ED-0BFC18436F57}"/>
              </a:ext>
            </a:extLst>
          </p:cNvPr>
          <p:cNvSpPr/>
          <p:nvPr/>
        </p:nvSpPr>
        <p:spPr>
          <a:xfrm>
            <a:off x="2600062" y="3845084"/>
            <a:ext cx="1450838" cy="140982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2BDD39-DFE5-45CD-B189-E83FC60EFC77}"/>
              </a:ext>
            </a:extLst>
          </p:cNvPr>
          <p:cNvSpPr/>
          <p:nvPr/>
        </p:nvSpPr>
        <p:spPr>
          <a:xfrm>
            <a:off x="4508288" y="5699807"/>
            <a:ext cx="277783" cy="17892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AF70B1-F90B-4836-AD35-8E93FB045043}"/>
              </a:ext>
            </a:extLst>
          </p:cNvPr>
          <p:cNvSpPr txBox="1"/>
          <p:nvPr/>
        </p:nvSpPr>
        <p:spPr>
          <a:xfrm>
            <a:off x="5481543" y="6185143"/>
            <a:ext cx="1374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bright below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dark above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C4685E-9081-421A-B4E1-72D5E3B8D241}"/>
              </a:ext>
            </a:extLst>
          </p:cNvPr>
          <p:cNvSpPr/>
          <p:nvPr/>
        </p:nvSpPr>
        <p:spPr>
          <a:xfrm>
            <a:off x="1454158" y="3845083"/>
            <a:ext cx="1450838" cy="1409821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AF7F59-AFA4-433D-9D96-B52AA8A49B1E}"/>
              </a:ext>
            </a:extLst>
          </p:cNvPr>
          <p:cNvSpPr/>
          <p:nvPr/>
        </p:nvSpPr>
        <p:spPr>
          <a:xfrm>
            <a:off x="9952177" y="4390477"/>
            <a:ext cx="393539" cy="390646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2936AA-7510-47CB-A004-6AF32F3FC9BE}"/>
              </a:ext>
            </a:extLst>
          </p:cNvPr>
          <p:cNvSpPr/>
          <p:nvPr/>
        </p:nvSpPr>
        <p:spPr>
          <a:xfrm>
            <a:off x="4374198" y="5655076"/>
            <a:ext cx="277783" cy="178925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74828-0CBC-43ED-B580-4D331BA00E4F}"/>
              </a:ext>
            </a:extLst>
          </p:cNvPr>
          <p:cNvSpPr txBox="1"/>
          <p:nvPr/>
        </p:nvSpPr>
        <p:spPr>
          <a:xfrm>
            <a:off x="5163470" y="5743501"/>
            <a:ext cx="3027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part of both kind of hor. edges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C9E511-E2ED-4F4D-BD03-3EFC96922FC0}"/>
              </a:ext>
            </a:extLst>
          </p:cNvPr>
          <p:cNvGrpSpPr/>
          <p:nvPr/>
        </p:nvGrpSpPr>
        <p:grpSpPr>
          <a:xfrm>
            <a:off x="10204201" y="5977963"/>
            <a:ext cx="718200" cy="857248"/>
            <a:chOff x="5594158" y="933451"/>
            <a:chExt cx="718200" cy="85724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1218B7-6D77-4828-97E1-5F8B8B315ACB}"/>
                </a:ext>
              </a:extLst>
            </p:cNvPr>
            <p:cNvSpPr/>
            <p:nvPr/>
          </p:nvSpPr>
          <p:spPr>
            <a:xfrm>
              <a:off x="5594158" y="933451"/>
              <a:ext cx="694266" cy="18731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603924B-A6F3-49BF-99FA-46FC823AC0AE}"/>
                </a:ext>
              </a:extLst>
            </p:cNvPr>
            <p:cNvSpPr/>
            <p:nvPr/>
          </p:nvSpPr>
          <p:spPr>
            <a:xfrm>
              <a:off x="5602361" y="1603383"/>
              <a:ext cx="709997" cy="18731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2DD1B4-ABBA-4518-BA10-3A22F31BA5DA}"/>
                </a:ext>
              </a:extLst>
            </p:cNvPr>
            <p:cNvSpPr/>
            <p:nvPr/>
          </p:nvSpPr>
          <p:spPr>
            <a:xfrm>
              <a:off x="5602362" y="1124937"/>
              <a:ext cx="165922" cy="4744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2265CBE-B9BD-4399-9FC1-C9C3EEC8026F}"/>
                </a:ext>
              </a:extLst>
            </p:cNvPr>
            <p:cNvSpPr/>
            <p:nvPr/>
          </p:nvSpPr>
          <p:spPr>
            <a:xfrm>
              <a:off x="6126825" y="1124866"/>
              <a:ext cx="165922" cy="474418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17EFEB9-ABCD-48E3-BF2E-E0C066DF91CB}"/>
                </a:ext>
              </a:extLst>
            </p:cNvPr>
            <p:cNvSpPr/>
            <p:nvPr/>
          </p:nvSpPr>
          <p:spPr>
            <a:xfrm>
              <a:off x="5941291" y="1124866"/>
              <a:ext cx="165922" cy="47441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9213564-E669-4837-BB1C-9933BA04AE46}"/>
                </a:ext>
              </a:extLst>
            </p:cNvPr>
            <p:cNvSpPr/>
            <p:nvPr/>
          </p:nvSpPr>
          <p:spPr>
            <a:xfrm>
              <a:off x="5766470" y="1126256"/>
              <a:ext cx="165922" cy="474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456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build="allAtOnce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/>
      <p:bldP spid="30" grpId="1"/>
      <p:bldP spid="31" grpId="0" animBg="1"/>
      <p:bldP spid="32" grpId="0" animBg="1"/>
      <p:bldP spid="33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5034-35A0-4CA9-8C9C-84889EDC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9081"/>
            <a:ext cx="10515600" cy="1325563"/>
          </a:xfrm>
        </p:spPr>
        <p:txBody>
          <a:bodyPr/>
          <a:lstStyle/>
          <a:p>
            <a:r>
              <a:rPr lang="en-US" dirty="0"/>
              <a:t>Learning to detect edges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8CAD7B-2ED2-4546-A8B4-24954DB2FEC6}"/>
              </a:ext>
            </a:extLst>
          </p:cNvPr>
          <p:cNvGrpSpPr/>
          <p:nvPr/>
        </p:nvGrpSpPr>
        <p:grpSpPr>
          <a:xfrm>
            <a:off x="838200" y="1323975"/>
            <a:ext cx="10402143" cy="2521982"/>
            <a:chOff x="838200" y="1323975"/>
            <a:chExt cx="10402143" cy="2521982"/>
          </a:xfrm>
        </p:grpSpPr>
        <p:pic>
          <p:nvPicPr>
            <p:cNvPr id="4" name="Picture 3" descr="Calendar&#10;&#10;Description automatically generated with medium confidence">
              <a:extLst>
                <a:ext uri="{FF2B5EF4-FFF2-40B4-BE49-F238E27FC236}">
                  <a16:creationId xmlns:a16="http://schemas.microsoft.com/office/drawing/2014/main" id="{985DE92F-3D53-451F-83D1-D9555BBDF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23975"/>
              <a:ext cx="2162175" cy="210502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91F171-9E2E-4897-B69B-36173F51B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7995" y="1323975"/>
              <a:ext cx="2143125" cy="2152650"/>
            </a:xfrm>
            <a:prstGeom prst="rect">
              <a:avLst/>
            </a:prstGeom>
          </p:spPr>
        </p:pic>
        <p:pic>
          <p:nvPicPr>
            <p:cNvPr id="8" name="Picture 7" descr="A picture containing shoji, crossword puzzle&#10;&#10;Description automatically generated">
              <a:extLst>
                <a:ext uri="{FF2B5EF4-FFF2-40B4-BE49-F238E27FC236}">
                  <a16:creationId xmlns:a16="http://schemas.microsoft.com/office/drawing/2014/main" id="{77B260DD-9A64-4F8E-86DE-47DF0E7ED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7218" y="1323975"/>
              <a:ext cx="2143125" cy="21526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5D809-A33E-432D-B2DF-2822EF7D1EE4}"/>
                </a:ext>
              </a:extLst>
            </p:cNvPr>
            <p:cNvSpPr txBox="1"/>
            <p:nvPr/>
          </p:nvSpPr>
          <p:spPr>
            <a:xfrm>
              <a:off x="1155520" y="3476625"/>
              <a:ext cx="1527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Standard filter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E7C10A-9147-4D38-9FDD-1EB5A4FECF0A}"/>
                </a:ext>
              </a:extLst>
            </p:cNvPr>
            <p:cNvSpPr txBox="1"/>
            <p:nvPr/>
          </p:nvSpPr>
          <p:spPr>
            <a:xfrm>
              <a:off x="5220163" y="3476625"/>
              <a:ext cx="1201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Sobel filter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0908F-10D1-4A91-AC8D-D0AE328548FF}"/>
                </a:ext>
              </a:extLst>
            </p:cNvPr>
            <p:cNvSpPr txBox="1"/>
            <p:nvPr/>
          </p:nvSpPr>
          <p:spPr>
            <a:xfrm>
              <a:off x="9567942" y="3476625"/>
              <a:ext cx="1280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Scharr</a:t>
              </a:r>
              <a:r>
                <a:rPr lang="en-US" dirty="0"/>
                <a:t> filter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A5A260-164D-4FCA-9A99-928743AC4D8A}"/>
                </a:ext>
              </a:extLst>
            </p:cNvPr>
            <p:cNvSpPr txBox="1"/>
            <p:nvPr/>
          </p:nvSpPr>
          <p:spPr>
            <a:xfrm>
              <a:off x="5038062" y="145841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378341-13F4-46DD-AB9F-327D94525BDF}"/>
                </a:ext>
              </a:extLst>
            </p:cNvPr>
            <p:cNvSpPr txBox="1"/>
            <p:nvPr/>
          </p:nvSpPr>
          <p:spPr>
            <a:xfrm>
              <a:off x="5038062" y="2114877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F3F3D77-C0E5-4D67-8988-4163FFB2297D}"/>
                </a:ext>
              </a:extLst>
            </p:cNvPr>
            <p:cNvSpPr txBox="1"/>
            <p:nvPr/>
          </p:nvSpPr>
          <p:spPr>
            <a:xfrm>
              <a:off x="5038062" y="2758419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E9A561-C289-448A-A09C-114EB3AAC75A}"/>
                </a:ext>
              </a:extLst>
            </p:cNvPr>
            <p:cNvSpPr txBox="1"/>
            <p:nvPr/>
          </p:nvSpPr>
          <p:spPr>
            <a:xfrm>
              <a:off x="6362802" y="1472878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8B6239-1E03-4015-B330-F5D573728DC4}"/>
                </a:ext>
              </a:extLst>
            </p:cNvPr>
            <p:cNvSpPr txBox="1"/>
            <p:nvPr/>
          </p:nvSpPr>
          <p:spPr>
            <a:xfrm>
              <a:off x="6362802" y="2114877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F0F90C-C5B5-4185-9189-D1CF924F9DF8}"/>
                </a:ext>
              </a:extLst>
            </p:cNvPr>
            <p:cNvSpPr txBox="1"/>
            <p:nvPr/>
          </p:nvSpPr>
          <p:spPr>
            <a:xfrm>
              <a:off x="6362802" y="2761313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48505B-19CF-46FA-B5A9-9E8DC52521C7}"/>
                </a:ext>
              </a:extLst>
            </p:cNvPr>
            <p:cNvSpPr txBox="1"/>
            <p:nvPr/>
          </p:nvSpPr>
          <p:spPr>
            <a:xfrm>
              <a:off x="5691059" y="145841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53D9D2-854E-48E5-9F84-D6CFEBBC643C}"/>
                </a:ext>
              </a:extLst>
            </p:cNvPr>
            <p:cNvSpPr txBox="1"/>
            <p:nvPr/>
          </p:nvSpPr>
          <p:spPr>
            <a:xfrm>
              <a:off x="5689994" y="2122165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2FE727-D43D-4D27-AACB-D611AA086EFA}"/>
                </a:ext>
              </a:extLst>
            </p:cNvPr>
            <p:cNvSpPr txBox="1"/>
            <p:nvPr/>
          </p:nvSpPr>
          <p:spPr>
            <a:xfrm>
              <a:off x="5700432" y="2778232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B5B936F-3086-431B-B5B8-658092B5A2B7}"/>
                </a:ext>
              </a:extLst>
            </p:cNvPr>
            <p:cNvSpPr txBox="1"/>
            <p:nvPr/>
          </p:nvSpPr>
          <p:spPr>
            <a:xfrm>
              <a:off x="9251639" y="145841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E3B065-2249-4F6B-B01E-2A0261A60488}"/>
                </a:ext>
              </a:extLst>
            </p:cNvPr>
            <p:cNvSpPr txBox="1"/>
            <p:nvPr/>
          </p:nvSpPr>
          <p:spPr>
            <a:xfrm>
              <a:off x="9251639" y="2114877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24089D-1FEF-4001-B836-22123284B847}"/>
                </a:ext>
              </a:extLst>
            </p:cNvPr>
            <p:cNvSpPr txBox="1"/>
            <p:nvPr/>
          </p:nvSpPr>
          <p:spPr>
            <a:xfrm>
              <a:off x="10576379" y="1472878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BED05EC-B2DF-4FCA-8CB3-393BFE7F3C92}"/>
                </a:ext>
              </a:extLst>
            </p:cNvPr>
            <p:cNvSpPr txBox="1"/>
            <p:nvPr/>
          </p:nvSpPr>
          <p:spPr>
            <a:xfrm>
              <a:off x="10576379" y="2114877"/>
              <a:ext cx="6639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107A5B-320D-4BF4-B3AA-CB602C8E30E8}"/>
                </a:ext>
              </a:extLst>
            </p:cNvPr>
            <p:cNvSpPr txBox="1"/>
            <p:nvPr/>
          </p:nvSpPr>
          <p:spPr>
            <a:xfrm>
              <a:off x="9949798" y="145841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F62A63-6F71-4B68-8B8F-7A332AA6CEC1}"/>
                </a:ext>
              </a:extLst>
            </p:cNvPr>
            <p:cNvSpPr txBox="1"/>
            <p:nvPr/>
          </p:nvSpPr>
          <p:spPr>
            <a:xfrm>
              <a:off x="9953048" y="213108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4C82566-2737-4789-82E7-DB225F7A6B2F}"/>
                </a:ext>
              </a:extLst>
            </p:cNvPr>
            <p:cNvSpPr txBox="1"/>
            <p:nvPr/>
          </p:nvSpPr>
          <p:spPr>
            <a:xfrm>
              <a:off x="9341407" y="278814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FDE45F-20EE-415E-96F5-C2EABCC1107A}"/>
                </a:ext>
              </a:extLst>
            </p:cNvPr>
            <p:cNvSpPr txBox="1"/>
            <p:nvPr/>
          </p:nvSpPr>
          <p:spPr>
            <a:xfrm>
              <a:off x="9949798" y="2762028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B1156C-501F-47E0-8720-2084F147D2D7}"/>
                </a:ext>
              </a:extLst>
            </p:cNvPr>
            <p:cNvSpPr txBox="1"/>
            <p:nvPr/>
          </p:nvSpPr>
          <p:spPr>
            <a:xfrm>
              <a:off x="10629288" y="2780531"/>
              <a:ext cx="4844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A30CC05-B5FC-4560-838C-DF7472D25698}"/>
              </a:ext>
            </a:extLst>
          </p:cNvPr>
          <p:cNvSpPr txBox="1"/>
          <p:nvPr/>
        </p:nvSpPr>
        <p:spPr>
          <a:xfrm>
            <a:off x="1568112" y="3996357"/>
            <a:ext cx="9340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about learning the filter parameters instead of hand-crafting them?</a:t>
            </a:r>
          </a:p>
        </p:txBody>
      </p:sp>
      <p:pic>
        <p:nvPicPr>
          <p:cNvPr id="32" name="Picture 31" descr="Text&#10;&#10;Description automatically generated with medium confidence">
            <a:extLst>
              <a:ext uri="{FF2B5EF4-FFF2-40B4-BE49-F238E27FC236}">
                <a16:creationId xmlns:a16="http://schemas.microsoft.com/office/drawing/2014/main" id="{DFD9CD94-2020-43A4-8F3E-94D5F800F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287" y="4454844"/>
            <a:ext cx="2162176" cy="2132719"/>
          </a:xfrm>
          <a:prstGeom prst="rect">
            <a:avLst/>
          </a:prstGeom>
        </p:spPr>
      </p:pic>
      <p:pic>
        <p:nvPicPr>
          <p:cNvPr id="34" name="Picture 33" descr="Table&#10;&#10;Description automatically generated">
            <a:extLst>
              <a:ext uri="{FF2B5EF4-FFF2-40B4-BE49-F238E27FC236}">
                <a16:creationId xmlns:a16="http://schemas.microsoft.com/office/drawing/2014/main" id="{C8786C77-555A-4FE3-B445-149B64BFF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163" y="4957152"/>
            <a:ext cx="1187852" cy="1246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92D89C-B6BB-4349-A6D1-EE7AD9743620}"/>
                  </a:ext>
                </a:extLst>
              </p:cNvPr>
              <p:cNvSpPr txBox="1"/>
              <p:nvPr/>
            </p:nvSpPr>
            <p:spPr>
              <a:xfrm>
                <a:off x="4487306" y="5257026"/>
                <a:ext cx="3270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792D89C-B6BB-4349-A6D1-EE7AD9743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06" y="5257026"/>
                <a:ext cx="327013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57330AD5-8CFF-485B-86CC-CC2A48ACAE50}"/>
              </a:ext>
            </a:extLst>
          </p:cNvPr>
          <p:cNvSpPr txBox="1"/>
          <p:nvPr/>
        </p:nvSpPr>
        <p:spPr>
          <a:xfrm>
            <a:off x="7546694" y="5257026"/>
            <a:ext cx="3903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Treat them as learnable parameters</a:t>
            </a:r>
            <a:br>
              <a:rPr lang="en-US" sz="2000" dirty="0"/>
            </a:br>
            <a:r>
              <a:rPr lang="en-US" sz="2000" dirty="0"/>
              <a:t>and learn through back-prop</a:t>
            </a:r>
          </a:p>
        </p:txBody>
      </p:sp>
    </p:spTree>
    <p:extLst>
      <p:ext uri="{BB962C8B-B14F-4D97-AF65-F5344CB8AC3E}">
        <p14:creationId xmlns:p14="http://schemas.microsoft.com/office/powerpoint/2010/main" val="399309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70C9D594-F840-4C29-8008-9EB162CC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95" y="647700"/>
            <a:ext cx="3200400" cy="2362200"/>
          </a:xfrm>
          <a:prstGeom prst="rect">
            <a:avLst/>
          </a:prstGeom>
        </p:spPr>
      </p:pic>
      <p:pic>
        <p:nvPicPr>
          <p:cNvPr id="4" name="Picture 3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7A63A268-973A-46BA-8DC7-936686F8B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066" y="566911"/>
            <a:ext cx="3022557" cy="2442989"/>
          </a:xfrm>
          <a:prstGeom prst="rect">
            <a:avLst/>
          </a:prstGeom>
        </p:spPr>
      </p:pic>
      <p:pic>
        <p:nvPicPr>
          <p:cNvPr id="7" name="Picture 6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437C14A0-F40B-4D4D-BE9E-4CD22A50A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462" y="228600"/>
            <a:ext cx="3143250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13393A-A883-4B16-9A31-F181D7E641C5}"/>
                  </a:ext>
                </a:extLst>
              </p:cNvPr>
              <p:cNvSpPr txBox="1"/>
              <p:nvPr/>
            </p:nvSpPr>
            <p:spPr>
              <a:xfrm>
                <a:off x="2490187" y="3429000"/>
                <a:ext cx="7885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13393A-A883-4B16-9A31-F181D7E64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187" y="3429000"/>
                <a:ext cx="788549" cy="369332"/>
              </a:xfrm>
              <a:prstGeom prst="rect">
                <a:avLst/>
              </a:prstGeom>
              <a:blipFill>
                <a:blip r:embed="rId5"/>
                <a:stretch>
                  <a:fillRect l="-4615" r="-4615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F7DC5E-C20A-4952-A93F-A0DEB52453A8}"/>
                  </a:ext>
                </a:extLst>
              </p:cNvPr>
              <p:cNvSpPr txBox="1"/>
              <p:nvPr/>
            </p:nvSpPr>
            <p:spPr>
              <a:xfrm>
                <a:off x="6462595" y="3009900"/>
                <a:ext cx="7832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F7DC5E-C20A-4952-A93F-A0DEB5245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595" y="3009900"/>
                <a:ext cx="783291" cy="369332"/>
              </a:xfrm>
              <a:prstGeom prst="rect">
                <a:avLst/>
              </a:prstGeom>
              <a:blipFill>
                <a:blip r:embed="rId6"/>
                <a:stretch>
                  <a:fillRect l="-13178" r="-11628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4A5C7A-2C83-4312-BE44-DFDDE0B6D011}"/>
                  </a:ext>
                </a:extLst>
              </p:cNvPr>
              <p:cNvSpPr txBox="1"/>
              <p:nvPr/>
            </p:nvSpPr>
            <p:spPr>
              <a:xfrm>
                <a:off x="8723729" y="3009324"/>
                <a:ext cx="34635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+1)×(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4A5C7A-2C83-4312-BE44-DFDDE0B6D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729" y="3009324"/>
                <a:ext cx="3463512" cy="369332"/>
              </a:xfrm>
              <a:prstGeom prst="rect">
                <a:avLst/>
              </a:prstGeom>
              <a:blipFill>
                <a:blip r:embed="rId7"/>
                <a:stretch>
                  <a:fillRect l="-2641" r="-2817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BDDBD0D-32A4-49E4-8AF3-6F2B9BFB5040}"/>
              </a:ext>
            </a:extLst>
          </p:cNvPr>
          <p:cNvSpPr txBox="1"/>
          <p:nvPr/>
        </p:nvSpPr>
        <p:spPr>
          <a:xfrm>
            <a:off x="1962350" y="0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00F0E-7600-4CE9-B0CC-701347F47ED2}"/>
              </a:ext>
            </a:extLst>
          </p:cNvPr>
          <p:cNvSpPr txBox="1"/>
          <p:nvPr/>
        </p:nvSpPr>
        <p:spPr>
          <a:xfrm>
            <a:off x="6462595" y="382245"/>
            <a:ext cx="66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7BA237-DB9A-49EF-BAA6-D14FAC291F24}"/>
              </a:ext>
            </a:extLst>
          </p:cNvPr>
          <p:cNvSpPr txBox="1"/>
          <p:nvPr/>
        </p:nvSpPr>
        <p:spPr>
          <a:xfrm>
            <a:off x="9610494" y="369332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Modified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BBC81-8FF7-4AFE-832E-0F987FD45AD7}"/>
              </a:ext>
            </a:extLst>
          </p:cNvPr>
          <p:cNvSpPr txBox="1"/>
          <p:nvPr/>
        </p:nvSpPr>
        <p:spPr>
          <a:xfrm>
            <a:off x="803869" y="4144838"/>
            <a:ext cx="81170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main downsizes: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Every time a filter is applied the image shrink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Pixels on the corners/edges of the image are less involved in the output (the filter is applied more to central pixels)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E5CF95-B832-4039-80BC-69F25BB6E5B7}"/>
                  </a:ext>
                </a:extLst>
              </p:cNvPr>
              <p:cNvSpPr txBox="1"/>
              <p:nvPr/>
            </p:nvSpPr>
            <p:spPr>
              <a:xfrm>
                <a:off x="8920920" y="5129722"/>
                <a:ext cx="264014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PADDING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E5CF95-B832-4039-80BC-69F25BB6E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0920" y="5129722"/>
                <a:ext cx="264014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90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FABF-E8AF-4ED0-97DE-9C80F6C9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31" y="0"/>
            <a:ext cx="10515600" cy="1325563"/>
          </a:xfrm>
        </p:spPr>
        <p:txBody>
          <a:bodyPr/>
          <a:lstStyle/>
          <a:p>
            <a:r>
              <a:rPr lang="en-US" dirty="0"/>
              <a:t>Padding</a:t>
            </a:r>
          </a:p>
        </p:txBody>
      </p:sp>
      <p:pic>
        <p:nvPicPr>
          <p:cNvPr id="3" name="Picture 2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36C06044-B47C-4A53-AB9C-65DD3714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3" y="2127532"/>
            <a:ext cx="3143250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2B7FD-8E64-4F33-B87A-5ADE4D2CB7E6}"/>
                  </a:ext>
                </a:extLst>
              </p:cNvPr>
              <p:cNvSpPr txBox="1"/>
              <p:nvPr/>
            </p:nvSpPr>
            <p:spPr>
              <a:xfrm>
                <a:off x="2133133" y="5388699"/>
                <a:ext cx="7652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02B7FD-8E64-4F33-B87A-5ADE4D2CB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133" y="5388699"/>
                <a:ext cx="765209" cy="369332"/>
              </a:xfrm>
              <a:prstGeom prst="rect">
                <a:avLst/>
              </a:prstGeom>
              <a:blipFill>
                <a:blip r:embed="rId3"/>
                <a:stretch>
                  <a:fillRect l="-9600" r="-9600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Picture 47" descr="A picture containing shoji, silhouette&#10;&#10;Description automatically generated">
            <a:extLst>
              <a:ext uri="{FF2B5EF4-FFF2-40B4-BE49-F238E27FC236}">
                <a16:creationId xmlns:a16="http://schemas.microsoft.com/office/drawing/2014/main" id="{F6875156-3846-437C-97D6-3AC3F465C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8" y="1627362"/>
            <a:ext cx="4771552" cy="4200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AAA152-FD93-4505-A7CA-3F6A203695A1}"/>
                  </a:ext>
                </a:extLst>
              </p:cNvPr>
              <p:cNvSpPr txBox="1"/>
              <p:nvPr/>
            </p:nvSpPr>
            <p:spPr>
              <a:xfrm>
                <a:off x="497711" y="1850533"/>
                <a:ext cx="42591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0          0         0         0         0        0         0        0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AAA152-FD93-4505-A7CA-3F6A20369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11" y="1850533"/>
                <a:ext cx="4259178" cy="276999"/>
              </a:xfrm>
              <a:prstGeom prst="rect">
                <a:avLst/>
              </a:prstGeom>
              <a:blipFill>
                <a:blip r:embed="rId5"/>
                <a:stretch>
                  <a:fillRect l="-860" r="-86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33AE378-C4E4-47BA-968F-7FC2E6D188B3}"/>
                  </a:ext>
                </a:extLst>
              </p:cNvPr>
              <p:cNvSpPr txBox="1"/>
              <p:nvPr/>
            </p:nvSpPr>
            <p:spPr>
              <a:xfrm>
                <a:off x="497711" y="5081316"/>
                <a:ext cx="42591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0          0         0         0         0        0         0        0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33AE378-C4E4-47BA-968F-7FC2E6D18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11" y="5081316"/>
                <a:ext cx="4259178" cy="276999"/>
              </a:xfrm>
              <a:prstGeom prst="rect">
                <a:avLst/>
              </a:prstGeom>
              <a:blipFill>
                <a:blip r:embed="rId6"/>
                <a:stretch>
                  <a:fillRect l="-860" r="-86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E68EDFB-0BEC-4A71-93DF-212CFDCC703B}"/>
                  </a:ext>
                </a:extLst>
              </p:cNvPr>
              <p:cNvSpPr txBox="1"/>
              <p:nvPr/>
            </p:nvSpPr>
            <p:spPr>
              <a:xfrm>
                <a:off x="46653" y="2338513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E68EDFB-0BEC-4A71-93DF-212CFDCC7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3" y="2338513"/>
                <a:ext cx="1134926" cy="277064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68A6E8-74E6-46D9-BEFB-1C7C8500464A}"/>
                  </a:ext>
                </a:extLst>
              </p:cNvPr>
              <p:cNvSpPr txBox="1"/>
              <p:nvPr/>
            </p:nvSpPr>
            <p:spPr>
              <a:xfrm>
                <a:off x="33399" y="2754044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368A6E8-74E6-46D9-BEFB-1C7C85004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" y="2754044"/>
                <a:ext cx="1134926" cy="277064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C876FA-2CF0-42F1-9E82-D7557CE5E1A9}"/>
                  </a:ext>
                </a:extLst>
              </p:cNvPr>
              <p:cNvSpPr txBox="1"/>
              <p:nvPr/>
            </p:nvSpPr>
            <p:spPr>
              <a:xfrm>
                <a:off x="33399" y="3223830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C876FA-2CF0-42F1-9E82-D7557CE5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" y="3223830"/>
                <a:ext cx="1134926" cy="277064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8ACE7D-C672-459D-8283-2B1AA9975477}"/>
                  </a:ext>
                </a:extLst>
              </p:cNvPr>
              <p:cNvSpPr txBox="1"/>
              <p:nvPr/>
            </p:nvSpPr>
            <p:spPr>
              <a:xfrm>
                <a:off x="33399" y="3639361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8ACE7D-C672-459D-8283-2B1AA9975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" y="3639361"/>
                <a:ext cx="1134926" cy="277064"/>
              </a:xfrm>
              <a:prstGeom prst="rect">
                <a:avLst/>
              </a:prstGeom>
              <a:blipFill>
                <a:blip r:embed="rId1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CC61F87-75A0-442A-8171-48E3756E8B17}"/>
                  </a:ext>
                </a:extLst>
              </p:cNvPr>
              <p:cNvSpPr txBox="1"/>
              <p:nvPr/>
            </p:nvSpPr>
            <p:spPr>
              <a:xfrm>
                <a:off x="46653" y="4096957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CC61F87-75A0-442A-8171-48E3756E8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3" y="4096957"/>
                <a:ext cx="1134926" cy="277064"/>
              </a:xfrm>
              <a:prstGeom prst="rect">
                <a:avLst/>
              </a:prstGeom>
              <a:blipFill>
                <a:blip r:embed="rId11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30CD646-AC0A-4E9C-83D2-0392F3383277}"/>
                  </a:ext>
                </a:extLst>
              </p:cNvPr>
              <p:cNvSpPr txBox="1"/>
              <p:nvPr/>
            </p:nvSpPr>
            <p:spPr>
              <a:xfrm>
                <a:off x="57510" y="4554553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30CD646-AC0A-4E9C-83D2-0392F3383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0" y="4554553"/>
                <a:ext cx="1134926" cy="277064"/>
              </a:xfrm>
              <a:prstGeom prst="rect">
                <a:avLst/>
              </a:prstGeom>
              <a:blipFill>
                <a:blip r:embed="rId1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C530150-3F9E-416D-B7EA-0C6A55B942E8}"/>
                  </a:ext>
                </a:extLst>
              </p:cNvPr>
              <p:cNvSpPr txBox="1"/>
              <p:nvPr/>
            </p:nvSpPr>
            <p:spPr>
              <a:xfrm>
                <a:off x="4100617" y="2364065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C530150-3F9E-416D-B7EA-0C6A55B94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2364065"/>
                <a:ext cx="1134926" cy="277064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3CD1CD-9670-4B4B-A3DC-D2AFE7340738}"/>
                  </a:ext>
                </a:extLst>
              </p:cNvPr>
              <p:cNvSpPr txBox="1"/>
              <p:nvPr/>
            </p:nvSpPr>
            <p:spPr>
              <a:xfrm>
                <a:off x="4087363" y="2779596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3CD1CD-9670-4B4B-A3DC-D2AFE7340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363" y="2779596"/>
                <a:ext cx="1134926" cy="277064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0E0044-F15B-4BF8-B63E-5B8617908250}"/>
                  </a:ext>
                </a:extLst>
              </p:cNvPr>
              <p:cNvSpPr txBox="1"/>
              <p:nvPr/>
            </p:nvSpPr>
            <p:spPr>
              <a:xfrm>
                <a:off x="4087363" y="3249382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0E0044-F15B-4BF8-B63E-5B8617908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363" y="3249382"/>
                <a:ext cx="1134926" cy="277064"/>
              </a:xfrm>
              <a:prstGeom prst="rect">
                <a:avLst/>
              </a:prstGeom>
              <a:blipFill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0CED7ED-0CCE-4F7C-B39D-14B1440F5547}"/>
                  </a:ext>
                </a:extLst>
              </p:cNvPr>
              <p:cNvSpPr txBox="1"/>
              <p:nvPr/>
            </p:nvSpPr>
            <p:spPr>
              <a:xfrm>
                <a:off x="4087363" y="3664913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0CED7ED-0CCE-4F7C-B39D-14B1440F5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363" y="3664913"/>
                <a:ext cx="1134926" cy="277064"/>
              </a:xfrm>
              <a:prstGeom prst="rect">
                <a:avLst/>
              </a:prstGeom>
              <a:blipFill>
                <a:blip r:embed="rId1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6C626A-B025-4DE4-BF79-AF7539F3CB9E}"/>
                  </a:ext>
                </a:extLst>
              </p:cNvPr>
              <p:cNvSpPr txBox="1"/>
              <p:nvPr/>
            </p:nvSpPr>
            <p:spPr>
              <a:xfrm>
                <a:off x="4100617" y="4122509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6C626A-B025-4DE4-BF79-AF7539F3C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617" y="4122509"/>
                <a:ext cx="1134926" cy="277064"/>
              </a:xfrm>
              <a:prstGeom prst="rect">
                <a:avLst/>
              </a:prstGeom>
              <a:blipFill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1973B23-890E-40CC-83F6-F465E1C9BF0A}"/>
                  </a:ext>
                </a:extLst>
              </p:cNvPr>
              <p:cNvSpPr txBox="1"/>
              <p:nvPr/>
            </p:nvSpPr>
            <p:spPr>
              <a:xfrm>
                <a:off x="4111474" y="4580105"/>
                <a:ext cx="113492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1973B23-890E-40CC-83F6-F465E1C9B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474" y="4580105"/>
                <a:ext cx="1134926" cy="277064"/>
              </a:xfrm>
              <a:prstGeom prst="rect">
                <a:avLst/>
              </a:prstGeom>
              <a:blipFill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 descr="A picture containing shoji, crossword puzzle&#10;&#10;Description automatically generated">
            <a:extLst>
              <a:ext uri="{FF2B5EF4-FFF2-40B4-BE49-F238E27FC236}">
                <a16:creationId xmlns:a16="http://schemas.microsoft.com/office/drawing/2014/main" id="{61C6AB2B-C9D8-4555-94D4-42449432ADA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5543" y="2440905"/>
            <a:ext cx="3200400" cy="2362200"/>
          </a:xfrm>
          <a:prstGeom prst="rect">
            <a:avLst/>
          </a:prstGeom>
        </p:spPr>
      </p:pic>
      <p:pic>
        <p:nvPicPr>
          <p:cNvPr id="68" name="Picture 67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D45C0CD0-117E-4BC1-A1B4-D605C865E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954" y="1900694"/>
            <a:ext cx="3143250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84FF5A-201C-4E34-B0F4-A081881EBA68}"/>
                  </a:ext>
                </a:extLst>
              </p:cNvPr>
              <p:cNvSpPr txBox="1"/>
              <p:nvPr/>
            </p:nvSpPr>
            <p:spPr>
              <a:xfrm>
                <a:off x="8435943" y="3449469"/>
                <a:ext cx="34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84FF5A-201C-4E34-B0F4-A081881EB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943" y="3449469"/>
                <a:ext cx="349455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52F4F75-611E-49AA-80CF-EDE87379D5E6}"/>
                  </a:ext>
                </a:extLst>
              </p:cNvPr>
              <p:cNvSpPr txBox="1"/>
              <p:nvPr/>
            </p:nvSpPr>
            <p:spPr>
              <a:xfrm>
                <a:off x="3862690" y="1100278"/>
                <a:ext cx="17196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padding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size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52F4F75-611E-49AA-80CF-EDE87379D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690" y="1100278"/>
                <a:ext cx="1719638" cy="276999"/>
              </a:xfrm>
              <a:prstGeom prst="rect">
                <a:avLst/>
              </a:prstGeom>
              <a:blipFill>
                <a:blip r:embed="rId21"/>
                <a:stretch>
                  <a:fillRect l="-2837" t="-2174" r="-283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32FF78F-058A-4FFB-8083-A78E637EBE0D}"/>
                  </a:ext>
                </a:extLst>
              </p:cNvPr>
              <p:cNvSpPr txBox="1"/>
              <p:nvPr/>
            </p:nvSpPr>
            <p:spPr>
              <a:xfrm>
                <a:off x="1491033" y="5924494"/>
                <a:ext cx="20494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)×(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32FF78F-058A-4FFB-8083-A78E637EB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033" y="5924494"/>
                <a:ext cx="2049407" cy="276999"/>
              </a:xfrm>
              <a:prstGeom prst="rect">
                <a:avLst/>
              </a:prstGeom>
              <a:blipFill>
                <a:blip r:embed="rId22"/>
                <a:stretch>
                  <a:fillRect l="-3571" t="-2222" r="-386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173536C-3CC6-417F-AC90-AF4C08931B70}"/>
                  </a:ext>
                </a:extLst>
              </p:cNvPr>
              <p:cNvSpPr txBox="1"/>
              <p:nvPr/>
            </p:nvSpPr>
            <p:spPr>
              <a:xfrm>
                <a:off x="7024367" y="4879945"/>
                <a:ext cx="5873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173536C-3CC6-417F-AC90-AF4C08931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367" y="4879945"/>
                <a:ext cx="587340" cy="276999"/>
              </a:xfrm>
              <a:prstGeom prst="rect">
                <a:avLst/>
              </a:prstGeom>
              <a:blipFill>
                <a:blip r:embed="rId23"/>
                <a:stretch>
                  <a:fillRect l="-13402" t="-4444" r="-1237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2D4A7E-4880-4524-B820-40C77A19A8D3}"/>
                  </a:ext>
                </a:extLst>
              </p:cNvPr>
              <p:cNvSpPr txBox="1"/>
              <p:nvPr/>
            </p:nvSpPr>
            <p:spPr>
              <a:xfrm>
                <a:off x="8497494" y="5156944"/>
                <a:ext cx="3673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2D4A7E-4880-4524-B820-40C77A19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494" y="5156944"/>
                <a:ext cx="3673954" cy="276999"/>
              </a:xfrm>
              <a:prstGeom prst="rect">
                <a:avLst/>
              </a:prstGeom>
              <a:blipFill>
                <a:blip r:embed="rId2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A582468-665F-4F5E-8502-A81E37B3BE99}"/>
                  </a:ext>
                </a:extLst>
              </p:cNvPr>
              <p:cNvSpPr txBox="1"/>
              <p:nvPr/>
            </p:nvSpPr>
            <p:spPr>
              <a:xfrm>
                <a:off x="3862690" y="5521614"/>
                <a:ext cx="6135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A582468-665F-4F5E-8502-A81E37B3B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690" y="5521614"/>
                <a:ext cx="613566" cy="276999"/>
              </a:xfrm>
              <a:prstGeom prst="rect">
                <a:avLst/>
              </a:prstGeom>
              <a:blipFill>
                <a:blip r:embed="rId25"/>
                <a:stretch>
                  <a:fillRect l="-9000" r="-9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F4D45DD-1B69-4A20-8E3E-78D24712261C}"/>
                  </a:ext>
                </a:extLst>
              </p:cNvPr>
              <p:cNvSpPr txBox="1"/>
              <p:nvPr/>
            </p:nvSpPr>
            <p:spPr>
              <a:xfrm>
                <a:off x="7024367" y="5296366"/>
                <a:ext cx="4616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F4D45DD-1B69-4A20-8E3E-78D247122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367" y="5296366"/>
                <a:ext cx="461665" cy="276999"/>
              </a:xfrm>
              <a:prstGeom prst="rect">
                <a:avLst/>
              </a:prstGeom>
              <a:blipFill>
                <a:blip r:embed="rId26"/>
                <a:stretch>
                  <a:fillRect l="-30263" t="-28889" r="-17105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EC8855B-84D8-4575-978A-E7928A533445}"/>
                  </a:ext>
                </a:extLst>
              </p:cNvPr>
              <p:cNvSpPr txBox="1"/>
              <p:nvPr/>
            </p:nvSpPr>
            <p:spPr>
              <a:xfrm>
                <a:off x="10463579" y="5573365"/>
                <a:ext cx="5770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6×6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EC8855B-84D8-4575-978A-E7928A53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579" y="5573365"/>
                <a:ext cx="577081" cy="276999"/>
              </a:xfrm>
              <a:prstGeom prst="rect">
                <a:avLst/>
              </a:prstGeom>
              <a:blipFill>
                <a:blip r:embed="rId27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08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9" grpId="0"/>
      <p:bldP spid="53" grpId="0"/>
      <p:bldP spid="50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51" grpId="0"/>
      <p:bldP spid="55" grpId="0"/>
      <p:bldP spid="72" grpId="0"/>
      <p:bldP spid="73" grpId="0"/>
      <p:bldP spid="70" grpId="0"/>
      <p:bldP spid="76" grpId="0"/>
      <p:bldP spid="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6760-22FB-4278-BF74-5702D78C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and Same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E5C7E-51DF-4032-BF63-94F6D2D9A2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8344" y="1999245"/>
                <a:ext cx="11505236" cy="4351338"/>
              </a:xfrm>
            </p:spPr>
            <p:txBody>
              <a:bodyPr/>
              <a:lstStyle/>
              <a:p>
                <a:r>
                  <a:rPr lang="en-US" sz="3200" dirty="0"/>
                  <a:t>How much to pad (p=?) ?</a:t>
                </a:r>
              </a:p>
              <a:p>
                <a:r>
                  <a:rPr lang="en-US" sz="3200" dirty="0"/>
                  <a:t>Valid: no padding (filtered image is reduced)</a:t>
                </a:r>
              </a:p>
              <a:p>
                <a:r>
                  <a:rPr lang="en-US" sz="3200" dirty="0"/>
                  <a:t>Same: set padding size such as that filtered image is the same size as input image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For this reason 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sz="2800" dirty="0"/>
                  <a:t>is usually an odd number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×1;3×3;5×5;7×7, …)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Another reason is that with odd filter size there is a </a:t>
                </a:r>
                <a:r>
                  <a:rPr lang="en-US" sz="2800" i="1" dirty="0"/>
                  <a:t>central</a:t>
                </a:r>
                <a:r>
                  <a:rPr lang="en-US" sz="2800" dirty="0"/>
                  <a:t> pixel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E5C7E-51DF-4032-BF63-94F6D2D9A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8344" y="1999245"/>
                <a:ext cx="11505236" cy="4351338"/>
              </a:xfrm>
              <a:blipFill>
                <a:blip r:embed="rId2"/>
                <a:stretch>
                  <a:fillRect l="-1218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265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E188-0858-4C94-AE70-9A0A039F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6759"/>
            <a:ext cx="10515600" cy="1325563"/>
          </a:xfrm>
        </p:spPr>
        <p:txBody>
          <a:bodyPr/>
          <a:lstStyle/>
          <a:p>
            <a:r>
              <a:rPr lang="en-US" dirty="0" err="1"/>
              <a:t>Strided</a:t>
            </a:r>
            <a:r>
              <a:rPr lang="en-US" dirty="0"/>
              <a:t> convolution</a:t>
            </a: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6EC67C90-3F02-427C-A2DE-D5B9FB53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2020324"/>
            <a:ext cx="10944225" cy="3743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9D50E-0A3D-460C-9C91-F09CB011C5C4}"/>
              </a:ext>
            </a:extLst>
          </p:cNvPr>
          <p:cNvSpPr txBox="1"/>
          <p:nvPr/>
        </p:nvSpPr>
        <p:spPr>
          <a:xfrm>
            <a:off x="838200" y="902825"/>
            <a:ext cx="3805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shift the filter of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/>
              <a:t> steps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/>
              <a:t>&gt;1)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F36BE8-5D10-4528-88AF-E9EDEBA3123B}"/>
                  </a:ext>
                </a:extLst>
              </p:cNvPr>
              <p:cNvSpPr txBox="1"/>
              <p:nvPr/>
            </p:nvSpPr>
            <p:spPr>
              <a:xfrm>
                <a:off x="1863524" y="1416064"/>
                <a:ext cx="6590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F36BE8-5D10-4528-88AF-E9EDEBA31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524" y="1416064"/>
                <a:ext cx="659091" cy="307777"/>
              </a:xfrm>
              <a:prstGeom prst="rect">
                <a:avLst/>
              </a:prstGeom>
              <a:blipFill>
                <a:blip r:embed="rId3"/>
                <a:stretch>
                  <a:fillRect l="-5556" r="-8333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86CC80D-1991-4921-A208-C1A1AC0CF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" y="2080220"/>
            <a:ext cx="3819525" cy="3714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35B045-3F1D-4CBD-9EA2-DA50F92141B1}"/>
                  </a:ext>
                </a:extLst>
              </p:cNvPr>
              <p:cNvSpPr txBox="1"/>
              <p:nvPr/>
            </p:nvSpPr>
            <p:spPr>
              <a:xfrm>
                <a:off x="9826906" y="3287209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35B045-3F1D-4CBD-9EA2-DA50F9214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906" y="3287209"/>
                <a:ext cx="408766" cy="369332"/>
              </a:xfrm>
              <a:prstGeom prst="rect">
                <a:avLst/>
              </a:prstGeom>
              <a:blipFill>
                <a:blip r:embed="rId5"/>
                <a:stretch>
                  <a:fillRect l="-16418" r="-1940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54D8E0A1-6832-40C2-9534-9737D9A9B7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" y="2128541"/>
            <a:ext cx="3771900" cy="3686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F352DC-D9AD-4379-A800-B2F2B43D9BAE}"/>
                  </a:ext>
                </a:extLst>
              </p:cNvPr>
              <p:cNvSpPr txBox="1"/>
              <p:nvPr/>
            </p:nvSpPr>
            <p:spPr>
              <a:xfrm>
                <a:off x="10323206" y="3287209"/>
                <a:ext cx="578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F352DC-D9AD-4379-A800-B2F2B43D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206" y="3287209"/>
                <a:ext cx="578685" cy="369332"/>
              </a:xfrm>
              <a:prstGeom prst="rect">
                <a:avLst/>
              </a:prstGeom>
              <a:blipFill>
                <a:blip r:embed="rId7"/>
                <a:stretch>
                  <a:fillRect l="-11579" r="-13684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A1F05CB5-3BEB-4853-8BEC-53A1B9A184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4" y="2096872"/>
            <a:ext cx="3790950" cy="3676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E07ECB-1917-4938-9040-CE64CC3147D4}"/>
                  </a:ext>
                </a:extLst>
              </p:cNvPr>
              <p:cNvSpPr txBox="1"/>
              <p:nvPr/>
            </p:nvSpPr>
            <p:spPr>
              <a:xfrm>
                <a:off x="10941803" y="3287209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E07ECB-1917-4938-9040-CE64CC314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803" y="3287209"/>
                <a:ext cx="408766" cy="369332"/>
              </a:xfrm>
              <a:prstGeom prst="rect">
                <a:avLst/>
              </a:prstGeom>
              <a:blipFill>
                <a:blip r:embed="rId9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AE667720-6360-4633-8BBE-28678C5343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843" y="2093483"/>
            <a:ext cx="3781425" cy="3695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6EB221-E257-4C2D-A2DB-CE57F4A678C4}"/>
                  </a:ext>
                </a:extLst>
              </p:cNvPr>
              <p:cNvSpPr txBox="1"/>
              <p:nvPr/>
            </p:nvSpPr>
            <p:spPr>
              <a:xfrm>
                <a:off x="9826906" y="3750531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6EB221-E257-4C2D-A2DB-CE57F4A67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906" y="3750531"/>
                <a:ext cx="408766" cy="369332"/>
              </a:xfrm>
              <a:prstGeom prst="rect">
                <a:avLst/>
              </a:prstGeom>
              <a:blipFill>
                <a:blip r:embed="rId11"/>
                <a:stretch>
                  <a:fillRect l="-16418" r="-1940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E393761A-EFC2-4EB0-8D10-2BBF21F409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887" y="2080220"/>
            <a:ext cx="3771900" cy="3667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1CBC89-DCBE-4592-BEC6-63F3923A2438}"/>
                  </a:ext>
                </a:extLst>
              </p:cNvPr>
              <p:cNvSpPr txBox="1"/>
              <p:nvPr/>
            </p:nvSpPr>
            <p:spPr>
              <a:xfrm>
                <a:off x="10484052" y="3768358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1CBC89-DCBE-4592-BEC6-63F3923A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052" y="3768358"/>
                <a:ext cx="408766" cy="369332"/>
              </a:xfrm>
              <a:prstGeom prst="rect">
                <a:avLst/>
              </a:prstGeom>
              <a:blipFill>
                <a:blip r:embed="rId13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 descr="Text&#10;&#10;Description automatically generated">
            <a:extLst>
              <a:ext uri="{FF2B5EF4-FFF2-40B4-BE49-F238E27FC236}">
                <a16:creationId xmlns:a16="http://schemas.microsoft.com/office/drawing/2014/main" id="{1B3CE863-2DF0-4CF5-A413-3BBEDC9B49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" y="2087696"/>
            <a:ext cx="3752850" cy="3695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439898-DA7B-46CF-9B66-63CD95FF7BAE}"/>
                  </a:ext>
                </a:extLst>
              </p:cNvPr>
              <p:cNvSpPr txBox="1"/>
              <p:nvPr/>
            </p:nvSpPr>
            <p:spPr>
              <a:xfrm>
                <a:off x="10935238" y="3750531"/>
                <a:ext cx="5786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439898-DA7B-46CF-9B66-63CD95FF7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38" y="3750531"/>
                <a:ext cx="578685" cy="369332"/>
              </a:xfrm>
              <a:prstGeom prst="rect">
                <a:avLst/>
              </a:prstGeom>
              <a:blipFill>
                <a:blip r:embed="rId15"/>
                <a:stretch>
                  <a:fillRect l="-12632" r="-1263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5A8CF2-01ED-438C-998E-CD62417C29D5}"/>
                  </a:ext>
                </a:extLst>
              </p:cNvPr>
              <p:cNvSpPr txBox="1"/>
              <p:nvPr/>
            </p:nvSpPr>
            <p:spPr>
              <a:xfrm>
                <a:off x="9874051" y="4188175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5A8CF2-01ED-438C-998E-CD62417C2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051" y="4188175"/>
                <a:ext cx="408766" cy="369332"/>
              </a:xfrm>
              <a:prstGeom prst="rect">
                <a:avLst/>
              </a:prstGeom>
              <a:blipFill>
                <a:blip r:embed="rId16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F37F4F-DA1D-4D87-B85D-0B9A2212DE19}"/>
                  </a:ext>
                </a:extLst>
              </p:cNvPr>
              <p:cNvSpPr txBox="1"/>
              <p:nvPr/>
            </p:nvSpPr>
            <p:spPr>
              <a:xfrm>
                <a:off x="10482615" y="4188175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F37F4F-DA1D-4D87-B85D-0B9A2212D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615" y="4188175"/>
                <a:ext cx="408766" cy="369332"/>
              </a:xfrm>
              <a:prstGeom prst="rect">
                <a:avLst/>
              </a:prstGeom>
              <a:blipFill>
                <a:blip r:embed="rId17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EFC39B-A426-4613-BAB2-4419F634AD21}"/>
                  </a:ext>
                </a:extLst>
              </p:cNvPr>
              <p:cNvSpPr txBox="1"/>
              <p:nvPr/>
            </p:nvSpPr>
            <p:spPr>
              <a:xfrm>
                <a:off x="11001529" y="4188175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EFC39B-A426-4613-BAB2-4419F634A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529" y="4188175"/>
                <a:ext cx="408766" cy="369332"/>
              </a:xfrm>
              <a:prstGeom prst="rect">
                <a:avLst/>
              </a:prstGeom>
              <a:blipFill>
                <a:blip r:embed="rId18"/>
                <a:stretch>
                  <a:fillRect l="-17910" r="-1791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C9FAE7-8E41-4F74-9F78-3EB679642234}"/>
                  </a:ext>
                </a:extLst>
              </p:cNvPr>
              <p:cNvSpPr txBox="1"/>
              <p:nvPr/>
            </p:nvSpPr>
            <p:spPr>
              <a:xfrm>
                <a:off x="4675142" y="5071240"/>
                <a:ext cx="7202869" cy="760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⌊"/>
                              <m:endChr m:val="⌋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C9FAE7-8E41-4F74-9F78-3EB67964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142" y="5071240"/>
                <a:ext cx="7202869" cy="7607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51F88F-B3EA-4572-8793-F41F5A895014}"/>
                  </a:ext>
                </a:extLst>
              </p:cNvPr>
              <p:cNvSpPr txBox="1"/>
              <p:nvPr/>
            </p:nvSpPr>
            <p:spPr>
              <a:xfrm>
                <a:off x="6726249" y="6149542"/>
                <a:ext cx="31006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padding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stride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851F88F-B3EA-4572-8793-F41F5A895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249" y="6149542"/>
                <a:ext cx="3100657" cy="369332"/>
              </a:xfrm>
              <a:prstGeom prst="rect">
                <a:avLst/>
              </a:prstGeom>
              <a:blipFill>
                <a:blip r:embed="rId20"/>
                <a:stretch>
                  <a:fillRect l="-2947" r="-589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43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  <p:bldP spid="19" grpId="0"/>
      <p:bldP spid="22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57D3-4022-4E3B-934D-6DEBD2F46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81" y="-41642"/>
            <a:ext cx="10515600" cy="1325563"/>
          </a:xfrm>
        </p:spPr>
        <p:txBody>
          <a:bodyPr/>
          <a:lstStyle/>
          <a:p>
            <a:r>
              <a:rPr lang="en-US" dirty="0"/>
              <a:t>Cross-correlation vs convolution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A9799-8E2B-4867-8275-A5DC833E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79" y="1719496"/>
            <a:ext cx="6829425" cy="33909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0D329A8-3B6C-4997-824E-D1F837706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656" y="4666806"/>
            <a:ext cx="2296688" cy="189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1BFA57-68EB-4A71-80FC-2FC7DE100072}"/>
                  </a:ext>
                </a:extLst>
              </p:cNvPr>
              <p:cNvSpPr txBox="1"/>
              <p:nvPr/>
            </p:nvSpPr>
            <p:spPr>
              <a:xfrm>
                <a:off x="6620887" y="5983765"/>
                <a:ext cx="2388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1BFA57-68EB-4A71-80FC-2FC7DE100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887" y="5983765"/>
                <a:ext cx="238848" cy="369332"/>
              </a:xfrm>
              <a:prstGeom prst="rect">
                <a:avLst/>
              </a:prstGeom>
              <a:blipFill>
                <a:blip r:embed="rId4"/>
                <a:stretch>
                  <a:fillRect l="-28205" r="-3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29C707-0029-40CE-BD6E-E5965B3E717A}"/>
                  </a:ext>
                </a:extLst>
              </p:cNvPr>
              <p:cNvSpPr txBox="1"/>
              <p:nvPr/>
            </p:nvSpPr>
            <p:spPr>
              <a:xfrm>
                <a:off x="5291559" y="4939784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C29C707-0029-40CE-BD6E-E5965B3E7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559" y="4939784"/>
                <a:ext cx="238847" cy="369332"/>
              </a:xfrm>
              <a:prstGeom prst="rect">
                <a:avLst/>
              </a:prstGeom>
              <a:blipFill>
                <a:blip r:embed="rId5"/>
                <a:stretch>
                  <a:fillRect l="-28205" r="-33333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D55CC5-A8D2-4162-904A-FA5AB9E5A7E7}"/>
                  </a:ext>
                </a:extLst>
              </p:cNvPr>
              <p:cNvSpPr txBox="1"/>
              <p:nvPr/>
            </p:nvSpPr>
            <p:spPr>
              <a:xfrm>
                <a:off x="5976576" y="4939784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D55CC5-A8D2-4162-904A-FA5AB9E5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576" y="4939784"/>
                <a:ext cx="238847" cy="369332"/>
              </a:xfrm>
              <a:prstGeom prst="rect">
                <a:avLst/>
              </a:prstGeom>
              <a:blipFill>
                <a:blip r:embed="rId6"/>
                <a:stretch>
                  <a:fillRect l="-27500" r="-3000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76F9E60-1AF5-4880-94C5-FF994B66702F}"/>
              </a:ext>
            </a:extLst>
          </p:cNvPr>
          <p:cNvSpPr txBox="1"/>
          <p:nvPr/>
        </p:nvSpPr>
        <p:spPr>
          <a:xfrm>
            <a:off x="6661593" y="4939784"/>
            <a:ext cx="15549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9EE1E-F09E-413F-A82F-F33A41E3D5E1}"/>
                  </a:ext>
                </a:extLst>
              </p:cNvPr>
              <p:cNvSpPr txBox="1"/>
              <p:nvPr/>
            </p:nvSpPr>
            <p:spPr>
              <a:xfrm>
                <a:off x="5291558" y="5429020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9EE1E-F09E-413F-A82F-F33A41E3D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558" y="5429020"/>
                <a:ext cx="238847" cy="369332"/>
              </a:xfrm>
              <a:prstGeom prst="rect">
                <a:avLst/>
              </a:prstGeom>
              <a:blipFill>
                <a:blip r:embed="rId7"/>
                <a:stretch>
                  <a:fillRect l="-28205" r="-3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B8EBE1-2CA8-4AF8-A945-980A8936BED4}"/>
                  </a:ext>
                </a:extLst>
              </p:cNvPr>
              <p:cNvSpPr txBox="1"/>
              <p:nvPr/>
            </p:nvSpPr>
            <p:spPr>
              <a:xfrm>
                <a:off x="5997432" y="5426740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B8EBE1-2CA8-4AF8-A945-980A8936B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432" y="5426740"/>
                <a:ext cx="238847" cy="369332"/>
              </a:xfrm>
              <a:prstGeom prst="rect">
                <a:avLst/>
              </a:prstGeom>
              <a:blipFill>
                <a:blip r:embed="rId8"/>
                <a:stretch>
                  <a:fillRect l="-30769" r="-3076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4D41EF-F8F0-4EF5-84CD-61FE7EF24446}"/>
                  </a:ext>
                </a:extLst>
              </p:cNvPr>
              <p:cNvSpPr txBox="1"/>
              <p:nvPr/>
            </p:nvSpPr>
            <p:spPr>
              <a:xfrm>
                <a:off x="6620888" y="5406964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4D41EF-F8F0-4EF5-84CD-61FE7EF2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888" y="5406964"/>
                <a:ext cx="238847" cy="369332"/>
              </a:xfrm>
              <a:prstGeom prst="rect">
                <a:avLst/>
              </a:prstGeom>
              <a:blipFill>
                <a:blip r:embed="rId9"/>
                <a:stretch>
                  <a:fillRect l="-28205" r="-33333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8917B6-46E0-48BE-A629-7934819C5812}"/>
                  </a:ext>
                </a:extLst>
              </p:cNvPr>
              <p:cNvSpPr txBox="1"/>
              <p:nvPr/>
            </p:nvSpPr>
            <p:spPr>
              <a:xfrm>
                <a:off x="5291557" y="5929308"/>
                <a:ext cx="3847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dirty="0"/>
                  <a:t>1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8917B6-46E0-48BE-A629-7934819C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557" y="5929308"/>
                <a:ext cx="384721" cy="369332"/>
              </a:xfrm>
              <a:prstGeom prst="rect">
                <a:avLst/>
              </a:prstGeom>
              <a:blipFill>
                <a:blip r:embed="rId10"/>
                <a:stretch>
                  <a:fillRect l="-12698" t="-26667" r="-47619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0E79E-5AD5-4501-B659-C59F38BD33D9}"/>
                  </a:ext>
                </a:extLst>
              </p:cNvPr>
              <p:cNvSpPr txBox="1"/>
              <p:nvPr/>
            </p:nvSpPr>
            <p:spPr>
              <a:xfrm>
                <a:off x="5976575" y="5929308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E0E79E-5AD5-4501-B659-C59F38BD3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575" y="5929308"/>
                <a:ext cx="238847" cy="369332"/>
              </a:xfrm>
              <a:prstGeom prst="rect">
                <a:avLst/>
              </a:prstGeom>
              <a:blipFill>
                <a:blip r:embed="rId11"/>
                <a:stretch>
                  <a:fillRect l="-27500" r="-30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A3AC9CBA-5185-4E2C-B026-608405B5D3E9}"/>
              </a:ext>
            </a:extLst>
          </p:cNvPr>
          <p:cNvSpPr/>
          <p:nvPr/>
        </p:nvSpPr>
        <p:spPr>
          <a:xfrm>
            <a:off x="7261329" y="4071814"/>
            <a:ext cx="381570" cy="113431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D28A6D-0FB7-46B8-B3F3-D2E214F24049}"/>
                  </a:ext>
                </a:extLst>
              </p:cNvPr>
              <p:cNvSpPr txBox="1"/>
              <p:nvPr/>
            </p:nvSpPr>
            <p:spPr>
              <a:xfrm>
                <a:off x="3431745" y="5365184"/>
                <a:ext cx="2917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D28A6D-0FB7-46B8-B3F3-D2E214F24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45" y="5365184"/>
                <a:ext cx="29174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F1870C2B-45BF-4D24-9F8A-C50B8AB6AACC}"/>
              </a:ext>
            </a:extLst>
          </p:cNvPr>
          <p:cNvSpPr/>
          <p:nvPr/>
        </p:nvSpPr>
        <p:spPr>
          <a:xfrm rot="5400000">
            <a:off x="2509791" y="5140753"/>
            <a:ext cx="589939" cy="7207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28F0A95-4467-4A91-B829-CE085BF4E7FA}"/>
              </a:ext>
            </a:extLst>
          </p:cNvPr>
          <p:cNvSpPr/>
          <p:nvPr/>
        </p:nvSpPr>
        <p:spPr>
          <a:xfrm>
            <a:off x="3860276" y="5529326"/>
            <a:ext cx="964255" cy="2204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88CC02-D874-4289-9823-5AC463374722}"/>
              </a:ext>
            </a:extLst>
          </p:cNvPr>
          <p:cNvSpPr txBox="1"/>
          <p:nvPr/>
        </p:nvSpPr>
        <p:spPr>
          <a:xfrm>
            <a:off x="7138204" y="890121"/>
            <a:ext cx="52018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Technically we have described an operation</a:t>
            </a:r>
            <a:br>
              <a:rPr lang="en-US" dirty="0"/>
            </a:br>
            <a:r>
              <a:rPr lang="en-US" dirty="0"/>
              <a:t>that in signal processing is called cross-correlation</a:t>
            </a:r>
          </a:p>
          <a:p>
            <a:r>
              <a:rPr lang="en-US" dirty="0"/>
              <a:t>To get what they call convolution, the filter</a:t>
            </a:r>
            <a:br>
              <a:rPr lang="en-US" dirty="0"/>
            </a:br>
            <a:r>
              <a:rPr lang="en-US" dirty="0"/>
              <a:t>must be previously flipped both horizontally</a:t>
            </a:r>
            <a:br>
              <a:rPr lang="en-US" dirty="0"/>
            </a:br>
            <a:r>
              <a:rPr lang="en-US" dirty="0"/>
              <a:t>and vertically</a:t>
            </a:r>
          </a:p>
          <a:p>
            <a:r>
              <a:rPr lang="en-US" dirty="0"/>
              <a:t>This allows convolution to satisfy associative property</a:t>
            </a:r>
          </a:p>
          <a:p>
            <a:endParaRPr lang="en-US" dirty="0"/>
          </a:p>
          <a:p>
            <a:r>
              <a:rPr lang="en-US" dirty="0"/>
              <a:t>In deep learning we do not bother about flipping!</a:t>
            </a:r>
          </a:p>
        </p:txBody>
      </p:sp>
    </p:spTree>
    <p:extLst>
      <p:ext uri="{BB962C8B-B14F-4D97-AF65-F5344CB8AC3E}">
        <p14:creationId xmlns:p14="http://schemas.microsoft.com/office/powerpoint/2010/main" val="15205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7" grpId="0" animBg="1"/>
      <p:bldP spid="16" grpId="0"/>
      <p:bldP spid="18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D420-7DCC-4301-B5F7-83DD90BC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on RGB Images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4252A-7F38-43BF-BA0C-610C2639B6A3}"/>
              </a:ext>
            </a:extLst>
          </p:cNvPr>
          <p:cNvSpPr/>
          <p:nvPr/>
        </p:nvSpPr>
        <p:spPr>
          <a:xfrm>
            <a:off x="1134319" y="2048719"/>
            <a:ext cx="2789498" cy="2361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C7DCD-651A-4477-9408-7A99DD34AD47}"/>
              </a:ext>
            </a:extLst>
          </p:cNvPr>
          <p:cNvSpPr/>
          <p:nvPr/>
        </p:nvSpPr>
        <p:spPr>
          <a:xfrm>
            <a:off x="1286719" y="2201119"/>
            <a:ext cx="2789498" cy="2361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BC0813-FEDB-43B6-90CE-4E34C7403171}"/>
              </a:ext>
            </a:extLst>
          </p:cNvPr>
          <p:cNvSpPr/>
          <p:nvPr/>
        </p:nvSpPr>
        <p:spPr>
          <a:xfrm>
            <a:off x="1439119" y="2353519"/>
            <a:ext cx="2789498" cy="23612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EB29E-53DF-4B23-9831-43EF59E5D44C}"/>
              </a:ext>
            </a:extLst>
          </p:cNvPr>
          <p:cNvSpPr/>
          <p:nvPr/>
        </p:nvSpPr>
        <p:spPr>
          <a:xfrm>
            <a:off x="5210537" y="2672084"/>
            <a:ext cx="1383175" cy="10475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49375-EB8E-4B5D-8E04-5525516E30E4}"/>
              </a:ext>
            </a:extLst>
          </p:cNvPr>
          <p:cNvSpPr/>
          <p:nvPr/>
        </p:nvSpPr>
        <p:spPr>
          <a:xfrm>
            <a:off x="5362937" y="2824484"/>
            <a:ext cx="1383175" cy="1047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BC0BC-0E09-4400-8AB5-DF5007BB103F}"/>
              </a:ext>
            </a:extLst>
          </p:cNvPr>
          <p:cNvSpPr/>
          <p:nvPr/>
        </p:nvSpPr>
        <p:spPr>
          <a:xfrm>
            <a:off x="5515337" y="2976884"/>
            <a:ext cx="1383175" cy="10475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0401AD-6C03-496E-928F-A0E61835A719}"/>
                  </a:ext>
                </a:extLst>
              </p:cNvPr>
              <p:cNvSpPr txBox="1"/>
              <p:nvPr/>
            </p:nvSpPr>
            <p:spPr>
              <a:xfrm>
                <a:off x="2035682" y="4767985"/>
                <a:ext cx="129157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×6×3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0401AD-6C03-496E-928F-A0E61835A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682" y="4767985"/>
                <a:ext cx="1291571" cy="369332"/>
              </a:xfrm>
              <a:prstGeom prst="rect">
                <a:avLst/>
              </a:prstGeom>
              <a:blipFill>
                <a:blip r:embed="rId2"/>
                <a:stretch>
                  <a:fillRect l="-5189" r="-518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5ABFB6-73BB-44D7-895D-9EC4A125F87F}"/>
                  </a:ext>
                </a:extLst>
              </p:cNvPr>
              <p:cNvSpPr txBox="1"/>
              <p:nvPr/>
            </p:nvSpPr>
            <p:spPr>
              <a:xfrm>
                <a:off x="5515337" y="4176793"/>
                <a:ext cx="12915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5ABFB6-73BB-44D7-895D-9EC4A125F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337" y="4176793"/>
                <a:ext cx="1291572" cy="369332"/>
              </a:xfrm>
              <a:prstGeom prst="rect">
                <a:avLst/>
              </a:prstGeom>
              <a:blipFill>
                <a:blip r:embed="rId3"/>
                <a:stretch>
                  <a:fillRect l="-5189" r="-518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98A269-3D47-4199-B904-B1C9003625C1}"/>
                  </a:ext>
                </a:extLst>
              </p:cNvPr>
              <p:cNvSpPr txBox="1"/>
              <p:nvPr/>
            </p:nvSpPr>
            <p:spPr>
              <a:xfrm>
                <a:off x="4613498" y="3290500"/>
                <a:ext cx="254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98A269-3D47-4199-B904-B1C90036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498" y="3290500"/>
                <a:ext cx="25487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39B459B-24DD-4686-A35A-94A70EB29566}"/>
              </a:ext>
            </a:extLst>
          </p:cNvPr>
          <p:cNvSpPr txBox="1"/>
          <p:nvPr/>
        </p:nvSpPr>
        <p:spPr>
          <a:xfrm>
            <a:off x="1151681" y="5377585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DFF26-9615-48C5-935A-C1F11E718C1B}"/>
              </a:ext>
            </a:extLst>
          </p:cNvPr>
          <p:cNvSpPr txBox="1"/>
          <p:nvPr/>
        </p:nvSpPr>
        <p:spPr>
          <a:xfrm>
            <a:off x="2053398" y="556225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width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828EE-FBEF-4D35-98BF-E7F5D2BCF875}"/>
              </a:ext>
            </a:extLst>
          </p:cNvPr>
          <p:cNvSpPr txBox="1"/>
          <p:nvPr/>
        </p:nvSpPr>
        <p:spPr>
          <a:xfrm>
            <a:off x="3352942" y="5562251"/>
            <a:ext cx="1663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channels/depth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0B23D1-8858-49F3-8A0A-9573AE3F1DE1}"/>
              </a:ext>
            </a:extLst>
          </p:cNvPr>
          <p:cNvCxnSpPr>
            <a:stCxn id="13" idx="0"/>
          </p:cNvCxnSpPr>
          <p:nvPr/>
        </p:nvCxnSpPr>
        <p:spPr>
          <a:xfrm flipV="1">
            <a:off x="1541916" y="5137317"/>
            <a:ext cx="511482" cy="240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A93460-0F61-4D2D-9D80-1EAB44D03653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flipV="1">
            <a:off x="2415036" y="5137317"/>
            <a:ext cx="266432" cy="42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8234DD-8CF1-4C85-BB63-3E93A7266DE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3164355" y="5137317"/>
            <a:ext cx="1020193" cy="42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231ABE-ED58-4F5A-BE90-535153643105}"/>
              </a:ext>
            </a:extLst>
          </p:cNvPr>
          <p:cNvSpPr/>
          <p:nvPr/>
        </p:nvSpPr>
        <p:spPr>
          <a:xfrm>
            <a:off x="3060821" y="4757368"/>
            <a:ext cx="266432" cy="4249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ECC9F7-EB78-4C95-9F71-0BB98851CE72}"/>
              </a:ext>
            </a:extLst>
          </p:cNvPr>
          <p:cNvSpPr/>
          <p:nvPr/>
        </p:nvSpPr>
        <p:spPr>
          <a:xfrm>
            <a:off x="6540477" y="4176793"/>
            <a:ext cx="266432" cy="4249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DBF1439-A1C1-4DCF-BD37-13CE8079B9A6}"/>
                  </a:ext>
                </a:extLst>
              </p:cNvPr>
              <p:cNvSpPr/>
              <p:nvPr/>
            </p:nvSpPr>
            <p:spPr>
              <a:xfrm>
                <a:off x="8895423" y="2419851"/>
                <a:ext cx="2162258" cy="18567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DBF1439-A1C1-4DCF-BD37-13CE8079B9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423" y="2419851"/>
                <a:ext cx="2162258" cy="1856773"/>
              </a:xfrm>
              <a:prstGeom prst="rect">
                <a:avLst/>
              </a:prstGeom>
              <a:blipFill>
                <a:blip r:embed="rId5"/>
                <a:stretch>
                  <a:fillRect l="-5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627976-5E15-493D-BD3D-C5489CC946B2}"/>
                  </a:ext>
                </a:extLst>
              </p:cNvPr>
              <p:cNvSpPr txBox="1"/>
              <p:nvPr/>
            </p:nvSpPr>
            <p:spPr>
              <a:xfrm>
                <a:off x="7919820" y="3348237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627976-5E15-493D-BD3D-C5489CC94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820" y="3348237"/>
                <a:ext cx="298159" cy="369332"/>
              </a:xfrm>
              <a:prstGeom prst="rect">
                <a:avLst/>
              </a:prstGeom>
              <a:blipFill>
                <a:blip r:embed="rId6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91F06B-1617-4679-BC4A-A525BCCD4AFA}"/>
                  </a:ext>
                </a:extLst>
              </p:cNvPr>
              <p:cNvSpPr txBox="1"/>
              <p:nvPr/>
            </p:nvSpPr>
            <p:spPr>
              <a:xfrm>
                <a:off x="9330766" y="4361459"/>
                <a:ext cx="12915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91F06B-1617-4679-BC4A-A525BCCD4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766" y="4361459"/>
                <a:ext cx="1291572" cy="369332"/>
              </a:xfrm>
              <a:prstGeom prst="rect">
                <a:avLst/>
              </a:prstGeom>
              <a:blipFill>
                <a:blip r:embed="rId7"/>
                <a:stretch>
                  <a:fillRect l="-5189" r="-518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BC59EF8-31C9-4D01-B56E-7F90CB87EC23}"/>
              </a:ext>
            </a:extLst>
          </p:cNvPr>
          <p:cNvSpPr txBox="1"/>
          <p:nvPr/>
        </p:nvSpPr>
        <p:spPr>
          <a:xfrm>
            <a:off x="5329283" y="5377585"/>
            <a:ext cx="1533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be equal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6DD9C2-7C83-48CC-9C35-986AAD1DA514}"/>
              </a:ext>
            </a:extLst>
          </p:cNvPr>
          <p:cNvCxnSpPr>
            <a:stCxn id="30" idx="1"/>
            <a:endCxn id="25" idx="3"/>
          </p:cNvCxnSpPr>
          <p:nvPr/>
        </p:nvCxnSpPr>
        <p:spPr>
          <a:xfrm flipH="1" flipV="1">
            <a:off x="3327253" y="4969835"/>
            <a:ext cx="2002030" cy="592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C60E610-257D-471C-9932-8333EC86E856}"/>
              </a:ext>
            </a:extLst>
          </p:cNvPr>
          <p:cNvCxnSpPr>
            <a:cxnSpLocks/>
            <a:stCxn id="30" idx="0"/>
            <a:endCxn id="26" idx="2"/>
          </p:cNvCxnSpPr>
          <p:nvPr/>
        </p:nvCxnSpPr>
        <p:spPr>
          <a:xfrm flipV="1">
            <a:off x="6096000" y="4601727"/>
            <a:ext cx="577693" cy="775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14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2BC4A1A9-E4A4-4A8A-8B24-6B5F437B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514475"/>
            <a:ext cx="11725275" cy="3829050"/>
          </a:xfrm>
          <a:prstGeom prst="rect">
            <a:avLst/>
          </a:prstGeom>
        </p:spPr>
      </p:pic>
      <p:pic>
        <p:nvPicPr>
          <p:cNvPr id="7" name="Picture 6" descr="A picture containing shape&#10;&#10;Description automatically generated">
            <a:extLst>
              <a:ext uri="{FF2B5EF4-FFF2-40B4-BE49-F238E27FC236}">
                <a16:creationId xmlns:a16="http://schemas.microsoft.com/office/drawing/2014/main" id="{46824122-1776-4D3D-B24B-EFA28BAA7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890" y="590550"/>
            <a:ext cx="2143125" cy="1847850"/>
          </a:xfrm>
          <a:prstGeom prst="rect">
            <a:avLst/>
          </a:prstGeom>
        </p:spPr>
      </p:pic>
      <p:pic>
        <p:nvPicPr>
          <p:cNvPr id="9" name="Picture 8" descr="A picture containing shoji&#10;&#10;Description automatically generated">
            <a:extLst>
              <a:ext uri="{FF2B5EF4-FFF2-40B4-BE49-F238E27FC236}">
                <a16:creationId xmlns:a16="http://schemas.microsoft.com/office/drawing/2014/main" id="{B7A7E3CF-AC27-4832-86BE-8A18637F9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76" y="1590675"/>
            <a:ext cx="3676650" cy="3676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D20283-5128-4523-A607-20489E920F94}"/>
              </a:ext>
            </a:extLst>
          </p:cNvPr>
          <p:cNvSpPr txBox="1"/>
          <p:nvPr/>
        </p:nvSpPr>
        <p:spPr>
          <a:xfrm>
            <a:off x="648182" y="5729469"/>
            <a:ext cx="9088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perform convolution on each channel separately, and them sum-up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092CD5-D8B4-44FD-84A6-EE96EC0CBDEF}"/>
              </a:ext>
            </a:extLst>
          </p:cNvPr>
          <p:cNvCxnSpPr/>
          <p:nvPr/>
        </p:nvCxnSpPr>
        <p:spPr>
          <a:xfrm flipH="1">
            <a:off x="8866208" y="2627453"/>
            <a:ext cx="1388962" cy="244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02F1CEB-F0DE-403F-9D4D-5DA03589BE7F}"/>
              </a:ext>
            </a:extLst>
          </p:cNvPr>
          <p:cNvSpPr txBox="1"/>
          <p:nvPr/>
        </p:nvSpPr>
        <p:spPr>
          <a:xfrm>
            <a:off x="6713316" y="5116010"/>
            <a:ext cx="5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on channel R + * on channel G + * on channel B</a:t>
            </a:r>
          </a:p>
        </p:txBody>
      </p:sp>
      <p:pic>
        <p:nvPicPr>
          <p:cNvPr id="15" name="Picture 14" descr="A picture containing text, shoji&#10;&#10;Description automatically generated">
            <a:extLst>
              <a:ext uri="{FF2B5EF4-FFF2-40B4-BE49-F238E27FC236}">
                <a16:creationId xmlns:a16="http://schemas.microsoft.com/office/drawing/2014/main" id="{7A075581-012C-4563-83E9-00F1812DC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15" y="1685925"/>
            <a:ext cx="37052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F344-8309-49B6-B20B-4310F185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Multiple filters</a:t>
            </a: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0B278104-0428-4879-943B-A8A9B5AD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329"/>
            <a:ext cx="9399503" cy="51796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404585-E716-4F20-BF6E-7A5AED2462A9}"/>
              </a:ext>
            </a:extLst>
          </p:cNvPr>
          <p:cNvSpPr txBox="1"/>
          <p:nvPr/>
        </p:nvSpPr>
        <p:spPr>
          <a:xfrm>
            <a:off x="4444678" y="2059813"/>
            <a:ext cx="269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vertical edge detector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1602F-7D77-422E-8A87-B45AF6703C10}"/>
              </a:ext>
            </a:extLst>
          </p:cNvPr>
          <p:cNvSpPr txBox="1"/>
          <p:nvPr/>
        </p:nvSpPr>
        <p:spPr>
          <a:xfrm>
            <a:off x="3566932" y="6488668"/>
            <a:ext cx="294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horizontal edge detector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248B25-7AA8-4301-946D-A4D9AD77F4F2}"/>
                  </a:ext>
                </a:extLst>
              </p:cNvPr>
              <p:cNvSpPr/>
              <p:nvPr/>
            </p:nvSpPr>
            <p:spPr>
              <a:xfrm>
                <a:off x="10023676" y="3545361"/>
                <a:ext cx="1682188" cy="15590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248B25-7AA8-4301-946D-A4D9AD77F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676" y="3545361"/>
                <a:ext cx="1682188" cy="1559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5A9BFB2-81E3-463F-BE91-3749EAE041EC}"/>
                  </a:ext>
                </a:extLst>
              </p:cNvPr>
              <p:cNvSpPr/>
              <p:nvPr/>
            </p:nvSpPr>
            <p:spPr>
              <a:xfrm>
                <a:off x="9840410" y="3686186"/>
                <a:ext cx="1682188" cy="15590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5A9BFB2-81E3-463F-BE91-3749EAE04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410" y="3686186"/>
                <a:ext cx="1682188" cy="1559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Bent 10">
            <a:extLst>
              <a:ext uri="{FF2B5EF4-FFF2-40B4-BE49-F238E27FC236}">
                <a16:creationId xmlns:a16="http://schemas.microsoft.com/office/drawing/2014/main" id="{6D16F67B-1DE4-4041-9723-650F0D129572}"/>
              </a:ext>
            </a:extLst>
          </p:cNvPr>
          <p:cNvSpPr/>
          <p:nvPr/>
        </p:nvSpPr>
        <p:spPr>
          <a:xfrm rot="5400000">
            <a:off x="9706234" y="2601975"/>
            <a:ext cx="526216" cy="113967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9431FA4B-518A-4CDE-89B3-2E8E85B9EADB}"/>
              </a:ext>
            </a:extLst>
          </p:cNvPr>
          <p:cNvSpPr/>
          <p:nvPr/>
        </p:nvSpPr>
        <p:spPr>
          <a:xfrm rot="5400000" flipH="1">
            <a:off x="9728662" y="5018826"/>
            <a:ext cx="465928" cy="1139677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5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/>
              <p:nvPr/>
            </p:nvSpPr>
            <p:spPr>
              <a:xfrm>
                <a:off x="10531465" y="5281082"/>
                <a:ext cx="15100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465" y="5281082"/>
                <a:ext cx="151009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A02712-EA09-40EA-AA48-B10F07A7AADC}"/>
              </a:ext>
            </a:extLst>
          </p:cNvPr>
          <p:cNvSpPr/>
          <p:nvPr/>
        </p:nvSpPr>
        <p:spPr>
          <a:xfrm>
            <a:off x="11705864" y="5281082"/>
            <a:ext cx="335694" cy="4308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33610-504A-4275-AC95-6C6F25C10FA4}"/>
              </a:ext>
            </a:extLst>
          </p:cNvPr>
          <p:cNvSpPr txBox="1"/>
          <p:nvPr/>
        </p:nvSpPr>
        <p:spPr>
          <a:xfrm>
            <a:off x="11106490" y="6291507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#filters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6C341D-BE87-43EE-A749-0D27A151012E}"/>
              </a:ext>
            </a:extLst>
          </p:cNvPr>
          <p:cNvCxnSpPr>
            <a:stCxn id="15" idx="0"/>
            <a:endCxn id="14" idx="2"/>
          </p:cNvCxnSpPr>
          <p:nvPr/>
        </p:nvCxnSpPr>
        <p:spPr>
          <a:xfrm flipV="1">
            <a:off x="11522598" y="5711969"/>
            <a:ext cx="351113" cy="579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90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/>
      <p:bldP spid="14" grpId="0" animBg="1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1A7D209-64A9-59CE-E8E8-0B0D767B5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95" y="0"/>
            <a:ext cx="8287612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220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F745F3-3ABC-4AFD-ADAC-70587865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One-layer CNN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55B2F-51AE-419D-9E92-B3FD6B0D4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94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F344-8309-49B6-B20B-4310F185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CNN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/>
              <p:nvPr/>
            </p:nvSpPr>
            <p:spPr>
              <a:xfrm>
                <a:off x="10211603" y="6336035"/>
                <a:ext cx="10792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603" y="6336035"/>
                <a:ext cx="1079206" cy="307777"/>
              </a:xfrm>
              <a:prstGeom prst="rect">
                <a:avLst/>
              </a:prstGeom>
              <a:blipFill>
                <a:blip r:embed="rId2"/>
                <a:stretch>
                  <a:fillRect l="-5085" r="-50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Chart, box and whisker chart&#10;&#10;Description automatically generated">
            <a:extLst>
              <a:ext uri="{FF2B5EF4-FFF2-40B4-BE49-F238E27FC236}">
                <a16:creationId xmlns:a16="http://schemas.microsoft.com/office/drawing/2014/main" id="{FED8A767-4605-44A8-967E-FF52B786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66" y="1893604"/>
            <a:ext cx="4128847" cy="30707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51D60-4128-4D9F-A0D1-640236A9FC5F}"/>
                  </a:ext>
                </a:extLst>
              </p:cNvPr>
              <p:cNvSpPr txBox="1"/>
              <p:nvPr/>
            </p:nvSpPr>
            <p:spPr>
              <a:xfrm>
                <a:off x="5433434" y="2340817"/>
                <a:ext cx="440697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(      +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51D60-4128-4D9F-A0D1-640236A9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434" y="2340817"/>
                <a:ext cx="4406976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7EBAC39E-130F-42B9-82C5-2300421BD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653" y="2376476"/>
            <a:ext cx="785813" cy="795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A417BD-2679-43E1-9304-4FE0127B0DFB}"/>
                  </a:ext>
                </a:extLst>
              </p:cNvPr>
              <p:cNvSpPr txBox="1"/>
              <p:nvPr/>
            </p:nvSpPr>
            <p:spPr>
              <a:xfrm>
                <a:off x="5433434" y="3771569"/>
                <a:ext cx="442300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(      +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A417BD-2679-43E1-9304-4FE0127B0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434" y="3771569"/>
                <a:ext cx="442300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DD6B471A-C692-43FA-8F72-AE4A64EF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652" y="3816503"/>
            <a:ext cx="785813" cy="795338"/>
          </a:xfrm>
          <a:prstGeom prst="rect">
            <a:avLst/>
          </a:prstGeom>
        </p:spPr>
      </p:pic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D1F83F8D-F70D-4ABC-B8C6-9EB6E3833424}"/>
              </a:ext>
            </a:extLst>
          </p:cNvPr>
          <p:cNvSpPr/>
          <p:nvPr/>
        </p:nvSpPr>
        <p:spPr>
          <a:xfrm>
            <a:off x="4768770" y="1776721"/>
            <a:ext cx="3183038" cy="45719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61C9A4F6-9ED6-4630-9494-2D880675B0E6}"/>
              </a:ext>
            </a:extLst>
          </p:cNvPr>
          <p:cNvSpPr/>
          <p:nvPr/>
        </p:nvSpPr>
        <p:spPr>
          <a:xfrm flipV="1">
            <a:off x="4768770" y="4805150"/>
            <a:ext cx="3183038" cy="5985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7" name="Picture 26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9CB9A690-CB84-453D-9F7A-C9F8E1333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297" y="2358646"/>
            <a:ext cx="785813" cy="795338"/>
          </a:xfrm>
          <a:prstGeom prst="rect">
            <a:avLst/>
          </a:prstGeom>
        </p:spPr>
      </p:pic>
      <p:pic>
        <p:nvPicPr>
          <p:cNvPr id="28" name="Picture 27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1F801635-3943-4FF5-9EC5-B8B5A7D36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296" y="3807228"/>
            <a:ext cx="785813" cy="795338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BB8EE1-C5D7-4CBA-929A-CDF681244346}"/>
              </a:ext>
            </a:extLst>
          </p:cNvPr>
          <p:cNvCxnSpPr>
            <a:stCxn id="16" idx="3"/>
            <a:endCxn id="27" idx="1"/>
          </p:cNvCxnSpPr>
          <p:nvPr/>
        </p:nvCxnSpPr>
        <p:spPr>
          <a:xfrm flipV="1">
            <a:off x="9840410" y="2756315"/>
            <a:ext cx="6468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A48F05-3E90-43C8-8570-8660E3DAD50F}"/>
              </a:ext>
            </a:extLst>
          </p:cNvPr>
          <p:cNvCxnSpPr/>
          <p:nvPr/>
        </p:nvCxnSpPr>
        <p:spPr>
          <a:xfrm flipV="1">
            <a:off x="9840410" y="4214172"/>
            <a:ext cx="6468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" name="Picture 32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C705C3F0-6DD9-4FCA-9823-63877FB0C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996" y="5403723"/>
            <a:ext cx="785813" cy="795338"/>
          </a:xfrm>
          <a:prstGeom prst="rect">
            <a:avLst/>
          </a:prstGeom>
        </p:spPr>
      </p:pic>
      <p:pic>
        <p:nvPicPr>
          <p:cNvPr id="34" name="Picture 33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0752A97D-F6B4-4E08-B37E-E888B3CEA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329" y="5540697"/>
            <a:ext cx="785813" cy="795338"/>
          </a:xfrm>
          <a:prstGeom prst="rect">
            <a:avLst/>
          </a:prstGeom>
        </p:spPr>
      </p:pic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CF730E5D-99CC-48A4-9D45-9A6C967528CE}"/>
              </a:ext>
            </a:extLst>
          </p:cNvPr>
          <p:cNvSpPr/>
          <p:nvPr/>
        </p:nvSpPr>
        <p:spPr>
          <a:xfrm>
            <a:off x="11353800" y="2774145"/>
            <a:ext cx="566196" cy="320996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Arrow: Curved Left 35">
            <a:extLst>
              <a:ext uri="{FF2B5EF4-FFF2-40B4-BE49-F238E27FC236}">
                <a16:creationId xmlns:a16="http://schemas.microsoft.com/office/drawing/2014/main" id="{0F08349F-8547-48E1-939B-939B406E3592}"/>
              </a:ext>
            </a:extLst>
          </p:cNvPr>
          <p:cNvSpPr/>
          <p:nvPr/>
        </p:nvSpPr>
        <p:spPr>
          <a:xfrm flipH="1">
            <a:off x="9856439" y="4456036"/>
            <a:ext cx="440421" cy="134535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70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0" grpId="0"/>
      <p:bldP spid="23" grpId="0" animBg="1"/>
      <p:bldP spid="2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/>
              <p:nvPr/>
            </p:nvSpPr>
            <p:spPr>
              <a:xfrm>
                <a:off x="10095856" y="4959885"/>
                <a:ext cx="107920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C51816-9897-4F4D-965F-4F2736D6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856" y="4959885"/>
                <a:ext cx="1079206" cy="307777"/>
              </a:xfrm>
              <a:prstGeom prst="rect">
                <a:avLst/>
              </a:prstGeom>
              <a:blipFill>
                <a:blip r:embed="rId2"/>
                <a:stretch>
                  <a:fillRect l="-5085" r="-508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Chart, box and whisker chart&#10;&#10;Description automatically generated">
            <a:extLst>
              <a:ext uri="{FF2B5EF4-FFF2-40B4-BE49-F238E27FC236}">
                <a16:creationId xmlns:a16="http://schemas.microsoft.com/office/drawing/2014/main" id="{FED8A767-4605-44A8-967E-FF52B786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19" y="517454"/>
            <a:ext cx="4128847" cy="30707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51D60-4128-4D9F-A0D1-640236A9FC5F}"/>
                  </a:ext>
                </a:extLst>
              </p:cNvPr>
              <p:cNvSpPr txBox="1"/>
              <p:nvPr/>
            </p:nvSpPr>
            <p:spPr>
              <a:xfrm>
                <a:off x="5317687" y="964667"/>
                <a:ext cx="440697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(      +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51D60-4128-4D9F-A0D1-640236A9F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87" y="964667"/>
                <a:ext cx="4406976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7EBAC39E-130F-42B9-82C5-2300421BD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906" y="1000326"/>
            <a:ext cx="785813" cy="795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A417BD-2679-43E1-9304-4FE0127B0DFB}"/>
                  </a:ext>
                </a:extLst>
              </p:cNvPr>
              <p:cNvSpPr txBox="1"/>
              <p:nvPr/>
            </p:nvSpPr>
            <p:spPr>
              <a:xfrm>
                <a:off x="5317687" y="2395419"/>
                <a:ext cx="442300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m:rPr>
                          <m:nor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(      +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A417BD-2679-43E1-9304-4FE0127B0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687" y="2395419"/>
                <a:ext cx="442300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DD6B471A-C692-43FA-8F72-AE4A64EF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905" y="2440353"/>
            <a:ext cx="785813" cy="795338"/>
          </a:xfrm>
          <a:prstGeom prst="rect">
            <a:avLst/>
          </a:prstGeom>
        </p:spPr>
      </p:pic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D1F83F8D-F70D-4ABC-B8C6-9EB6E3833424}"/>
              </a:ext>
            </a:extLst>
          </p:cNvPr>
          <p:cNvSpPr/>
          <p:nvPr/>
        </p:nvSpPr>
        <p:spPr>
          <a:xfrm>
            <a:off x="4653023" y="400571"/>
            <a:ext cx="3183038" cy="45719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61C9A4F6-9ED6-4630-9494-2D880675B0E6}"/>
              </a:ext>
            </a:extLst>
          </p:cNvPr>
          <p:cNvSpPr/>
          <p:nvPr/>
        </p:nvSpPr>
        <p:spPr>
          <a:xfrm flipV="1">
            <a:off x="4653023" y="3429000"/>
            <a:ext cx="3183038" cy="59857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7" name="Picture 26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9CB9A690-CB84-453D-9F7A-C9F8E1333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1550" y="982496"/>
            <a:ext cx="785813" cy="795338"/>
          </a:xfrm>
          <a:prstGeom prst="rect">
            <a:avLst/>
          </a:prstGeom>
        </p:spPr>
      </p:pic>
      <p:pic>
        <p:nvPicPr>
          <p:cNvPr id="28" name="Picture 27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1F801635-3943-4FF5-9EC5-B8B5A7D36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1549" y="2431078"/>
            <a:ext cx="785813" cy="795338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BB8EE1-C5D7-4CBA-929A-CDF681244346}"/>
              </a:ext>
            </a:extLst>
          </p:cNvPr>
          <p:cNvCxnSpPr>
            <a:stCxn id="16" idx="3"/>
            <a:endCxn id="27" idx="1"/>
          </p:cNvCxnSpPr>
          <p:nvPr/>
        </p:nvCxnSpPr>
        <p:spPr>
          <a:xfrm flipV="1">
            <a:off x="9724663" y="1380165"/>
            <a:ext cx="6468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A48F05-3E90-43C8-8570-8660E3DAD50F}"/>
              </a:ext>
            </a:extLst>
          </p:cNvPr>
          <p:cNvCxnSpPr/>
          <p:nvPr/>
        </p:nvCxnSpPr>
        <p:spPr>
          <a:xfrm flipV="1">
            <a:off x="9724663" y="2838022"/>
            <a:ext cx="6468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" name="Picture 32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C705C3F0-6DD9-4FCA-9823-63877FB0C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249" y="4027573"/>
            <a:ext cx="785813" cy="795338"/>
          </a:xfrm>
          <a:prstGeom prst="rect">
            <a:avLst/>
          </a:prstGeom>
        </p:spPr>
      </p:pic>
      <p:pic>
        <p:nvPicPr>
          <p:cNvPr id="34" name="Picture 33" descr="A picture containing shoji, building, crossword puzzle&#10;&#10;Description automatically generated">
            <a:extLst>
              <a:ext uri="{FF2B5EF4-FFF2-40B4-BE49-F238E27FC236}">
                <a16:creationId xmlns:a16="http://schemas.microsoft.com/office/drawing/2014/main" id="{0752A97D-F6B4-4E08-B37E-E888B3CEA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582" y="4164547"/>
            <a:ext cx="785813" cy="795338"/>
          </a:xfrm>
          <a:prstGeom prst="rect">
            <a:avLst/>
          </a:prstGeom>
        </p:spPr>
      </p:pic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CF730E5D-99CC-48A4-9D45-9A6C967528CE}"/>
              </a:ext>
            </a:extLst>
          </p:cNvPr>
          <p:cNvSpPr/>
          <p:nvPr/>
        </p:nvSpPr>
        <p:spPr>
          <a:xfrm>
            <a:off x="11238053" y="1397995"/>
            <a:ext cx="566196" cy="320996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Arrow: Curved Left 35">
            <a:extLst>
              <a:ext uri="{FF2B5EF4-FFF2-40B4-BE49-F238E27FC236}">
                <a16:creationId xmlns:a16="http://schemas.microsoft.com/office/drawing/2014/main" id="{0F08349F-8547-48E1-939B-939B406E3592}"/>
              </a:ext>
            </a:extLst>
          </p:cNvPr>
          <p:cNvSpPr/>
          <p:nvPr/>
        </p:nvSpPr>
        <p:spPr>
          <a:xfrm flipH="1">
            <a:off x="9740692" y="3079886"/>
            <a:ext cx="440421" cy="134535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CB04B-D4BC-4EAB-98EC-190BE190A111}"/>
                  </a:ext>
                </a:extLst>
              </p:cNvPr>
              <p:cNvSpPr txBox="1"/>
              <p:nvPr/>
            </p:nvSpPr>
            <p:spPr>
              <a:xfrm>
                <a:off x="150676" y="5490550"/>
                <a:ext cx="2074222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−1]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2CB04B-D4BC-4EAB-98EC-190BE190A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76" y="5490550"/>
                <a:ext cx="2074222" cy="385105"/>
              </a:xfrm>
              <a:prstGeom prst="rect">
                <a:avLst/>
              </a:prstGeom>
              <a:blipFill>
                <a:blip r:embed="rId7"/>
                <a:stretch>
                  <a:fillRect l="-1765" t="-4762" r="-2353"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B890DA-EC92-4968-BE82-CEA4AAAB3BDC}"/>
                  </a:ext>
                </a:extLst>
              </p:cNvPr>
              <p:cNvSpPr txBox="1"/>
              <p:nvPr/>
            </p:nvSpPr>
            <p:spPr>
              <a:xfrm>
                <a:off x="300942" y="5955441"/>
                <a:ext cx="1773691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B890DA-EC92-4968-BE82-CEA4AAAB3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2" y="5955441"/>
                <a:ext cx="1773691" cy="385105"/>
              </a:xfrm>
              <a:prstGeom prst="rect">
                <a:avLst/>
              </a:prstGeom>
              <a:blipFill>
                <a:blip r:embed="rId8"/>
                <a:stretch>
                  <a:fillRect l="-1718" t="-4762" r="-58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22EABE-91AF-479E-BDA6-E34C1A6D8537}"/>
                  </a:ext>
                </a:extLst>
              </p:cNvPr>
              <p:cNvSpPr txBox="1"/>
              <p:nvPr/>
            </p:nvSpPr>
            <p:spPr>
              <a:xfrm>
                <a:off x="1399302" y="3259505"/>
                <a:ext cx="666144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222EABE-91AF-479E-BDA6-E34C1A6D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302" y="3259505"/>
                <a:ext cx="666144" cy="320985"/>
              </a:xfrm>
              <a:prstGeom prst="rect">
                <a:avLst/>
              </a:prstGeom>
              <a:blipFill>
                <a:blip r:embed="rId9"/>
                <a:stretch>
                  <a:fillRect l="-5505" t="-5769" r="-8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D15DC1-DC2C-4BED-8906-0FB8BCAFE018}"/>
                  </a:ext>
                </a:extLst>
              </p:cNvPr>
              <p:cNvSpPr txBox="1"/>
              <p:nvPr/>
            </p:nvSpPr>
            <p:spPr>
              <a:xfrm>
                <a:off x="4058107" y="3843562"/>
                <a:ext cx="440249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D15DC1-DC2C-4BED-8906-0FB8BCAFE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107" y="3843562"/>
                <a:ext cx="440249" cy="320985"/>
              </a:xfrm>
              <a:prstGeom prst="rect">
                <a:avLst/>
              </a:prstGeom>
              <a:blipFill>
                <a:blip r:embed="rId10"/>
                <a:stretch>
                  <a:fillRect l="-13889" t="-5769" r="-12500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89C8EB-3879-4ADE-8ED2-FA45A3C949E2}"/>
                  </a:ext>
                </a:extLst>
              </p:cNvPr>
              <p:cNvSpPr txBox="1"/>
              <p:nvPr/>
            </p:nvSpPr>
            <p:spPr>
              <a:xfrm>
                <a:off x="8231108" y="3339243"/>
                <a:ext cx="550762" cy="413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89C8EB-3879-4ADE-8ED2-FA45A3C94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108" y="3339243"/>
                <a:ext cx="550762" cy="41331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D6EC8-94A6-4E07-B371-810236E854A4}"/>
                  </a:ext>
                </a:extLst>
              </p:cNvPr>
              <p:cNvSpPr txBox="1"/>
              <p:nvPr/>
            </p:nvSpPr>
            <p:spPr>
              <a:xfrm>
                <a:off x="6181587" y="3287003"/>
                <a:ext cx="2191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1D6EC8-94A6-4E07-B371-810236E85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587" y="3287003"/>
                <a:ext cx="219163" cy="307777"/>
              </a:xfrm>
              <a:prstGeom prst="rect">
                <a:avLst/>
              </a:prstGeom>
              <a:blipFill>
                <a:blip r:embed="rId12"/>
                <a:stretch>
                  <a:fillRect l="-27778" r="-2777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C4E661-5348-48D3-978F-043BEA0D0FAB}"/>
                  </a:ext>
                </a:extLst>
              </p:cNvPr>
              <p:cNvSpPr txBox="1"/>
              <p:nvPr/>
            </p:nvSpPr>
            <p:spPr>
              <a:xfrm>
                <a:off x="9877609" y="5361384"/>
                <a:ext cx="1773691" cy="413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C4E661-5348-48D3-978F-043BEA0D0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7609" y="5361384"/>
                <a:ext cx="1773691" cy="413318"/>
              </a:xfrm>
              <a:prstGeom prst="rect">
                <a:avLst/>
              </a:prstGeom>
              <a:blipFill>
                <a:blip r:embed="rId13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be 10">
            <a:extLst>
              <a:ext uri="{FF2B5EF4-FFF2-40B4-BE49-F238E27FC236}">
                <a16:creationId xmlns:a16="http://schemas.microsoft.com/office/drawing/2014/main" id="{9E4499B1-82A4-4B5F-A213-62B3C3121126}"/>
              </a:ext>
            </a:extLst>
          </p:cNvPr>
          <p:cNvSpPr/>
          <p:nvPr/>
        </p:nvSpPr>
        <p:spPr>
          <a:xfrm>
            <a:off x="3808071" y="4959885"/>
            <a:ext cx="1307939" cy="111682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76E3783A-FD84-4CF1-80FC-7CC1DD789788}"/>
              </a:ext>
            </a:extLst>
          </p:cNvPr>
          <p:cNvSpPr/>
          <p:nvPr/>
        </p:nvSpPr>
        <p:spPr>
          <a:xfrm>
            <a:off x="7146787" y="5174032"/>
            <a:ext cx="913104" cy="78802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2B80A7-9EA5-420F-909C-4EFBF97753AF}"/>
              </a:ext>
            </a:extLst>
          </p:cNvPr>
          <p:cNvCxnSpPr/>
          <p:nvPr/>
        </p:nvCxnSpPr>
        <p:spPr>
          <a:xfrm>
            <a:off x="5416952" y="5648446"/>
            <a:ext cx="14236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A7F38D-4A62-4F35-8A95-5D24E4E17423}"/>
                  </a:ext>
                </a:extLst>
              </p:cNvPr>
              <p:cNvSpPr txBox="1"/>
              <p:nvPr/>
            </p:nvSpPr>
            <p:spPr>
              <a:xfrm>
                <a:off x="3625102" y="6196147"/>
                <a:ext cx="172495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×6×3 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−1]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A7F38D-4A62-4F35-8A95-5D24E4E17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102" y="6196147"/>
                <a:ext cx="1724959" cy="288797"/>
              </a:xfrm>
              <a:prstGeom prst="rect">
                <a:avLst/>
              </a:prstGeom>
              <a:blipFill>
                <a:blip r:embed="rId14"/>
                <a:stretch>
                  <a:fillRect l="-2827" t="-8333" r="-212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1F59EF-2F44-4378-A4C6-854491DC4769}"/>
                  </a:ext>
                </a:extLst>
              </p:cNvPr>
              <p:cNvSpPr txBox="1"/>
              <p:nvPr/>
            </p:nvSpPr>
            <p:spPr>
              <a:xfrm>
                <a:off x="6725760" y="6196147"/>
                <a:ext cx="1505348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×4×2 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1F59EF-2F44-4378-A4C6-854491DC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760" y="6196147"/>
                <a:ext cx="1505348" cy="288797"/>
              </a:xfrm>
              <a:prstGeom prst="rect">
                <a:avLst/>
              </a:prstGeom>
              <a:blipFill>
                <a:blip r:embed="rId15"/>
                <a:stretch>
                  <a:fillRect l="-3239" t="-8333" r="-283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E92980D-54A9-42F9-8AD5-35B7EBCD6F90}"/>
              </a:ext>
            </a:extLst>
          </p:cNvPr>
          <p:cNvSpPr txBox="1"/>
          <p:nvPr/>
        </p:nvSpPr>
        <p:spPr>
          <a:xfrm>
            <a:off x="5324146" y="4607961"/>
            <a:ext cx="155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layer CNN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FD3E7B-1AF1-4EF9-B618-68C736A4FB67}"/>
                  </a:ext>
                </a:extLst>
              </p:cNvPr>
              <p:cNvSpPr txBox="1"/>
              <p:nvPr/>
            </p:nvSpPr>
            <p:spPr>
              <a:xfrm>
                <a:off x="5807459" y="5352050"/>
                <a:ext cx="5770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FD3E7B-1AF1-4EF9-B618-68C736A4F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459" y="5352050"/>
                <a:ext cx="577081" cy="276999"/>
              </a:xfrm>
              <a:prstGeom prst="rect">
                <a:avLst/>
              </a:prstGeom>
              <a:blipFill>
                <a:blip r:embed="rId16"/>
                <a:stretch>
                  <a:fillRect l="-9574" r="-95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39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2" grpId="0"/>
      <p:bldP spid="6" grpId="0"/>
      <p:bldP spid="25" grpId="0"/>
      <p:bldP spid="26" grpId="0"/>
      <p:bldP spid="8" grpId="0"/>
      <p:bldP spid="29" grpId="0"/>
      <p:bldP spid="11" grpId="0" animBg="1"/>
      <p:bldP spid="37" grpId="0" animBg="1"/>
      <p:bldP spid="15" grpId="0"/>
      <p:bldP spid="38" grpId="0"/>
      <p:bldP spid="17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CCED-9B7F-4EB5-BC7A-97DF63B5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9675F-717B-4323-85C4-55E75E90B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have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 filters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in a CNN layer, then you need to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parameters</a:t>
                </a:r>
              </a:p>
              <a:p>
                <a:r>
                  <a:rPr lang="en-US" dirty="0"/>
                  <a:t>The number of parameters does not depend on the input of the layer (in other words on the input image)</a:t>
                </a:r>
              </a:p>
              <a:p>
                <a:r>
                  <a:rPr lang="en-US" dirty="0"/>
                  <a:t>Once you have learnt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 feature detectors that works well, then you can apply  them to images of any size</a:t>
                </a:r>
              </a:p>
              <a:p>
                <a:r>
                  <a:rPr lang="en-US" dirty="0"/>
                  <a:t>This is one characteristic of CNN that make them less prone to overfitting (the “</a:t>
                </a:r>
                <a:r>
                  <a:rPr lang="en-US" dirty="0" err="1"/>
                  <a:t>fixed”number</a:t>
                </a:r>
                <a:r>
                  <a:rPr lang="en-US" dirty="0"/>
                  <a:t> of parameters to learn)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9675F-717B-4323-85C4-55E75E90B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843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BC64-44DB-4F5E-BB41-D0D6E14D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162E1-5739-48FC-904F-CEE5F6DF7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44651"/>
              </a:xfrm>
            </p:spPr>
            <p:txBody>
              <a:bodyPr/>
              <a:lstStyle/>
              <a:p>
                <a:r>
                  <a:rPr lang="en-US" dirty="0"/>
                  <a:t>If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is a convolutional layer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162E1-5739-48FC-904F-CEE5F6DF7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44651"/>
              </a:xfrm>
              <a:blipFill>
                <a:blip r:embed="rId2"/>
                <a:stretch>
                  <a:fillRect l="-1043" t="-15094"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2E594-344C-4D83-8E2E-AB925A6E3F13}"/>
                  </a:ext>
                </a:extLst>
              </p:cNvPr>
              <p:cNvSpPr txBox="1"/>
              <p:nvPr/>
            </p:nvSpPr>
            <p:spPr>
              <a:xfrm>
                <a:off x="-1157469" y="2470276"/>
                <a:ext cx="5236967" cy="2203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size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padding</m:t>
                      </m:r>
                    </m:oMath>
                  </m:oMathPara>
                </a14:m>
                <a:endParaRPr lang="en-US" sz="2000" dirty="0"/>
              </a:p>
              <a:p>
                <a:pPr lvl="1"/>
                <a:r>
                  <a:rPr lang="en-US" sz="2000" b="0" dirty="0"/>
                  <a:t>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stride</m:t>
                    </m:r>
                  </m:oMath>
                </a14:m>
                <a:br>
                  <a:rPr lang="en-US" sz="2000" b="0" dirty="0"/>
                </a:br>
                <a:r>
                  <a:rPr lang="en-US" sz="2000" b="0" dirty="0"/>
                  <a:t>	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height</m:t>
                    </m:r>
                  </m:oMath>
                </a14:m>
                <a:br>
                  <a:rPr lang="en-US" sz="2000" b="0" dirty="0"/>
                </a:br>
                <a:r>
                  <a:rPr lang="en-US" sz="2000" b="0" dirty="0"/>
                  <a:t>	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width</m:t>
                    </m:r>
                  </m:oMath>
                </a14:m>
                <a:br>
                  <a:rPr lang="en-US" sz="2000" b="0" dirty="0"/>
                </a:br>
                <a:r>
                  <a:rPr lang="en-US" sz="2000" b="0" dirty="0"/>
                  <a:t>	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channels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filters</m:t>
                    </m:r>
                  </m:oMath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22E594-344C-4D83-8E2E-AB925A6E3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7469" y="2470276"/>
                <a:ext cx="5236967" cy="2203488"/>
              </a:xfrm>
              <a:prstGeom prst="rect">
                <a:avLst/>
              </a:prstGeom>
              <a:blipFill>
                <a:blip r:embed="rId3"/>
                <a:stretch>
                  <a:fillRect b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91E69-D509-4A57-91D8-8CA4BFDBE6BA}"/>
                  </a:ext>
                </a:extLst>
              </p:cNvPr>
              <p:cNvSpPr txBox="1"/>
              <p:nvPr/>
            </p:nvSpPr>
            <p:spPr>
              <a:xfrm>
                <a:off x="6096000" y="2470276"/>
                <a:ext cx="3204916" cy="387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Input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−1]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F91E69-D509-4A57-91D8-8CA4BFDBE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70276"/>
                <a:ext cx="3204916" cy="387350"/>
              </a:xfrm>
              <a:prstGeom prst="rect">
                <a:avLst/>
              </a:prstGeom>
              <a:blipFill>
                <a:blip r:embed="rId4"/>
                <a:stretch>
                  <a:fillRect l="-2281" t="-4688" r="-1331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7DFA6A-6795-4E12-A9CF-142A286410EB}"/>
                  </a:ext>
                </a:extLst>
              </p:cNvPr>
              <p:cNvSpPr txBox="1"/>
              <p:nvPr/>
            </p:nvSpPr>
            <p:spPr>
              <a:xfrm>
                <a:off x="6096000" y="2857626"/>
                <a:ext cx="2639056" cy="387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utput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7DFA6A-6795-4E12-A9CF-142A28641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57626"/>
                <a:ext cx="2639056" cy="387350"/>
              </a:xfrm>
              <a:prstGeom prst="rect">
                <a:avLst/>
              </a:prstGeom>
              <a:blipFill>
                <a:blip r:embed="rId5"/>
                <a:stretch>
                  <a:fillRect l="-1617" t="-4762" r="-1617"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F976F2-0136-49A5-8035-822BEDE858B0}"/>
                  </a:ext>
                </a:extLst>
              </p:cNvPr>
              <p:cNvSpPr txBox="1"/>
              <p:nvPr/>
            </p:nvSpPr>
            <p:spPr>
              <a:xfrm>
                <a:off x="6096000" y="3572020"/>
                <a:ext cx="3504677" cy="684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−1]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F976F2-0136-49A5-8035-822BEDE85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72020"/>
                <a:ext cx="3504677" cy="684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954AA5-4092-4DEC-9F99-CB571A881439}"/>
                  </a:ext>
                </a:extLst>
              </p:cNvPr>
              <p:cNvSpPr txBox="1"/>
              <p:nvPr/>
            </p:nvSpPr>
            <p:spPr>
              <a:xfrm>
                <a:off x="6096000" y="4256823"/>
                <a:ext cx="3504677" cy="692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−1]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954AA5-4092-4DEC-9F99-CB571A881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56823"/>
                <a:ext cx="3504677" cy="6929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1A99D6-60C8-4C40-AC13-5B551EA5965E}"/>
                  </a:ext>
                </a:extLst>
              </p:cNvPr>
              <p:cNvSpPr txBox="1"/>
              <p:nvPr/>
            </p:nvSpPr>
            <p:spPr>
              <a:xfrm>
                <a:off x="544011" y="4949770"/>
                <a:ext cx="3415037" cy="374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filter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−1]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1A99D6-60C8-4C40-AC13-5B551EA59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11" y="4949770"/>
                <a:ext cx="3415037" cy="374911"/>
              </a:xfrm>
              <a:prstGeom prst="rect">
                <a:avLst/>
              </a:prstGeom>
              <a:blipFill>
                <a:blip r:embed="rId8"/>
                <a:stretch>
                  <a:fillRect l="-1429" t="-4918" r="-1250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7FE705-38F8-4776-8964-EC63877FD92B}"/>
                  </a:ext>
                </a:extLst>
              </p:cNvPr>
              <p:cNvSpPr txBox="1"/>
              <p:nvPr/>
            </p:nvSpPr>
            <p:spPr>
              <a:xfrm>
                <a:off x="541452" y="5569178"/>
                <a:ext cx="4913012" cy="374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−1]</m:t>
                          </m:r>
                        </m:sup>
                      </m:sSubSup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7FE705-38F8-4776-8964-EC63877FD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52" y="5569178"/>
                <a:ext cx="4913012" cy="374911"/>
              </a:xfrm>
              <a:prstGeom prst="rect">
                <a:avLst/>
              </a:prstGeom>
              <a:blipFill>
                <a:blip r:embed="rId9"/>
                <a:stretch>
                  <a:fillRect l="-868" t="-4918" r="-620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17FF40-C36D-4AF3-A709-E7C132144400}"/>
                  </a:ext>
                </a:extLst>
              </p:cNvPr>
              <p:cNvSpPr txBox="1"/>
              <p:nvPr/>
            </p:nvSpPr>
            <p:spPr>
              <a:xfrm>
                <a:off x="1655180" y="6044149"/>
                <a:ext cx="2424318" cy="374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biases</m:t>
                      </m:r>
                      <m:r>
                        <m:rPr>
                          <m:nor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17FF40-C36D-4AF3-A709-E7C132144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180" y="6044149"/>
                <a:ext cx="2424318" cy="374911"/>
              </a:xfrm>
              <a:prstGeom prst="rect">
                <a:avLst/>
              </a:prstGeom>
              <a:blipFill>
                <a:blip r:embed="rId10"/>
                <a:stretch>
                  <a:fillRect l="-2015" t="-3226" r="-2015" b="-1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842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B3224A-6580-47B3-97A0-01D83BCE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convolution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22F239-0E6E-47FF-9960-A3E02425894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28031" y="1690688"/>
            <a:ext cx="10515600" cy="268922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0DC14B-D5AF-4291-ACD7-4B05A84FE61A}"/>
              </a:ext>
            </a:extLst>
          </p:cNvPr>
          <p:cNvSpPr txBox="1"/>
          <p:nvPr/>
        </p:nvSpPr>
        <p:spPr>
          <a:xfrm>
            <a:off x="648183" y="4386991"/>
            <a:ext cx="112621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Parameter Sharing</a:t>
            </a:r>
            <a:r>
              <a:rPr lang="en-US" sz="2400" dirty="0"/>
              <a:t>: a feature detectors (e.g., a vertical edge detector) can be used in different parts of the image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Sparsity of connection</a:t>
            </a:r>
            <a:r>
              <a:rPr lang="en-US" sz="2400" dirty="0"/>
              <a:t>: in each layer, each output value only depends on a limited number of inputs (few parameters to learn, less prone to overfitting)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1CE23E-BF51-4E63-AD32-D2C964BF1B24}"/>
              </a:ext>
            </a:extLst>
          </p:cNvPr>
          <p:cNvSpPr/>
          <p:nvPr/>
        </p:nvSpPr>
        <p:spPr>
          <a:xfrm>
            <a:off x="335666" y="1690688"/>
            <a:ext cx="1493133" cy="14097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C70E27-665D-44DB-A2C4-583F13C443E5}"/>
              </a:ext>
            </a:extLst>
          </p:cNvPr>
          <p:cNvSpPr/>
          <p:nvPr/>
        </p:nvSpPr>
        <p:spPr>
          <a:xfrm>
            <a:off x="8831484" y="1986947"/>
            <a:ext cx="486136" cy="5826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8F5D2B-FF5C-4732-9674-3E3BEFD5CAED}"/>
              </a:ext>
            </a:extLst>
          </p:cNvPr>
          <p:cNvCxnSpPr/>
          <p:nvPr/>
        </p:nvCxnSpPr>
        <p:spPr>
          <a:xfrm flipV="1">
            <a:off x="1828799" y="1088020"/>
            <a:ext cx="4907667" cy="1018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BD2035-806B-4DD4-8883-1B187BCE78B4}"/>
              </a:ext>
            </a:extLst>
          </p:cNvPr>
          <p:cNvCxnSpPr/>
          <p:nvPr/>
        </p:nvCxnSpPr>
        <p:spPr>
          <a:xfrm flipH="1" flipV="1">
            <a:off x="6944810" y="1088020"/>
            <a:ext cx="1794076" cy="1205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2E88B3-5898-427A-9863-C556C4C8A3B2}"/>
              </a:ext>
            </a:extLst>
          </p:cNvPr>
          <p:cNvSpPr txBox="1"/>
          <p:nvPr/>
        </p:nvSpPr>
        <p:spPr>
          <a:xfrm>
            <a:off x="6562846" y="706056"/>
            <a:ext cx="502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output is only connected to 9 inputs (out of 36)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10A3FB-88B1-4A9B-B43A-1AAED4BC54C4}"/>
              </a:ext>
            </a:extLst>
          </p:cNvPr>
          <p:cNvSpPr txBox="1"/>
          <p:nvPr/>
        </p:nvSpPr>
        <p:spPr>
          <a:xfrm>
            <a:off x="648183" y="5881183"/>
            <a:ext cx="11262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Translation invariance</a:t>
            </a:r>
            <a:r>
              <a:rPr lang="en-US" sz="2400" dirty="0"/>
              <a:t>: a slight shift in the pixels of a picture does not influence the result</a:t>
            </a:r>
          </a:p>
        </p:txBody>
      </p:sp>
    </p:spTree>
    <p:extLst>
      <p:ext uri="{BB962C8B-B14F-4D97-AF65-F5344CB8AC3E}">
        <p14:creationId xmlns:p14="http://schemas.microsoft.com/office/powerpoint/2010/main" val="343441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93B751-7DAD-4432-A83D-26FACA19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</a:t>
            </a:r>
            <a:r>
              <a:rPr lang="en-US" dirty="0" err="1"/>
              <a:t>ConvNet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8549B-77AB-4A29-A4DF-8DD53F661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Putting things together</a:t>
            </a:r>
          </a:p>
        </p:txBody>
      </p:sp>
    </p:spTree>
    <p:extLst>
      <p:ext uri="{BB962C8B-B14F-4D97-AF65-F5344CB8AC3E}">
        <p14:creationId xmlns:p14="http://schemas.microsoft.com/office/powerpoint/2010/main" val="1140889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be 3">
                <a:extLst>
                  <a:ext uri="{FF2B5EF4-FFF2-40B4-BE49-F238E27FC236}">
                    <a16:creationId xmlns:a16="http://schemas.microsoft.com/office/drawing/2014/main" id="{B50C63EC-A26D-417B-A41F-13EB556E1071}"/>
                  </a:ext>
                </a:extLst>
              </p:cNvPr>
              <p:cNvSpPr/>
              <p:nvPr/>
            </p:nvSpPr>
            <p:spPr>
              <a:xfrm>
                <a:off x="370389" y="1342663"/>
                <a:ext cx="2048719" cy="1655180"/>
              </a:xfrm>
              <a:prstGeom prst="cube">
                <a:avLst>
                  <a:gd name="adj" fmla="val 75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×39×3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ube 3">
                <a:extLst>
                  <a:ext uri="{FF2B5EF4-FFF2-40B4-BE49-F238E27FC236}">
                    <a16:creationId xmlns:a16="http://schemas.microsoft.com/office/drawing/2014/main" id="{B50C63EC-A26D-417B-A41F-13EB556E1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89" y="1342663"/>
                <a:ext cx="2048719" cy="1655180"/>
              </a:xfrm>
              <a:prstGeom prst="cube">
                <a:avLst>
                  <a:gd name="adj" fmla="val 751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D011FF25-5C0A-421D-8C7C-2D279A9C00BA}"/>
                  </a:ext>
                </a:extLst>
              </p:cNvPr>
              <p:cNvSpPr/>
              <p:nvPr/>
            </p:nvSpPr>
            <p:spPr>
              <a:xfrm>
                <a:off x="3553429" y="1342663"/>
                <a:ext cx="1942620" cy="1655180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×37×10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D011FF25-5C0A-421D-8C7C-2D279A9C0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429" y="1342663"/>
                <a:ext cx="1942620" cy="1655180"/>
              </a:xfrm>
              <a:prstGeom prst="cub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be 5">
            <a:extLst>
              <a:ext uri="{FF2B5EF4-FFF2-40B4-BE49-F238E27FC236}">
                <a16:creationId xmlns:a16="http://schemas.microsoft.com/office/drawing/2014/main" id="{3C46EB4B-EF6D-4D3D-89ED-247BB57F9A4E}"/>
              </a:ext>
            </a:extLst>
          </p:cNvPr>
          <p:cNvSpPr/>
          <p:nvPr/>
        </p:nvSpPr>
        <p:spPr>
          <a:xfrm>
            <a:off x="6630371" y="1342663"/>
            <a:ext cx="1749698" cy="1655180"/>
          </a:xfrm>
          <a:prstGeom prst="cube">
            <a:avLst>
              <a:gd name="adj" fmla="val 424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89D211F7-D8FD-4FA6-ABA6-9175EEE9BDCD}"/>
              </a:ext>
            </a:extLst>
          </p:cNvPr>
          <p:cNvSpPr/>
          <p:nvPr/>
        </p:nvSpPr>
        <p:spPr>
          <a:xfrm>
            <a:off x="9709231" y="1342663"/>
            <a:ext cx="1747777" cy="1655180"/>
          </a:xfrm>
          <a:prstGeom prst="cube">
            <a:avLst>
              <a:gd name="adj" fmla="val 690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C539C9-23E4-4E0B-A3FE-7398094061D0}"/>
                  </a:ext>
                </a:extLst>
              </p:cNvPr>
              <p:cNvSpPr txBox="1"/>
              <p:nvPr/>
            </p:nvSpPr>
            <p:spPr>
              <a:xfrm>
                <a:off x="6566708" y="2395959"/>
                <a:ext cx="13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×17×20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C539C9-23E4-4E0B-A3FE-739809406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708" y="2395959"/>
                <a:ext cx="1357744" cy="276999"/>
              </a:xfrm>
              <a:prstGeom prst="rect">
                <a:avLst/>
              </a:prstGeom>
              <a:blipFill>
                <a:blip r:embed="rId4"/>
                <a:stretch>
                  <a:fillRect l="-3587" r="-403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F028C-1EE5-49E6-8D8D-DA008AEF2265}"/>
                  </a:ext>
                </a:extLst>
              </p:cNvPr>
              <p:cNvSpPr txBox="1"/>
              <p:nvPr/>
            </p:nvSpPr>
            <p:spPr>
              <a:xfrm>
                <a:off x="9709231" y="2395959"/>
                <a:ext cx="1101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×7×40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F028C-1EE5-49E6-8D8D-DA008AEF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231" y="2395959"/>
                <a:ext cx="1101264" cy="276999"/>
              </a:xfrm>
              <a:prstGeom prst="rect">
                <a:avLst/>
              </a:prstGeom>
              <a:blipFill>
                <a:blip r:embed="rId5"/>
                <a:stretch>
                  <a:fillRect l="-5000" r="-50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2E088D-EB3B-44C0-A9C4-0D3DD8A0CFED}"/>
                  </a:ext>
                </a:extLst>
              </p:cNvPr>
              <p:cNvSpPr txBox="1"/>
              <p:nvPr/>
            </p:nvSpPr>
            <p:spPr>
              <a:xfrm>
                <a:off x="590309" y="3429000"/>
                <a:ext cx="973728" cy="347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2E088D-EB3B-44C0-A9C4-0D3DD8A0C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09" y="3429000"/>
                <a:ext cx="973728" cy="347339"/>
              </a:xfrm>
              <a:prstGeom prst="rect">
                <a:avLst/>
              </a:prstGeom>
              <a:blipFill>
                <a:blip r:embed="rId6"/>
                <a:stretch>
                  <a:fillRect l="-3125" t="-3571" r="-5000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5F3F6-075C-41D7-B7A8-A4BA091A6E5C}"/>
                  </a:ext>
                </a:extLst>
              </p:cNvPr>
              <p:cNvSpPr txBox="1"/>
              <p:nvPr/>
            </p:nvSpPr>
            <p:spPr>
              <a:xfrm>
                <a:off x="557040" y="3776339"/>
                <a:ext cx="973728" cy="359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5F3F6-075C-41D7-B7A8-A4BA091A6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40" y="3776339"/>
                <a:ext cx="973728" cy="359522"/>
              </a:xfrm>
              <a:prstGeom prst="rect">
                <a:avLst/>
              </a:prstGeom>
              <a:blipFill>
                <a:blip r:embed="rId7"/>
                <a:stretch>
                  <a:fillRect l="-3125" t="-3390" r="-5625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710153-34A1-4628-827D-4229BB320016}"/>
                  </a:ext>
                </a:extLst>
              </p:cNvPr>
              <p:cNvSpPr txBox="1"/>
              <p:nvPr/>
            </p:nvSpPr>
            <p:spPr>
              <a:xfrm>
                <a:off x="573675" y="4135861"/>
                <a:ext cx="845488" cy="337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710153-34A1-4628-827D-4229BB320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75" y="4135861"/>
                <a:ext cx="845488" cy="337465"/>
              </a:xfrm>
              <a:prstGeom prst="rect">
                <a:avLst/>
              </a:prstGeom>
              <a:blipFill>
                <a:blip r:embed="rId8"/>
                <a:stretch>
                  <a:fillRect l="-3597" t="-3571" r="-647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735972-5FC8-41EF-B53C-5704360E78EE}"/>
              </a:ext>
            </a:extLst>
          </p:cNvPr>
          <p:cNvCxnSpPr/>
          <p:nvPr/>
        </p:nvCxnSpPr>
        <p:spPr>
          <a:xfrm>
            <a:off x="2558005" y="2257063"/>
            <a:ext cx="74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A3F057-A585-41D1-B7B8-62CDDBBA961A}"/>
              </a:ext>
            </a:extLst>
          </p:cNvPr>
          <p:cNvCxnSpPr/>
          <p:nvPr/>
        </p:nvCxnSpPr>
        <p:spPr>
          <a:xfrm>
            <a:off x="5634942" y="2257063"/>
            <a:ext cx="74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97158B-FD87-468D-AB77-3A3D1E71C67B}"/>
              </a:ext>
            </a:extLst>
          </p:cNvPr>
          <p:cNvCxnSpPr/>
          <p:nvPr/>
        </p:nvCxnSpPr>
        <p:spPr>
          <a:xfrm>
            <a:off x="8740815" y="2257063"/>
            <a:ext cx="74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6ED129-2746-42D9-869F-D996F0366209}"/>
                  </a:ext>
                </a:extLst>
              </p:cNvPr>
              <p:cNvSpPr txBox="1"/>
              <p:nvPr/>
            </p:nvSpPr>
            <p:spPr>
              <a:xfrm>
                <a:off x="2210765" y="911506"/>
                <a:ext cx="17120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 (3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×3)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filters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6ED129-2746-42D9-869F-D996F0366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765" y="911506"/>
                <a:ext cx="1712007" cy="276999"/>
              </a:xfrm>
              <a:prstGeom prst="rect">
                <a:avLst/>
              </a:prstGeom>
              <a:blipFill>
                <a:blip r:embed="rId9"/>
                <a:stretch>
                  <a:fillRect l="-2857" t="-4444" r="-357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C554CE-6428-457D-A1DB-06B7F8201C66}"/>
                  </a:ext>
                </a:extLst>
              </p:cNvPr>
              <p:cNvSpPr txBox="1"/>
              <p:nvPr/>
            </p:nvSpPr>
            <p:spPr>
              <a:xfrm>
                <a:off x="2503823" y="2528559"/>
                <a:ext cx="849143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3C554CE-6428-457D-A1DB-06B7F8201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823" y="2528559"/>
                <a:ext cx="849143" cy="288797"/>
              </a:xfrm>
              <a:prstGeom prst="rect">
                <a:avLst/>
              </a:prstGeom>
              <a:blipFill>
                <a:blip r:embed="rId10"/>
                <a:stretch>
                  <a:fillRect l="-9353" t="-8511" r="-5755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5FAE38-6A4C-499F-8682-6BE8604DC6CE}"/>
                  </a:ext>
                </a:extLst>
              </p:cNvPr>
              <p:cNvSpPr txBox="1"/>
              <p:nvPr/>
            </p:nvSpPr>
            <p:spPr>
              <a:xfrm>
                <a:off x="2482770" y="2840505"/>
                <a:ext cx="84176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5FAE38-6A4C-499F-8682-6BE8604DC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770" y="2840505"/>
                <a:ext cx="841769" cy="288797"/>
              </a:xfrm>
              <a:prstGeom prst="rect">
                <a:avLst/>
              </a:prstGeom>
              <a:blipFill>
                <a:blip r:embed="rId11"/>
                <a:stretch>
                  <a:fillRect l="-6522" t="-8511" r="-6522"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31B9C8-1BCB-4CBD-9384-4565492424BD}"/>
                  </a:ext>
                </a:extLst>
              </p:cNvPr>
              <p:cNvSpPr txBox="1"/>
              <p:nvPr/>
            </p:nvSpPr>
            <p:spPr>
              <a:xfrm>
                <a:off x="2503823" y="3181223"/>
                <a:ext cx="82682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31B9C8-1BCB-4CBD-9384-456549242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823" y="3181223"/>
                <a:ext cx="826829" cy="288797"/>
              </a:xfrm>
              <a:prstGeom prst="rect">
                <a:avLst/>
              </a:prstGeom>
              <a:blipFill>
                <a:blip r:embed="rId12"/>
                <a:stretch>
                  <a:fillRect l="-3704" t="-8511" r="-6667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0BC437-D6B2-4AD4-8C51-576E9A7F1A8E}"/>
                  </a:ext>
                </a:extLst>
              </p:cNvPr>
              <p:cNvSpPr txBox="1"/>
              <p:nvPr/>
            </p:nvSpPr>
            <p:spPr>
              <a:xfrm>
                <a:off x="3864328" y="3429000"/>
                <a:ext cx="973728" cy="347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0BC437-D6B2-4AD4-8C51-576E9A7F1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28" y="3429000"/>
                <a:ext cx="973728" cy="347339"/>
              </a:xfrm>
              <a:prstGeom prst="rect">
                <a:avLst/>
              </a:prstGeom>
              <a:blipFill>
                <a:blip r:embed="rId13"/>
                <a:stretch>
                  <a:fillRect l="-3125" t="-3571" r="-5000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F031BE-6E36-4B87-A1E5-CD5AAB56F5C9}"/>
                  </a:ext>
                </a:extLst>
              </p:cNvPr>
              <p:cNvSpPr txBox="1"/>
              <p:nvPr/>
            </p:nvSpPr>
            <p:spPr>
              <a:xfrm>
                <a:off x="3831059" y="3776339"/>
                <a:ext cx="973728" cy="348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F031BE-6E36-4B87-A1E5-CD5AAB56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059" y="3776339"/>
                <a:ext cx="973728" cy="348622"/>
              </a:xfrm>
              <a:prstGeom prst="rect">
                <a:avLst/>
              </a:prstGeom>
              <a:blipFill>
                <a:blip r:embed="rId14"/>
                <a:stretch>
                  <a:fillRect l="-3125" t="-3448" r="-5625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287088-506A-4293-AB53-005D7428615A}"/>
                  </a:ext>
                </a:extLst>
              </p:cNvPr>
              <p:cNvSpPr txBox="1"/>
              <p:nvPr/>
            </p:nvSpPr>
            <p:spPr>
              <a:xfrm>
                <a:off x="3847694" y="4135861"/>
                <a:ext cx="973728" cy="337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287088-506A-4293-AB53-005D74286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694" y="4135861"/>
                <a:ext cx="973728" cy="337465"/>
              </a:xfrm>
              <a:prstGeom prst="rect">
                <a:avLst/>
              </a:prstGeom>
              <a:blipFill>
                <a:blip r:embed="rId15"/>
                <a:stretch>
                  <a:fillRect l="-3125" t="-3571" r="-56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086E9F-A5B6-4C33-9507-C59617661BC0}"/>
                  </a:ext>
                </a:extLst>
              </p:cNvPr>
              <p:cNvSpPr txBox="1"/>
              <p:nvPr/>
            </p:nvSpPr>
            <p:spPr>
              <a:xfrm>
                <a:off x="5590871" y="2528559"/>
                <a:ext cx="720903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086E9F-A5B6-4C33-9507-C59617661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71" y="2528559"/>
                <a:ext cx="720903" cy="288797"/>
              </a:xfrm>
              <a:prstGeom prst="rect">
                <a:avLst/>
              </a:prstGeom>
              <a:blipFill>
                <a:blip r:embed="rId16"/>
                <a:stretch>
                  <a:fillRect l="-15254" t="-23404" r="-19492" b="-48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0B6D0F-EDD4-4826-9D00-D06CA1E08AAA}"/>
                  </a:ext>
                </a:extLst>
              </p:cNvPr>
              <p:cNvSpPr txBox="1"/>
              <p:nvPr/>
            </p:nvSpPr>
            <p:spPr>
              <a:xfrm>
                <a:off x="5569818" y="2840505"/>
                <a:ext cx="84176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0B6D0F-EDD4-4826-9D00-D06CA1E08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818" y="2840505"/>
                <a:ext cx="841769" cy="288797"/>
              </a:xfrm>
              <a:prstGeom prst="rect">
                <a:avLst/>
              </a:prstGeom>
              <a:blipFill>
                <a:blip r:embed="rId17"/>
                <a:stretch>
                  <a:fillRect l="-6522" t="-8511" r="-5797" b="-25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65BDB6-7D87-41F3-BF9D-3DAE1FC5DB6B}"/>
                  </a:ext>
                </a:extLst>
              </p:cNvPr>
              <p:cNvSpPr txBox="1"/>
              <p:nvPr/>
            </p:nvSpPr>
            <p:spPr>
              <a:xfrm>
                <a:off x="5590871" y="3181223"/>
                <a:ext cx="82682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65BDB6-7D87-41F3-BF9D-3DAE1FC5D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71" y="3181223"/>
                <a:ext cx="826829" cy="288797"/>
              </a:xfrm>
              <a:prstGeom prst="rect">
                <a:avLst/>
              </a:prstGeom>
              <a:blipFill>
                <a:blip r:embed="rId18"/>
                <a:stretch>
                  <a:fillRect l="-3676" t="-8511" r="-661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004C4A-7637-4290-B3DD-595C95832A36}"/>
                  </a:ext>
                </a:extLst>
              </p:cNvPr>
              <p:cNvSpPr txBox="1"/>
              <p:nvPr/>
            </p:nvSpPr>
            <p:spPr>
              <a:xfrm>
                <a:off x="5519718" y="929916"/>
                <a:ext cx="17120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20 (5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×5)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filters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004C4A-7637-4290-B3DD-595C95832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718" y="929916"/>
                <a:ext cx="1712007" cy="276999"/>
              </a:xfrm>
              <a:prstGeom prst="rect">
                <a:avLst/>
              </a:prstGeom>
              <a:blipFill>
                <a:blip r:embed="rId19"/>
                <a:stretch>
                  <a:fillRect l="-2491" t="-4444" r="-320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BF6584-0AD8-4617-A171-12EA09354CF2}"/>
                  </a:ext>
                </a:extLst>
              </p:cNvPr>
              <p:cNvSpPr txBox="1"/>
              <p:nvPr/>
            </p:nvSpPr>
            <p:spPr>
              <a:xfrm>
                <a:off x="6967358" y="3429000"/>
                <a:ext cx="973728" cy="347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BF6584-0AD8-4617-A171-12EA09354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358" y="3429000"/>
                <a:ext cx="973728" cy="347339"/>
              </a:xfrm>
              <a:prstGeom prst="rect">
                <a:avLst/>
              </a:prstGeom>
              <a:blipFill>
                <a:blip r:embed="rId20"/>
                <a:stretch>
                  <a:fillRect l="-3125" t="-3571" r="-5000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25A1D8-CC3F-42C9-8F02-1C06532A073E}"/>
                  </a:ext>
                </a:extLst>
              </p:cNvPr>
              <p:cNvSpPr txBox="1"/>
              <p:nvPr/>
            </p:nvSpPr>
            <p:spPr>
              <a:xfrm>
                <a:off x="6934089" y="3776339"/>
                <a:ext cx="973728" cy="348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425A1D8-CC3F-42C9-8F02-1C06532A0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089" y="3776339"/>
                <a:ext cx="973728" cy="348622"/>
              </a:xfrm>
              <a:prstGeom prst="rect">
                <a:avLst/>
              </a:prstGeom>
              <a:blipFill>
                <a:blip r:embed="rId21"/>
                <a:stretch>
                  <a:fillRect l="-3125" t="-3448" r="-5625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B4CCDB-1B22-4411-8CA2-0ECA69B115A8}"/>
                  </a:ext>
                </a:extLst>
              </p:cNvPr>
              <p:cNvSpPr txBox="1"/>
              <p:nvPr/>
            </p:nvSpPr>
            <p:spPr>
              <a:xfrm>
                <a:off x="6950724" y="4135861"/>
                <a:ext cx="973728" cy="337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B4CCDB-1B22-4411-8CA2-0ECA69B11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724" y="4135861"/>
                <a:ext cx="973728" cy="337465"/>
              </a:xfrm>
              <a:prstGeom prst="rect">
                <a:avLst/>
              </a:prstGeom>
              <a:blipFill>
                <a:blip r:embed="rId22"/>
                <a:stretch>
                  <a:fillRect l="-3125" t="-3571" r="-56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A8E32A-1713-4019-9DC1-9613C4FAA74C}"/>
                  </a:ext>
                </a:extLst>
              </p:cNvPr>
              <p:cNvSpPr txBox="1"/>
              <p:nvPr/>
            </p:nvSpPr>
            <p:spPr>
              <a:xfrm>
                <a:off x="9704811" y="3344278"/>
                <a:ext cx="845488" cy="347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A8E32A-1713-4019-9DC1-9613C4FA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811" y="3344278"/>
                <a:ext cx="845488" cy="347339"/>
              </a:xfrm>
              <a:prstGeom prst="rect">
                <a:avLst/>
              </a:prstGeom>
              <a:blipFill>
                <a:blip r:embed="rId23"/>
                <a:stretch>
                  <a:fillRect l="-3597" t="-3509" r="-575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2F52AE5-80E7-40CA-877D-DF16C9EC54CE}"/>
                  </a:ext>
                </a:extLst>
              </p:cNvPr>
              <p:cNvSpPr txBox="1"/>
              <p:nvPr/>
            </p:nvSpPr>
            <p:spPr>
              <a:xfrm>
                <a:off x="9671542" y="3691617"/>
                <a:ext cx="845488" cy="3486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2F52AE5-80E7-40CA-877D-DF16C9EC5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542" y="3691617"/>
                <a:ext cx="845488" cy="348622"/>
              </a:xfrm>
              <a:prstGeom prst="rect">
                <a:avLst/>
              </a:prstGeom>
              <a:blipFill>
                <a:blip r:embed="rId24"/>
                <a:stretch>
                  <a:fillRect l="-3623" t="-3509" r="-652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BBD30F-C9BD-4576-81F9-FD4D85D9C018}"/>
                  </a:ext>
                </a:extLst>
              </p:cNvPr>
              <p:cNvSpPr txBox="1"/>
              <p:nvPr/>
            </p:nvSpPr>
            <p:spPr>
              <a:xfrm>
                <a:off x="9688177" y="4051139"/>
                <a:ext cx="973728" cy="3374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[3]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BBD30F-C9BD-4576-81F9-FD4D85D9C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177" y="4051139"/>
                <a:ext cx="973728" cy="337465"/>
              </a:xfrm>
              <a:prstGeom prst="rect">
                <a:avLst/>
              </a:prstGeom>
              <a:blipFill>
                <a:blip r:embed="rId25"/>
                <a:stretch>
                  <a:fillRect l="-3125" t="-3636" r="-5625"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A660D0-E839-4D98-89D0-FD8B0C72FA59}"/>
                  </a:ext>
                </a:extLst>
              </p:cNvPr>
              <p:cNvSpPr txBox="1"/>
              <p:nvPr/>
            </p:nvSpPr>
            <p:spPr>
              <a:xfrm>
                <a:off x="8625591" y="983141"/>
                <a:ext cx="17120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 (5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×5)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filters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A660D0-E839-4D98-89D0-FD8B0C72F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591" y="983141"/>
                <a:ext cx="1712007" cy="276999"/>
              </a:xfrm>
              <a:prstGeom prst="rect">
                <a:avLst/>
              </a:prstGeom>
              <a:blipFill>
                <a:blip r:embed="rId26"/>
                <a:stretch>
                  <a:fillRect l="-2847" t="-2174" r="-320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01AB91-AAB8-4825-A4C4-C98D0C5F2AE2}"/>
                  </a:ext>
                </a:extLst>
              </p:cNvPr>
              <p:cNvSpPr txBox="1"/>
              <p:nvPr/>
            </p:nvSpPr>
            <p:spPr>
              <a:xfrm>
                <a:off x="8637186" y="2487539"/>
                <a:ext cx="720903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01AB91-AAB8-4825-A4C4-C98D0C5F2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186" y="2487539"/>
                <a:ext cx="720903" cy="288797"/>
              </a:xfrm>
              <a:prstGeom prst="rect">
                <a:avLst/>
              </a:prstGeom>
              <a:blipFill>
                <a:blip r:embed="rId27"/>
                <a:stretch>
                  <a:fillRect l="-15254" t="-23404" r="-18644" b="-5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5CDB039-5D27-4FB6-8E0A-94C143DFBF2D}"/>
                  </a:ext>
                </a:extLst>
              </p:cNvPr>
              <p:cNvSpPr txBox="1"/>
              <p:nvPr/>
            </p:nvSpPr>
            <p:spPr>
              <a:xfrm>
                <a:off x="8616133" y="2799485"/>
                <a:ext cx="84176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5CDB039-5D27-4FB6-8E0A-94C143DFB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133" y="2799485"/>
                <a:ext cx="841769" cy="288797"/>
              </a:xfrm>
              <a:prstGeom prst="rect">
                <a:avLst/>
              </a:prstGeom>
              <a:blipFill>
                <a:blip r:embed="rId28"/>
                <a:stretch>
                  <a:fillRect l="-6522" t="-8333" r="-6522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2B6386B-DEC7-4A17-AB79-58F62C005C2A}"/>
                  </a:ext>
                </a:extLst>
              </p:cNvPr>
              <p:cNvSpPr txBox="1"/>
              <p:nvPr/>
            </p:nvSpPr>
            <p:spPr>
              <a:xfrm>
                <a:off x="8637186" y="3140203"/>
                <a:ext cx="826829" cy="288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2B6386B-DEC7-4A17-AB79-58F62C005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186" y="3140203"/>
                <a:ext cx="826829" cy="288797"/>
              </a:xfrm>
              <a:prstGeom prst="rect">
                <a:avLst/>
              </a:prstGeom>
              <a:blipFill>
                <a:blip r:embed="rId29"/>
                <a:stretch>
                  <a:fillRect l="-3704" t="-8333" r="-666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03E780A4-32FD-431B-A2AE-621AEB041EE3}"/>
              </a:ext>
            </a:extLst>
          </p:cNvPr>
          <p:cNvCxnSpPr>
            <a:cxnSpLocks/>
          </p:cNvCxnSpPr>
          <p:nvPr/>
        </p:nvCxnSpPr>
        <p:spPr>
          <a:xfrm rot="5400000">
            <a:off x="9164233" y="4676152"/>
            <a:ext cx="1261642" cy="873931"/>
          </a:xfrm>
          <a:prstGeom prst="bentConnector3">
            <a:avLst>
              <a:gd name="adj1" fmla="val 99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A64CC36-0364-4092-8BE0-97BDE298E400}"/>
              </a:ext>
            </a:extLst>
          </p:cNvPr>
          <p:cNvSpPr/>
          <p:nvPr/>
        </p:nvSpPr>
        <p:spPr>
          <a:xfrm>
            <a:off x="8877782" y="4622410"/>
            <a:ext cx="429935" cy="208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CA2133B-5BF6-48E6-8AF1-C19F5B5530F1}"/>
              </a:ext>
            </a:extLst>
          </p:cNvPr>
          <p:cNvSpPr/>
          <p:nvPr/>
        </p:nvSpPr>
        <p:spPr>
          <a:xfrm>
            <a:off x="8988577" y="4841112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6D90152-5AB3-4367-88C2-841BB4A9F54C}"/>
              </a:ext>
            </a:extLst>
          </p:cNvPr>
          <p:cNvSpPr/>
          <p:nvPr/>
        </p:nvSpPr>
        <p:spPr>
          <a:xfrm>
            <a:off x="9014955" y="5332527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8507CD-CACC-47BE-8FFB-3208E72E78A0}"/>
              </a:ext>
            </a:extLst>
          </p:cNvPr>
          <p:cNvSpPr/>
          <p:nvPr/>
        </p:nvSpPr>
        <p:spPr>
          <a:xfrm>
            <a:off x="9028199" y="6274698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E3B203-EDE2-4A4E-BFC7-CB6056EC72E5}"/>
                  </a:ext>
                </a:extLst>
              </p:cNvPr>
              <p:cNvSpPr txBox="1"/>
              <p:nvPr/>
            </p:nvSpPr>
            <p:spPr>
              <a:xfrm>
                <a:off x="9379803" y="6081499"/>
                <a:ext cx="19155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×7×40=1960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E3B203-EDE2-4A4E-BFC7-CB6056EC7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803" y="6081499"/>
                <a:ext cx="1915589" cy="276999"/>
              </a:xfrm>
              <a:prstGeom prst="rect">
                <a:avLst/>
              </a:prstGeom>
              <a:blipFill>
                <a:blip r:embed="rId30"/>
                <a:stretch>
                  <a:fillRect l="-2548" r="-254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38593A78-5EC0-4A61-80EA-123BA39D067A}"/>
              </a:ext>
            </a:extLst>
          </p:cNvPr>
          <p:cNvSpPr txBox="1"/>
          <p:nvPr/>
        </p:nvSpPr>
        <p:spPr>
          <a:xfrm>
            <a:off x="10282391" y="5050385"/>
            <a:ext cx="80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flatten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C211040-1203-4CAA-9212-D26D37D99DC9}"/>
              </a:ext>
            </a:extLst>
          </p:cNvPr>
          <p:cNvSpPr/>
          <p:nvPr/>
        </p:nvSpPr>
        <p:spPr>
          <a:xfrm>
            <a:off x="7825432" y="4640669"/>
            <a:ext cx="429935" cy="208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7BB0127-78D2-4266-A436-D392EE659DDF}"/>
              </a:ext>
            </a:extLst>
          </p:cNvPr>
          <p:cNvSpPr/>
          <p:nvPr/>
        </p:nvSpPr>
        <p:spPr>
          <a:xfrm>
            <a:off x="7936227" y="4859371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B963648-3768-48A4-8F14-E7F878EE09BA}"/>
              </a:ext>
            </a:extLst>
          </p:cNvPr>
          <p:cNvSpPr/>
          <p:nvPr/>
        </p:nvSpPr>
        <p:spPr>
          <a:xfrm>
            <a:off x="7962605" y="5350786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AD5268B-4C14-4326-9165-37A063001064}"/>
              </a:ext>
            </a:extLst>
          </p:cNvPr>
          <p:cNvSpPr/>
          <p:nvPr/>
        </p:nvSpPr>
        <p:spPr>
          <a:xfrm>
            <a:off x="7975849" y="6292957"/>
            <a:ext cx="208343" cy="27779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E5B5CCA-68BF-4DBD-8FBD-E46F77DA4C41}"/>
              </a:ext>
            </a:extLst>
          </p:cNvPr>
          <p:cNvCxnSpPr/>
          <p:nvPr/>
        </p:nvCxnSpPr>
        <p:spPr>
          <a:xfrm flipH="1">
            <a:off x="8380069" y="5685284"/>
            <a:ext cx="360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EE8433F-17CE-4EF1-BA32-C117CBB5F338}"/>
              </a:ext>
            </a:extLst>
          </p:cNvPr>
          <p:cNvSpPr txBox="1"/>
          <p:nvPr/>
        </p:nvSpPr>
        <p:spPr>
          <a:xfrm>
            <a:off x="6820884" y="5443913"/>
            <a:ext cx="9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E72A5E-625B-4FB9-A5F9-F8A4B7F9A634}"/>
              </a:ext>
            </a:extLst>
          </p:cNvPr>
          <p:cNvSpPr txBox="1"/>
          <p:nvPr/>
        </p:nvSpPr>
        <p:spPr>
          <a:xfrm>
            <a:off x="370389" y="5050385"/>
            <a:ext cx="5031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Hyperparameters: padding, stride, #filters, filter size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38B24E-F62F-4F6A-BD21-B13FD30ED5C1}"/>
              </a:ext>
            </a:extLst>
          </p:cNvPr>
          <p:cNvSpPr txBox="1"/>
          <p:nvPr/>
        </p:nvSpPr>
        <p:spPr>
          <a:xfrm>
            <a:off x="370389" y="5813245"/>
            <a:ext cx="5170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Usually going deeper increases #filters and decreases</a:t>
            </a:r>
            <a:br>
              <a:rPr lang="en-US" dirty="0"/>
            </a:br>
            <a:r>
              <a:rPr lang="en-US" dirty="0"/>
              <a:t>height and width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AB38E8-17BE-4239-A741-DBEB1D98A633}"/>
              </a:ext>
            </a:extLst>
          </p:cNvPr>
          <p:cNvSpPr txBox="1"/>
          <p:nvPr/>
        </p:nvSpPr>
        <p:spPr>
          <a:xfrm>
            <a:off x="474562" y="640011"/>
            <a:ext cx="759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  <a:br>
              <a:rPr lang="en-US" dirty="0"/>
            </a:br>
            <a:r>
              <a:rPr lang="en-US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56063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0E94-FF40-4847-B855-42C09541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Types of Layers in </a:t>
            </a:r>
            <a:r>
              <a:rPr lang="en-US" sz="5400" dirty="0" err="1"/>
              <a:t>ConvNet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1A0E-9508-42EA-BE16-149DEC57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Convolutional (CONV)</a:t>
            </a:r>
          </a:p>
          <a:p>
            <a:r>
              <a:rPr lang="en-US" sz="4000" dirty="0"/>
              <a:t>Pooling (POOL)</a:t>
            </a:r>
          </a:p>
          <a:p>
            <a:r>
              <a:rPr lang="en-US" sz="4000" dirty="0"/>
              <a:t>Fully Connected / Dense (FC)</a:t>
            </a:r>
          </a:p>
        </p:txBody>
      </p:sp>
    </p:spTree>
    <p:extLst>
      <p:ext uri="{BB962C8B-B14F-4D97-AF65-F5344CB8AC3E}">
        <p14:creationId xmlns:p14="http://schemas.microsoft.com/office/powerpoint/2010/main" val="1878998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767-E38C-4E56-AC80-3618E9CA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Pooling: Max pooling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7A189-2565-4FD4-9E37-5FED2046C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705225" cy="3752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1E126-C36A-4033-9964-23770F55BFD0}"/>
                  </a:ext>
                </a:extLst>
              </p:cNvPr>
              <p:cNvSpPr txBox="1"/>
              <p:nvPr/>
            </p:nvSpPr>
            <p:spPr>
              <a:xfrm>
                <a:off x="2106593" y="5613721"/>
                <a:ext cx="895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1E126-C36A-4033-9964-23770F55B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593" y="5613721"/>
                <a:ext cx="89531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74A2C27-7056-464B-8CB1-5CA59853C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577" y="2533650"/>
            <a:ext cx="2171700" cy="2066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B34788-72A0-4C23-8B00-D6C38080DE0A}"/>
                  </a:ext>
                </a:extLst>
              </p:cNvPr>
              <p:cNvSpPr txBox="1"/>
              <p:nvPr/>
            </p:nvSpPr>
            <p:spPr>
              <a:xfrm>
                <a:off x="8286772" y="4898020"/>
                <a:ext cx="895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B34788-72A0-4C23-8B00-D6C38080D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72" y="4898020"/>
                <a:ext cx="89531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C5E56043-391F-430C-8498-7AF9CB92A47A}"/>
              </a:ext>
            </a:extLst>
          </p:cNvPr>
          <p:cNvSpPr/>
          <p:nvPr/>
        </p:nvSpPr>
        <p:spPr>
          <a:xfrm>
            <a:off x="5034987" y="3567112"/>
            <a:ext cx="2257064" cy="25253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021031-8C6B-4A0C-B549-DBE0D7A44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3" y="1724025"/>
            <a:ext cx="3714750" cy="3686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77D457-1293-4EFD-8486-A6C69E50E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577" y="2590800"/>
            <a:ext cx="2133600" cy="2009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D3EBA-B805-4E0A-8225-ACFE7FA4FAC1}"/>
                  </a:ext>
                </a:extLst>
              </p:cNvPr>
              <p:cNvSpPr txBox="1"/>
              <p:nvPr/>
            </p:nvSpPr>
            <p:spPr>
              <a:xfrm>
                <a:off x="8006247" y="2920782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2D3EBA-B805-4E0A-8225-ACFE7FA4F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247" y="2920782"/>
                <a:ext cx="28052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D33B0B-229F-4E3D-A66B-DF48B2206712}"/>
                  </a:ext>
                </a:extLst>
              </p:cNvPr>
              <p:cNvSpPr txBox="1"/>
              <p:nvPr/>
            </p:nvSpPr>
            <p:spPr>
              <a:xfrm>
                <a:off x="6366076" y="1832966"/>
                <a:ext cx="14603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⁡(1,3,2,9)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D33B0B-229F-4E3D-A66B-DF48B2206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76" y="1832966"/>
                <a:ext cx="1460336" cy="307777"/>
              </a:xfrm>
              <a:prstGeom prst="rect">
                <a:avLst/>
              </a:prstGeom>
              <a:blipFill>
                <a:blip r:embed="rId9"/>
                <a:stretch>
                  <a:fillRect l="-1667" t="-4000" r="-5833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E097A4-1EB1-4671-B529-7F030C5C62E5}"/>
              </a:ext>
            </a:extLst>
          </p:cNvPr>
          <p:cNvCxnSpPr/>
          <p:nvPr/>
        </p:nvCxnSpPr>
        <p:spPr>
          <a:xfrm flipH="1" flipV="1">
            <a:off x="7218444" y="2236205"/>
            <a:ext cx="787803" cy="684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0A91A7-84FF-4F64-9D3C-317B543D06C0}"/>
                  </a:ext>
                </a:extLst>
              </p:cNvPr>
              <p:cNvSpPr txBox="1"/>
              <p:nvPr/>
            </p:nvSpPr>
            <p:spPr>
              <a:xfrm>
                <a:off x="9041819" y="2920781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0A91A7-84FF-4F64-9D3C-317B543D0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819" y="2920781"/>
                <a:ext cx="280525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8911B3-56B1-4DE5-83BA-6356DB55E4FB}"/>
                  </a:ext>
                </a:extLst>
              </p:cNvPr>
              <p:cNvSpPr txBox="1"/>
              <p:nvPr/>
            </p:nvSpPr>
            <p:spPr>
              <a:xfrm>
                <a:off x="9266744" y="1824947"/>
                <a:ext cx="14603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⁡(2,1,1,1)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8911B3-56B1-4DE5-83BA-6356DB55E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744" y="1824947"/>
                <a:ext cx="1460336" cy="307777"/>
              </a:xfrm>
              <a:prstGeom prst="rect">
                <a:avLst/>
              </a:prstGeom>
              <a:blipFill>
                <a:blip r:embed="rId11"/>
                <a:stretch>
                  <a:fillRect l="-1667" t="-1961" r="-58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1052E8-A873-40B0-8AB8-8DFED2EB74A3}"/>
              </a:ext>
            </a:extLst>
          </p:cNvPr>
          <p:cNvCxnSpPr>
            <a:endCxn id="20" idx="2"/>
          </p:cNvCxnSpPr>
          <p:nvPr/>
        </p:nvCxnSpPr>
        <p:spPr>
          <a:xfrm flipV="1">
            <a:off x="9421792" y="2132724"/>
            <a:ext cx="575120" cy="788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2A3004-0C5D-4203-824A-E6F729B37414}"/>
                  </a:ext>
                </a:extLst>
              </p:cNvPr>
              <p:cNvSpPr txBox="1"/>
              <p:nvPr/>
            </p:nvSpPr>
            <p:spPr>
              <a:xfrm>
                <a:off x="8006246" y="3819646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D2A3004-0C5D-4203-824A-E6F729B37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246" y="3819646"/>
                <a:ext cx="28052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436163-A1F3-43F2-83A2-D62C63A8021C}"/>
                  </a:ext>
                </a:extLst>
              </p:cNvPr>
              <p:cNvSpPr txBox="1"/>
              <p:nvPr/>
            </p:nvSpPr>
            <p:spPr>
              <a:xfrm>
                <a:off x="6272353" y="5036383"/>
                <a:ext cx="14603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⁡(1,3,5,6)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2436163-A1F3-43F2-83A2-D62C63A80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353" y="5036383"/>
                <a:ext cx="1460336" cy="307777"/>
              </a:xfrm>
              <a:prstGeom prst="rect">
                <a:avLst/>
              </a:prstGeom>
              <a:blipFill>
                <a:blip r:embed="rId13"/>
                <a:stretch>
                  <a:fillRect l="-2092" t="-1961" r="-627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7D81AF-0749-41EC-A782-7A37AD99E85A}"/>
              </a:ext>
            </a:extLst>
          </p:cNvPr>
          <p:cNvCxnSpPr/>
          <p:nvPr/>
        </p:nvCxnSpPr>
        <p:spPr>
          <a:xfrm flipH="1">
            <a:off x="7218444" y="4250533"/>
            <a:ext cx="787802" cy="75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7F26BE-20DB-4402-A906-B90EDC207822}"/>
                  </a:ext>
                </a:extLst>
              </p:cNvPr>
              <p:cNvSpPr txBox="1"/>
              <p:nvPr/>
            </p:nvSpPr>
            <p:spPr>
              <a:xfrm>
                <a:off x="9069023" y="3819646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7F26BE-20DB-4402-A906-B90EDC207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023" y="3819646"/>
                <a:ext cx="28052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B6815F-EC48-439B-A3DA-66F2295F6456}"/>
                  </a:ext>
                </a:extLst>
              </p:cNvPr>
              <p:cNvSpPr txBox="1"/>
              <p:nvPr/>
            </p:nvSpPr>
            <p:spPr>
              <a:xfrm>
                <a:off x="9936799" y="4898020"/>
                <a:ext cx="14603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⁡(2,3,1,2)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6B6815F-EC48-439B-A3DA-66F2295F6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799" y="4898020"/>
                <a:ext cx="1460336" cy="307777"/>
              </a:xfrm>
              <a:prstGeom prst="rect">
                <a:avLst/>
              </a:prstGeom>
              <a:blipFill>
                <a:blip r:embed="rId15"/>
                <a:stretch>
                  <a:fillRect l="-1667" t="-1961" r="-58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7915BB-99B6-40C2-B4BD-34FFECFA6F56}"/>
              </a:ext>
            </a:extLst>
          </p:cNvPr>
          <p:cNvCxnSpPr>
            <a:endCxn id="28" idx="0"/>
          </p:cNvCxnSpPr>
          <p:nvPr/>
        </p:nvCxnSpPr>
        <p:spPr>
          <a:xfrm>
            <a:off x="9266744" y="4250533"/>
            <a:ext cx="1400223" cy="647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DA3A0D-4C6F-4C82-8D2C-7C1F0E3FE1A8}"/>
              </a:ext>
            </a:extLst>
          </p:cNvPr>
          <p:cNvSpPr txBox="1"/>
          <p:nvPr/>
        </p:nvSpPr>
        <p:spPr>
          <a:xfrm>
            <a:off x="5108433" y="5844809"/>
            <a:ext cx="6076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Intuition: the largest value works as the feature</a:t>
            </a:r>
            <a:br>
              <a:rPr lang="en-US" sz="2400" dirty="0"/>
            </a:br>
            <a:r>
              <a:rPr lang="en-US" sz="2400" dirty="0"/>
              <a:t>detector in a given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095FA6-250C-436E-93E9-6AE2930FE794}"/>
                  </a:ext>
                </a:extLst>
              </p:cNvPr>
              <p:cNvSpPr txBox="1"/>
              <p:nvPr/>
            </p:nvSpPr>
            <p:spPr>
              <a:xfrm>
                <a:off x="8073887" y="412615"/>
                <a:ext cx="188583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Hyperparameters:</a:t>
                </a:r>
                <a:br>
                  <a:rPr lang="en-US" dirty="0"/>
                </a:br>
                <a:r>
                  <a:rPr lang="en-US" dirty="0"/>
                  <a:t>filter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br>
                  <a:rPr lang="en-US" b="0" dirty="0"/>
                </a:br>
                <a:r>
                  <a:rPr lang="en-US" b="0" dirty="0"/>
                  <a:t>stride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095FA6-250C-436E-93E9-6AE2930FE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7" y="412615"/>
                <a:ext cx="1885837" cy="923330"/>
              </a:xfrm>
              <a:prstGeom prst="rect">
                <a:avLst/>
              </a:prstGeom>
              <a:blipFill>
                <a:blip r:embed="rId16"/>
                <a:stretch>
                  <a:fillRect l="-2581" t="-3974" r="-2581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50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6" grpId="1"/>
      <p:bldP spid="19" grpId="0"/>
      <p:bldP spid="20" grpId="0"/>
      <p:bldP spid="20" grpId="1"/>
      <p:bldP spid="23" grpId="0"/>
      <p:bldP spid="24" grpId="0"/>
      <p:bldP spid="24" grpId="1"/>
      <p:bldP spid="27" grpId="0"/>
      <p:bldP spid="28" grpId="0"/>
      <p:bldP spid="28" grpId="1"/>
      <p:bldP spid="31" grpId="0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752EB3-FAC7-445D-810D-61A335568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83" y="749340"/>
            <a:ext cx="4238625" cy="4248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BEDAD-0384-48A1-B5D8-DC3891998372}"/>
                  </a:ext>
                </a:extLst>
              </p:cNvPr>
              <p:cNvSpPr txBox="1"/>
              <p:nvPr/>
            </p:nvSpPr>
            <p:spPr>
              <a:xfrm>
                <a:off x="2037145" y="5127584"/>
                <a:ext cx="895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BEDAD-0384-48A1-B5D8-DC3891998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45" y="5127584"/>
                <a:ext cx="89531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1F964-E0B1-49E9-A1E7-5FB2D98E19A9}"/>
                  </a:ext>
                </a:extLst>
              </p:cNvPr>
              <p:cNvSpPr txBox="1"/>
              <p:nvPr/>
            </p:nvSpPr>
            <p:spPr>
              <a:xfrm>
                <a:off x="2063174" y="5633314"/>
                <a:ext cx="8179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31F964-E0B1-49E9-A1E7-5FB2D98E1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174" y="5633314"/>
                <a:ext cx="817981" cy="369332"/>
              </a:xfrm>
              <a:prstGeom prst="rect">
                <a:avLst/>
              </a:prstGeom>
              <a:blipFill>
                <a:blip r:embed="rId4"/>
                <a:stretch>
                  <a:fillRect l="-12593" r="-8148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E662E0-E3DF-4430-883C-B63823BE1BBD}"/>
                  </a:ext>
                </a:extLst>
              </p:cNvPr>
              <p:cNvSpPr txBox="1"/>
              <p:nvPr/>
            </p:nvSpPr>
            <p:spPr>
              <a:xfrm>
                <a:off x="2063174" y="6002646"/>
                <a:ext cx="7879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E662E0-E3DF-4430-883C-B63823BE1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174" y="6002646"/>
                <a:ext cx="787973" cy="369332"/>
              </a:xfrm>
              <a:prstGeom prst="rect">
                <a:avLst/>
              </a:prstGeom>
              <a:blipFill>
                <a:blip r:embed="rId5"/>
                <a:stretch>
                  <a:fillRect l="-4615" r="-846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0A36E77-F003-4F74-83A8-E03A6D463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734931"/>
            <a:ext cx="2562225" cy="2581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1A6C9-5A9E-4836-83A5-79014A5ED18F}"/>
                  </a:ext>
                </a:extLst>
              </p:cNvPr>
              <p:cNvSpPr txBox="1"/>
              <p:nvPr/>
            </p:nvSpPr>
            <p:spPr>
              <a:xfrm>
                <a:off x="6283652" y="931538"/>
                <a:ext cx="3225498" cy="550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Output size: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71A6C9-5A9E-4836-83A5-79014A5ED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652" y="931538"/>
                <a:ext cx="3225498" cy="550022"/>
              </a:xfrm>
              <a:prstGeom prst="rect">
                <a:avLst/>
              </a:prstGeom>
              <a:blipFill>
                <a:blip r:embed="rId7"/>
                <a:stretch>
                  <a:fillRect l="-586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BBB38D-C9D7-407C-8EDE-519779C6BC8E}"/>
                  </a:ext>
                </a:extLst>
              </p:cNvPr>
              <p:cNvSpPr txBox="1"/>
              <p:nvPr/>
            </p:nvSpPr>
            <p:spPr>
              <a:xfrm>
                <a:off x="7003067" y="4344304"/>
                <a:ext cx="8953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BBB38D-C9D7-407C-8EDE-519779C6B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67" y="4344304"/>
                <a:ext cx="89531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89370C-6DE1-4BE1-A20D-C34777672BAF}"/>
              </a:ext>
            </a:extLst>
          </p:cNvPr>
          <p:cNvCxnSpPr/>
          <p:nvPr/>
        </p:nvCxnSpPr>
        <p:spPr>
          <a:xfrm>
            <a:off x="4780344" y="3194613"/>
            <a:ext cx="10532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26DEA3C-AAB1-4900-BEF2-BBA24109BF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032" y="787440"/>
            <a:ext cx="4200525" cy="4210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7F0D44-EA2E-44FF-95AE-BFFC852129D4}"/>
                  </a:ext>
                </a:extLst>
              </p:cNvPr>
              <p:cNvSpPr txBox="1"/>
              <p:nvPr/>
            </p:nvSpPr>
            <p:spPr>
              <a:xfrm>
                <a:off x="6400800" y="1990845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E7F0D44-EA2E-44FF-95AE-BFFC85212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90845"/>
                <a:ext cx="280525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CD0CF35C-0AEF-4455-BCA9-18248EAE23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665" y="777915"/>
            <a:ext cx="4238625" cy="422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C57135-C117-450C-8556-7375D3A47A25}"/>
                  </a:ext>
                </a:extLst>
              </p:cNvPr>
              <p:cNvSpPr txBox="1"/>
              <p:nvPr/>
            </p:nvSpPr>
            <p:spPr>
              <a:xfrm>
                <a:off x="7248987" y="1990844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C57135-C117-450C-8556-7375D3A47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987" y="1990844"/>
                <a:ext cx="28052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6A40B85B-DFF9-4EA0-AAAE-1A4882BD1E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794" y="796965"/>
            <a:ext cx="4191000" cy="419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0B7FF4-E391-4AD8-B547-020C203377E2}"/>
                  </a:ext>
                </a:extLst>
              </p:cNvPr>
              <p:cNvSpPr txBox="1"/>
              <p:nvPr/>
            </p:nvSpPr>
            <p:spPr>
              <a:xfrm>
                <a:off x="8106359" y="1990844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0B7FF4-E391-4AD8-B547-020C20337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359" y="1990844"/>
                <a:ext cx="28052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3D2D6DE0-C2AF-4D53-BB46-238A0ABB3E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924" y="801728"/>
            <a:ext cx="4200525" cy="4210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865216-5D3D-45A0-AE79-7CF4D1521048}"/>
                  </a:ext>
                </a:extLst>
              </p:cNvPr>
              <p:cNvSpPr txBox="1"/>
              <p:nvPr/>
            </p:nvSpPr>
            <p:spPr>
              <a:xfrm>
                <a:off x="6403292" y="2873415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865216-5D3D-45A0-AE79-7CF4D1521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292" y="2873415"/>
                <a:ext cx="28052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508F52F6-1A5C-4001-8DAE-4ACBE5FC083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5476" y="779965"/>
            <a:ext cx="4200525" cy="4229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55C090-B361-49E2-B8DA-45997BD158C4}"/>
                  </a:ext>
                </a:extLst>
              </p:cNvPr>
              <p:cNvSpPr txBox="1"/>
              <p:nvPr/>
            </p:nvSpPr>
            <p:spPr>
              <a:xfrm>
                <a:off x="7275312" y="2873415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55C090-B361-49E2-B8DA-45997BD15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312" y="2873415"/>
                <a:ext cx="280525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27A400-0376-4602-AB34-3FE4CB9564B7}"/>
                  </a:ext>
                </a:extLst>
              </p:cNvPr>
              <p:cNvSpPr txBox="1"/>
              <p:nvPr/>
            </p:nvSpPr>
            <p:spPr>
              <a:xfrm>
                <a:off x="8106359" y="2873414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727A400-0376-4602-AB34-3FE4CB95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359" y="2873414"/>
                <a:ext cx="280525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44ED91-507B-4A0E-9DC5-45E33F703F93}"/>
                  </a:ext>
                </a:extLst>
              </p:cNvPr>
              <p:cNvSpPr txBox="1"/>
              <p:nvPr/>
            </p:nvSpPr>
            <p:spPr>
              <a:xfrm>
                <a:off x="6403021" y="3594810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44ED91-507B-4A0E-9DC5-45E33F703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021" y="3594810"/>
                <a:ext cx="280526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A27BD2-37AD-4098-9D56-FAFBEDD326D9}"/>
                  </a:ext>
                </a:extLst>
              </p:cNvPr>
              <p:cNvSpPr txBox="1"/>
              <p:nvPr/>
            </p:nvSpPr>
            <p:spPr>
              <a:xfrm>
                <a:off x="7275311" y="3604092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A27BD2-37AD-4098-9D56-FAFBEDD32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311" y="3604092"/>
                <a:ext cx="2805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738AD4-DF51-401A-AB27-BBC2C9EF5514}"/>
                  </a:ext>
                </a:extLst>
              </p:cNvPr>
              <p:cNvSpPr txBox="1"/>
              <p:nvPr/>
            </p:nvSpPr>
            <p:spPr>
              <a:xfrm>
                <a:off x="8106359" y="3604092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738AD4-DF51-401A-AB27-BBC2C9EF5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359" y="3604092"/>
                <a:ext cx="280526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EEB457A9-B23C-491E-9FCF-205DB19582B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1607" y="822645"/>
            <a:ext cx="4210050" cy="423862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F0C4488-2A16-4539-A7BD-E9BEB4A507F8}"/>
              </a:ext>
            </a:extLst>
          </p:cNvPr>
          <p:cNvSpPr txBox="1"/>
          <p:nvPr/>
        </p:nvSpPr>
        <p:spPr>
          <a:xfrm>
            <a:off x="3830330" y="5492586"/>
            <a:ext cx="7451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we have more channels, same computation on each one</a:t>
            </a:r>
          </a:p>
        </p:txBody>
      </p:sp>
    </p:spTree>
    <p:extLst>
      <p:ext uri="{BB962C8B-B14F-4D97-AF65-F5344CB8AC3E}">
        <p14:creationId xmlns:p14="http://schemas.microsoft.com/office/powerpoint/2010/main" val="306895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0"/>
      <p:bldP spid="29" grpId="0"/>
      <p:bldP spid="30" grpId="0"/>
      <p:bldP spid="31" grpId="0"/>
      <p:bldP spid="32" grpId="0"/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99F1-58DF-4DC9-88ED-7625D333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Pooling: Average pooling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19941-9A76-4185-9B48-B42EADFB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5086"/>
            <a:ext cx="9648825" cy="3724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43A0CB-4E2A-4310-80E8-8CFB7077D311}"/>
              </a:ext>
            </a:extLst>
          </p:cNvPr>
          <p:cNvSpPr txBox="1"/>
          <p:nvPr/>
        </p:nvSpPr>
        <p:spPr>
          <a:xfrm>
            <a:off x="1146048" y="6031210"/>
            <a:ext cx="7263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 before , but you take the average value of each region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C72264-5A6F-4073-9BC6-352F07E0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870279"/>
            <a:ext cx="9620250" cy="3714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9CD094-19EC-42B6-8316-8FB48312954D}"/>
                  </a:ext>
                </a:extLst>
              </p:cNvPr>
              <p:cNvSpPr txBox="1"/>
              <p:nvPr/>
            </p:nvSpPr>
            <p:spPr>
              <a:xfrm>
                <a:off x="8359483" y="3213556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3.75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9CD094-19EC-42B6-8316-8FB483129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483" y="3213556"/>
                <a:ext cx="75180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C9DC8A-F01B-42F8-A2D8-65870B15050D}"/>
                  </a:ext>
                </a:extLst>
              </p:cNvPr>
              <p:cNvSpPr txBox="1"/>
              <p:nvPr/>
            </p:nvSpPr>
            <p:spPr>
              <a:xfrm>
                <a:off x="9423254" y="3213555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C9DC8A-F01B-42F8-A2D8-65870B150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254" y="3213555"/>
                <a:ext cx="75180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69B32-2A3B-4B7D-8F87-61DEC66E1004}"/>
                  </a:ext>
                </a:extLst>
              </p:cNvPr>
              <p:cNvSpPr txBox="1"/>
              <p:nvPr/>
            </p:nvSpPr>
            <p:spPr>
              <a:xfrm>
                <a:off x="8595124" y="4191837"/>
                <a:ext cx="28052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69B32-2A3B-4B7D-8F87-61DEC66E1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124" y="4191837"/>
                <a:ext cx="28052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CECACB-A8E6-42BC-A9AF-467164D94659}"/>
                  </a:ext>
                </a:extLst>
              </p:cNvPr>
              <p:cNvSpPr txBox="1"/>
              <p:nvPr/>
            </p:nvSpPr>
            <p:spPr>
              <a:xfrm>
                <a:off x="9658895" y="41918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CECACB-A8E6-42BC-A9AF-467164D94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895" y="4191837"/>
                <a:ext cx="28052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72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21F5-4CE1-47C6-97E6-924ADB2EF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Max vs Avg Pooling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13E8-6C9C-41F8-A845-9C184B103D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Max POOL is used much often</a:t>
                </a:r>
              </a:p>
              <a:p>
                <a:r>
                  <a:rPr lang="en-US" sz="3200" dirty="0"/>
                  <a:t>Exception: in some very deep networks, Avg POOL can be used to collapse a layer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 into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 is really large</a:t>
                </a:r>
              </a:p>
              <a:p>
                <a:r>
                  <a:rPr lang="en-US" sz="3200" dirty="0"/>
                  <a:t>Padding is usually not used with POOL (i.e.,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13E8-6C9C-41F8-A845-9C184B103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941" r="-2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484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F2AB52-FBCF-4497-BD44-9082DE66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149" y="288608"/>
            <a:ext cx="12286149" cy="330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DC571-0B9A-4A61-9102-C612FB376C64}"/>
              </a:ext>
            </a:extLst>
          </p:cNvPr>
          <p:cNvSpPr txBox="1"/>
          <p:nvPr/>
        </p:nvSpPr>
        <p:spPr>
          <a:xfrm>
            <a:off x="853440" y="4657344"/>
            <a:ext cx="94464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quite standard architecture</a:t>
            </a:r>
          </a:p>
          <a:p>
            <a:r>
              <a:rPr lang="en-US" sz="2800" dirty="0"/>
              <a:t>CONV </a:t>
            </a:r>
            <a:r>
              <a:rPr lang="en-US" sz="2800" dirty="0">
                <a:sym typeface="Wingdings" panose="05000000000000000000" pitchFamily="2" charset="2"/>
              </a:rPr>
              <a:t> POOL  CONV  POOL ….FC FC …..OUTPUT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CFD93-B382-4759-8A3E-DBE5B92B5FDC}"/>
              </a:ext>
            </a:extLst>
          </p:cNvPr>
          <p:cNvSpPr txBox="1"/>
          <p:nvPr/>
        </p:nvSpPr>
        <p:spPr>
          <a:xfrm>
            <a:off x="853440" y="6400800"/>
            <a:ext cx="1062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al. 1998. Gradient-based learning applied to document recognition (original version with sigmoid/tanh)</a:t>
            </a:r>
          </a:p>
        </p:txBody>
      </p:sp>
    </p:spTree>
    <p:extLst>
      <p:ext uri="{BB962C8B-B14F-4D97-AF65-F5344CB8AC3E}">
        <p14:creationId xmlns:p14="http://schemas.microsoft.com/office/powerpoint/2010/main" val="3793789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3998177-FCD6-4CD9-BE2B-2FE266E6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29885"/>
            <a:ext cx="10905066" cy="4798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FFF1CD-D3CB-4430-B997-78C0EBE14380}"/>
              </a:ext>
            </a:extLst>
          </p:cNvPr>
          <p:cNvSpPr txBox="1"/>
          <p:nvPr/>
        </p:nvSpPr>
        <p:spPr>
          <a:xfrm>
            <a:off x="8773610" y="6146157"/>
            <a:ext cx="2964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Tot: 59947 (~60K)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17B527-2310-49B1-BA2A-075CC4446A8D}"/>
                  </a:ext>
                </a:extLst>
              </p:cNvPr>
              <p:cNvSpPr txBox="1"/>
              <p:nvPr/>
            </p:nvSpPr>
            <p:spPr>
              <a:xfrm>
                <a:off x="10491694" y="295836"/>
                <a:ext cx="15180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×5×8 (+8)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17B527-2310-49B1-BA2A-075CC4446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1694" y="295836"/>
                <a:ext cx="1518044" cy="276999"/>
              </a:xfrm>
              <a:prstGeom prst="rect">
                <a:avLst/>
              </a:prstGeom>
              <a:blipFill>
                <a:blip r:embed="rId3"/>
                <a:stretch>
                  <a:fillRect l="-3614" t="-4444" r="-5221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F2297C-A1A0-4211-BFF3-39006B54E1A5}"/>
              </a:ext>
            </a:extLst>
          </p:cNvPr>
          <p:cNvCxnSpPr>
            <a:cxnSpLocks/>
          </p:cNvCxnSpPr>
          <p:nvPr/>
        </p:nvCxnSpPr>
        <p:spPr>
          <a:xfrm flipV="1">
            <a:off x="2516094" y="513976"/>
            <a:ext cx="8211671" cy="17869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58B358-C9D3-404E-B49C-A1B06C60DA57}"/>
              </a:ext>
            </a:extLst>
          </p:cNvPr>
          <p:cNvCxnSpPr/>
          <p:nvPr/>
        </p:nvCxnSpPr>
        <p:spPr>
          <a:xfrm flipV="1">
            <a:off x="5247341" y="572835"/>
            <a:ext cx="6072094" cy="1752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DAFABF-2B61-4484-9DC8-01C160EB62E7}"/>
              </a:ext>
            </a:extLst>
          </p:cNvPr>
          <p:cNvCxnSpPr>
            <a:stCxn id="3" idx="2"/>
          </p:cNvCxnSpPr>
          <p:nvPr/>
        </p:nvCxnSpPr>
        <p:spPr>
          <a:xfrm flipH="1">
            <a:off x="10411012" y="572835"/>
            <a:ext cx="839704" cy="16504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41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5C4230-C5ED-BC30-C1BB-7BB694C8E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09822"/>
              </p:ext>
            </p:extLst>
          </p:nvPr>
        </p:nvGraphicFramePr>
        <p:xfrm>
          <a:off x="1246996" y="943953"/>
          <a:ext cx="8128000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32244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440215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96620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72257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shape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 parameters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533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(32, 32, 1)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CONV1 (f=5, s=1)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(28, 28, 6)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935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POOL1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(14, 14, 6)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3964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CONV2 (f=5, s=1)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(10, 10, 16)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587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POOL2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(5, 5, 16)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43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(120, 1)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95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(84, 1)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351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4728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015605-AE9F-396D-50D7-8AF45AFD5402}"/>
                  </a:ext>
                </a:extLst>
              </p:cNvPr>
              <p:cNvSpPr txBox="1"/>
              <p:nvPr/>
            </p:nvSpPr>
            <p:spPr>
              <a:xfrm>
                <a:off x="9450239" y="254479"/>
                <a:ext cx="1568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015605-AE9F-396D-50D7-8AF45AFD5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239" y="254479"/>
                <a:ext cx="1568570" cy="276999"/>
              </a:xfrm>
              <a:prstGeom prst="rect">
                <a:avLst/>
              </a:prstGeom>
              <a:blipFill>
                <a:blip r:embed="rId2"/>
                <a:stretch>
                  <a:fillRect r="-3101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811FD6-AE1D-256E-B6B5-B209873A1D33}"/>
              </a:ext>
            </a:extLst>
          </p:cNvPr>
          <p:cNvCxnSpPr/>
          <p:nvPr/>
        </p:nvCxnSpPr>
        <p:spPr>
          <a:xfrm flipH="1">
            <a:off x="7867291" y="534838"/>
            <a:ext cx="2044460" cy="1319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369B1A-1149-A225-FB20-42030E20E46F}"/>
                  </a:ext>
                </a:extLst>
              </p:cNvPr>
              <p:cNvSpPr txBox="1"/>
              <p:nvPr/>
            </p:nvSpPr>
            <p:spPr>
              <a:xfrm>
                <a:off x="9911751" y="1854679"/>
                <a:ext cx="2092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369B1A-1149-A225-FB20-42030E20E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1751" y="1854679"/>
                <a:ext cx="2092752" cy="276999"/>
              </a:xfrm>
              <a:prstGeom prst="rect">
                <a:avLst/>
              </a:prstGeom>
              <a:blipFill>
                <a:blip r:embed="rId3"/>
                <a:stretch>
                  <a:fillRect r="-2332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A26146-382A-8319-E836-60253B40A03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944928" y="1993179"/>
            <a:ext cx="1966823" cy="620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B942D2-B6B4-1C0B-3704-E16B95C94339}"/>
                  </a:ext>
                </a:extLst>
              </p:cNvPr>
              <p:cNvSpPr txBox="1"/>
              <p:nvPr/>
            </p:nvSpPr>
            <p:spPr>
              <a:xfrm>
                <a:off x="9911751" y="2641613"/>
                <a:ext cx="16855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400×120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B942D2-B6B4-1C0B-3704-E16B95C9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1751" y="2641613"/>
                <a:ext cx="1685590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D0985C-E3D4-CDD3-CA5C-CA332E10132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065698" y="2780113"/>
            <a:ext cx="1846053" cy="547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4C7FC5-E143-48DC-8018-CAEA5479F18D}"/>
                  </a:ext>
                </a:extLst>
              </p:cNvPr>
              <p:cNvSpPr txBox="1"/>
              <p:nvPr/>
            </p:nvSpPr>
            <p:spPr>
              <a:xfrm>
                <a:off x="9995140" y="3313019"/>
                <a:ext cx="15573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120×84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4C7FC5-E143-48DC-8018-CAEA5479F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5140" y="3313019"/>
                <a:ext cx="1557349" cy="276999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96E758-8667-E5A2-1FD0-2496D30E5D35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169215" y="3451519"/>
            <a:ext cx="1825925" cy="285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107DBE-6E8D-6FCC-081D-7AEAF359E52A}"/>
                  </a:ext>
                </a:extLst>
              </p:cNvPr>
              <p:cNvSpPr txBox="1"/>
              <p:nvPr/>
            </p:nvSpPr>
            <p:spPr>
              <a:xfrm>
                <a:off x="10039992" y="3800889"/>
                <a:ext cx="14291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107DBE-6E8D-6FCC-081D-7AEAF359E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992" y="3800889"/>
                <a:ext cx="1429109" cy="27699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0EF462-6BAB-B7A1-9B68-E305CF54BF6D}"/>
              </a:ext>
            </a:extLst>
          </p:cNvPr>
          <p:cNvCxnSpPr>
            <a:cxnSpLocks/>
          </p:cNvCxnSpPr>
          <p:nvPr/>
        </p:nvCxnSpPr>
        <p:spPr>
          <a:xfrm flipH="1">
            <a:off x="8065698" y="3914046"/>
            <a:ext cx="1992406" cy="231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F96FDD-0D00-1E1B-A4C1-98649E841040}"/>
                  </a:ext>
                </a:extLst>
              </p:cNvPr>
              <p:cNvSpPr txBox="1"/>
              <p:nvPr/>
            </p:nvSpPr>
            <p:spPr>
              <a:xfrm>
                <a:off x="6430810" y="5637048"/>
                <a:ext cx="2651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#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parameters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61494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F96FDD-0D00-1E1B-A4C1-98649E84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810" y="5637048"/>
                <a:ext cx="2651367" cy="276999"/>
              </a:xfrm>
              <a:prstGeom prst="rect">
                <a:avLst/>
              </a:prstGeom>
              <a:blipFill>
                <a:blip r:embed="rId7"/>
                <a:stretch>
                  <a:fillRect l="-1839" r="-1839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642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10D8BB-9A89-45E6-9FC9-6C7A8E27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Architectures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48121-DA40-47E6-86C5-128E350DA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Classic architectures</a:t>
            </a:r>
          </a:p>
          <a:p>
            <a:pPr lvl="1"/>
            <a:r>
              <a:rPr lang="en-US" sz="3200" dirty="0"/>
              <a:t>Lenet-5 (already presented)</a:t>
            </a:r>
          </a:p>
          <a:p>
            <a:pPr lvl="1"/>
            <a:r>
              <a:rPr lang="en-US" sz="3200" dirty="0" err="1"/>
              <a:t>AlexNet</a:t>
            </a:r>
            <a:endParaRPr lang="en-US" sz="3200" dirty="0"/>
          </a:p>
          <a:p>
            <a:pPr lvl="1"/>
            <a:r>
              <a:rPr lang="en-US" sz="3200" dirty="0"/>
              <a:t>VGG (VGG16, VGG19)</a:t>
            </a:r>
          </a:p>
          <a:p>
            <a:r>
              <a:rPr lang="en-US" sz="3600" dirty="0" err="1"/>
              <a:t>ResNet</a:t>
            </a:r>
            <a:endParaRPr lang="en-US" sz="3600" dirty="0"/>
          </a:p>
          <a:p>
            <a:r>
              <a:rPr lang="en-US" sz="3600" dirty="0"/>
              <a:t>Inception</a:t>
            </a:r>
          </a:p>
        </p:txBody>
      </p:sp>
    </p:spTree>
    <p:extLst>
      <p:ext uri="{BB962C8B-B14F-4D97-AF65-F5344CB8AC3E}">
        <p14:creationId xmlns:p14="http://schemas.microsoft.com/office/powerpoint/2010/main" val="4002282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C6A04-3133-4A49-BCBA-A27C496E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84803-FA15-4C2A-A66D-58CD1B4A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8188"/>
            <a:ext cx="12192000" cy="4140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FC5CC7-1C11-4916-8DF3-CEBC6C9C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9" y="6492874"/>
            <a:ext cx="9305925" cy="352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1ABB2-DBD2-4045-87A8-DE88E646D0B5}"/>
                  </a:ext>
                </a:extLst>
              </p:cNvPr>
              <p:cNvSpPr txBox="1"/>
              <p:nvPr/>
            </p:nvSpPr>
            <p:spPr>
              <a:xfrm>
                <a:off x="9485468" y="5967299"/>
                <a:ext cx="1868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parameters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B1ABB2-DBD2-4045-87A8-DE88E646D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468" y="5967299"/>
                <a:ext cx="1868332" cy="276999"/>
              </a:xfrm>
              <a:prstGeom prst="rect">
                <a:avLst/>
              </a:prstGeom>
              <a:blipFill>
                <a:blip r:embed="rId4"/>
                <a:stretch>
                  <a:fillRect l="-326" r="-3583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DC53AF8-3A02-419B-952B-228D5BFBE97D}"/>
              </a:ext>
            </a:extLst>
          </p:cNvPr>
          <p:cNvSpPr txBox="1"/>
          <p:nvPr/>
        </p:nvSpPr>
        <p:spPr>
          <a:xfrm>
            <a:off x="8623139" y="1084568"/>
            <a:ext cx="2563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27427659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A9DC-6834-41AB-8721-08F710F5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2555"/>
            <a:ext cx="10515600" cy="1325563"/>
          </a:xfrm>
        </p:spPr>
        <p:txBody>
          <a:bodyPr/>
          <a:lstStyle/>
          <a:p>
            <a:r>
              <a:rPr lang="en-US" dirty="0"/>
              <a:t>VGG-16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F187B-2A8F-48B5-A512-5B2D1ABDD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479"/>
            <a:ext cx="12192000" cy="5334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EC81EA-ADD5-41EB-AE2A-6B4E75F37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" y="6467800"/>
            <a:ext cx="10277475" cy="371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2E08EE-D8DB-4580-8CAB-61E1B62697AF}"/>
                  </a:ext>
                </a:extLst>
              </p:cNvPr>
              <p:cNvSpPr txBox="1"/>
              <p:nvPr/>
            </p:nvSpPr>
            <p:spPr>
              <a:xfrm>
                <a:off x="7721406" y="926009"/>
                <a:ext cx="270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layers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type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2E08EE-D8DB-4580-8CAB-61E1B6269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406" y="926009"/>
                <a:ext cx="2700996" cy="276999"/>
              </a:xfrm>
              <a:prstGeom prst="rect">
                <a:avLst/>
              </a:prstGeom>
              <a:blipFill>
                <a:blip r:embed="rId4"/>
                <a:stretch>
                  <a:fillRect l="-1129" t="-2222" r="-248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163FA-0A08-4939-ACF0-60892752E459}"/>
                  </a:ext>
                </a:extLst>
              </p:cNvPr>
              <p:cNvSpPr txBox="1"/>
              <p:nvPr/>
            </p:nvSpPr>
            <p:spPr>
              <a:xfrm>
                <a:off x="9884780" y="6121997"/>
                <a:ext cx="19965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138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parameters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163FA-0A08-4939-ACF0-60892752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4780" y="6121997"/>
                <a:ext cx="1996572" cy="276999"/>
              </a:xfrm>
              <a:prstGeom prst="rect">
                <a:avLst/>
              </a:prstGeom>
              <a:blipFill>
                <a:blip r:embed="rId5"/>
                <a:stretch>
                  <a:fillRect l="-612" r="-336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2060DDA-3B65-4A15-A5E2-950756F26A05}"/>
              </a:ext>
            </a:extLst>
          </p:cNvPr>
          <p:cNvSpPr txBox="1"/>
          <p:nvPr/>
        </p:nvSpPr>
        <p:spPr>
          <a:xfrm>
            <a:off x="3658232" y="136890"/>
            <a:ext cx="792159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See how height and width reduce by a factor of 2, and depth grows up by the same</a:t>
            </a:r>
          </a:p>
        </p:txBody>
      </p:sp>
    </p:spTree>
    <p:extLst>
      <p:ext uri="{BB962C8B-B14F-4D97-AF65-F5344CB8AC3E}">
        <p14:creationId xmlns:p14="http://schemas.microsoft.com/office/powerpoint/2010/main" val="317558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</Words>
  <Application>Microsoft Office PowerPoint</Application>
  <PresentationFormat>Widescreen</PresentationFormat>
  <Paragraphs>564</Paragraphs>
  <Slides>45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CNN: Convolutional Neural Nets</vt:lpstr>
      <vt:lpstr>Computer Vision Problems</vt:lpstr>
      <vt:lpstr>Deep learning on  large images</vt:lpstr>
      <vt:lpstr>Focusing on edge detection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Vertical edge detection</vt:lpstr>
      <vt:lpstr>PowerPoint Presentation</vt:lpstr>
      <vt:lpstr>PowerPoint Presentation</vt:lpstr>
      <vt:lpstr>Learning to detect edges</vt:lpstr>
      <vt:lpstr>PowerPoint Presentation</vt:lpstr>
      <vt:lpstr>Padding</vt:lpstr>
      <vt:lpstr>Valid and Same Convolution</vt:lpstr>
      <vt:lpstr>Strided convolution</vt:lpstr>
      <vt:lpstr>Cross-correlation vs convolution</vt:lpstr>
      <vt:lpstr>Convolution on RGB Images</vt:lpstr>
      <vt:lpstr>PowerPoint Presentation</vt:lpstr>
      <vt:lpstr>Multiple filters</vt:lpstr>
      <vt:lpstr>PowerPoint Presentation</vt:lpstr>
      <vt:lpstr>One-layer CNN</vt:lpstr>
      <vt:lpstr>CNN Layer</vt:lpstr>
      <vt:lpstr>PowerPoint Presentation</vt:lpstr>
      <vt:lpstr>Remark</vt:lpstr>
      <vt:lpstr>Summary of notation</vt:lpstr>
      <vt:lpstr>Why convolution</vt:lpstr>
      <vt:lpstr>An example ConvNet</vt:lpstr>
      <vt:lpstr>PowerPoint Presentation</vt:lpstr>
      <vt:lpstr>Types of Layers in ConvNet</vt:lpstr>
      <vt:lpstr>Pooling: Max pooling</vt:lpstr>
      <vt:lpstr>PowerPoint Presentation</vt:lpstr>
      <vt:lpstr>Pooling: Average pooling</vt:lpstr>
      <vt:lpstr>Max vs Avg Pooling</vt:lpstr>
      <vt:lpstr>PowerPoint Presentation</vt:lpstr>
      <vt:lpstr>PowerPoint Presentation</vt:lpstr>
      <vt:lpstr>PowerPoint Presentation</vt:lpstr>
      <vt:lpstr>CNN Architectures</vt:lpstr>
      <vt:lpstr>AlexNet</vt:lpstr>
      <vt:lpstr>VGG-16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CNN: Convolutional Neural Nets</dc:title>
  <dc:creator>Luigi Portinale</dc:creator>
  <cp:lastModifiedBy>Luigi Portinale</cp:lastModifiedBy>
  <cp:revision>67</cp:revision>
  <dcterms:created xsi:type="dcterms:W3CDTF">2021-08-27T09:15:10Z</dcterms:created>
  <dcterms:modified xsi:type="dcterms:W3CDTF">2025-04-14T16:25:08Z</dcterms:modified>
</cp:coreProperties>
</file>