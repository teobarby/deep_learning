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1" r:id="rId25"/>
    <p:sldId id="283" r:id="rId26"/>
    <p:sldId id="284" r:id="rId27"/>
    <p:sldId id="285" r:id="rId28"/>
    <p:sldId id="286" r:id="rId29"/>
    <p:sldId id="287" r:id="rId30"/>
    <p:sldId id="290" r:id="rId31"/>
    <p:sldId id="288" r:id="rId32"/>
    <p:sldId id="280" r:id="rId33"/>
    <p:sldId id="293" r:id="rId34"/>
    <p:sldId id="296" r:id="rId35"/>
    <p:sldId id="298" r:id="rId36"/>
    <p:sldId id="299" r:id="rId37"/>
    <p:sldId id="300" r:id="rId38"/>
    <p:sldId id="301" r:id="rId39"/>
    <p:sldId id="302" r:id="rId40"/>
    <p:sldId id="303" r:id="rId41"/>
    <p:sldId id="30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D8D54-E94C-4E4B-85A3-4574DEF337B6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1B9A2-7F92-4704-A966-EDE6FB596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7028-006A-4C6C-B4B1-A20F1724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74938-1530-4611-B6BE-1392C572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AFB4-6091-4B4C-AA41-7164FED1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2C88-7AA8-4482-9CF1-79161681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8CCD-35B8-4B0B-8EB4-58A98126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1DB7-21B2-43DB-B55F-49B3F7E3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15D4-2893-4111-A9B5-BADBB674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FDF2-49E8-495D-8143-8419F6D5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1CEF5-5FF1-443D-B894-121A4D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9A79-8FF0-48F8-9BC3-D3C9A64D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0D13-AE52-442C-8CE0-D4F47F2C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DB336-98A7-4A6F-A059-D7C54FF6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D3F25-B065-4557-939E-578909E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FF89-F335-4B6F-893C-5184553E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7C7E-D604-4816-8204-216B11E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D6D2-C824-4567-8754-8C2D6946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B922-BB93-496D-9D42-376F89E0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5CD5-ADF2-4568-8EC4-06FB84B0D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5E49B-8E9D-4E6E-AD50-7C55064D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A4584-34B2-4AF1-8465-EAF252C8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D1DA-DD48-440F-BD3F-80EBB9D5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B3C5-F3F9-466A-83C7-1D27C600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F98F-F8DC-459E-9118-C1270CAF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C8FA0-1F58-410B-9534-6D329D55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09C43-871A-40CA-85FE-233CAD755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FD94E-330C-45DC-B3B0-50A8D386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F7D48-A5C2-41DF-9F53-024509CC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631C-68FF-4EDF-B53D-CCE849C6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A24E0-7F6B-469C-B1EB-29633334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CD14-8741-4890-BCE1-BB1EE216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19C96-F64D-4EC4-80B5-6AAFBAC7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2099-B319-4D8E-A813-8E7744C5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1228F-A5B8-4DC7-B85A-69AAC04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C8E7E-3920-4444-A61B-6909202F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CB5FE-0094-4BC3-9193-5F89B2CA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7D74-6204-4248-94D1-AE4A66B5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2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F48-0D18-408D-A852-CD280699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41340-010A-4AE6-91AF-DD83936C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29F72-6135-4D6B-8969-6B4F1773C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4EEAD-57AE-4E52-A2A8-963E983E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A5F1-E01B-4719-98FD-7DAD6D28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3F2A9-2748-45A4-9ED9-3E42FA9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208E-AED5-4186-9AE1-E00A3085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8E83C-41D6-4792-A50E-A0FAD2F7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E4E2D-77E8-4C9F-BD2C-196D0C80B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5B51B-3C89-4D0C-BF03-70D87071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4DC4-3AFF-4162-9DA8-D2212744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208A8-139D-4F67-965A-4C732AAB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D817-D313-4587-A3EC-3FCA668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26F0E-932D-41A4-AC5A-0F3CE13A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EF1F-CCB8-476C-8C07-C154588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851F-E025-4528-9A5D-0C106294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F473-7842-4275-9356-6C0ADFC6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CC8E-64DC-417D-9A5B-183CB60DA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9E554-6670-4B02-A42D-16C4A1CC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9813-5839-446A-8183-465A7305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CF36-FFD3-4E91-8836-DB3A3133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9F81-ECFD-41D0-B88F-FC7D5E6D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7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1627-2B15-4D9C-891C-17BBDA6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F4AA5-B571-4C72-8874-1CB4930B5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120C-2861-47AE-B94B-476A58D7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50D-B03A-48F2-9585-F61F5A44680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56E5-9ED8-4569-BF1E-9727A890E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A8D4-B3D7-49A8-B692-1812371AB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wmf"/><Relationship Id="rId7" Type="http://schemas.openxmlformats.org/officeDocument/2006/relationships/image" Target="../media/image10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wmf"/><Relationship Id="rId7" Type="http://schemas.openxmlformats.org/officeDocument/2006/relationships/image" Target="../media/image3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60.png"/><Relationship Id="rId5" Type="http://schemas.openxmlformats.org/officeDocument/2006/relationships/image" Target="../media/image9.w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10.wmf"/><Relationship Id="rId21" Type="http://schemas.openxmlformats.org/officeDocument/2006/relationships/image" Target="../media/image2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oleObject" Target="../embeddings/oleObject9.bin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11.wmf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10.wmf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oleObject" Target="../embeddings/oleObject11.bin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33.png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13" Type="http://schemas.openxmlformats.org/officeDocument/2006/relationships/image" Target="../media/image57.png"/><Relationship Id="rId3" Type="http://schemas.openxmlformats.org/officeDocument/2006/relationships/image" Target="../media/image10.wmf"/><Relationship Id="rId7" Type="http://schemas.openxmlformats.org/officeDocument/2006/relationships/image" Target="../media/image510.png"/><Relationship Id="rId12" Type="http://schemas.openxmlformats.org/officeDocument/2006/relationships/image" Target="../media/image56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11" Type="http://schemas.openxmlformats.org/officeDocument/2006/relationships/image" Target="../media/image55.png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9" Type="http://schemas.openxmlformats.org/officeDocument/2006/relationships/image" Target="../media/image530.png"/><Relationship Id="rId1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13" Type="http://schemas.openxmlformats.org/officeDocument/2006/relationships/image" Target="../media/image57.png"/><Relationship Id="rId18" Type="http://schemas.openxmlformats.org/officeDocument/2006/relationships/image" Target="../media/image64.png"/><Relationship Id="rId3" Type="http://schemas.openxmlformats.org/officeDocument/2006/relationships/image" Target="../media/image10.wmf"/><Relationship Id="rId7" Type="http://schemas.openxmlformats.org/officeDocument/2006/relationships/image" Target="../media/image510.png"/><Relationship Id="rId12" Type="http://schemas.openxmlformats.org/officeDocument/2006/relationships/image" Target="../media/image56.png"/><Relationship Id="rId17" Type="http://schemas.openxmlformats.org/officeDocument/2006/relationships/image" Target="../media/image63.png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11" Type="http://schemas.openxmlformats.org/officeDocument/2006/relationships/image" Target="../media/image55.png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9" Type="http://schemas.openxmlformats.org/officeDocument/2006/relationships/image" Target="../media/image530.png"/><Relationship Id="rId1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66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65.png"/><Relationship Id="rId17" Type="http://schemas.openxmlformats.org/officeDocument/2006/relationships/image" Target="../media/image83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651.png"/><Relationship Id="rId10" Type="http://schemas.openxmlformats.org/officeDocument/2006/relationships/image" Target="../media/image76.png"/><Relationship Id="rId19" Type="http://schemas.openxmlformats.org/officeDocument/2006/relationships/image" Target="../media/image8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640.png"/><Relationship Id="rId7" Type="http://schemas.openxmlformats.org/officeDocument/2006/relationships/image" Target="../media/image88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image" Target="../media/image78.png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92.png"/><Relationship Id="rId4" Type="http://schemas.openxmlformats.org/officeDocument/2006/relationships/image" Target="../media/image650.png"/><Relationship Id="rId9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4.wmf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05.wmf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image" Target="../media/image118.png"/><Relationship Id="rId16" Type="http://schemas.openxmlformats.org/officeDocument/2006/relationships/image" Target="../media/image144.png"/><Relationship Id="rId20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19" Type="http://schemas.openxmlformats.org/officeDocument/2006/relationships/image" Target="../media/image130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50.pn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2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2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49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48C3-8447-46F5-8F10-0B792701E2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4D258-2FFA-4881-984B-19A642710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</p:spTree>
    <p:extLst>
      <p:ext uri="{BB962C8B-B14F-4D97-AF65-F5344CB8AC3E}">
        <p14:creationId xmlns:p14="http://schemas.microsoft.com/office/powerpoint/2010/main" val="104228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265C4F0A-562A-4927-81AF-A347E5767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BA1D7B-BB10-4C90-ABF5-E4856846CF06}"/>
              </a:ext>
            </a:extLst>
          </p:cNvPr>
          <p:cNvSpPr txBox="1"/>
          <p:nvPr/>
        </p:nvSpPr>
        <p:spPr>
          <a:xfrm>
            <a:off x="7772400" y="1"/>
            <a:ext cx="4419600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these task can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faced as supervised learning</a:t>
            </a:r>
            <a:b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 input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output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85082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51C5-876F-4C17-9F3F-3C87E1EE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Different types of Sequence Modeling Tasks</a:t>
            </a:r>
          </a:p>
        </p:txBody>
      </p:sp>
      <p:pic>
        <p:nvPicPr>
          <p:cNvPr id="12290" name="Picture 2" descr="Diagram&#10;&#10;Description automatically generated">
            <a:extLst>
              <a:ext uri="{FF2B5EF4-FFF2-40B4-BE49-F238E27FC236}">
                <a16:creationId xmlns:a16="http://schemas.microsoft.com/office/drawing/2014/main" id="{86058ACF-F5B2-47DA-BC20-E781E03AD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1250" y="1269660"/>
            <a:ext cx="9847294" cy="558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67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32E5787-863C-4328-A186-C02B1AB68B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807733"/>
              </p:ext>
            </p:extLst>
          </p:nvPr>
        </p:nvGraphicFramePr>
        <p:xfrm>
          <a:off x="603250" y="-17070"/>
          <a:ext cx="11188699" cy="7018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33480" imgH="5665320" progId="Paint.Picture">
                  <p:embed/>
                </p:oleObj>
              </mc:Choice>
              <mc:Fallback>
                <p:oleObj name="Bitmap Image" r:id="rId2" imgW="9033480" imgH="56653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250" y="-17070"/>
                        <a:ext cx="11188699" cy="7018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40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F299E5E-305E-41F1-891E-7832CCEC9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635725"/>
              </p:ext>
            </p:extLst>
          </p:nvPr>
        </p:nvGraphicFramePr>
        <p:xfrm>
          <a:off x="596619" y="57150"/>
          <a:ext cx="10958914" cy="671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79200" imgH="5566320" progId="Paint.Picture">
                  <p:embed/>
                </p:oleObj>
              </mc:Choice>
              <mc:Fallback>
                <p:oleObj name="Bitmap Image" r:id="rId2" imgW="9079200" imgH="55663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6619" y="57150"/>
                        <a:ext cx="10958914" cy="6718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93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2B3A4E4-B8D9-427D-9142-45E2BE3D5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255654"/>
              </p:ext>
            </p:extLst>
          </p:nvPr>
        </p:nvGraphicFramePr>
        <p:xfrm>
          <a:off x="1191952" y="0"/>
          <a:ext cx="10006976" cy="687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949600" imgH="6145560" progId="Paint.Picture">
                  <p:embed/>
                </p:oleObj>
              </mc:Choice>
              <mc:Fallback>
                <p:oleObj name="Bitmap Image" r:id="rId2" imgW="8949600" imgH="6145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91952" y="0"/>
                        <a:ext cx="10006976" cy="687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69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F73E-0759-4ED6-8D09-7D9F48F0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example: name entity recognition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8E6-9651-43ED-903C-A53CCF79CC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Harry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Potter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Hermione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Granger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invented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new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spell</m:t>
                    </m:r>
                  </m:oMath>
                </a14:m>
                <a:endParaRPr lang="en-US" dirty="0"/>
              </a:p>
              <a:p>
                <a:r>
                  <a:rPr lang="en-US" dirty="0"/>
                  <a:t>You need to identify the name tokens: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Harry, Potter, Hermione, Granger</a:t>
                </a:r>
              </a:p>
              <a:p>
                <a:r>
                  <a:rPr lang="en-US" dirty="0"/>
                  <a:t>The output can be a sequence of bits corresponding to the sequence of input words, with 1 when a name is found and 0 elsewhere.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 1 1 0 1 1 0 0 0 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,….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,….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sequence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length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element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traning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length of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err="1"/>
                  <a:t>-th</a:t>
                </a:r>
                <a:r>
                  <a:rPr lang="en-US" dirty="0"/>
                  <a:t> training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8E6-9651-43ED-903C-A53CCF79C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93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22B1-717F-4E45-B5E2-76D724B3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example: representing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C57FB-E6F3-40EA-BEBA-000BC66C5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2914650"/>
            <a:ext cx="10515600" cy="812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One-hot encoding: given a fixed-size vocabulary vector, put 1 for the word position and 0 elsewhere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643D35F-7ED2-4EF0-9531-C64A0136E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898357"/>
              </p:ext>
            </p:extLst>
          </p:nvPr>
        </p:nvGraphicFramePr>
        <p:xfrm>
          <a:off x="586581" y="1782763"/>
          <a:ext cx="11018838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1018520" imgH="1131480" progId="Paint.Picture">
                  <p:embed/>
                </p:oleObj>
              </mc:Choice>
              <mc:Fallback>
                <p:oleObj name="Bitmap Image" r:id="rId2" imgW="11018520" imgH="1131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6581" y="1782763"/>
                        <a:ext cx="11018838" cy="113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56C55-0798-49B3-8608-D0B9157FE1EE}"/>
                  </a:ext>
                </a:extLst>
              </p:cNvPr>
              <p:cNvSpPr txBox="1"/>
              <p:nvPr/>
            </p:nvSpPr>
            <p:spPr>
              <a:xfrm>
                <a:off x="704850" y="4202312"/>
                <a:ext cx="1248675" cy="24468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𝑛𝑑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𝐻𝑎𝑟𝑟𝑦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𝐻𝑒𝑟𝑚𝑖𝑜𝑛𝑒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𝐺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𝑟𝑎𝑛𝑔𝑒𝑟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𝑧𝑢𝑙𝑢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56C55-0798-49B3-8608-D0B9157FE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4202312"/>
                <a:ext cx="1248675" cy="2446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4DCB0CF-91FE-4C5F-8B1D-FFD2A6F325E9}"/>
              </a:ext>
            </a:extLst>
          </p:cNvPr>
          <p:cNvSpPr txBox="1"/>
          <p:nvPr/>
        </p:nvSpPr>
        <p:spPr>
          <a:xfrm>
            <a:off x="745822" y="3832980"/>
            <a:ext cx="126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1E0245-B182-4527-A065-EA6C6FE65751}"/>
                  </a:ext>
                </a:extLst>
              </p:cNvPr>
              <p:cNvSpPr txBox="1"/>
              <p:nvPr/>
            </p:nvSpPr>
            <p:spPr>
              <a:xfrm>
                <a:off x="2444750" y="4202312"/>
                <a:ext cx="1134348" cy="2410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1E0245-B182-4527-A065-EA6C6FE65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750" y="4202312"/>
                <a:ext cx="1134348" cy="24105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52E130-4659-4665-AFE3-779643EBF257}"/>
                  </a:ext>
                </a:extLst>
              </p:cNvPr>
              <p:cNvSpPr txBox="1"/>
              <p:nvPr/>
            </p:nvSpPr>
            <p:spPr>
              <a:xfrm>
                <a:off x="3930650" y="4202312"/>
                <a:ext cx="1134349" cy="2410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&lt;4&gt;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52E130-4659-4665-AFE3-779643EBF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650" y="4202312"/>
                <a:ext cx="1134349" cy="24105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5A066E-8E06-434D-A895-D6B08EB44F7C}"/>
                  </a:ext>
                </a:extLst>
              </p:cNvPr>
              <p:cNvSpPr txBox="1"/>
              <p:nvPr/>
            </p:nvSpPr>
            <p:spPr>
              <a:xfrm>
                <a:off x="5842000" y="4413250"/>
                <a:ext cx="5293052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&lt;1&gt;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&lt;2&gt;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,…..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&lt;9&gt;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=(1,1,0,1,1,0,0,0,0)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5A066E-8E06-434D-A895-D6B08EB4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0" y="4413250"/>
                <a:ext cx="5293052" cy="347403"/>
              </a:xfrm>
              <a:prstGeom prst="rect">
                <a:avLst/>
              </a:prstGeom>
              <a:blipFill>
                <a:blip r:embed="rId8"/>
                <a:stretch>
                  <a:fillRect l="-690" r="-126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98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B25E-3686-4E7E-B9EC-300B6AC4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a standard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EC571-2CAD-4CDE-9CE2-9B3C2D5E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62525"/>
            <a:ext cx="10515600" cy="17113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Problems:</a:t>
            </a:r>
          </a:p>
          <a:p>
            <a:pPr lvl="1"/>
            <a:r>
              <a:rPr lang="en-US" dirty="0"/>
              <a:t>Inputs and outputs can be of different lengths in different examples</a:t>
            </a:r>
          </a:p>
          <a:p>
            <a:pPr lvl="1"/>
            <a:r>
              <a:rPr lang="en-US" dirty="0"/>
              <a:t>Does not share features learned across different positions (as in CNN if I learn that Harry in position 1 is a name, I would like to automatically discover </a:t>
            </a:r>
            <a:r>
              <a:rPr lang="en-US"/>
              <a:t>that Harry </a:t>
            </a:r>
            <a:r>
              <a:rPr lang="en-US" dirty="0"/>
              <a:t>in position 13 is also a name)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5A83FAC-FEA8-423E-AFAD-894216B7A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788455"/>
              </p:ext>
            </p:extLst>
          </p:nvPr>
        </p:nvGraphicFramePr>
        <p:xfrm>
          <a:off x="1676400" y="1860550"/>
          <a:ext cx="8839200" cy="313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839080" imgH="3135600" progId="Paint.Picture">
                  <p:embed/>
                </p:oleObj>
              </mc:Choice>
              <mc:Fallback>
                <p:oleObj name="Bitmap Image" r:id="rId2" imgW="8839080" imgH="3135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6400" y="1860550"/>
                        <a:ext cx="8839200" cy="313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371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568659-F12D-4042-AF5C-8BC69A9D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Convolution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EBAD94-F870-4690-A181-F7654938D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667742"/>
              </p:ext>
            </p:extLst>
          </p:nvPr>
        </p:nvGraphicFramePr>
        <p:xfrm>
          <a:off x="617538" y="2133600"/>
          <a:ext cx="7049931" cy="280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227200" imgH="2080440" progId="Paint.Picture">
                  <p:embed/>
                </p:oleObj>
              </mc:Choice>
              <mc:Fallback>
                <p:oleObj name="Bitmap Image" r:id="rId2" imgW="5227200" imgH="2080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7538" y="2133600"/>
                        <a:ext cx="7049931" cy="280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21C5914-2693-4148-ABED-CA00015FB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468564"/>
              </p:ext>
            </p:extLst>
          </p:nvPr>
        </p:nvGraphicFramePr>
        <p:xfrm>
          <a:off x="768350" y="4729056"/>
          <a:ext cx="2000549" cy="465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638360" imgH="380880" progId="Paint.Picture">
                  <p:embed/>
                </p:oleObj>
              </mc:Choice>
              <mc:Fallback>
                <p:oleObj name="Bitmap Image" r:id="rId4" imgW="1638360" imgH="380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8350" y="4729056"/>
                        <a:ext cx="2000549" cy="465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A6F6F40C-2AEB-4FFB-8A04-30FBDF55E310}"/>
              </a:ext>
            </a:extLst>
          </p:cNvPr>
          <p:cNvGrpSpPr/>
          <p:nvPr/>
        </p:nvGrpSpPr>
        <p:grpSpPr>
          <a:xfrm>
            <a:off x="8350250" y="4368800"/>
            <a:ext cx="1701800" cy="360256"/>
            <a:chOff x="7759700" y="4368800"/>
            <a:chExt cx="1701800" cy="3602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569A2E-D195-457A-A0E9-F5F14E2B03E4}"/>
                </a:ext>
              </a:extLst>
            </p:cNvPr>
            <p:cNvSpPr/>
            <p:nvPr/>
          </p:nvSpPr>
          <p:spPr>
            <a:xfrm>
              <a:off x="7759700" y="4368800"/>
              <a:ext cx="1701800" cy="36025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B3BAEA-FFC7-497E-96ED-713D73812C01}"/>
                </a:ext>
              </a:extLst>
            </p:cNvPr>
            <p:cNvCxnSpPr/>
            <p:nvPr/>
          </p:nvCxnSpPr>
          <p:spPr>
            <a:xfrm>
              <a:off x="8191500" y="4368800"/>
              <a:ext cx="0" cy="36025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1F4583-DC2F-4C80-B15A-2984328AF4B8}"/>
                </a:ext>
              </a:extLst>
            </p:cNvPr>
            <p:cNvCxnSpPr/>
            <p:nvPr/>
          </p:nvCxnSpPr>
          <p:spPr>
            <a:xfrm>
              <a:off x="8623300" y="4368800"/>
              <a:ext cx="0" cy="36025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0A5DE95-034F-4EBE-B882-6328DEB682A5}"/>
                </a:ext>
              </a:extLst>
            </p:cNvPr>
            <p:cNvCxnSpPr/>
            <p:nvPr/>
          </p:nvCxnSpPr>
          <p:spPr>
            <a:xfrm>
              <a:off x="9036050" y="4368800"/>
              <a:ext cx="0" cy="36025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57E13A-39E2-415E-89AC-6806B38B97BF}"/>
                  </a:ext>
                </a:extLst>
              </p:cNvPr>
              <p:cNvSpPr txBox="1"/>
              <p:nvPr/>
            </p:nvSpPr>
            <p:spPr>
              <a:xfrm>
                <a:off x="8331996" y="4410428"/>
                <a:ext cx="4376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238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57E13A-39E2-415E-89AC-6806B38B9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996" y="4410428"/>
                <a:ext cx="437620" cy="276999"/>
              </a:xfrm>
              <a:prstGeom prst="rect">
                <a:avLst/>
              </a:prstGeom>
              <a:blipFill>
                <a:blip r:embed="rId7"/>
                <a:stretch>
                  <a:fillRect l="-12500" r="-125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44576B-F1F5-425E-9B5A-4FDE52D9B030}"/>
                  </a:ext>
                </a:extLst>
              </p:cNvPr>
              <p:cNvSpPr txBox="1"/>
              <p:nvPr/>
            </p:nvSpPr>
            <p:spPr>
              <a:xfrm>
                <a:off x="704850" y="5549900"/>
                <a:ext cx="4975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×1+20×3+15×10+3×3+18×1=238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44576B-F1F5-425E-9B5A-4FDE52D9B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5549900"/>
                <a:ext cx="4975721" cy="276999"/>
              </a:xfrm>
              <a:prstGeom prst="rect">
                <a:avLst/>
              </a:prstGeom>
              <a:blipFill>
                <a:blip r:embed="rId8"/>
                <a:stretch>
                  <a:fillRect l="-735" r="-61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D3020065-88FC-4034-9202-F97F9F090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980492"/>
              </p:ext>
            </p:extLst>
          </p:nvPr>
        </p:nvGraphicFramePr>
        <p:xfrm>
          <a:off x="1192161" y="4767156"/>
          <a:ext cx="2000549" cy="465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1638360" imgH="380880" progId="Paint.Picture">
                  <p:embed/>
                </p:oleObj>
              </mc:Choice>
              <mc:Fallback>
                <p:oleObj name="Bitmap Image" r:id="rId9" imgW="1638360" imgH="380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161" y="4767156"/>
                        <a:ext cx="2000549" cy="465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0F8031-DEA9-4516-B26A-625C5127C743}"/>
                  </a:ext>
                </a:extLst>
              </p:cNvPr>
              <p:cNvSpPr txBox="1"/>
              <p:nvPr/>
            </p:nvSpPr>
            <p:spPr>
              <a:xfrm>
                <a:off x="711200" y="5803900"/>
                <a:ext cx="46551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×1+15×3+3×10+3×18+12×1=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30F8031-DEA9-4516-B26A-625C5127C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5803900"/>
                <a:ext cx="4655121" cy="276999"/>
              </a:xfrm>
              <a:prstGeom prst="rect">
                <a:avLst/>
              </a:prstGeom>
              <a:blipFill>
                <a:blip r:embed="rId10"/>
                <a:stretch>
                  <a:fillRect l="-78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C75E6E-F8A7-4BF5-B533-CEFDA40019BB}"/>
                  </a:ext>
                </a:extLst>
              </p:cNvPr>
              <p:cNvSpPr txBox="1"/>
              <p:nvPr/>
            </p:nvSpPr>
            <p:spPr>
              <a:xfrm>
                <a:off x="8794485" y="4410427"/>
                <a:ext cx="4376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C75E6E-F8A7-4BF5-B533-CEFDA400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85" y="4410427"/>
                <a:ext cx="437620" cy="276999"/>
              </a:xfrm>
              <a:prstGeom prst="rect">
                <a:avLst/>
              </a:prstGeom>
              <a:blipFill>
                <a:blip r:embed="rId11"/>
                <a:stretch>
                  <a:fillRect l="-12676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55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6" grpId="1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4120-57F1-4B17-9964-660E3F24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RNN: Recurrent Neural Network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8109484-59B2-41B7-8262-712EA77C2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821631"/>
              </p:ext>
            </p:extLst>
          </p:nvPr>
        </p:nvGraphicFramePr>
        <p:xfrm>
          <a:off x="-49212" y="1885950"/>
          <a:ext cx="8975725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976240" imgH="3352680" progId="Paint.Picture">
                  <p:embed/>
                </p:oleObj>
              </mc:Choice>
              <mc:Fallback>
                <p:oleObj name="Bitmap Image" r:id="rId2" imgW="8976240" imgH="33526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49212" y="1885950"/>
                        <a:ext cx="8975725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BCDAE6EA-3AFD-4C98-ACAE-3445B4B9CA02}"/>
              </a:ext>
            </a:extLst>
          </p:cNvPr>
          <p:cNvGrpSpPr/>
          <p:nvPr/>
        </p:nvGrpSpPr>
        <p:grpSpPr>
          <a:xfrm>
            <a:off x="10484723" y="2681843"/>
            <a:ext cx="1123111" cy="3104039"/>
            <a:chOff x="10484723" y="2681843"/>
            <a:chExt cx="1123111" cy="310403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" name="Object 3">
                  <a:extLst>
                    <a:ext uri="{FF2B5EF4-FFF2-40B4-BE49-F238E27FC236}">
                      <a16:creationId xmlns:a16="http://schemas.microsoft.com/office/drawing/2014/main" id="{5CB46CDF-F9A9-4D8C-907B-D2677A08AD9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16832121"/>
                    </p:ext>
                  </p:extLst>
                </p:nvPr>
              </p:nvGraphicFramePr>
              <p:xfrm>
                <a:off x="10545763" y="3051175"/>
                <a:ext cx="636587" cy="23653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Bitmap Image" r:id="rId4" imgW="636120" imgH="2365920" progId="Paint.Picture">
                        <p:embed/>
                      </p:oleObj>
                    </mc:Choice>
                    <mc:Fallback>
                      <p:oleObj name="Bitmap Image" r:id="rId4" imgW="636120" imgH="2365920" progId="Paint.Picture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45763" y="3051175"/>
                              <a:ext cx="636587" cy="23653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" name="Object 3">
                  <a:extLst>
                    <a:ext uri="{FF2B5EF4-FFF2-40B4-BE49-F238E27FC236}">
                      <a16:creationId xmlns:a16="http://schemas.microsoft.com/office/drawing/2014/main" id="{5CB46CDF-F9A9-4D8C-907B-D2677A08AD9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16832121"/>
                    </p:ext>
                  </p:extLst>
                </p:nvPr>
              </p:nvGraphicFramePr>
              <p:xfrm>
                <a:off x="10545763" y="3051175"/>
                <a:ext cx="636587" cy="23653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8471" name="Bitmap Image" r:id="rId7" imgW="636120" imgH="2365920" progId="Paint.Picture">
                        <p:embed/>
                      </p:oleObj>
                    </mc:Choice>
                    <mc:Fallback>
                      <p:oleObj name="Bitmap Image" r:id="rId7" imgW="636120" imgH="2365920" progId="Paint.Picture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45763" y="3051175"/>
                              <a:ext cx="636587" cy="23653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B51747D-8A51-4537-97B5-F8BC7D6DB2BF}"/>
                    </a:ext>
                  </a:extLst>
                </p:cNvPr>
                <p:cNvSpPr txBox="1"/>
                <p:nvPr/>
              </p:nvSpPr>
              <p:spPr>
                <a:xfrm>
                  <a:off x="10516473" y="5416550"/>
                  <a:ext cx="6976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B51747D-8A51-4537-97B5-F8BC7D6DB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6473" y="5416550"/>
                  <a:ext cx="697627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217" t="-1667" r="-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42979D0-63FC-45AD-971F-29E9FA297989}"/>
                    </a:ext>
                  </a:extLst>
                </p:cNvPr>
                <p:cNvSpPr txBox="1"/>
                <p:nvPr/>
              </p:nvSpPr>
              <p:spPr>
                <a:xfrm>
                  <a:off x="10484723" y="2681843"/>
                  <a:ext cx="703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42979D0-63FC-45AD-971F-29E9FA297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4723" y="2681843"/>
                  <a:ext cx="70384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0435" r="-347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4FADC8C-A70C-4A55-9389-F9B9262545B5}"/>
                </a:ext>
              </a:extLst>
            </p:cNvPr>
            <p:cNvSpPr/>
            <p:nvPr/>
          </p:nvSpPr>
          <p:spPr>
            <a:xfrm>
              <a:off x="11023600" y="3833173"/>
              <a:ext cx="584234" cy="694828"/>
            </a:xfrm>
            <a:custGeom>
              <a:avLst/>
              <a:gdLst>
                <a:gd name="connsiteX0" fmla="*/ 6350 w 584234"/>
                <a:gd name="connsiteY0" fmla="*/ 40327 h 694828"/>
                <a:gd name="connsiteX1" fmla="*/ 381000 w 584234"/>
                <a:gd name="connsiteY1" fmla="*/ 40327 h 694828"/>
                <a:gd name="connsiteX2" fmla="*/ 584200 w 584234"/>
                <a:gd name="connsiteY2" fmla="*/ 459427 h 694828"/>
                <a:gd name="connsiteX3" fmla="*/ 393700 w 584234"/>
                <a:gd name="connsiteY3" fmla="*/ 681677 h 694828"/>
                <a:gd name="connsiteX4" fmla="*/ 0 w 584234"/>
                <a:gd name="connsiteY4" fmla="*/ 649927 h 69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4234" h="694828">
                  <a:moveTo>
                    <a:pt x="6350" y="40327"/>
                  </a:moveTo>
                  <a:cubicBezTo>
                    <a:pt x="145521" y="5402"/>
                    <a:pt x="284692" y="-29523"/>
                    <a:pt x="381000" y="40327"/>
                  </a:cubicBezTo>
                  <a:cubicBezTo>
                    <a:pt x="477308" y="110177"/>
                    <a:pt x="582083" y="352535"/>
                    <a:pt x="584200" y="459427"/>
                  </a:cubicBezTo>
                  <a:cubicBezTo>
                    <a:pt x="586317" y="566319"/>
                    <a:pt x="491067" y="649927"/>
                    <a:pt x="393700" y="681677"/>
                  </a:cubicBezTo>
                  <a:cubicBezTo>
                    <a:pt x="296333" y="713427"/>
                    <a:pt x="148166" y="681677"/>
                    <a:pt x="0" y="649927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EA18C27-94C6-49C6-99AF-18635CDDE4D7}"/>
              </a:ext>
            </a:extLst>
          </p:cNvPr>
          <p:cNvSpPr txBox="1"/>
          <p:nvPr/>
        </p:nvSpPr>
        <p:spPr>
          <a:xfrm>
            <a:off x="2184400" y="5702300"/>
            <a:ext cx="1256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unrolled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C3F829-1DC1-49CC-AFFA-701A323ED782}"/>
              </a:ext>
            </a:extLst>
          </p:cNvPr>
          <p:cNvSpPr txBox="1"/>
          <p:nvPr/>
        </p:nvSpPr>
        <p:spPr>
          <a:xfrm>
            <a:off x="10526527" y="6013882"/>
            <a:ext cx="926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rolled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D8736E-5E62-45B1-A951-BA673071D4A0}"/>
              </a:ext>
            </a:extLst>
          </p:cNvPr>
          <p:cNvSpPr txBox="1"/>
          <p:nvPr/>
        </p:nvSpPr>
        <p:spPr>
          <a:xfrm>
            <a:off x="63237" y="3562350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FA0B8B-EF6E-496E-9A83-219253C8FC68}"/>
                  </a:ext>
                </a:extLst>
              </p:cNvPr>
              <p:cNvSpPr txBox="1"/>
              <p:nvPr/>
            </p:nvSpPr>
            <p:spPr>
              <a:xfrm>
                <a:off x="11243390" y="4479002"/>
                <a:ext cx="448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FA0B8B-EF6E-496E-9A83-219253C8F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3390" y="4479002"/>
                <a:ext cx="448200" cy="276999"/>
              </a:xfrm>
              <a:prstGeom prst="rect">
                <a:avLst/>
              </a:prstGeom>
              <a:blipFill>
                <a:blip r:embed="rId11"/>
                <a:stretch>
                  <a:fillRect l="-10811" r="-1351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4419A7-3A62-499B-B41E-81CCF08F141E}"/>
                  </a:ext>
                </a:extLst>
              </p:cNvPr>
              <p:cNvSpPr txBox="1"/>
              <p:nvPr/>
            </p:nvSpPr>
            <p:spPr>
              <a:xfrm>
                <a:off x="10906317" y="5035330"/>
                <a:ext cx="441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4419A7-3A62-499B-B41E-81CCF08F1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6317" y="5035330"/>
                <a:ext cx="441788" cy="276999"/>
              </a:xfrm>
              <a:prstGeom prst="rect">
                <a:avLst/>
              </a:prstGeom>
              <a:blipFill>
                <a:blip r:embed="rId12"/>
                <a:stretch>
                  <a:fillRect l="-10959" r="-137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AE14FB-2C21-4B20-8449-C89C60A8630F}"/>
                  </a:ext>
                </a:extLst>
              </p:cNvPr>
              <p:cNvSpPr txBox="1"/>
              <p:nvPr/>
            </p:nvSpPr>
            <p:spPr>
              <a:xfrm>
                <a:off x="10920412" y="3065733"/>
                <a:ext cx="449802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AE14FB-2C21-4B20-8449-C89C60A8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412" y="3065733"/>
                <a:ext cx="449802" cy="298928"/>
              </a:xfrm>
              <a:prstGeom prst="rect">
                <a:avLst/>
              </a:prstGeom>
              <a:blipFill>
                <a:blip r:embed="rId13"/>
                <a:stretch>
                  <a:fillRect l="-10811" r="-5405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DA3C357-D123-415B-BEAC-F5893697DFCE}"/>
                  </a:ext>
                </a:extLst>
              </p:cNvPr>
              <p:cNvSpPr txBox="1"/>
              <p:nvPr/>
            </p:nvSpPr>
            <p:spPr>
              <a:xfrm>
                <a:off x="2208246" y="3489583"/>
                <a:ext cx="448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DA3C357-D123-415B-BEAC-F5893697D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246" y="3489583"/>
                <a:ext cx="448200" cy="276999"/>
              </a:xfrm>
              <a:prstGeom prst="rect">
                <a:avLst/>
              </a:prstGeom>
              <a:blipFill>
                <a:blip r:embed="rId14"/>
                <a:stretch>
                  <a:fillRect l="-10811" r="-135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1501F27-F95E-4817-A21F-586BD58005ED}"/>
                  </a:ext>
                </a:extLst>
              </p:cNvPr>
              <p:cNvSpPr txBox="1"/>
              <p:nvPr/>
            </p:nvSpPr>
            <p:spPr>
              <a:xfrm>
                <a:off x="1005698" y="3489583"/>
                <a:ext cx="448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1501F27-F95E-4817-A21F-586BD580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98" y="3489583"/>
                <a:ext cx="448200" cy="276999"/>
              </a:xfrm>
              <a:prstGeom prst="rect">
                <a:avLst/>
              </a:prstGeom>
              <a:blipFill>
                <a:blip r:embed="rId15"/>
                <a:stretch>
                  <a:fillRect l="-12162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539EF9-C296-4CF8-B19C-B1EFC88ABEA7}"/>
                  </a:ext>
                </a:extLst>
              </p:cNvPr>
              <p:cNvSpPr txBox="1"/>
              <p:nvPr/>
            </p:nvSpPr>
            <p:spPr>
              <a:xfrm>
                <a:off x="3718701" y="3470017"/>
                <a:ext cx="448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539EF9-C296-4CF8-B19C-B1EFC88AB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01" y="3470017"/>
                <a:ext cx="448200" cy="276999"/>
              </a:xfrm>
              <a:prstGeom prst="rect">
                <a:avLst/>
              </a:prstGeom>
              <a:blipFill>
                <a:blip r:embed="rId16"/>
                <a:stretch>
                  <a:fillRect l="-10811" r="-135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C9008D-FDC5-462B-A06C-C6FF6B017EBA}"/>
                  </a:ext>
                </a:extLst>
              </p:cNvPr>
              <p:cNvSpPr txBox="1"/>
              <p:nvPr/>
            </p:nvSpPr>
            <p:spPr>
              <a:xfrm>
                <a:off x="7082648" y="3489583"/>
                <a:ext cx="448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C9008D-FDC5-462B-A06C-C6FF6B017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648" y="3489583"/>
                <a:ext cx="448200" cy="276999"/>
              </a:xfrm>
              <a:prstGeom prst="rect">
                <a:avLst/>
              </a:prstGeom>
              <a:blipFill>
                <a:blip r:embed="rId17"/>
                <a:stretch>
                  <a:fillRect l="-12329" r="-137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8B3F1D8-DFFD-40F1-B89D-1A5C31CCB3F2}"/>
                  </a:ext>
                </a:extLst>
              </p:cNvPr>
              <p:cNvSpPr txBox="1"/>
              <p:nvPr/>
            </p:nvSpPr>
            <p:spPr>
              <a:xfrm>
                <a:off x="1884362" y="2381237"/>
                <a:ext cx="449802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8B3F1D8-DFFD-40F1-B89D-1A5C31CCB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362" y="2381237"/>
                <a:ext cx="449802" cy="298928"/>
              </a:xfrm>
              <a:prstGeom prst="rect">
                <a:avLst/>
              </a:prstGeom>
              <a:blipFill>
                <a:blip r:embed="rId18"/>
                <a:stretch>
                  <a:fillRect l="-10811" r="-5405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D426ACB-6DD8-4ED6-8349-6537F1FE6C96}"/>
                  </a:ext>
                </a:extLst>
              </p:cNvPr>
              <p:cNvSpPr txBox="1"/>
              <p:nvPr/>
            </p:nvSpPr>
            <p:spPr>
              <a:xfrm>
                <a:off x="3223402" y="2377804"/>
                <a:ext cx="449802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D426ACB-6DD8-4ED6-8349-6537F1FE6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402" y="2377804"/>
                <a:ext cx="449802" cy="298928"/>
              </a:xfrm>
              <a:prstGeom prst="rect">
                <a:avLst/>
              </a:prstGeom>
              <a:blipFill>
                <a:blip r:embed="rId19"/>
                <a:stretch>
                  <a:fillRect l="-12162" r="-5405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4A2E5E-864F-4A22-862A-87C81D20AEEB}"/>
                  </a:ext>
                </a:extLst>
              </p:cNvPr>
              <p:cNvSpPr txBox="1"/>
              <p:nvPr/>
            </p:nvSpPr>
            <p:spPr>
              <a:xfrm>
                <a:off x="4566744" y="2377804"/>
                <a:ext cx="449802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4A2E5E-864F-4A22-862A-87C81D20A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44" y="2377804"/>
                <a:ext cx="449802" cy="298928"/>
              </a:xfrm>
              <a:prstGeom prst="rect">
                <a:avLst/>
              </a:prstGeom>
              <a:blipFill>
                <a:blip r:embed="rId20"/>
                <a:stretch>
                  <a:fillRect l="-10811" r="-5405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4F3D85-3B8B-4129-B54E-53D63C768086}"/>
                  </a:ext>
                </a:extLst>
              </p:cNvPr>
              <p:cNvSpPr txBox="1"/>
              <p:nvPr/>
            </p:nvSpPr>
            <p:spPr>
              <a:xfrm>
                <a:off x="8098618" y="2374887"/>
                <a:ext cx="449802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4F3D85-3B8B-4129-B54E-53D63C768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618" y="2374887"/>
                <a:ext cx="449802" cy="298928"/>
              </a:xfrm>
              <a:prstGeom prst="rect">
                <a:avLst/>
              </a:prstGeom>
              <a:blipFill>
                <a:blip r:embed="rId21"/>
                <a:stretch>
                  <a:fillRect l="-12329" r="-6849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AC1E74-4E22-4C3F-ACDF-B41DBF2D730C}"/>
                  </a:ext>
                </a:extLst>
              </p:cNvPr>
              <p:cNvSpPr txBox="1"/>
              <p:nvPr/>
            </p:nvSpPr>
            <p:spPr>
              <a:xfrm>
                <a:off x="1896267" y="4283798"/>
                <a:ext cx="441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AC1E74-4E22-4C3F-ACDF-B41DBF2D7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67" y="4283798"/>
                <a:ext cx="441788" cy="276999"/>
              </a:xfrm>
              <a:prstGeom prst="rect">
                <a:avLst/>
              </a:prstGeom>
              <a:blipFill>
                <a:blip r:embed="rId22"/>
                <a:stretch>
                  <a:fillRect l="-10959" r="-137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EA2634-E56F-4009-88D9-60A9EC2D03B4}"/>
                  </a:ext>
                </a:extLst>
              </p:cNvPr>
              <p:cNvSpPr txBox="1"/>
              <p:nvPr/>
            </p:nvSpPr>
            <p:spPr>
              <a:xfrm>
                <a:off x="3212305" y="4283797"/>
                <a:ext cx="441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EA2634-E56F-4009-88D9-60A9EC2D0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305" y="4283797"/>
                <a:ext cx="441788" cy="276999"/>
              </a:xfrm>
              <a:prstGeom prst="rect">
                <a:avLst/>
              </a:prstGeom>
              <a:blipFill>
                <a:blip r:embed="rId23"/>
                <a:stretch>
                  <a:fillRect l="-12500" r="-138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6F2BEA-57DF-4AF4-B130-9A827FF6B61C}"/>
                  </a:ext>
                </a:extLst>
              </p:cNvPr>
              <p:cNvSpPr txBox="1"/>
              <p:nvPr/>
            </p:nvSpPr>
            <p:spPr>
              <a:xfrm>
                <a:off x="4574759" y="4283796"/>
                <a:ext cx="441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6F2BEA-57DF-4AF4-B130-9A827FF6B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759" y="4283796"/>
                <a:ext cx="441788" cy="276999"/>
              </a:xfrm>
              <a:prstGeom prst="rect">
                <a:avLst/>
              </a:prstGeom>
              <a:blipFill>
                <a:blip r:embed="rId24"/>
                <a:stretch>
                  <a:fillRect l="-10959" r="-137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FEBF334-8B80-42B9-BA86-F976A0116E96}"/>
                  </a:ext>
                </a:extLst>
              </p:cNvPr>
              <p:cNvSpPr txBox="1"/>
              <p:nvPr/>
            </p:nvSpPr>
            <p:spPr>
              <a:xfrm>
                <a:off x="8128778" y="4283795"/>
                <a:ext cx="441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FEBF334-8B80-42B9-BA86-F976A0116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778" y="4283795"/>
                <a:ext cx="441788" cy="276999"/>
              </a:xfrm>
              <a:prstGeom prst="rect">
                <a:avLst/>
              </a:prstGeom>
              <a:blipFill>
                <a:blip r:embed="rId25"/>
                <a:stretch>
                  <a:fillRect l="-10959" r="-137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32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D2909AE-F736-449C-AC5C-B1DAA4DE92FF}"/>
              </a:ext>
            </a:extLst>
          </p:cNvPr>
          <p:cNvGrpSpPr/>
          <p:nvPr/>
        </p:nvGrpSpPr>
        <p:grpSpPr>
          <a:xfrm>
            <a:off x="1087438" y="1416050"/>
            <a:ext cx="8975725" cy="3352800"/>
            <a:chOff x="-49212" y="1885950"/>
            <a:chExt cx="8975725" cy="335280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" name="Object 2">
                  <a:extLst>
                    <a:ext uri="{FF2B5EF4-FFF2-40B4-BE49-F238E27FC236}">
                      <a16:creationId xmlns:a16="http://schemas.microsoft.com/office/drawing/2014/main" id="{FB256632-7BDE-4741-AD50-E34B44B0AAC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14429942"/>
                    </p:ext>
                  </p:extLst>
                </p:nvPr>
              </p:nvGraphicFramePr>
              <p:xfrm>
                <a:off x="-49212" y="1885950"/>
                <a:ext cx="8975725" cy="3352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Bitmap Image" r:id="rId2" imgW="8976240" imgH="3352680" progId="Paint.Picture">
                        <p:embed/>
                      </p:oleObj>
                    </mc:Choice>
                    <mc:Fallback>
                      <p:oleObj name="Bitmap Image" r:id="rId2" imgW="8976240" imgH="3352680" progId="Paint.Picture">
                        <p:embed/>
                        <p:pic>
                          <p:nvPicPr>
                            <p:cNvPr id="3" name="Object 2">
                              <a:extLst>
                                <a:ext uri="{FF2B5EF4-FFF2-40B4-BE49-F238E27FC236}">
                                  <a16:creationId xmlns:a16="http://schemas.microsoft.com/office/drawing/2014/main" id="{F8109484-59B2-41B7-8262-712EA77C281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49212" y="1885950"/>
                              <a:ext cx="8975725" cy="3352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" name="Object 2">
                  <a:extLst>
                    <a:ext uri="{FF2B5EF4-FFF2-40B4-BE49-F238E27FC236}">
                      <a16:creationId xmlns:a16="http://schemas.microsoft.com/office/drawing/2014/main" id="{FB256632-7BDE-4741-AD50-E34B44B0AAC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14429942"/>
                    </p:ext>
                  </p:extLst>
                </p:nvPr>
              </p:nvGraphicFramePr>
              <p:xfrm>
                <a:off x="-49212" y="1885950"/>
                <a:ext cx="8975725" cy="3352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9473" name="Bitmap Image" r:id="rId5" imgW="8976240" imgH="3352680" progId="Paint.Picture">
                        <p:embed/>
                      </p:oleObj>
                    </mc:Choice>
                    <mc:Fallback>
                      <p:oleObj name="Bitmap Image" r:id="rId5" imgW="8976240" imgH="3352680" progId="Paint.Picture">
                        <p:embed/>
                        <p:pic>
                          <p:nvPicPr>
                            <p:cNvPr id="3" name="Object 2">
                              <a:extLst>
                                <a:ext uri="{FF2B5EF4-FFF2-40B4-BE49-F238E27FC236}">
                                  <a16:creationId xmlns:a16="http://schemas.microsoft.com/office/drawing/2014/main" id="{F8109484-59B2-41B7-8262-712EA77C281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49212" y="1885950"/>
                              <a:ext cx="8975725" cy="3352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9D99945-C7E0-4C95-8E42-B440010EB53A}"/>
                    </a:ext>
                  </a:extLst>
                </p:cNvPr>
                <p:cNvSpPr txBox="1"/>
                <p:nvPr/>
              </p:nvSpPr>
              <p:spPr>
                <a:xfrm>
                  <a:off x="2208246" y="3489583"/>
                  <a:ext cx="448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9D99945-C7E0-4C95-8E42-B440010EB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8246" y="3489583"/>
                  <a:ext cx="44820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2329" r="-1370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EE95929-AEFE-4F05-B75E-FD07023930BD}"/>
                    </a:ext>
                  </a:extLst>
                </p:cNvPr>
                <p:cNvSpPr txBox="1"/>
                <p:nvPr/>
              </p:nvSpPr>
              <p:spPr>
                <a:xfrm>
                  <a:off x="1005698" y="3489583"/>
                  <a:ext cx="448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EE95929-AEFE-4F05-B75E-FD0702393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698" y="3489583"/>
                  <a:ext cx="44820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811" r="-1351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4EFB206-5190-4A5C-83D5-1D163AFFD7EC}"/>
                    </a:ext>
                  </a:extLst>
                </p:cNvPr>
                <p:cNvSpPr txBox="1"/>
                <p:nvPr/>
              </p:nvSpPr>
              <p:spPr>
                <a:xfrm>
                  <a:off x="3718701" y="3470017"/>
                  <a:ext cx="448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4EFB206-5190-4A5C-83D5-1D163AFFD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701" y="3470017"/>
                  <a:ext cx="44820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0811" r="-1351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E8BC5AA-552B-42DC-BECC-058D94F72F29}"/>
                    </a:ext>
                  </a:extLst>
                </p:cNvPr>
                <p:cNvSpPr txBox="1"/>
                <p:nvPr/>
              </p:nvSpPr>
              <p:spPr>
                <a:xfrm>
                  <a:off x="7082648" y="3489583"/>
                  <a:ext cx="448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E8BC5AA-552B-42DC-BECC-058D94F72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2648" y="3489583"/>
                  <a:ext cx="44820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0811" r="-1351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9D3F2E5-8A07-40E9-AB21-9FA88924DFD8}"/>
                    </a:ext>
                  </a:extLst>
                </p:cNvPr>
                <p:cNvSpPr txBox="1"/>
                <p:nvPr/>
              </p:nvSpPr>
              <p:spPr>
                <a:xfrm>
                  <a:off x="1884362" y="2381237"/>
                  <a:ext cx="449802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9D3F2E5-8A07-40E9-AB21-9FA88924D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362" y="2381237"/>
                  <a:ext cx="449802" cy="298928"/>
                </a:xfrm>
                <a:prstGeom prst="rect">
                  <a:avLst/>
                </a:prstGeom>
                <a:blipFill>
                  <a:blip r:embed="rId11"/>
                  <a:stretch>
                    <a:fillRect l="-12329" r="-6849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2201225-F4F2-4A1C-96D1-D0CE8E40993D}"/>
                    </a:ext>
                  </a:extLst>
                </p:cNvPr>
                <p:cNvSpPr txBox="1"/>
                <p:nvPr/>
              </p:nvSpPr>
              <p:spPr>
                <a:xfrm>
                  <a:off x="3223402" y="2377804"/>
                  <a:ext cx="449802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2201225-F4F2-4A1C-96D1-D0CE8E409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3402" y="2377804"/>
                  <a:ext cx="449802" cy="298928"/>
                </a:xfrm>
                <a:prstGeom prst="rect">
                  <a:avLst/>
                </a:prstGeom>
                <a:blipFill>
                  <a:blip r:embed="rId12"/>
                  <a:stretch>
                    <a:fillRect l="-10811" r="-5405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A6B4265-EE98-493B-BFF8-BD54DAC816A3}"/>
                    </a:ext>
                  </a:extLst>
                </p:cNvPr>
                <p:cNvSpPr txBox="1"/>
                <p:nvPr/>
              </p:nvSpPr>
              <p:spPr>
                <a:xfrm>
                  <a:off x="4566744" y="2377804"/>
                  <a:ext cx="449802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A6B4265-EE98-493B-BFF8-BD54DAC81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6744" y="2377804"/>
                  <a:ext cx="449802" cy="298928"/>
                </a:xfrm>
                <a:prstGeom prst="rect">
                  <a:avLst/>
                </a:prstGeom>
                <a:blipFill>
                  <a:blip r:embed="rId13"/>
                  <a:stretch>
                    <a:fillRect l="-12329" r="-6849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44CC1EE-3827-4F60-99BF-3E4E6B3E4FCE}"/>
                    </a:ext>
                  </a:extLst>
                </p:cNvPr>
                <p:cNvSpPr txBox="1"/>
                <p:nvPr/>
              </p:nvSpPr>
              <p:spPr>
                <a:xfrm>
                  <a:off x="8098618" y="2374887"/>
                  <a:ext cx="449802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44CC1EE-3827-4F60-99BF-3E4E6B3E4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618" y="2374887"/>
                  <a:ext cx="449802" cy="298928"/>
                </a:xfrm>
                <a:prstGeom prst="rect">
                  <a:avLst/>
                </a:prstGeom>
                <a:blipFill>
                  <a:blip r:embed="rId14"/>
                  <a:stretch>
                    <a:fillRect l="-12162" r="-5405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7FE0D1-21F6-4C2D-94A6-65CBF3264477}"/>
                    </a:ext>
                  </a:extLst>
                </p:cNvPr>
                <p:cNvSpPr txBox="1"/>
                <p:nvPr/>
              </p:nvSpPr>
              <p:spPr>
                <a:xfrm>
                  <a:off x="1896267" y="4283798"/>
                  <a:ext cx="4417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7FE0D1-21F6-4C2D-94A6-65CBF3264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6267" y="4283798"/>
                  <a:ext cx="441788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2500" r="-1389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2133B17-121B-4B10-B62F-1E600FF0CC64}"/>
                    </a:ext>
                  </a:extLst>
                </p:cNvPr>
                <p:cNvSpPr txBox="1"/>
                <p:nvPr/>
              </p:nvSpPr>
              <p:spPr>
                <a:xfrm>
                  <a:off x="3212305" y="4283797"/>
                  <a:ext cx="4417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2133B17-121B-4B10-B62F-1E600FF0C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305" y="4283797"/>
                  <a:ext cx="44178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0959" r="-1370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600EF7C-E77D-4645-B064-EE497C95C035}"/>
                    </a:ext>
                  </a:extLst>
                </p:cNvPr>
                <p:cNvSpPr txBox="1"/>
                <p:nvPr/>
              </p:nvSpPr>
              <p:spPr>
                <a:xfrm>
                  <a:off x="4574759" y="4283796"/>
                  <a:ext cx="4417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600EF7C-E77D-4645-B064-EE497C95C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759" y="4283796"/>
                  <a:ext cx="441788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2500" r="-1389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D6DA60C-C46B-4244-8B49-DAB2B1EDEDF7}"/>
                    </a:ext>
                  </a:extLst>
                </p:cNvPr>
                <p:cNvSpPr txBox="1"/>
                <p:nvPr/>
              </p:nvSpPr>
              <p:spPr>
                <a:xfrm>
                  <a:off x="8128778" y="4283795"/>
                  <a:ext cx="4417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D6DA60C-C46B-4244-8B49-DAB2B1EDE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778" y="4283795"/>
                  <a:ext cx="44178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2500" r="-1389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161A9EAF-3EC2-47E5-A9ED-FE0548883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Forward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56550B-7059-4C70-8F5B-5B5A89B0F8B3}"/>
                  </a:ext>
                </a:extLst>
              </p:cNvPr>
              <p:cNvSpPr txBox="1"/>
              <p:nvPr/>
            </p:nvSpPr>
            <p:spPr>
              <a:xfrm>
                <a:off x="1808034" y="5272405"/>
                <a:ext cx="53299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56550B-7059-4C70-8F5B-5B5A89B0F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034" y="5272405"/>
                <a:ext cx="5329921" cy="369332"/>
              </a:xfrm>
              <a:prstGeom prst="rect">
                <a:avLst/>
              </a:prstGeom>
              <a:blipFill>
                <a:blip r:embed="rId19"/>
                <a:stretch>
                  <a:fillRect l="-114" r="-137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5E641A-271F-4153-9373-1C31F5EF6C91}"/>
                  </a:ext>
                </a:extLst>
              </p:cNvPr>
              <p:cNvSpPr txBox="1"/>
              <p:nvPr/>
            </p:nvSpPr>
            <p:spPr>
              <a:xfrm>
                <a:off x="1808033" y="5835785"/>
                <a:ext cx="3575531" cy="4014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5E641A-271F-4153-9373-1C31F5EF6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033" y="5835785"/>
                <a:ext cx="3575531" cy="401457"/>
              </a:xfrm>
              <a:prstGeom prst="rect">
                <a:avLst/>
              </a:prstGeom>
              <a:blipFill>
                <a:blip r:embed="rId20"/>
                <a:stretch>
                  <a:fillRect l="-853" t="-13636" r="-187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CE5976-4E2B-4F10-9ACB-81A9720448A1}"/>
                  </a:ext>
                </a:extLst>
              </p:cNvPr>
              <p:cNvSpPr txBox="1"/>
              <p:nvPr/>
            </p:nvSpPr>
            <p:spPr>
              <a:xfrm>
                <a:off x="8326326" y="5272405"/>
                <a:ext cx="20341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ReLU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CE5976-4E2B-4F10-9ACB-81A97204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326" y="5272405"/>
                <a:ext cx="2034147" cy="369332"/>
              </a:xfrm>
              <a:prstGeom prst="rect">
                <a:avLst/>
              </a:prstGeom>
              <a:blipFill>
                <a:blip r:embed="rId21"/>
                <a:stretch>
                  <a:fillRect l="-3293" r="-4790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E0E249-C1C1-4F83-8EFA-845BF9A257E6}"/>
                  </a:ext>
                </a:extLst>
              </p:cNvPr>
              <p:cNvSpPr txBox="1"/>
              <p:nvPr/>
            </p:nvSpPr>
            <p:spPr>
              <a:xfrm>
                <a:off x="8326325" y="5835785"/>
                <a:ext cx="27321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logistic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softmax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E0E249-C1C1-4F83-8EFA-845BF9A25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325" y="5835785"/>
                <a:ext cx="2732158" cy="369332"/>
              </a:xfrm>
              <a:prstGeom prst="rect">
                <a:avLst/>
              </a:prstGeom>
              <a:blipFill>
                <a:blip r:embed="rId22"/>
                <a:stretch>
                  <a:fillRect l="-2232" r="-3571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991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2FF5-DAE4-4D23-AD8C-AA75696D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E1398F-CF3D-4333-9519-2163549866B8}"/>
                  </a:ext>
                </a:extLst>
              </p:cNvPr>
              <p:cNvSpPr txBox="1"/>
              <p:nvPr/>
            </p:nvSpPr>
            <p:spPr>
              <a:xfrm>
                <a:off x="838200" y="2256155"/>
                <a:ext cx="53299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E1398F-CF3D-4333-9519-21635498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56155"/>
                <a:ext cx="5329921" cy="369332"/>
              </a:xfrm>
              <a:prstGeom prst="rect">
                <a:avLst/>
              </a:prstGeom>
              <a:blipFill>
                <a:blip r:embed="rId2"/>
                <a:stretch>
                  <a:fillRect l="-114" r="-1373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BC27BD-4F6F-4E28-9A98-8E66E1D5173B}"/>
                  </a:ext>
                </a:extLst>
              </p:cNvPr>
              <p:cNvSpPr txBox="1"/>
              <p:nvPr/>
            </p:nvSpPr>
            <p:spPr>
              <a:xfrm>
                <a:off x="838199" y="2819535"/>
                <a:ext cx="3575531" cy="4014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BC27BD-4F6F-4E28-9A98-8E66E1D51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819535"/>
                <a:ext cx="3575531" cy="401457"/>
              </a:xfrm>
              <a:prstGeom prst="rect">
                <a:avLst/>
              </a:prstGeom>
              <a:blipFill>
                <a:blip r:embed="rId3"/>
                <a:stretch>
                  <a:fillRect l="-681" t="-15385" r="-187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8CB58E-3045-4D70-B43D-D41EB128BD74}"/>
                  </a:ext>
                </a:extLst>
              </p:cNvPr>
              <p:cNvSpPr txBox="1"/>
              <p:nvPr/>
            </p:nvSpPr>
            <p:spPr>
              <a:xfrm>
                <a:off x="7612971" y="2256155"/>
                <a:ext cx="20583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⋮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8CB58E-3045-4D70-B43D-D41EB128B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71" y="2256155"/>
                <a:ext cx="2058320" cy="369332"/>
              </a:xfrm>
              <a:prstGeom prst="rect">
                <a:avLst/>
              </a:prstGeom>
              <a:blipFill>
                <a:blip r:embed="rId4"/>
                <a:stretch>
                  <a:fillRect l="-3264" r="-504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E5A727-E0DB-4031-BADD-61A24DAC0088}"/>
                  </a:ext>
                </a:extLst>
              </p:cNvPr>
              <p:cNvSpPr txBox="1"/>
              <p:nvPr/>
            </p:nvSpPr>
            <p:spPr>
              <a:xfrm>
                <a:off x="7612971" y="2792447"/>
                <a:ext cx="1146532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𝑦𝑎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E5A727-E0DB-4031-BADD-61A24DAC0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971" y="2792447"/>
                <a:ext cx="1146532" cy="398507"/>
              </a:xfrm>
              <a:prstGeom prst="rect">
                <a:avLst/>
              </a:prstGeom>
              <a:blipFill>
                <a:blip r:embed="rId5"/>
                <a:stretch>
                  <a:fillRect l="-6383" r="-159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C0626C-7F8B-4253-9C3B-3196AB5AE7D4}"/>
                  </a:ext>
                </a:extLst>
              </p:cNvPr>
              <p:cNvSpPr txBox="1"/>
              <p:nvPr/>
            </p:nvSpPr>
            <p:spPr>
              <a:xfrm>
                <a:off x="838200" y="3863182"/>
                <a:ext cx="46108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C0626C-7F8B-4253-9C3B-3196AB5AE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63182"/>
                <a:ext cx="4610813" cy="369332"/>
              </a:xfrm>
              <a:prstGeom prst="rect">
                <a:avLst/>
              </a:prstGeom>
              <a:blipFill>
                <a:blip r:embed="rId6"/>
                <a:stretch>
                  <a:fillRect l="-529" t="-1667" r="-1852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C7C63C-2B7B-441D-B940-334873E4E771}"/>
                  </a:ext>
                </a:extLst>
              </p:cNvPr>
              <p:cNvSpPr txBox="1"/>
              <p:nvPr/>
            </p:nvSpPr>
            <p:spPr>
              <a:xfrm>
                <a:off x="804409" y="4578485"/>
                <a:ext cx="3377976" cy="4014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C7C63C-2B7B-441D-B940-334873E4E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09" y="4578485"/>
                <a:ext cx="3377976" cy="401457"/>
              </a:xfrm>
              <a:prstGeom prst="rect">
                <a:avLst/>
              </a:prstGeom>
              <a:blipFill>
                <a:blip r:embed="rId7"/>
                <a:stretch>
                  <a:fillRect l="-1805" t="-13636" r="-27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34BDF1-0064-4E3D-B146-13D435DC9C1C}"/>
                  </a:ext>
                </a:extLst>
              </p:cNvPr>
              <p:cNvSpPr txBox="1"/>
              <p:nvPr/>
            </p:nvSpPr>
            <p:spPr>
              <a:xfrm>
                <a:off x="6742989" y="3909348"/>
                <a:ext cx="45924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34BDF1-0064-4E3D-B146-13D435DC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989" y="3909348"/>
                <a:ext cx="4592411" cy="276999"/>
              </a:xfrm>
              <a:prstGeom prst="rect">
                <a:avLst/>
              </a:prstGeom>
              <a:blipFill>
                <a:blip r:embed="rId8"/>
                <a:stretch>
                  <a:fillRect l="-797" t="-4348" r="-1461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50981D-09B2-428B-97BF-2410CB590EBA}"/>
                  </a:ext>
                </a:extLst>
              </p:cNvPr>
              <p:cNvSpPr txBox="1"/>
              <p:nvPr/>
            </p:nvSpPr>
            <p:spPr>
              <a:xfrm>
                <a:off x="6723045" y="4439985"/>
                <a:ext cx="48819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50981D-09B2-428B-97BF-2410CB59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045" y="4439985"/>
                <a:ext cx="4881914" cy="276999"/>
              </a:xfrm>
              <a:prstGeom prst="rect">
                <a:avLst/>
              </a:prstGeom>
              <a:blipFill>
                <a:blip r:embed="rId9"/>
                <a:stretch>
                  <a:fillRect l="-749" t="-2174" r="-137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6C2480-AA18-4E30-A067-9F5E13103C1F}"/>
                  </a:ext>
                </a:extLst>
              </p:cNvPr>
              <p:cNvSpPr txBox="1"/>
              <p:nvPr/>
            </p:nvSpPr>
            <p:spPr>
              <a:xfrm>
                <a:off x="6723045" y="5020726"/>
                <a:ext cx="25914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6C2480-AA18-4E30-A067-9F5E13103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045" y="5020726"/>
                <a:ext cx="2591415" cy="276999"/>
              </a:xfrm>
              <a:prstGeom prst="rect">
                <a:avLst/>
              </a:prstGeom>
              <a:blipFill>
                <a:blip r:embed="rId10"/>
                <a:stretch>
                  <a:fillRect l="-1882" t="-4444" r="-305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198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2250E2F-16D0-4BFC-A0C2-CE99A35BA185}"/>
              </a:ext>
            </a:extLst>
          </p:cNvPr>
          <p:cNvGrpSpPr/>
          <p:nvPr/>
        </p:nvGrpSpPr>
        <p:grpSpPr>
          <a:xfrm>
            <a:off x="1001712" y="1266586"/>
            <a:ext cx="9061451" cy="3502264"/>
            <a:chOff x="-134938" y="1736486"/>
            <a:chExt cx="9061451" cy="350226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Object 18">
                  <a:extLst>
                    <a:ext uri="{FF2B5EF4-FFF2-40B4-BE49-F238E27FC236}">
                      <a16:creationId xmlns:a16="http://schemas.microsoft.com/office/drawing/2014/main" id="{5F551075-2896-494D-B1E1-30F2D3F0342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68424997"/>
                    </p:ext>
                  </p:extLst>
                </p:nvPr>
              </p:nvGraphicFramePr>
              <p:xfrm>
                <a:off x="-49212" y="1885950"/>
                <a:ext cx="8975725" cy="3352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Bitmap Image" r:id="rId2" imgW="8976240" imgH="3352680" progId="Paint.Picture">
                        <p:embed/>
                      </p:oleObj>
                    </mc:Choice>
                    <mc:Fallback>
                      <p:oleObj name="Bitmap Image" r:id="rId2" imgW="8976240" imgH="3352680" progId="Paint.Picture">
                        <p:embed/>
                        <p:pic>
                          <p:nvPicPr>
                            <p:cNvPr id="3" name="Object 2">
                              <a:extLst>
                                <a:ext uri="{FF2B5EF4-FFF2-40B4-BE49-F238E27FC236}">
                                  <a16:creationId xmlns:a16="http://schemas.microsoft.com/office/drawing/2014/main" id="{FB256632-7BDE-4741-AD50-E34B44B0AAC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49212" y="1885950"/>
                              <a:ext cx="8975725" cy="3352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9" name="Object 18">
                  <a:extLst>
                    <a:ext uri="{FF2B5EF4-FFF2-40B4-BE49-F238E27FC236}">
                      <a16:creationId xmlns:a16="http://schemas.microsoft.com/office/drawing/2014/main" id="{5F551075-2896-494D-B1E1-30F2D3F0342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68424997"/>
                    </p:ext>
                  </p:extLst>
                </p:nvPr>
              </p:nvGraphicFramePr>
              <p:xfrm>
                <a:off x="-49212" y="1885950"/>
                <a:ext cx="8975725" cy="3352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495" name="Bitmap Image" r:id="rId5" imgW="8976240" imgH="3352680" progId="Paint.Picture">
                        <p:embed/>
                      </p:oleObj>
                    </mc:Choice>
                    <mc:Fallback>
                      <p:oleObj name="Bitmap Image" r:id="rId5" imgW="8976240" imgH="3352680" progId="Paint.Picture">
                        <p:embed/>
                        <p:pic>
                          <p:nvPicPr>
                            <p:cNvPr id="3" name="Object 2">
                              <a:extLst>
                                <a:ext uri="{FF2B5EF4-FFF2-40B4-BE49-F238E27FC236}">
                                  <a16:creationId xmlns:a16="http://schemas.microsoft.com/office/drawing/2014/main" id="{FB256632-7BDE-4741-AD50-E34B44B0AAC1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49212" y="1885950"/>
                              <a:ext cx="8975725" cy="3352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79382A5-C89D-4AE9-8C35-DC737E01BBC0}"/>
                    </a:ext>
                  </a:extLst>
                </p:cNvPr>
                <p:cNvSpPr txBox="1"/>
                <p:nvPr/>
              </p:nvSpPr>
              <p:spPr>
                <a:xfrm>
                  <a:off x="-125397" y="4645283"/>
                  <a:ext cx="342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79382A5-C89D-4AE9-8C35-DC737E01B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5397" y="4645283"/>
                  <a:ext cx="34240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85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D0622AE-D27E-422E-BC0E-A1527D49AED9}"/>
                    </a:ext>
                  </a:extLst>
                </p:cNvPr>
                <p:cNvSpPr txBox="1"/>
                <p:nvPr/>
              </p:nvSpPr>
              <p:spPr>
                <a:xfrm>
                  <a:off x="-134938" y="1736486"/>
                  <a:ext cx="344004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D0622AE-D27E-422E-BC0E-A1527D49A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4938" y="1736486"/>
                  <a:ext cx="344004" cy="298928"/>
                </a:xfrm>
                <a:prstGeom prst="rect">
                  <a:avLst/>
                </a:prstGeom>
                <a:blipFill>
                  <a:blip r:embed="rId8"/>
                  <a:stretch>
                    <a:fillRect l="-15789" r="-5263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D92EB-F5BC-4C38-B0D9-31DF318D8B30}"/>
                  </a:ext>
                </a:extLst>
              </p:cNvPr>
              <p:cNvSpPr txBox="1"/>
              <p:nvPr/>
            </p:nvSpPr>
            <p:spPr>
              <a:xfrm>
                <a:off x="2832100" y="850900"/>
                <a:ext cx="7004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D92EB-F5BC-4C38-B0D9-31DF318D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100" y="850900"/>
                <a:ext cx="700448" cy="369332"/>
              </a:xfrm>
              <a:prstGeom prst="rect">
                <a:avLst/>
              </a:prstGeom>
              <a:blipFill>
                <a:blip r:embed="rId9"/>
                <a:stretch>
                  <a:fillRect l="-10526" t="-1667" r="-43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C74F1A-5284-40DD-9C7E-872C1E18B931}"/>
                  </a:ext>
                </a:extLst>
              </p:cNvPr>
              <p:cNvSpPr txBox="1"/>
              <p:nvPr/>
            </p:nvSpPr>
            <p:spPr>
              <a:xfrm>
                <a:off x="4235450" y="850900"/>
                <a:ext cx="7004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C74F1A-5284-40DD-9C7E-872C1E18B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450" y="850900"/>
                <a:ext cx="700448" cy="369332"/>
              </a:xfrm>
              <a:prstGeom prst="rect">
                <a:avLst/>
              </a:prstGeom>
              <a:blipFill>
                <a:blip r:embed="rId10"/>
                <a:stretch>
                  <a:fillRect l="-10435" t="-1667" r="-347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2B7101-331B-4291-9DC8-712230379F98}"/>
                  </a:ext>
                </a:extLst>
              </p:cNvPr>
              <p:cNvSpPr txBox="1"/>
              <p:nvPr/>
            </p:nvSpPr>
            <p:spPr>
              <a:xfrm>
                <a:off x="5522883" y="897254"/>
                <a:ext cx="7004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&lt;3&gt;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2B7101-331B-4291-9DC8-712230379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883" y="897254"/>
                <a:ext cx="700448" cy="369332"/>
              </a:xfrm>
              <a:prstGeom prst="rect">
                <a:avLst/>
              </a:prstGeom>
              <a:blipFill>
                <a:blip r:embed="rId11"/>
                <a:stretch>
                  <a:fillRect l="-10435" r="-3478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A87D16-E07D-47FE-90C6-94D3C3EBEB0A}"/>
                  </a:ext>
                </a:extLst>
              </p:cNvPr>
              <p:cNvSpPr txBox="1"/>
              <p:nvPr/>
            </p:nvSpPr>
            <p:spPr>
              <a:xfrm>
                <a:off x="9067800" y="897254"/>
                <a:ext cx="783741" cy="376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A87D16-E07D-47FE-90C6-94D3C3EBE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800" y="897254"/>
                <a:ext cx="783741" cy="376450"/>
              </a:xfrm>
              <a:prstGeom prst="rect">
                <a:avLst/>
              </a:prstGeom>
              <a:blipFill>
                <a:blip r:embed="rId12"/>
                <a:stretch>
                  <a:fillRect l="-9375" t="-1613" r="-156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14DF46-1327-4002-9B4D-5260A2A77751}"/>
                  </a:ext>
                </a:extLst>
              </p:cNvPr>
              <p:cNvSpPr txBox="1"/>
              <p:nvPr/>
            </p:nvSpPr>
            <p:spPr>
              <a:xfrm>
                <a:off x="9803348" y="106918"/>
                <a:ext cx="2598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14DF46-1327-4002-9B4D-5260A2A77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348" y="106918"/>
                <a:ext cx="259815" cy="369332"/>
              </a:xfrm>
              <a:prstGeom prst="rect">
                <a:avLst/>
              </a:prstGeom>
              <a:blipFill>
                <a:blip r:embed="rId13"/>
                <a:stretch>
                  <a:fillRect l="-25581" r="-2558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69DAB2-8A37-4BE8-9D2D-C8DEE8D29297}"/>
                  </a:ext>
                </a:extLst>
              </p:cNvPr>
              <p:cNvSpPr txBox="1"/>
              <p:nvPr/>
            </p:nvSpPr>
            <p:spPr>
              <a:xfrm>
                <a:off x="2047423" y="5290582"/>
                <a:ext cx="8602291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⁡(1−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69DAB2-8A37-4BE8-9D2D-C8DEE8D29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423" y="5290582"/>
                <a:ext cx="8602291" cy="4168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32EA11-8AAD-4B8E-A20B-FA2A1A544EA0}"/>
              </a:ext>
            </a:extLst>
          </p:cNvPr>
          <p:cNvCxnSpPr>
            <a:cxnSpLocks/>
          </p:cNvCxnSpPr>
          <p:nvPr/>
        </p:nvCxnSpPr>
        <p:spPr>
          <a:xfrm flipV="1">
            <a:off x="3015278" y="1220232"/>
            <a:ext cx="0" cy="344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681C87-5865-4269-8234-6E9B8A20F196}"/>
              </a:ext>
            </a:extLst>
          </p:cNvPr>
          <p:cNvCxnSpPr>
            <a:cxnSpLocks/>
          </p:cNvCxnSpPr>
          <p:nvPr/>
        </p:nvCxnSpPr>
        <p:spPr>
          <a:xfrm flipV="1">
            <a:off x="4488478" y="1163082"/>
            <a:ext cx="0" cy="3441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DD40E1-C411-4E30-915B-D08F0FF77FD3}"/>
              </a:ext>
            </a:extLst>
          </p:cNvPr>
          <p:cNvCxnSpPr>
            <a:cxnSpLocks/>
          </p:cNvCxnSpPr>
          <p:nvPr/>
        </p:nvCxnSpPr>
        <p:spPr>
          <a:xfrm flipV="1">
            <a:off x="5853085" y="1163082"/>
            <a:ext cx="0" cy="3441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1F0A69-3AF0-4260-B496-8AB26307564D}"/>
              </a:ext>
            </a:extLst>
          </p:cNvPr>
          <p:cNvCxnSpPr>
            <a:cxnSpLocks/>
          </p:cNvCxnSpPr>
          <p:nvPr/>
        </p:nvCxnSpPr>
        <p:spPr>
          <a:xfrm flipV="1">
            <a:off x="9314478" y="1220231"/>
            <a:ext cx="0" cy="3441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894DDE-29E5-43C2-901D-A2AE0DE5F67F}"/>
              </a:ext>
            </a:extLst>
          </p:cNvPr>
          <p:cNvCxnSpPr>
            <a:stCxn id="32" idx="0"/>
          </p:cNvCxnSpPr>
          <p:nvPr/>
        </p:nvCxnSpPr>
        <p:spPr>
          <a:xfrm flipV="1">
            <a:off x="3182324" y="298450"/>
            <a:ext cx="6393476" cy="5524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9A25FA5-AE5D-4095-8D41-FCD092B76EA0}"/>
              </a:ext>
            </a:extLst>
          </p:cNvPr>
          <p:cNvCxnSpPr/>
          <p:nvPr/>
        </p:nvCxnSpPr>
        <p:spPr>
          <a:xfrm flipV="1">
            <a:off x="4935898" y="284479"/>
            <a:ext cx="4589102" cy="5616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DCF9DDC-EAEB-4BAD-B28C-85DE8D5D5929}"/>
              </a:ext>
            </a:extLst>
          </p:cNvPr>
          <p:cNvCxnSpPr/>
          <p:nvPr/>
        </p:nvCxnSpPr>
        <p:spPr>
          <a:xfrm flipV="1">
            <a:off x="6223331" y="333870"/>
            <a:ext cx="3352469" cy="5308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0811495-FBE4-489C-9AF9-135808DE512E}"/>
              </a:ext>
            </a:extLst>
          </p:cNvPr>
          <p:cNvCxnSpPr>
            <a:cxnSpLocks/>
          </p:cNvCxnSpPr>
          <p:nvPr/>
        </p:nvCxnSpPr>
        <p:spPr>
          <a:xfrm flipV="1">
            <a:off x="9258300" y="375522"/>
            <a:ext cx="256912" cy="4385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B82BA0-F2F4-40B7-946D-65F9C5D0A690}"/>
                  </a:ext>
                </a:extLst>
              </p:cNvPr>
              <p:cNvSpPr txBox="1"/>
              <p:nvPr/>
            </p:nvSpPr>
            <p:spPr>
              <a:xfrm>
                <a:off x="2047423" y="5660429"/>
                <a:ext cx="4109330" cy="10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B82BA0-F2F4-40B7-946D-65F9C5D0A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423" y="5660429"/>
                <a:ext cx="4109330" cy="106804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417459D-1786-4131-9C7B-84F68E595C06}"/>
              </a:ext>
            </a:extLst>
          </p:cNvPr>
          <p:cNvCxnSpPr/>
          <p:nvPr/>
        </p:nvCxnSpPr>
        <p:spPr>
          <a:xfrm flipV="1">
            <a:off x="1435100" y="3092450"/>
            <a:ext cx="2097448" cy="1221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1D2C40-ED11-4923-8C7A-5BF73DAD2FCF}"/>
              </a:ext>
            </a:extLst>
          </p:cNvPr>
          <p:cNvCxnSpPr/>
          <p:nvPr/>
        </p:nvCxnSpPr>
        <p:spPr>
          <a:xfrm flipV="1">
            <a:off x="1429839" y="3035300"/>
            <a:ext cx="3605711" cy="1278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201AB4-1B4A-4720-935B-4007399B7D6C}"/>
              </a:ext>
            </a:extLst>
          </p:cNvPr>
          <p:cNvCxnSpPr/>
          <p:nvPr/>
        </p:nvCxnSpPr>
        <p:spPr>
          <a:xfrm flipV="1">
            <a:off x="1439380" y="3048000"/>
            <a:ext cx="7037870" cy="1265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7E40E87-3F22-4740-BF07-6A924D30780C}"/>
              </a:ext>
            </a:extLst>
          </p:cNvPr>
          <p:cNvCxnSpPr>
            <a:stCxn id="24" idx="3"/>
          </p:cNvCxnSpPr>
          <p:nvPr/>
        </p:nvCxnSpPr>
        <p:spPr>
          <a:xfrm>
            <a:off x="1345716" y="1416050"/>
            <a:ext cx="1486384" cy="596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4C0265-6DFD-476B-BD45-BCF0D52A938B}"/>
              </a:ext>
            </a:extLst>
          </p:cNvPr>
          <p:cNvCxnSpPr/>
          <p:nvPr/>
        </p:nvCxnSpPr>
        <p:spPr>
          <a:xfrm>
            <a:off x="1421901" y="1444616"/>
            <a:ext cx="2704565" cy="58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7CB5E90-D889-431B-A831-904C688DB7F4}"/>
              </a:ext>
            </a:extLst>
          </p:cNvPr>
          <p:cNvCxnSpPr>
            <a:stCxn id="24" idx="3"/>
          </p:cNvCxnSpPr>
          <p:nvPr/>
        </p:nvCxnSpPr>
        <p:spPr>
          <a:xfrm>
            <a:off x="1345716" y="1416050"/>
            <a:ext cx="7722084" cy="5703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2E6EC9C-C777-4C3C-8335-622B3EF7E6AC}"/>
              </a:ext>
            </a:extLst>
          </p:cNvPr>
          <p:cNvCxnSpPr/>
          <p:nvPr/>
        </p:nvCxnSpPr>
        <p:spPr>
          <a:xfrm>
            <a:off x="1353654" y="1437396"/>
            <a:ext cx="4169229" cy="56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86846E4-5E38-41D4-8DFA-184B0E67FB36}"/>
              </a:ext>
            </a:extLst>
          </p:cNvPr>
          <p:cNvCxnSpPr/>
          <p:nvPr/>
        </p:nvCxnSpPr>
        <p:spPr>
          <a:xfrm flipV="1">
            <a:off x="1439380" y="3061814"/>
            <a:ext cx="4717373" cy="1230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22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2250E2F-16D0-4BFC-A0C2-CE99A35BA185}"/>
              </a:ext>
            </a:extLst>
          </p:cNvPr>
          <p:cNvGrpSpPr/>
          <p:nvPr/>
        </p:nvGrpSpPr>
        <p:grpSpPr>
          <a:xfrm>
            <a:off x="1001712" y="1266586"/>
            <a:ext cx="9061451" cy="3502264"/>
            <a:chOff x="-134938" y="1736486"/>
            <a:chExt cx="9061451" cy="350226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Object 18">
                  <a:extLst>
                    <a:ext uri="{FF2B5EF4-FFF2-40B4-BE49-F238E27FC236}">
                      <a16:creationId xmlns:a16="http://schemas.microsoft.com/office/drawing/2014/main" id="{5F551075-2896-494D-B1E1-30F2D3F0342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-49212" y="1885950"/>
                <a:ext cx="8975725" cy="3352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Bitmap Image" r:id="rId2" imgW="8976240" imgH="3352680" progId="Paint.Picture">
                        <p:embed/>
                      </p:oleObj>
                    </mc:Choice>
                    <mc:Fallback>
                      <p:oleObj name="Bitmap Image" r:id="rId2" imgW="8976240" imgH="3352680" progId="Paint.Picture">
                        <p:embed/>
                        <p:pic>
                          <p:nvPicPr>
                            <p:cNvPr id="19" name="Object 18">
                              <a:extLst>
                                <a:ext uri="{FF2B5EF4-FFF2-40B4-BE49-F238E27FC236}">
                                  <a16:creationId xmlns:a16="http://schemas.microsoft.com/office/drawing/2014/main" id="{5F551075-2896-494D-B1E1-30F2D3F0342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49212" y="1885950"/>
                              <a:ext cx="8975725" cy="3352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9" name="Object 18">
                  <a:extLst>
                    <a:ext uri="{FF2B5EF4-FFF2-40B4-BE49-F238E27FC236}">
                      <a16:creationId xmlns:a16="http://schemas.microsoft.com/office/drawing/2014/main" id="{5F551075-2896-494D-B1E1-30F2D3F0342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-49212" y="1885950"/>
                <a:ext cx="8975725" cy="3352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519" name="Bitmap Image" r:id="rId5" imgW="8976240" imgH="3352680" progId="Paint.Picture">
                        <p:embed/>
                      </p:oleObj>
                    </mc:Choice>
                    <mc:Fallback>
                      <p:oleObj name="Bitmap Image" r:id="rId5" imgW="8976240" imgH="3352680" progId="Paint.Picture">
                        <p:embed/>
                        <p:pic>
                          <p:nvPicPr>
                            <p:cNvPr id="19" name="Object 18">
                              <a:extLst>
                                <a:ext uri="{FF2B5EF4-FFF2-40B4-BE49-F238E27FC236}">
                                  <a16:creationId xmlns:a16="http://schemas.microsoft.com/office/drawing/2014/main" id="{5F551075-2896-494D-B1E1-30F2D3F0342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49212" y="1885950"/>
                              <a:ext cx="8975725" cy="3352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79382A5-C89D-4AE9-8C35-DC737E01BBC0}"/>
                    </a:ext>
                  </a:extLst>
                </p:cNvPr>
                <p:cNvSpPr txBox="1"/>
                <p:nvPr/>
              </p:nvSpPr>
              <p:spPr>
                <a:xfrm>
                  <a:off x="-125397" y="4645283"/>
                  <a:ext cx="342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79382A5-C89D-4AE9-8C35-DC737E01B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5397" y="4645283"/>
                  <a:ext cx="34240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85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D0622AE-D27E-422E-BC0E-A1527D49AED9}"/>
                    </a:ext>
                  </a:extLst>
                </p:cNvPr>
                <p:cNvSpPr txBox="1"/>
                <p:nvPr/>
              </p:nvSpPr>
              <p:spPr>
                <a:xfrm>
                  <a:off x="-134938" y="1736486"/>
                  <a:ext cx="344004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D0622AE-D27E-422E-BC0E-A1527D49A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4938" y="1736486"/>
                  <a:ext cx="344004" cy="298928"/>
                </a:xfrm>
                <a:prstGeom prst="rect">
                  <a:avLst/>
                </a:prstGeom>
                <a:blipFill>
                  <a:blip r:embed="rId8"/>
                  <a:stretch>
                    <a:fillRect l="-15789" r="-5263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D92EB-F5BC-4C38-B0D9-31DF318D8B30}"/>
                  </a:ext>
                </a:extLst>
              </p:cNvPr>
              <p:cNvSpPr txBox="1"/>
              <p:nvPr/>
            </p:nvSpPr>
            <p:spPr>
              <a:xfrm>
                <a:off x="2832100" y="850900"/>
                <a:ext cx="7004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D92EB-F5BC-4C38-B0D9-31DF318D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100" y="850900"/>
                <a:ext cx="700448" cy="369332"/>
              </a:xfrm>
              <a:prstGeom prst="rect">
                <a:avLst/>
              </a:prstGeom>
              <a:blipFill>
                <a:blip r:embed="rId9"/>
                <a:stretch>
                  <a:fillRect l="-10526" t="-1667" r="-43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C74F1A-5284-40DD-9C7E-872C1E18B931}"/>
                  </a:ext>
                </a:extLst>
              </p:cNvPr>
              <p:cNvSpPr txBox="1"/>
              <p:nvPr/>
            </p:nvSpPr>
            <p:spPr>
              <a:xfrm>
                <a:off x="4235450" y="850900"/>
                <a:ext cx="7004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C74F1A-5284-40DD-9C7E-872C1E18B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450" y="850900"/>
                <a:ext cx="700448" cy="369332"/>
              </a:xfrm>
              <a:prstGeom prst="rect">
                <a:avLst/>
              </a:prstGeom>
              <a:blipFill>
                <a:blip r:embed="rId10"/>
                <a:stretch>
                  <a:fillRect l="-10435" t="-1667" r="-347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2B7101-331B-4291-9DC8-712230379F98}"/>
                  </a:ext>
                </a:extLst>
              </p:cNvPr>
              <p:cNvSpPr txBox="1"/>
              <p:nvPr/>
            </p:nvSpPr>
            <p:spPr>
              <a:xfrm>
                <a:off x="5522883" y="897254"/>
                <a:ext cx="7004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&lt;3&gt;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2B7101-331B-4291-9DC8-712230379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883" y="897254"/>
                <a:ext cx="700448" cy="369332"/>
              </a:xfrm>
              <a:prstGeom prst="rect">
                <a:avLst/>
              </a:prstGeom>
              <a:blipFill>
                <a:blip r:embed="rId11"/>
                <a:stretch>
                  <a:fillRect l="-10435" r="-3478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A87D16-E07D-47FE-90C6-94D3C3EBEB0A}"/>
                  </a:ext>
                </a:extLst>
              </p:cNvPr>
              <p:cNvSpPr txBox="1"/>
              <p:nvPr/>
            </p:nvSpPr>
            <p:spPr>
              <a:xfrm>
                <a:off x="9067800" y="897254"/>
                <a:ext cx="783741" cy="376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A87D16-E07D-47FE-90C6-94D3C3EBE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800" y="897254"/>
                <a:ext cx="783741" cy="376450"/>
              </a:xfrm>
              <a:prstGeom prst="rect">
                <a:avLst/>
              </a:prstGeom>
              <a:blipFill>
                <a:blip r:embed="rId12"/>
                <a:stretch>
                  <a:fillRect l="-9375" t="-1613" r="-1563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14DF46-1327-4002-9B4D-5260A2A77751}"/>
                  </a:ext>
                </a:extLst>
              </p:cNvPr>
              <p:cNvSpPr txBox="1"/>
              <p:nvPr/>
            </p:nvSpPr>
            <p:spPr>
              <a:xfrm>
                <a:off x="9803348" y="106918"/>
                <a:ext cx="2598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214DF46-1327-4002-9B4D-5260A2A77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348" y="106918"/>
                <a:ext cx="259815" cy="369332"/>
              </a:xfrm>
              <a:prstGeom prst="rect">
                <a:avLst/>
              </a:prstGeom>
              <a:blipFill>
                <a:blip r:embed="rId13"/>
                <a:stretch>
                  <a:fillRect l="-25581" r="-2558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69DAB2-8A37-4BE8-9D2D-C8DEE8D29297}"/>
                  </a:ext>
                </a:extLst>
              </p:cNvPr>
              <p:cNvSpPr txBox="1"/>
              <p:nvPr/>
            </p:nvSpPr>
            <p:spPr>
              <a:xfrm>
                <a:off x="2047423" y="5290582"/>
                <a:ext cx="8602291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⁡(1−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69DAB2-8A37-4BE8-9D2D-C8DEE8D29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423" y="5290582"/>
                <a:ext cx="8602291" cy="4168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32EA11-8AAD-4B8E-A20B-FA2A1A544EA0}"/>
              </a:ext>
            </a:extLst>
          </p:cNvPr>
          <p:cNvCxnSpPr>
            <a:cxnSpLocks/>
          </p:cNvCxnSpPr>
          <p:nvPr/>
        </p:nvCxnSpPr>
        <p:spPr>
          <a:xfrm flipV="1">
            <a:off x="3015278" y="1220232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681C87-5865-4269-8234-6E9B8A20F196}"/>
              </a:ext>
            </a:extLst>
          </p:cNvPr>
          <p:cNvCxnSpPr>
            <a:cxnSpLocks/>
          </p:cNvCxnSpPr>
          <p:nvPr/>
        </p:nvCxnSpPr>
        <p:spPr>
          <a:xfrm flipV="1">
            <a:off x="4488478" y="1163082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DD40E1-C411-4E30-915B-D08F0FF77FD3}"/>
              </a:ext>
            </a:extLst>
          </p:cNvPr>
          <p:cNvCxnSpPr>
            <a:cxnSpLocks/>
          </p:cNvCxnSpPr>
          <p:nvPr/>
        </p:nvCxnSpPr>
        <p:spPr>
          <a:xfrm flipV="1">
            <a:off x="5853085" y="1163082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1F0A69-3AF0-4260-B496-8AB26307564D}"/>
              </a:ext>
            </a:extLst>
          </p:cNvPr>
          <p:cNvCxnSpPr>
            <a:cxnSpLocks/>
          </p:cNvCxnSpPr>
          <p:nvPr/>
        </p:nvCxnSpPr>
        <p:spPr>
          <a:xfrm flipV="1">
            <a:off x="9314478" y="1220231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894DDE-29E5-43C2-901D-A2AE0DE5F67F}"/>
              </a:ext>
            </a:extLst>
          </p:cNvPr>
          <p:cNvCxnSpPr>
            <a:stCxn id="32" idx="0"/>
          </p:cNvCxnSpPr>
          <p:nvPr/>
        </p:nvCxnSpPr>
        <p:spPr>
          <a:xfrm flipV="1">
            <a:off x="3182324" y="298450"/>
            <a:ext cx="6393476" cy="55245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9A25FA5-AE5D-4095-8D41-FCD092B76EA0}"/>
              </a:ext>
            </a:extLst>
          </p:cNvPr>
          <p:cNvCxnSpPr/>
          <p:nvPr/>
        </p:nvCxnSpPr>
        <p:spPr>
          <a:xfrm flipV="1">
            <a:off x="4935898" y="284479"/>
            <a:ext cx="4589102" cy="561618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DCF9DDC-EAEB-4BAD-B28C-85DE8D5D5929}"/>
              </a:ext>
            </a:extLst>
          </p:cNvPr>
          <p:cNvCxnSpPr/>
          <p:nvPr/>
        </p:nvCxnSpPr>
        <p:spPr>
          <a:xfrm flipV="1">
            <a:off x="6223331" y="333870"/>
            <a:ext cx="3352469" cy="53082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0811495-FBE4-489C-9AF9-135808DE512E}"/>
              </a:ext>
            </a:extLst>
          </p:cNvPr>
          <p:cNvCxnSpPr>
            <a:cxnSpLocks/>
          </p:cNvCxnSpPr>
          <p:nvPr/>
        </p:nvCxnSpPr>
        <p:spPr>
          <a:xfrm flipV="1">
            <a:off x="9258300" y="375522"/>
            <a:ext cx="256912" cy="438568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B82BA0-F2F4-40B7-946D-65F9C5D0A690}"/>
                  </a:ext>
                </a:extLst>
              </p:cNvPr>
              <p:cNvSpPr txBox="1"/>
              <p:nvPr/>
            </p:nvSpPr>
            <p:spPr>
              <a:xfrm>
                <a:off x="2047423" y="5660429"/>
                <a:ext cx="4109330" cy="10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B82BA0-F2F4-40B7-946D-65F9C5D0A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423" y="5660429"/>
                <a:ext cx="4109330" cy="106804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417459D-1786-4131-9C7B-84F68E595C06}"/>
              </a:ext>
            </a:extLst>
          </p:cNvPr>
          <p:cNvCxnSpPr/>
          <p:nvPr/>
        </p:nvCxnSpPr>
        <p:spPr>
          <a:xfrm flipV="1">
            <a:off x="1435100" y="3092450"/>
            <a:ext cx="2097448" cy="1221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1D2C40-ED11-4923-8C7A-5BF73DAD2FCF}"/>
              </a:ext>
            </a:extLst>
          </p:cNvPr>
          <p:cNvCxnSpPr/>
          <p:nvPr/>
        </p:nvCxnSpPr>
        <p:spPr>
          <a:xfrm flipV="1">
            <a:off x="1429839" y="3035300"/>
            <a:ext cx="3605711" cy="1278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201AB4-1B4A-4720-935B-4007399B7D6C}"/>
              </a:ext>
            </a:extLst>
          </p:cNvPr>
          <p:cNvCxnSpPr/>
          <p:nvPr/>
        </p:nvCxnSpPr>
        <p:spPr>
          <a:xfrm flipV="1">
            <a:off x="1439380" y="3048000"/>
            <a:ext cx="7037870" cy="1265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7E40E87-3F22-4740-BF07-6A924D30780C}"/>
              </a:ext>
            </a:extLst>
          </p:cNvPr>
          <p:cNvCxnSpPr>
            <a:stCxn id="24" idx="3"/>
          </p:cNvCxnSpPr>
          <p:nvPr/>
        </p:nvCxnSpPr>
        <p:spPr>
          <a:xfrm>
            <a:off x="1345716" y="1416050"/>
            <a:ext cx="1486384" cy="596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4C0265-6DFD-476B-BD45-BCF0D52A938B}"/>
              </a:ext>
            </a:extLst>
          </p:cNvPr>
          <p:cNvCxnSpPr/>
          <p:nvPr/>
        </p:nvCxnSpPr>
        <p:spPr>
          <a:xfrm>
            <a:off x="1421901" y="1444616"/>
            <a:ext cx="2704565" cy="58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7CB5E90-D889-431B-A831-904C688DB7F4}"/>
              </a:ext>
            </a:extLst>
          </p:cNvPr>
          <p:cNvCxnSpPr>
            <a:stCxn id="24" idx="3"/>
          </p:cNvCxnSpPr>
          <p:nvPr/>
        </p:nvCxnSpPr>
        <p:spPr>
          <a:xfrm>
            <a:off x="1345716" y="1416050"/>
            <a:ext cx="7722084" cy="570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2E6EC9C-C777-4C3C-8335-622B3EF7E6AC}"/>
              </a:ext>
            </a:extLst>
          </p:cNvPr>
          <p:cNvCxnSpPr/>
          <p:nvPr/>
        </p:nvCxnSpPr>
        <p:spPr>
          <a:xfrm>
            <a:off x="1353654" y="1437396"/>
            <a:ext cx="4169229" cy="56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86846E4-5E38-41D4-8DFA-184B0E67FB36}"/>
              </a:ext>
            </a:extLst>
          </p:cNvPr>
          <p:cNvCxnSpPr/>
          <p:nvPr/>
        </p:nvCxnSpPr>
        <p:spPr>
          <a:xfrm flipV="1">
            <a:off x="1439380" y="3061814"/>
            <a:ext cx="4717373" cy="1230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CA2315-503E-4950-8369-47480A80383C}"/>
              </a:ext>
            </a:extLst>
          </p:cNvPr>
          <p:cNvCxnSpPr>
            <a:cxnSpLocks/>
          </p:cNvCxnSpPr>
          <p:nvPr/>
        </p:nvCxnSpPr>
        <p:spPr>
          <a:xfrm flipV="1">
            <a:off x="9471398" y="1814374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FBD35B-66F3-4FC6-A463-7D70ACECAED4}"/>
              </a:ext>
            </a:extLst>
          </p:cNvPr>
          <p:cNvCxnSpPr>
            <a:cxnSpLocks/>
          </p:cNvCxnSpPr>
          <p:nvPr/>
        </p:nvCxnSpPr>
        <p:spPr>
          <a:xfrm flipV="1">
            <a:off x="5869333" y="1860123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DAE3EA-4907-44A4-AD0B-365024BB508D}"/>
              </a:ext>
            </a:extLst>
          </p:cNvPr>
          <p:cNvCxnSpPr>
            <a:cxnSpLocks/>
          </p:cNvCxnSpPr>
          <p:nvPr/>
        </p:nvCxnSpPr>
        <p:spPr>
          <a:xfrm flipV="1">
            <a:off x="4488478" y="1866473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91F786-BF8D-405F-BCCF-A997F08E0BCB}"/>
              </a:ext>
            </a:extLst>
          </p:cNvPr>
          <p:cNvCxnSpPr>
            <a:cxnSpLocks/>
          </p:cNvCxnSpPr>
          <p:nvPr/>
        </p:nvCxnSpPr>
        <p:spPr>
          <a:xfrm flipV="1">
            <a:off x="3102348" y="1866473"/>
            <a:ext cx="0" cy="34412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207591-4B00-4C70-8E7F-92484DDA2C03}"/>
              </a:ext>
            </a:extLst>
          </p:cNvPr>
          <p:cNvCxnSpPr>
            <a:cxnSpLocks/>
          </p:cNvCxnSpPr>
          <p:nvPr/>
        </p:nvCxnSpPr>
        <p:spPr>
          <a:xfrm>
            <a:off x="8096250" y="3158359"/>
            <a:ext cx="461553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3E96138-AA01-4746-A436-8B9CF34F0F62}"/>
              </a:ext>
            </a:extLst>
          </p:cNvPr>
          <p:cNvCxnSpPr>
            <a:cxnSpLocks/>
          </p:cNvCxnSpPr>
          <p:nvPr/>
        </p:nvCxnSpPr>
        <p:spPr>
          <a:xfrm>
            <a:off x="5992554" y="3247259"/>
            <a:ext cx="461553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BB0383-DBA0-4624-A27C-5319675DAD57}"/>
              </a:ext>
            </a:extLst>
          </p:cNvPr>
          <p:cNvCxnSpPr>
            <a:cxnSpLocks/>
          </p:cNvCxnSpPr>
          <p:nvPr/>
        </p:nvCxnSpPr>
        <p:spPr>
          <a:xfrm>
            <a:off x="4800600" y="3230618"/>
            <a:ext cx="461553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F470978-4710-46BF-8EFE-E06801DFDA0B}"/>
              </a:ext>
            </a:extLst>
          </p:cNvPr>
          <p:cNvCxnSpPr>
            <a:cxnSpLocks/>
          </p:cNvCxnSpPr>
          <p:nvPr/>
        </p:nvCxnSpPr>
        <p:spPr>
          <a:xfrm>
            <a:off x="3438268" y="3247259"/>
            <a:ext cx="461553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B28F54-BC72-42CC-8A12-8E35387A3FAA}"/>
              </a:ext>
            </a:extLst>
          </p:cNvPr>
          <p:cNvSpPr txBox="1"/>
          <p:nvPr/>
        </p:nvSpPr>
        <p:spPr>
          <a:xfrm>
            <a:off x="186091" y="149895"/>
            <a:ext cx="34369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Backpropagation through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9DFC2-FB7C-40F6-BC1F-DC09490082C5}"/>
                  </a:ext>
                </a:extLst>
              </p:cNvPr>
              <p:cNvSpPr txBox="1"/>
              <p:nvPr/>
            </p:nvSpPr>
            <p:spPr>
              <a:xfrm>
                <a:off x="6790763" y="1860123"/>
                <a:ext cx="675057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&lt;3&gt;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&lt;3&gt;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9DFC2-FB7C-40F6-BC1F-DC0949008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763" y="1860123"/>
                <a:ext cx="675057" cy="55579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7C7B06-DB24-4C11-9703-21BF6BFF9535}"/>
                  </a:ext>
                </a:extLst>
              </p:cNvPr>
              <p:cNvSpPr txBox="1"/>
              <p:nvPr/>
            </p:nvSpPr>
            <p:spPr>
              <a:xfrm>
                <a:off x="7030789" y="3758665"/>
                <a:ext cx="675057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&lt;4&gt;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&lt;3&gt;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7C7B06-DB24-4C11-9703-21BF6BFF9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89" y="3758665"/>
                <a:ext cx="675057" cy="55463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67747B-E5F5-4BF6-B0AB-D448D07202D6}"/>
              </a:ext>
            </a:extLst>
          </p:cNvPr>
          <p:cNvCxnSpPr/>
          <p:nvPr/>
        </p:nvCxnSpPr>
        <p:spPr>
          <a:xfrm flipH="1" flipV="1">
            <a:off x="6095999" y="2038534"/>
            <a:ext cx="628651" cy="9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7EC3570-C767-4D0C-914E-6C95B55AC33C}"/>
              </a:ext>
            </a:extLst>
          </p:cNvPr>
          <p:cNvCxnSpPr>
            <a:cxnSpLocks/>
          </p:cNvCxnSpPr>
          <p:nvPr/>
        </p:nvCxnSpPr>
        <p:spPr>
          <a:xfrm flipH="1" flipV="1">
            <a:off x="6454107" y="3327279"/>
            <a:ext cx="576682" cy="5519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A10A30-93C2-4147-A6E3-0B07886FE54E}"/>
              </a:ext>
            </a:extLst>
          </p:cNvPr>
          <p:cNvCxnSpPr/>
          <p:nvPr/>
        </p:nvCxnSpPr>
        <p:spPr>
          <a:xfrm>
            <a:off x="12979400" y="2565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9574A03-859F-4C0F-9902-101A534EEF77}"/>
                  </a:ext>
                </a:extLst>
              </p:cNvPr>
              <p:cNvSpPr txBox="1"/>
              <p:nvPr/>
            </p:nvSpPr>
            <p:spPr>
              <a:xfrm>
                <a:off x="4881658" y="3680941"/>
                <a:ext cx="675057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&lt;3&gt;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&lt;2&gt;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9574A03-859F-4C0F-9902-101A534EE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658" y="3680941"/>
                <a:ext cx="675057" cy="55463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0A3B0D9-CC9F-44BD-8075-69F56553F43D}"/>
              </a:ext>
            </a:extLst>
          </p:cNvPr>
          <p:cNvCxnSpPr>
            <a:cxnSpLocks/>
          </p:cNvCxnSpPr>
          <p:nvPr/>
        </p:nvCxnSpPr>
        <p:spPr>
          <a:xfrm flipH="1" flipV="1">
            <a:off x="4958315" y="3307064"/>
            <a:ext cx="307202" cy="4208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476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A025AD4-EDD7-4937-8D81-51DEAD7618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4231"/>
              </p:ext>
            </p:extLst>
          </p:nvPr>
        </p:nvGraphicFramePr>
        <p:xfrm>
          <a:off x="1668463" y="668338"/>
          <a:ext cx="8664575" cy="248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664120" imgH="2484000" progId="Paint.Picture">
                  <p:embed/>
                </p:oleObj>
              </mc:Choice>
              <mc:Fallback>
                <p:oleObj name="Bitmap Image" r:id="rId2" imgW="8664120" imgH="24840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68463" y="668338"/>
                        <a:ext cx="8664575" cy="2484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22C98A-9A98-4771-9F38-8EB2E9456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589039"/>
              </p:ext>
            </p:extLst>
          </p:nvPr>
        </p:nvGraphicFramePr>
        <p:xfrm>
          <a:off x="385763" y="3606799"/>
          <a:ext cx="11560175" cy="258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1559600" imgH="2583360" progId="Paint.Picture">
                  <p:embed/>
                </p:oleObj>
              </mc:Choice>
              <mc:Fallback>
                <p:oleObj name="Bitmap Image" r:id="rId4" imgW="11559600" imgH="2583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763" y="3606799"/>
                        <a:ext cx="11560175" cy="2582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B2E7DF-953E-4818-82F5-DC10C31A7E89}"/>
                  </a:ext>
                </a:extLst>
              </p:cNvPr>
              <p:cNvSpPr txBox="1"/>
              <p:nvPr/>
            </p:nvSpPr>
            <p:spPr>
              <a:xfrm>
                <a:off x="4282622" y="4466319"/>
                <a:ext cx="1063176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B2E7DF-953E-4818-82F5-DC10C31A7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622" y="4466319"/>
                <a:ext cx="1063176" cy="398507"/>
              </a:xfrm>
              <a:prstGeom prst="rect">
                <a:avLst/>
              </a:prstGeom>
              <a:blipFill>
                <a:blip r:embed="rId7"/>
                <a:stretch>
                  <a:fillRect l="-6897" r="-229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9EB903F-AE3D-41CB-A10C-16EE18A0E433}"/>
              </a:ext>
            </a:extLst>
          </p:cNvPr>
          <p:cNvSpPr txBox="1"/>
          <p:nvPr/>
        </p:nvSpPr>
        <p:spPr>
          <a:xfrm>
            <a:off x="2908300" y="3010455"/>
            <a:ext cx="181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Music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C4A91-A9FB-4DF9-833A-5F6EF5DD3E42}"/>
              </a:ext>
            </a:extLst>
          </p:cNvPr>
          <p:cNvSpPr txBox="1"/>
          <p:nvPr/>
        </p:nvSpPr>
        <p:spPr>
          <a:xfrm>
            <a:off x="7469551" y="3059668"/>
            <a:ext cx="239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Sentiment classification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8E7CE-8CC4-4A7F-9F68-B6CB880E7D38}"/>
              </a:ext>
            </a:extLst>
          </p:cNvPr>
          <p:cNvSpPr txBox="1"/>
          <p:nvPr/>
        </p:nvSpPr>
        <p:spPr>
          <a:xfrm>
            <a:off x="7653701" y="6047342"/>
            <a:ext cx="2141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Language translation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89F38-523E-4E2F-AD3B-E8F355FEEC51}"/>
              </a:ext>
            </a:extLst>
          </p:cNvPr>
          <p:cNvSpPr txBox="1"/>
          <p:nvPr/>
        </p:nvSpPr>
        <p:spPr>
          <a:xfrm>
            <a:off x="1668463" y="6118502"/>
            <a:ext cx="184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Entity recognition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63B82F-A1D1-454C-ADC6-BCC0777CC83D}"/>
              </a:ext>
            </a:extLst>
          </p:cNvPr>
          <p:cNvSpPr/>
          <p:nvPr/>
        </p:nvSpPr>
        <p:spPr>
          <a:xfrm>
            <a:off x="6680200" y="3968750"/>
            <a:ext cx="2749550" cy="952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076FF5-9172-4C3D-AF26-E8A8E3A61A58}"/>
              </a:ext>
            </a:extLst>
          </p:cNvPr>
          <p:cNvSpPr/>
          <p:nvPr/>
        </p:nvSpPr>
        <p:spPr>
          <a:xfrm>
            <a:off x="9512299" y="3990069"/>
            <a:ext cx="2209801" cy="952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CABDA-C4FC-40BD-9657-36B0C8007C80}"/>
              </a:ext>
            </a:extLst>
          </p:cNvPr>
          <p:cNvSpPr txBox="1"/>
          <p:nvPr/>
        </p:nvSpPr>
        <p:spPr>
          <a:xfrm>
            <a:off x="7277100" y="3968750"/>
            <a:ext cx="95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5FC5B9-FA84-4D69-BE14-238AFB89E7BB}"/>
              </a:ext>
            </a:extLst>
          </p:cNvPr>
          <p:cNvSpPr txBox="1"/>
          <p:nvPr/>
        </p:nvSpPr>
        <p:spPr>
          <a:xfrm>
            <a:off x="10026650" y="3964669"/>
            <a:ext cx="95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180683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5024-1FCE-4542-9583-B6A3B09E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model and sequence generation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6727A-9C48-4740-899B-1399D02D2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00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50D2BE-D6E3-4C10-84E8-3D1FA02B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recognition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C98100-8986-4EFC-86DB-D29940AC5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 voice signal as input, provide a sequence of words (sentence) as  output</a:t>
            </a:r>
          </a:p>
          <a:p>
            <a:r>
              <a:rPr lang="en-US" dirty="0"/>
              <a:t>Ambiguity (same pronunciation)</a:t>
            </a:r>
          </a:p>
          <a:p>
            <a:pPr lvl="1"/>
            <a:r>
              <a:rPr lang="en-US" dirty="0"/>
              <a:t>The apple and pair salad was delicious</a:t>
            </a:r>
          </a:p>
          <a:p>
            <a:pPr lvl="1"/>
            <a:r>
              <a:rPr lang="en-US" dirty="0"/>
              <a:t>The apple and pear salad was delicious</a:t>
            </a:r>
          </a:p>
          <a:p>
            <a:r>
              <a:rPr lang="en-US" dirty="0"/>
              <a:t>The second makes more sense</a:t>
            </a:r>
          </a:p>
          <a:p>
            <a:r>
              <a:rPr lang="en-US" dirty="0"/>
              <a:t>Task: computing the probability of a sentence and provide the most probable one as output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40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02B3-A48E-4C31-8DC8-3AFF37B6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modeling with 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877DD-AC6B-4B0C-9110-4BD1C5844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Training set: a very large corpus (set of sentences) of text</a:t>
                </a:r>
              </a:p>
              <a:p>
                <a:r>
                  <a:rPr lang="en-US" dirty="0"/>
                  <a:t>You also need a vocabulary (set of possible words)</a:t>
                </a:r>
              </a:p>
              <a:p>
                <a:r>
                  <a:rPr lang="en-US" dirty="0"/>
                  <a:t>Tokenize a sentence</a:t>
                </a:r>
              </a:p>
              <a:p>
                <a:pPr lvl="1"/>
                <a:r>
                  <a:rPr lang="en-US" dirty="0"/>
                  <a:t>Identify a token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dirty="0"/>
                  <a:t> with any word (and punctuation if needed).</a:t>
                </a:r>
              </a:p>
              <a:p>
                <a:pPr lvl="1"/>
                <a:r>
                  <a:rPr lang="en-US" dirty="0"/>
                  <a:t>Example: a cat usually sleeps 15 hours per day.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&lt;2&gt;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cat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&lt;8&gt;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&lt;9&gt;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eos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token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unk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for unknown words (out of vocabulary)</a:t>
                </a:r>
              </a:p>
              <a:p>
                <a:endParaRPr lang="en-US" dirty="0"/>
              </a:p>
              <a:p>
                <a:r>
                  <a:rPr lang="en-US" dirty="0"/>
                  <a:t>Make each output a soft-max gate</a:t>
                </a:r>
              </a:p>
              <a:p>
                <a:r>
                  <a:rPr lang="en-US" dirty="0"/>
                  <a:t>Finally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877DD-AC6B-4B0C-9110-4BD1C5844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63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455A51-3767-4217-994E-501794B47913}"/>
              </a:ext>
            </a:extLst>
          </p:cNvPr>
          <p:cNvSpPr/>
          <p:nvPr/>
        </p:nvSpPr>
        <p:spPr>
          <a:xfrm>
            <a:off x="1377950" y="2552700"/>
            <a:ext cx="838200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E1A533-E00D-4F14-A7E3-8A5A8DBED569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876300" y="2933700"/>
            <a:ext cx="501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E1310A-10DA-4C1D-ABBE-DA394383432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1797050" y="3314700"/>
            <a:ext cx="0" cy="546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0D0E16-9F84-4AC1-95C8-E6E4F642969D}"/>
              </a:ext>
            </a:extLst>
          </p:cNvPr>
          <p:cNvCxnSpPr>
            <a:cxnSpLocks/>
          </p:cNvCxnSpPr>
          <p:nvPr/>
        </p:nvCxnSpPr>
        <p:spPr>
          <a:xfrm flipV="1">
            <a:off x="1797050" y="20955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A3DE4-84E7-4D64-8B7C-729C323905B3}"/>
                  </a:ext>
                </a:extLst>
              </p:cNvPr>
              <p:cNvSpPr txBox="1"/>
              <p:nvPr/>
            </p:nvSpPr>
            <p:spPr>
              <a:xfrm>
                <a:off x="1536337" y="2795200"/>
                <a:ext cx="6020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A3DE4-84E7-4D64-8B7C-729C32390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337" y="2795200"/>
                <a:ext cx="602024" cy="307777"/>
              </a:xfrm>
              <a:prstGeom prst="rect">
                <a:avLst/>
              </a:prstGeom>
              <a:blipFill>
                <a:blip r:embed="rId2"/>
                <a:stretch>
                  <a:fillRect l="-5051" t="-2000" r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C0ACAA-7B81-49B8-883D-E7FD89DF8E1E}"/>
                  </a:ext>
                </a:extLst>
              </p:cNvPr>
              <p:cNvSpPr txBox="1"/>
              <p:nvPr/>
            </p:nvSpPr>
            <p:spPr>
              <a:xfrm>
                <a:off x="942253" y="3860799"/>
                <a:ext cx="10808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C0ACAA-7B81-49B8-883D-E7FD89DF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253" y="3860799"/>
                <a:ext cx="1080873" cy="307777"/>
              </a:xfrm>
              <a:prstGeom prst="rect">
                <a:avLst/>
              </a:prstGeom>
              <a:blipFill>
                <a:blip r:embed="rId3"/>
                <a:stretch>
                  <a:fillRect l="-3390" r="-452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BC1BAD-114A-4057-9662-487ACFE81755}"/>
                  </a:ext>
                </a:extLst>
              </p:cNvPr>
              <p:cNvSpPr txBox="1"/>
              <p:nvPr/>
            </p:nvSpPr>
            <p:spPr>
              <a:xfrm>
                <a:off x="1635030" y="1751112"/>
                <a:ext cx="6098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BC1BAD-114A-4057-9662-487ACFE81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30" y="1751112"/>
                <a:ext cx="609847" cy="307777"/>
              </a:xfrm>
              <a:prstGeom prst="rect">
                <a:avLst/>
              </a:prstGeom>
              <a:blipFill>
                <a:blip r:embed="rId4"/>
                <a:stretch>
                  <a:fillRect l="-10000" t="-21569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BBBBC1-A5BD-4753-9020-385CD736AF77}"/>
                  </a:ext>
                </a:extLst>
              </p:cNvPr>
              <p:cNvSpPr txBox="1"/>
              <p:nvPr/>
            </p:nvSpPr>
            <p:spPr>
              <a:xfrm>
                <a:off x="675924" y="2795200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BBBBC1-A5BD-4753-9020-385CD736A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24" y="2795200"/>
                <a:ext cx="200376" cy="307777"/>
              </a:xfrm>
              <a:prstGeom prst="rect">
                <a:avLst/>
              </a:prstGeom>
              <a:blipFill>
                <a:blip r:embed="rId5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7E05CA1-A785-47ED-BCF5-852CB1F82140}"/>
              </a:ext>
            </a:extLst>
          </p:cNvPr>
          <p:cNvSpPr/>
          <p:nvPr/>
        </p:nvSpPr>
        <p:spPr>
          <a:xfrm>
            <a:off x="2756586" y="2552700"/>
            <a:ext cx="838200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4EC3AE-4CA1-4D0C-8615-4D4F8A3F80E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254936" y="2933700"/>
            <a:ext cx="501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75C085-9999-4B26-B0F4-1A089ADC681F}"/>
              </a:ext>
            </a:extLst>
          </p:cNvPr>
          <p:cNvCxnSpPr>
            <a:cxnSpLocks/>
          </p:cNvCxnSpPr>
          <p:nvPr/>
        </p:nvCxnSpPr>
        <p:spPr>
          <a:xfrm>
            <a:off x="3594786" y="2933700"/>
            <a:ext cx="501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710CF2-F6E9-4F3C-B572-E8EACDFA4E83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175686" y="3314700"/>
            <a:ext cx="0" cy="546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E37139-EA2E-410A-8BE8-E61A525923E8}"/>
              </a:ext>
            </a:extLst>
          </p:cNvPr>
          <p:cNvCxnSpPr>
            <a:cxnSpLocks/>
          </p:cNvCxnSpPr>
          <p:nvPr/>
        </p:nvCxnSpPr>
        <p:spPr>
          <a:xfrm flipV="1">
            <a:off x="3175686" y="20955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7C5F02-3FA7-464E-A618-AAD3937CF9E5}"/>
                  </a:ext>
                </a:extLst>
              </p:cNvPr>
              <p:cNvSpPr txBox="1"/>
              <p:nvPr/>
            </p:nvSpPr>
            <p:spPr>
              <a:xfrm>
                <a:off x="2914973" y="2795200"/>
                <a:ext cx="6020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7C5F02-3FA7-464E-A618-AAD3937CF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973" y="2795200"/>
                <a:ext cx="602024" cy="307777"/>
              </a:xfrm>
              <a:prstGeom prst="rect">
                <a:avLst/>
              </a:prstGeom>
              <a:blipFill>
                <a:blip r:embed="rId6"/>
                <a:stretch>
                  <a:fillRect l="-5051" t="-4000" r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23A362-F5CC-4600-8DA9-9C0C35E19137}"/>
                  </a:ext>
                </a:extLst>
              </p:cNvPr>
              <p:cNvSpPr txBox="1"/>
              <p:nvPr/>
            </p:nvSpPr>
            <p:spPr>
              <a:xfrm>
                <a:off x="2319444" y="3859597"/>
                <a:ext cx="14903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23A362-F5CC-4600-8DA9-9C0C35E19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444" y="3859597"/>
                <a:ext cx="1490344" cy="307777"/>
              </a:xfrm>
              <a:prstGeom prst="rect">
                <a:avLst/>
              </a:prstGeom>
              <a:blipFill>
                <a:blip r:embed="rId7"/>
                <a:stretch>
                  <a:fillRect l="-1633" t="-1961" r="-163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1B349A-D6D3-4051-801A-77B4F85C8E22}"/>
                  </a:ext>
                </a:extLst>
              </p:cNvPr>
              <p:cNvSpPr txBox="1"/>
              <p:nvPr/>
            </p:nvSpPr>
            <p:spPr>
              <a:xfrm>
                <a:off x="2915659" y="1760835"/>
                <a:ext cx="6098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1B349A-D6D3-4051-801A-77B4F85C8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659" y="1760835"/>
                <a:ext cx="609847" cy="307777"/>
              </a:xfrm>
              <a:prstGeom prst="rect">
                <a:avLst/>
              </a:prstGeom>
              <a:blipFill>
                <a:blip r:embed="rId8"/>
                <a:stretch>
                  <a:fillRect l="-10000" t="-24000" r="-50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0D72ED80-3FA1-4C0F-A45D-14C756459673}"/>
              </a:ext>
            </a:extLst>
          </p:cNvPr>
          <p:cNvSpPr/>
          <p:nvPr/>
        </p:nvSpPr>
        <p:spPr>
          <a:xfrm>
            <a:off x="7250889" y="2552699"/>
            <a:ext cx="838200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02EFBE-6180-424F-A371-24BD6FE1DBA2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749239" y="2933699"/>
            <a:ext cx="501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D2AD60B-32B1-409B-B157-5BA9556A0DB1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7669989" y="3314699"/>
            <a:ext cx="0" cy="546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8DF495-F49F-41A1-B94C-C38E711B1BEF}"/>
              </a:ext>
            </a:extLst>
          </p:cNvPr>
          <p:cNvCxnSpPr>
            <a:cxnSpLocks/>
          </p:cNvCxnSpPr>
          <p:nvPr/>
        </p:nvCxnSpPr>
        <p:spPr>
          <a:xfrm flipV="1">
            <a:off x="7669989" y="2095499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C88A8A-071C-4097-8360-A7E6C1788AD1}"/>
                  </a:ext>
                </a:extLst>
              </p:cNvPr>
              <p:cNvSpPr txBox="1"/>
              <p:nvPr/>
            </p:nvSpPr>
            <p:spPr>
              <a:xfrm>
                <a:off x="7409276" y="2795199"/>
                <a:ext cx="5797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C88A8A-071C-4097-8360-A7E6C1788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276" y="2795199"/>
                <a:ext cx="579774" cy="307777"/>
              </a:xfrm>
              <a:prstGeom prst="rect">
                <a:avLst/>
              </a:prstGeom>
              <a:blipFill>
                <a:blip r:embed="rId9"/>
                <a:stretch>
                  <a:fillRect l="-5208" t="-2000" r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18DCC2-63F8-4118-9681-99B9600C48B5}"/>
                  </a:ext>
                </a:extLst>
              </p:cNvPr>
              <p:cNvSpPr txBox="1"/>
              <p:nvPr/>
            </p:nvSpPr>
            <p:spPr>
              <a:xfrm>
                <a:off x="7379429" y="3859597"/>
                <a:ext cx="14839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&lt;9&gt;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&lt;8&gt;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18DCC2-63F8-4118-9681-99B9600C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429" y="3859597"/>
                <a:ext cx="1483932" cy="307777"/>
              </a:xfrm>
              <a:prstGeom prst="rect">
                <a:avLst/>
              </a:prstGeom>
              <a:blipFill>
                <a:blip r:embed="rId10"/>
                <a:stretch>
                  <a:fillRect l="-2058" t="-1961" r="-205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54BB0E-6AAF-44DB-8A49-135442C8A979}"/>
                  </a:ext>
                </a:extLst>
              </p:cNvPr>
              <p:cNvSpPr txBox="1"/>
              <p:nvPr/>
            </p:nvSpPr>
            <p:spPr>
              <a:xfrm>
                <a:off x="7507969" y="1751111"/>
                <a:ext cx="603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&lt;9&gt;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54BB0E-6AAF-44DB-8A49-135442C8A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969" y="1751111"/>
                <a:ext cx="603435" cy="307777"/>
              </a:xfrm>
              <a:prstGeom prst="rect">
                <a:avLst/>
              </a:prstGeom>
              <a:blipFill>
                <a:blip r:embed="rId11"/>
                <a:stretch>
                  <a:fillRect l="-10101" t="-21569" r="-5051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CDBC040-7316-421E-8800-0FBC56BBFBC5}"/>
              </a:ext>
            </a:extLst>
          </p:cNvPr>
          <p:cNvSpPr/>
          <p:nvPr/>
        </p:nvSpPr>
        <p:spPr>
          <a:xfrm>
            <a:off x="4117743" y="2552699"/>
            <a:ext cx="838200" cy="76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6A12E0-1905-45FD-ADC2-965D7218839E}"/>
              </a:ext>
            </a:extLst>
          </p:cNvPr>
          <p:cNvCxnSpPr>
            <a:cxnSpLocks/>
          </p:cNvCxnSpPr>
          <p:nvPr/>
        </p:nvCxnSpPr>
        <p:spPr>
          <a:xfrm>
            <a:off x="4955943" y="2933699"/>
            <a:ext cx="501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6B8257-BFBD-4FB9-8825-7CE63C63F5B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4536843" y="3314699"/>
            <a:ext cx="0" cy="546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23FB9D-60CE-4317-99CD-8EAC6F0D7F54}"/>
              </a:ext>
            </a:extLst>
          </p:cNvPr>
          <p:cNvCxnSpPr>
            <a:cxnSpLocks/>
          </p:cNvCxnSpPr>
          <p:nvPr/>
        </p:nvCxnSpPr>
        <p:spPr>
          <a:xfrm flipV="1">
            <a:off x="4536843" y="2095499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20003C4-2E0F-435F-9D0A-F0C6967BC1DD}"/>
                  </a:ext>
                </a:extLst>
              </p:cNvPr>
              <p:cNvSpPr txBox="1"/>
              <p:nvPr/>
            </p:nvSpPr>
            <p:spPr>
              <a:xfrm>
                <a:off x="4276130" y="2795199"/>
                <a:ext cx="6020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&lt;3&gt;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20003C4-2E0F-435F-9D0A-F0C6967BC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130" y="2795199"/>
                <a:ext cx="602024" cy="307777"/>
              </a:xfrm>
              <a:prstGeom prst="rect">
                <a:avLst/>
              </a:prstGeom>
              <a:blipFill>
                <a:blip r:embed="rId12"/>
                <a:stretch>
                  <a:fillRect l="-5051" t="-4000" r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ED81455-9D0E-4E52-9278-3A500726C4FE}"/>
                  </a:ext>
                </a:extLst>
              </p:cNvPr>
              <p:cNvSpPr txBox="1"/>
              <p:nvPr/>
            </p:nvSpPr>
            <p:spPr>
              <a:xfrm>
                <a:off x="4061659" y="3859596"/>
                <a:ext cx="14903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&lt;3&gt;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ED81455-9D0E-4E52-9278-3A500726C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659" y="3859596"/>
                <a:ext cx="1490344" cy="307777"/>
              </a:xfrm>
              <a:prstGeom prst="rect">
                <a:avLst/>
              </a:prstGeom>
              <a:blipFill>
                <a:blip r:embed="rId13"/>
                <a:stretch>
                  <a:fillRect l="-1633" t="-1961" r="-163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90E41B-A618-42B9-8583-832B8624BE90}"/>
                  </a:ext>
                </a:extLst>
              </p:cNvPr>
              <p:cNvSpPr txBox="1"/>
              <p:nvPr/>
            </p:nvSpPr>
            <p:spPr>
              <a:xfrm>
                <a:off x="4374823" y="1751111"/>
                <a:ext cx="6098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&lt;3&gt;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90E41B-A618-42B9-8583-832B8624B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823" y="1751111"/>
                <a:ext cx="609847" cy="307777"/>
              </a:xfrm>
              <a:prstGeom prst="rect">
                <a:avLst/>
              </a:prstGeom>
              <a:blipFill>
                <a:blip r:embed="rId14"/>
                <a:stretch>
                  <a:fillRect l="-10000" t="-21569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98A76A9-6DE4-4934-ABAB-A45B43BC4DC6}"/>
              </a:ext>
            </a:extLst>
          </p:cNvPr>
          <p:cNvSpPr txBox="1"/>
          <p:nvPr/>
        </p:nvSpPr>
        <p:spPr>
          <a:xfrm>
            <a:off x="2981401" y="41827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C1C00D-81E8-4A09-B458-B6DA20E70C01}"/>
              </a:ext>
            </a:extLst>
          </p:cNvPr>
          <p:cNvSpPr txBox="1"/>
          <p:nvPr/>
        </p:nvSpPr>
        <p:spPr>
          <a:xfrm>
            <a:off x="4410492" y="4155442"/>
            <a:ext cx="465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68FDDA-5DBB-4BE4-87D5-DD840AE9B98E}"/>
              </a:ext>
            </a:extLst>
          </p:cNvPr>
          <p:cNvSpPr txBox="1"/>
          <p:nvPr/>
        </p:nvSpPr>
        <p:spPr>
          <a:xfrm>
            <a:off x="7679858" y="416737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day.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A530964-6357-4DE5-BF84-38A9F6E8FE8A}"/>
                  </a:ext>
                </a:extLst>
              </p:cNvPr>
              <p:cNvSpPr txBox="1"/>
              <p:nvPr/>
            </p:nvSpPr>
            <p:spPr>
              <a:xfrm>
                <a:off x="-177800" y="184245"/>
                <a:ext cx="7258050" cy="41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&lt;2&gt;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….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&lt;8&gt;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day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.,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&lt;9&gt;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eos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A530964-6357-4DE5-BF84-38A9F6E8F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7800" y="184245"/>
                <a:ext cx="7258050" cy="412934"/>
              </a:xfrm>
              <a:prstGeom prst="rect">
                <a:avLst/>
              </a:prstGeom>
              <a:blipFill>
                <a:blip r:embed="rId15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75128EE-2DE0-456B-9A89-308905336895}"/>
                  </a:ext>
                </a:extLst>
              </p:cNvPr>
              <p:cNvSpPr txBox="1"/>
              <p:nvPr/>
            </p:nvSpPr>
            <p:spPr>
              <a:xfrm>
                <a:off x="1339850" y="1270600"/>
                <a:ext cx="10177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word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75128EE-2DE0-456B-9A89-308905336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850" y="1270600"/>
                <a:ext cx="1017778" cy="307777"/>
              </a:xfrm>
              <a:prstGeom prst="rect">
                <a:avLst/>
              </a:prstGeom>
              <a:blipFill>
                <a:blip r:embed="rId16"/>
                <a:stretch>
                  <a:fillRect l="-5988" t="-1961" r="-838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D3E1E4-63C8-45C0-B826-2CF4F40808D9}"/>
                  </a:ext>
                </a:extLst>
              </p:cNvPr>
              <p:cNvSpPr txBox="1"/>
              <p:nvPr/>
            </p:nvSpPr>
            <p:spPr>
              <a:xfrm>
                <a:off x="2563403" y="1246103"/>
                <a:ext cx="14265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word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|"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D3E1E4-63C8-45C0-B826-2CF4F4080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403" y="1246103"/>
                <a:ext cx="1426544" cy="307777"/>
              </a:xfrm>
              <a:prstGeom prst="rect">
                <a:avLst/>
              </a:prstGeom>
              <a:blipFill>
                <a:blip r:embed="rId17"/>
                <a:stretch>
                  <a:fillRect l="-3846" t="-1961" r="-641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5EF35FF-DAAC-4076-B35D-F69CC9D5F910}"/>
                  </a:ext>
                </a:extLst>
              </p:cNvPr>
              <p:cNvSpPr txBox="1"/>
              <p:nvPr/>
            </p:nvSpPr>
            <p:spPr>
              <a:xfrm>
                <a:off x="4117743" y="1270599"/>
                <a:ext cx="18641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word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| "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cat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5EF35FF-DAAC-4076-B35D-F69CC9D5F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43" y="1270599"/>
                <a:ext cx="1864165" cy="307777"/>
              </a:xfrm>
              <a:prstGeom prst="rect">
                <a:avLst/>
              </a:prstGeom>
              <a:blipFill>
                <a:blip r:embed="rId18"/>
                <a:stretch>
                  <a:fillRect l="-2614" t="-1961" r="-457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5499089-AA01-4179-80F2-4853CABE1516}"/>
                  </a:ext>
                </a:extLst>
              </p:cNvPr>
              <p:cNvSpPr txBox="1"/>
              <p:nvPr/>
            </p:nvSpPr>
            <p:spPr>
              <a:xfrm>
                <a:off x="776112" y="4846712"/>
                <a:ext cx="8362354" cy="6551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&lt;2&gt;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&lt;8&gt;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&lt;9&gt;</m:t>
                            </m:r>
                          </m:sup>
                        </m:sSup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2&gt;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&lt;1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3&gt;</m:t>
                        </m:r>
                      </m:sup>
                    </m:sSup>
                  </m:oMath>
                </a14:m>
                <a:r>
                  <a:rPr lang="en-US" sz="2000" dirty="0"/>
                  <a:t>|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&lt;1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2&gt;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)…</m:t>
                    </m:r>
                  </m:oMath>
                </a14:m>
                <a:br>
                  <a:rPr lang="en-US" sz="2000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 dirty="0"/>
                        <m:t>|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&lt;1&gt;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en-US" sz="2000" dirty="0"/>
                        <m:t>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5499089-AA01-4179-80F2-4853CABE1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12" y="4846712"/>
                <a:ext cx="8362354" cy="655179"/>
              </a:xfrm>
              <a:prstGeom prst="rect">
                <a:avLst/>
              </a:prstGeom>
              <a:blipFill>
                <a:blip r:embed="rId19"/>
                <a:stretch>
                  <a:fillRect l="-1020" t="-8333" r="-73" b="-15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C510D411-8A66-40DE-8887-44FCD42F4A10}"/>
              </a:ext>
            </a:extLst>
          </p:cNvPr>
          <p:cNvSpPr txBox="1"/>
          <p:nvPr/>
        </p:nvSpPr>
        <p:spPr>
          <a:xfrm>
            <a:off x="8636000" y="381160"/>
            <a:ext cx="33089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sentence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72DA753-0F99-466C-9315-89F02664C5FC}"/>
                  </a:ext>
                </a:extLst>
              </p:cNvPr>
              <p:cNvSpPr txBox="1"/>
              <p:nvPr/>
            </p:nvSpPr>
            <p:spPr>
              <a:xfrm>
                <a:off x="736185" y="5737379"/>
                <a:ext cx="5452903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/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/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72DA753-0F99-466C-9315-89F02664C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85" y="5737379"/>
                <a:ext cx="5452903" cy="89620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F9545B-6B9E-46D9-A47A-595547C39D9D}"/>
                  </a:ext>
                </a:extLst>
              </p:cNvPr>
              <p:cNvSpPr txBox="1"/>
              <p:nvPr/>
            </p:nvSpPr>
            <p:spPr>
              <a:xfrm>
                <a:off x="6778827" y="5584800"/>
                <a:ext cx="4109330" cy="10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F9545B-6B9E-46D9-A47A-595547C39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827" y="5584800"/>
                <a:ext cx="4109330" cy="106804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179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1D5F-5102-4F4D-B00E-D85C2FE7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random sentences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0675E-74D1-451C-AA53-A3A8EFA982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can use the previous model to sample words from the probability distribution of each soft-max at time t, to generate random sequences of words (sentences)</a:t>
                </a:r>
              </a:p>
              <a:p>
                <a:pPr lvl="1"/>
                <a:r>
                  <a:rPr lang="en-US" dirty="0"/>
                  <a:t>Step 1: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 </m:t>
                        </m:r>
                      </m:sup>
                    </m:sSup>
                  </m:oMath>
                </a14:m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Step 2: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&lt;2&gt;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</m:oMath>
                </a14:m>
                <a:r>
                  <a:rPr lang="en-US" dirty="0"/>
                  <a:t> (the sampled word at step 1) and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&gt; </m:t>
                        </m:r>
                      </m:sup>
                    </m:sSup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&lt;1&gt;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And so forth….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0675E-74D1-451C-AA53-A3A8EFA98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243B0B1-6A35-4E10-B326-2C2DAFA71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198861"/>
              </p:ext>
            </p:extLst>
          </p:nvPr>
        </p:nvGraphicFramePr>
        <p:xfrm>
          <a:off x="4286250" y="4397375"/>
          <a:ext cx="4430713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430880" imgH="2023200" progId="Paint.Picture">
                  <p:embed/>
                </p:oleObj>
              </mc:Choice>
              <mc:Fallback>
                <p:oleObj name="Bitmap Image" r:id="rId4" imgW="4430880" imgH="2023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86250" y="4397375"/>
                        <a:ext cx="4430713" cy="202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1836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E04A42-8360-46E8-8FCA-F29151B7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generation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B07D76-6015-4E3C-9E3D-09516594D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Here are 2 examples of generated sentences when the language model is trained on a corpus of news (left) and on a corpus of Shakespeare texts (right)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457BEF8-1B30-4FE3-B933-ED4F7B227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022594"/>
              </p:ext>
            </p:extLst>
          </p:nvPr>
        </p:nvGraphicFramePr>
        <p:xfrm>
          <a:off x="1214439" y="3194596"/>
          <a:ext cx="9510712" cy="366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1959560" imgH="4606200" progId="Paint.Picture">
                  <p:embed/>
                </p:oleObj>
              </mc:Choice>
              <mc:Fallback>
                <p:oleObj name="Bitmap Image" r:id="rId2" imgW="11959560" imgH="4606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4439" y="3194596"/>
                        <a:ext cx="9510712" cy="3663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914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F83F-C501-461A-9511-92026E72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AE77-6AAA-484E-8E7E-B02231FFD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most cases the vocabulary is based on words</a:t>
            </a:r>
          </a:p>
          <a:p>
            <a:r>
              <a:rPr lang="en-US" dirty="0"/>
              <a:t>In some cases it could be based on single characters</a:t>
            </a:r>
          </a:p>
          <a:p>
            <a:r>
              <a:rPr lang="en-US" dirty="0"/>
              <a:t>In the second situation the size of the vocabulary may become very </a:t>
            </a:r>
            <a:r>
              <a:rPr lang="en-US" dirty="0" err="1"/>
              <a:t>very</a:t>
            </a:r>
            <a:r>
              <a:rPr lang="en-US" dirty="0"/>
              <a:t> large</a:t>
            </a:r>
          </a:p>
          <a:p>
            <a:r>
              <a:rPr lang="en-US" dirty="0"/>
              <a:t>As more computational power becomes available, more frequent can become the use of character-based vocabularies…</a:t>
            </a:r>
          </a:p>
        </p:txBody>
      </p:sp>
    </p:spTree>
    <p:extLst>
      <p:ext uri="{BB962C8B-B14F-4D97-AF65-F5344CB8AC3E}">
        <p14:creationId xmlns:p14="http://schemas.microsoft.com/office/powerpoint/2010/main" val="2849723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C3FB-ACC0-467A-8256-FE995ADC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or exploding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D838-268A-4C22-A6BB-CEC4F7C6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RNNs are very deep networks (100s of layers), thus they suffer from vanishing or exploding gradient (especially the standard formalism with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en-US" dirty="0"/>
              <a:t> activation)</a:t>
            </a:r>
          </a:p>
          <a:p>
            <a:r>
              <a:rPr lang="en-US" dirty="0"/>
              <a:t>If the gradient is exploding we can use </a:t>
            </a:r>
            <a:r>
              <a:rPr lang="en-US" b="1" dirty="0"/>
              <a:t>gradient clipping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To impose a maximum threshold and to rescale the values on that basis</a:t>
            </a:r>
          </a:p>
          <a:p>
            <a:r>
              <a:rPr lang="en-US" dirty="0"/>
              <a:t>To address vanishing gradient in RNN:</a:t>
            </a:r>
          </a:p>
          <a:p>
            <a:pPr lvl="1"/>
            <a:r>
              <a:rPr lang="en-US" dirty="0"/>
              <a:t>GRU</a:t>
            </a:r>
          </a:p>
          <a:p>
            <a:pPr lvl="1"/>
            <a:r>
              <a:rPr lang="en-US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3075324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1B369F-83AE-4EC7-923E-7373F64D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6A2D29-6F65-4915-80CA-C6F5FE88066E}"/>
                  </a:ext>
                </a:extLst>
              </p:cNvPr>
              <p:cNvSpPr txBox="1"/>
              <p:nvPr/>
            </p:nvSpPr>
            <p:spPr>
              <a:xfrm>
                <a:off x="6254750" y="3073400"/>
                <a:ext cx="4495461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6A2D29-6F65-4915-80CA-C6F5FE880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50" y="3073400"/>
                <a:ext cx="4495461" cy="416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2CFF91-6883-4A2E-8298-BFBA6860C756}"/>
                  </a:ext>
                </a:extLst>
              </p:cNvPr>
              <p:cNvSpPr txBox="1"/>
              <p:nvPr/>
            </p:nvSpPr>
            <p:spPr>
              <a:xfrm>
                <a:off x="1339850" y="2533650"/>
                <a:ext cx="10921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2CFF91-6883-4A2E-8298-BFBA6860C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850" y="2533650"/>
                <a:ext cx="1092158" cy="307777"/>
              </a:xfrm>
              <a:prstGeom prst="rect">
                <a:avLst/>
              </a:prstGeom>
              <a:blipFill>
                <a:blip r:embed="rId4"/>
                <a:stretch>
                  <a:fillRect l="-5587" r="-5028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FEAC96A-8C59-4969-B948-2AF55047B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738520"/>
              </p:ext>
            </p:extLst>
          </p:nvPr>
        </p:nvGraphicFramePr>
        <p:xfrm>
          <a:off x="638140" y="2944499"/>
          <a:ext cx="4603116" cy="287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474560" imgH="921960" progId="Paint.Picture">
                  <p:embed/>
                </p:oleObj>
              </mc:Choice>
              <mc:Fallback>
                <p:oleObj name="Bitmap Image" r:id="rId5" imgW="1474560" imgH="9219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8140" y="2944499"/>
                        <a:ext cx="4603116" cy="2878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B86C10-6E45-44E3-BC33-585FA5271D0D}"/>
                  </a:ext>
                </a:extLst>
              </p:cNvPr>
              <p:cNvSpPr txBox="1"/>
              <p:nvPr/>
            </p:nvSpPr>
            <p:spPr>
              <a:xfrm>
                <a:off x="412750" y="3684200"/>
                <a:ext cx="74103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B86C10-6E45-44E3-BC33-585FA5271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0" y="3684200"/>
                <a:ext cx="741037" cy="276999"/>
              </a:xfrm>
              <a:prstGeom prst="rect">
                <a:avLst/>
              </a:prstGeom>
              <a:blipFill>
                <a:blip r:embed="rId7"/>
                <a:stretch>
                  <a:fillRect l="-4132" t="-4348" r="-3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7D1B17-7F5C-4EE1-97FD-15554EB9EC8D}"/>
                  </a:ext>
                </a:extLst>
              </p:cNvPr>
              <p:cNvSpPr txBox="1"/>
              <p:nvPr/>
            </p:nvSpPr>
            <p:spPr>
              <a:xfrm>
                <a:off x="4973963" y="3633400"/>
                <a:ext cx="52142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7D1B17-7F5C-4EE1-97FD-15554EB9E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963" y="3633400"/>
                <a:ext cx="521425" cy="276999"/>
              </a:xfrm>
              <a:prstGeom prst="rect">
                <a:avLst/>
              </a:prstGeom>
              <a:blipFill>
                <a:blip r:embed="rId8"/>
                <a:stretch>
                  <a:fillRect l="-5882" t="-2222" r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B5B778-7051-44AF-8474-9CB5E5828309}"/>
                  </a:ext>
                </a:extLst>
              </p:cNvPr>
              <p:cNvSpPr txBox="1"/>
              <p:nvPr/>
            </p:nvSpPr>
            <p:spPr>
              <a:xfrm>
                <a:off x="891984" y="5546305"/>
                <a:ext cx="52360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B5B778-7051-44AF-8474-9CB5E5828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84" y="5546305"/>
                <a:ext cx="523605" cy="276999"/>
              </a:xfrm>
              <a:prstGeom prst="rect">
                <a:avLst/>
              </a:prstGeom>
              <a:blipFill>
                <a:blip r:embed="rId9"/>
                <a:stretch>
                  <a:fillRect l="-5814" t="-2222"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DB8702-BEDB-403F-BC0E-44FFF9444549}"/>
                  </a:ext>
                </a:extLst>
              </p:cNvPr>
              <p:cNvSpPr txBox="1"/>
              <p:nvPr/>
            </p:nvSpPr>
            <p:spPr>
              <a:xfrm>
                <a:off x="3641534" y="2841427"/>
                <a:ext cx="52867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DB8702-BEDB-403F-BC0E-44FFF9444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534" y="2841427"/>
                <a:ext cx="528671" cy="276999"/>
              </a:xfrm>
              <a:prstGeom prst="rect">
                <a:avLst/>
              </a:prstGeom>
              <a:blipFill>
                <a:blip r:embed="rId10"/>
                <a:stretch>
                  <a:fillRect l="-10345" t="-2174" r="-34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B802F3-4817-4650-99A6-1705113FDEB0}"/>
                  </a:ext>
                </a:extLst>
              </p:cNvPr>
              <p:cNvSpPr txBox="1"/>
              <p:nvPr/>
            </p:nvSpPr>
            <p:spPr>
              <a:xfrm>
                <a:off x="6381884" y="4044020"/>
                <a:ext cx="28631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regression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B802F3-4817-4650-99A6-1705113FD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884" y="4044020"/>
                <a:ext cx="2863156" cy="307777"/>
              </a:xfrm>
              <a:prstGeom prst="rect">
                <a:avLst/>
              </a:prstGeom>
              <a:blipFill>
                <a:blip r:embed="rId11"/>
                <a:stretch>
                  <a:fillRect l="-1702" r="-2553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69289A-D257-478A-ABE3-A381909EA5B1}"/>
                  </a:ext>
                </a:extLst>
              </p:cNvPr>
              <p:cNvSpPr txBox="1"/>
              <p:nvPr/>
            </p:nvSpPr>
            <p:spPr>
              <a:xfrm>
                <a:off x="6334450" y="4625950"/>
                <a:ext cx="43360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classification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69289A-D257-478A-ABE3-A381909EA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50" y="4625950"/>
                <a:ext cx="4336059" cy="307777"/>
              </a:xfrm>
              <a:prstGeom prst="rect">
                <a:avLst/>
              </a:prstGeom>
              <a:blipFill>
                <a:blip r:embed="rId12"/>
                <a:stretch>
                  <a:fillRect l="-985" t="-2000" r="-1125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139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Diagram&#10;&#10;Description automatically generated">
            <a:extLst>
              <a:ext uri="{FF2B5EF4-FFF2-40B4-BE49-F238E27FC236}">
                <a16:creationId xmlns:a16="http://schemas.microsoft.com/office/drawing/2014/main" id="{D403A612-80A3-435A-9F36-38F247CD1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667" y="1303781"/>
            <a:ext cx="5755900" cy="39898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608C0D-1C02-4A7D-99A5-029FC552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 (simplified)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BDE2501-811E-4BA3-B33B-86DE8A84D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754301"/>
              </p:ext>
            </p:extLst>
          </p:nvPr>
        </p:nvGraphicFramePr>
        <p:xfrm>
          <a:off x="3011488" y="0"/>
          <a:ext cx="907891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9079200" imgH="525960" progId="Paint.Picture">
                  <p:embed/>
                </p:oleObj>
              </mc:Choice>
              <mc:Fallback>
                <p:oleObj name="Bitmap Image" r:id="rId3" imgW="9079200" imgH="5259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1488" y="0"/>
                        <a:ext cx="9078912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937F4CA1-AA42-45F3-BE2C-6C82E50B9D0C}"/>
              </a:ext>
            </a:extLst>
          </p:cNvPr>
          <p:cNvGrpSpPr/>
          <p:nvPr/>
        </p:nvGrpSpPr>
        <p:grpSpPr>
          <a:xfrm>
            <a:off x="176219" y="1062453"/>
            <a:ext cx="7158323" cy="4190504"/>
            <a:chOff x="467536" y="2351321"/>
            <a:chExt cx="7158323" cy="419050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308CCB4-EDB2-4EC9-8F30-96FCC14C72EA}"/>
                </a:ext>
              </a:extLst>
            </p:cNvPr>
            <p:cNvGrpSpPr/>
            <p:nvPr/>
          </p:nvGrpSpPr>
          <p:grpSpPr>
            <a:xfrm>
              <a:off x="467536" y="2351321"/>
              <a:ext cx="7158323" cy="4190504"/>
              <a:chOff x="-192864" y="2351321"/>
              <a:chExt cx="7158323" cy="41905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AFACFE6-E84D-4A20-B0C1-F4C4660012EC}"/>
                      </a:ext>
                    </a:extLst>
                  </p:cNvPr>
                  <p:cNvSpPr txBox="1"/>
                  <p:nvPr/>
                </p:nvSpPr>
                <p:spPr>
                  <a:xfrm>
                    <a:off x="-192864" y="3771899"/>
                    <a:ext cx="1571071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−1&gt; =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AFACFE6-E84D-4A20-B0C1-F4C4660012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92864" y="3771899"/>
                    <a:ext cx="157107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38" t="-4348" r="-11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90B05627-4E74-4AFE-BA6C-6AE3537BFA81}"/>
                      </a:ext>
                    </a:extLst>
                  </p:cNvPr>
                  <p:cNvSpPr txBox="1"/>
                  <p:nvPr/>
                </p:nvSpPr>
                <p:spPr>
                  <a:xfrm>
                    <a:off x="5690943" y="3845945"/>
                    <a:ext cx="127451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90B05627-4E74-4AFE-BA6C-6AE3537BFA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90943" y="3845945"/>
                    <a:ext cx="127451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92" r="-14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FCC43AD-1670-44F2-AB7B-E79AC3FFD014}"/>
                      </a:ext>
                    </a:extLst>
                  </p:cNvPr>
                  <p:cNvSpPr txBox="1"/>
                  <p:nvPr/>
                </p:nvSpPr>
                <p:spPr>
                  <a:xfrm>
                    <a:off x="1225935" y="6264826"/>
                    <a:ext cx="52360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FCC43AD-1670-44F2-AB7B-E79AC3FFD0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935" y="6264826"/>
                    <a:ext cx="52360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814" r="-46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B311DFCD-FD3F-4883-862A-F4B360DFDCFB}"/>
                      </a:ext>
                    </a:extLst>
                  </p:cNvPr>
                  <p:cNvSpPr txBox="1"/>
                  <p:nvPr/>
                </p:nvSpPr>
                <p:spPr>
                  <a:xfrm>
                    <a:off x="5626727" y="2351321"/>
                    <a:ext cx="528671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B311DFCD-FD3F-4883-862A-F4B360DFDC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6727" y="2351321"/>
                    <a:ext cx="528671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465" r="-4651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C299E23-61C3-445C-8545-7DF2791B7D62}"/>
                    </a:ext>
                  </a:extLst>
                </p:cNvPr>
                <p:cNvSpPr txBox="1"/>
                <p:nvPr/>
              </p:nvSpPr>
              <p:spPr>
                <a:xfrm>
                  <a:off x="4184660" y="4563129"/>
                  <a:ext cx="2696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C299E23-61C3-445C-8545-7DF2791B7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660" y="4563129"/>
                  <a:ext cx="26962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0455" r="-2273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4A3F161-F987-4C5C-8DF6-CBDE512932F1}"/>
                    </a:ext>
                  </a:extLst>
                </p:cNvPr>
                <p:cNvSpPr txBox="1"/>
                <p:nvPr/>
              </p:nvSpPr>
              <p:spPr>
                <a:xfrm>
                  <a:off x="5782502" y="4598854"/>
                  <a:ext cx="5046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4A3F161-F987-4C5C-8DF6-CBDE51293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2502" y="4598854"/>
                  <a:ext cx="50462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6024" t="-4444" r="-36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ACB4539-9015-446A-8062-BC64AD857ADD}"/>
                    </a:ext>
                  </a:extLst>
                </p:cNvPr>
                <p:cNvSpPr txBox="1"/>
                <p:nvPr/>
              </p:nvSpPr>
              <p:spPr>
                <a:xfrm>
                  <a:off x="1234199" y="2888304"/>
                  <a:ext cx="20274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memory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cell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ACB4539-9015-446A-8062-BC64AD857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199" y="2888304"/>
                  <a:ext cx="202747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205" r="-2711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9C7F71-CE37-4BA9-93FC-FDCE19A5231B}"/>
                  </a:ext>
                </a:extLst>
              </p:cNvPr>
              <p:cNvSpPr txBox="1"/>
              <p:nvPr/>
            </p:nvSpPr>
            <p:spPr>
              <a:xfrm>
                <a:off x="7365571" y="1828981"/>
                <a:ext cx="4801892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9C7F71-CE37-4BA9-93FC-FDCE19A52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571" y="1828981"/>
                <a:ext cx="4801892" cy="4168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4667D6-C41F-4762-9383-3283D02B890F}"/>
                  </a:ext>
                </a:extLst>
              </p:cNvPr>
              <p:cNvSpPr txBox="1"/>
              <p:nvPr/>
            </p:nvSpPr>
            <p:spPr>
              <a:xfrm>
                <a:off x="7078352" y="3489953"/>
                <a:ext cx="413965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4667D6-C41F-4762-9383-3283D02B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52" y="3489953"/>
                <a:ext cx="4139659" cy="4168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66A8A6B-462F-4458-9A02-450FA17E946B}"/>
              </a:ext>
            </a:extLst>
          </p:cNvPr>
          <p:cNvSpPr txBox="1"/>
          <p:nvPr/>
        </p:nvSpPr>
        <p:spPr>
          <a:xfrm>
            <a:off x="7814263" y="2309993"/>
            <a:ext cx="437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capture long-term dependencies we store</a:t>
            </a:r>
            <a:br>
              <a:rPr lang="en-US" dirty="0"/>
            </a:br>
            <a:r>
              <a:rPr lang="en-US" dirty="0"/>
              <a:t>here the current candidate prediction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1275EE-64A1-48DC-9B9A-605DB26CC697}"/>
              </a:ext>
            </a:extLst>
          </p:cNvPr>
          <p:cNvSpPr txBox="1"/>
          <p:nvPr/>
        </p:nvSpPr>
        <p:spPr>
          <a:xfrm>
            <a:off x="7078352" y="4072770"/>
            <a:ext cx="49305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Update Gate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we model here the (soft) indicator to update (1) or</a:t>
            </a:r>
            <a:br>
              <a:rPr lang="en-US" dirty="0"/>
            </a:br>
            <a:r>
              <a:rPr lang="en-US" dirty="0"/>
              <a:t>not (0) the current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EFCD04-9B51-4079-BE32-F151C1197791}"/>
                  </a:ext>
                </a:extLst>
              </p:cNvPr>
              <p:cNvSpPr txBox="1"/>
              <p:nvPr/>
            </p:nvSpPr>
            <p:spPr>
              <a:xfrm>
                <a:off x="1165994" y="5653497"/>
                <a:ext cx="48940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EFCD04-9B51-4079-BE32-F151C1197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994" y="5653497"/>
                <a:ext cx="4894032" cy="369332"/>
              </a:xfrm>
              <a:prstGeom prst="rect">
                <a:avLst/>
              </a:prstGeom>
              <a:blipFill>
                <a:blip r:embed="rId15"/>
                <a:stretch>
                  <a:fillRect l="-374" t="-3279" r="-12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6C22967-C84A-423C-B8B8-381508161D9A}"/>
              </a:ext>
            </a:extLst>
          </p:cNvPr>
          <p:cNvSpPr txBox="1"/>
          <p:nvPr/>
        </p:nvSpPr>
        <p:spPr>
          <a:xfrm>
            <a:off x="1165994" y="6125657"/>
            <a:ext cx="5454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update close to 0 we keep previous value</a:t>
            </a:r>
            <a:br>
              <a:rPr lang="en-US" dirty="0"/>
            </a:br>
            <a:r>
              <a:rPr lang="en-US" dirty="0"/>
              <a:t>otherwise we perform update with candidate prediction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3A47BD-ADD4-4722-A4A7-80646050FEDE}"/>
              </a:ext>
            </a:extLst>
          </p:cNvPr>
          <p:cNvSpPr txBox="1"/>
          <p:nvPr/>
        </p:nvSpPr>
        <p:spPr>
          <a:xfrm>
            <a:off x="3414827" y="5036663"/>
            <a:ext cx="280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Element-wise multiplication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7BE6B66-94FE-4165-9B35-25D5FB7AD656}"/>
              </a:ext>
            </a:extLst>
          </p:cNvPr>
          <p:cNvCxnSpPr>
            <a:stCxn id="44" idx="2"/>
          </p:cNvCxnSpPr>
          <p:nvPr/>
        </p:nvCxnSpPr>
        <p:spPr>
          <a:xfrm flipH="1">
            <a:off x="2605222" y="5405995"/>
            <a:ext cx="2210919" cy="23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40F0B4-FE70-43FB-AB44-521366D0F648}"/>
              </a:ext>
            </a:extLst>
          </p:cNvPr>
          <p:cNvCxnSpPr>
            <a:stCxn id="44" idx="2"/>
          </p:cNvCxnSpPr>
          <p:nvPr/>
        </p:nvCxnSpPr>
        <p:spPr>
          <a:xfrm>
            <a:off x="4816141" y="5405995"/>
            <a:ext cx="130509" cy="259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9C3A667F-7ACD-44B8-918F-BF7C030E7C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20568" y="3175692"/>
            <a:ext cx="2094352" cy="516011"/>
          </a:xfrm>
          <a:prstGeom prst="curvedConnector3">
            <a:avLst>
              <a:gd name="adj1" fmla="val 99544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5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15" grpId="0"/>
      <p:bldP spid="16" grpId="0"/>
      <p:bldP spid="17" grpId="0"/>
      <p:bldP spid="19" grpId="0"/>
      <p:bldP spid="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Diagram&#10;&#10;Description automatically generated with low confidence">
            <a:extLst>
              <a:ext uri="{FF2B5EF4-FFF2-40B4-BE49-F238E27FC236}">
                <a16:creationId xmlns:a16="http://schemas.microsoft.com/office/drawing/2014/main" id="{1A8F6EAA-752F-4E9D-BDEC-334BD617A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061" y="1986883"/>
            <a:ext cx="5357748" cy="37138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FAFB3B-70D7-442F-88C0-41ADB9E5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GRU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A12EC-1599-43CB-996D-0A8B9B731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4850" y="1425575"/>
                <a:ext cx="10515600" cy="561308"/>
              </a:xfrm>
            </p:spPr>
            <p:txBody>
              <a:bodyPr/>
              <a:lstStyle/>
              <a:p>
                <a:r>
                  <a:rPr lang="en-US" dirty="0"/>
                  <a:t>Add a reset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A12EC-1599-43CB-996D-0A8B9B731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4850" y="1425575"/>
                <a:ext cx="10515600" cy="561308"/>
              </a:xfrm>
              <a:blipFill>
                <a:blip r:embed="rId3"/>
                <a:stretch>
                  <a:fillRect l="-1043" t="-18478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371F84-51F6-45BE-9B72-2E5C8A443315}"/>
                  </a:ext>
                </a:extLst>
              </p:cNvPr>
              <p:cNvSpPr txBox="1"/>
              <p:nvPr/>
            </p:nvSpPr>
            <p:spPr>
              <a:xfrm>
                <a:off x="792130" y="2207634"/>
                <a:ext cx="4801892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371F84-51F6-45BE-9B72-2E5C8A443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0" y="2207634"/>
                <a:ext cx="4801892" cy="4168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54AE78-B150-4DB1-BE9C-04DF2F559085}"/>
                  </a:ext>
                </a:extLst>
              </p:cNvPr>
              <p:cNvSpPr txBox="1"/>
              <p:nvPr/>
            </p:nvSpPr>
            <p:spPr>
              <a:xfrm>
                <a:off x="838200" y="3712408"/>
                <a:ext cx="413965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54AE78-B150-4DB1-BE9C-04DF2F559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12408"/>
                <a:ext cx="4139659" cy="4168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6FEFA5-5CCD-400C-8AC0-13311506BE06}"/>
                  </a:ext>
                </a:extLst>
              </p:cNvPr>
              <p:cNvSpPr txBox="1"/>
              <p:nvPr/>
            </p:nvSpPr>
            <p:spPr>
              <a:xfrm>
                <a:off x="792130" y="4456454"/>
                <a:ext cx="48940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6FEFA5-5CCD-400C-8AC0-13311506B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0" y="4456454"/>
                <a:ext cx="4894032" cy="369332"/>
              </a:xfrm>
              <a:prstGeom prst="rect">
                <a:avLst/>
              </a:prstGeom>
              <a:blipFill>
                <a:blip r:embed="rId6"/>
                <a:stretch>
                  <a:fillRect l="-498" t="-3279" r="-12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19DE50-6FBF-4059-856F-E38B1A031A89}"/>
                  </a:ext>
                </a:extLst>
              </p:cNvPr>
              <p:cNvSpPr txBox="1"/>
              <p:nvPr/>
            </p:nvSpPr>
            <p:spPr>
              <a:xfrm>
                <a:off x="838200" y="2207634"/>
                <a:ext cx="5357749" cy="4168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19DE50-6FBF-4059-856F-E38B1A031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07634"/>
                <a:ext cx="5357749" cy="4168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F525C-972B-4734-A164-ED21C33C264F}"/>
                  </a:ext>
                </a:extLst>
              </p:cNvPr>
              <p:cNvSpPr txBox="1"/>
              <p:nvPr/>
            </p:nvSpPr>
            <p:spPr>
              <a:xfrm>
                <a:off x="838200" y="3003590"/>
                <a:ext cx="4067717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F525C-972B-4734-A164-ED21C33C2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03590"/>
                <a:ext cx="4067717" cy="4168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5B400C-68DF-4744-B2ED-5A2B370E6168}"/>
                  </a:ext>
                </a:extLst>
              </p:cNvPr>
              <p:cNvSpPr txBox="1"/>
              <p:nvPr/>
            </p:nvSpPr>
            <p:spPr>
              <a:xfrm>
                <a:off x="6721527" y="5423778"/>
                <a:ext cx="523605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5B400C-68DF-4744-B2ED-5A2B370E6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527" y="5423778"/>
                <a:ext cx="523605" cy="276999"/>
              </a:xfrm>
              <a:prstGeom prst="rect">
                <a:avLst/>
              </a:prstGeom>
              <a:blipFill>
                <a:blip r:embed="rId9"/>
                <a:stretch>
                  <a:fillRect l="-5814" t="-2222"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01862D-3A9F-47BB-BDB1-AC6BC2A5861E}"/>
                  </a:ext>
                </a:extLst>
              </p:cNvPr>
              <p:cNvSpPr txBox="1"/>
              <p:nvPr/>
            </p:nvSpPr>
            <p:spPr>
              <a:xfrm>
                <a:off x="5351494" y="3073512"/>
                <a:ext cx="157107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−1&gt; =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01862D-3A9F-47BB-BDB1-AC6BC2A58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494" y="3073512"/>
                <a:ext cx="1571071" cy="276999"/>
              </a:xfrm>
              <a:prstGeom prst="rect">
                <a:avLst/>
              </a:prstGeom>
              <a:blipFill>
                <a:blip r:embed="rId10"/>
                <a:stretch>
                  <a:fillRect l="-1938" t="-4348" r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6CB483-B610-45AE-8677-3D327FC449BB}"/>
                  </a:ext>
                </a:extLst>
              </p:cNvPr>
              <p:cNvSpPr txBox="1"/>
              <p:nvPr/>
            </p:nvSpPr>
            <p:spPr>
              <a:xfrm>
                <a:off x="10327258" y="3852254"/>
                <a:ext cx="3166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6CB483-B610-45AE-8677-3D327FC44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7258" y="3852254"/>
                <a:ext cx="316633" cy="276999"/>
              </a:xfrm>
              <a:prstGeom prst="rect">
                <a:avLst/>
              </a:prstGeom>
              <a:blipFill>
                <a:blip r:embed="rId11"/>
                <a:stretch>
                  <a:fillRect l="-19231" t="-4444" r="-5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366CC8-53A3-4A39-A0F1-ED0F52F884F2}"/>
                  </a:ext>
                </a:extLst>
              </p:cNvPr>
              <p:cNvSpPr txBox="1"/>
              <p:nvPr/>
            </p:nvSpPr>
            <p:spPr>
              <a:xfrm>
                <a:off x="9321594" y="3843830"/>
                <a:ext cx="2696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366CC8-53A3-4A39-A0F1-ED0F52F88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94" y="3843830"/>
                <a:ext cx="269625" cy="276999"/>
              </a:xfrm>
              <a:prstGeom prst="rect">
                <a:avLst/>
              </a:prstGeom>
              <a:blipFill>
                <a:blip r:embed="rId12"/>
                <a:stretch>
                  <a:fillRect l="-18182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6BBEF1-C988-489B-A6D4-D3C6A429A659}"/>
                  </a:ext>
                </a:extLst>
              </p:cNvPr>
              <p:cNvSpPr txBox="1"/>
              <p:nvPr/>
            </p:nvSpPr>
            <p:spPr>
              <a:xfrm>
                <a:off x="8481667" y="3782330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6BBEF1-C988-489B-A6D4-D3C6A429A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667" y="3782330"/>
                <a:ext cx="255711" cy="276999"/>
              </a:xfrm>
              <a:prstGeom prst="rect">
                <a:avLst/>
              </a:prstGeom>
              <a:blipFill>
                <a:blip r:embed="rId13"/>
                <a:stretch>
                  <a:fillRect l="-21429" r="-238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831AD3-733C-452E-ABB0-0C42F3547FCA}"/>
                  </a:ext>
                </a:extLst>
              </p:cNvPr>
              <p:cNvSpPr txBox="1"/>
              <p:nvPr/>
            </p:nvSpPr>
            <p:spPr>
              <a:xfrm>
                <a:off x="10917484" y="3136460"/>
                <a:ext cx="127451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831AD3-733C-452E-ABB0-0C42F3547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484" y="3136460"/>
                <a:ext cx="1274516" cy="276999"/>
              </a:xfrm>
              <a:prstGeom prst="rect">
                <a:avLst/>
              </a:prstGeom>
              <a:blipFill>
                <a:blip r:embed="rId14"/>
                <a:stretch>
                  <a:fillRect l="-2392" t="-2222" r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D1EF9E-9326-4903-8DD3-2B5FBED626FD}"/>
                  </a:ext>
                </a:extLst>
              </p:cNvPr>
              <p:cNvSpPr txBox="1"/>
              <p:nvPr/>
            </p:nvSpPr>
            <p:spPr>
              <a:xfrm>
                <a:off x="10752230" y="1783542"/>
                <a:ext cx="52867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D1EF9E-9326-4903-8DD3-2B5FBED62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2230" y="1783542"/>
                <a:ext cx="528671" cy="276999"/>
              </a:xfrm>
              <a:prstGeom prst="rect">
                <a:avLst/>
              </a:prstGeom>
              <a:blipFill>
                <a:blip r:embed="rId15"/>
                <a:stretch>
                  <a:fillRect l="-10345" t="-2222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D5615D6-4645-40C6-A7A8-143FF769F500}"/>
              </a:ext>
            </a:extLst>
          </p:cNvPr>
          <p:cNvSpPr txBox="1"/>
          <p:nvPr/>
        </p:nvSpPr>
        <p:spPr>
          <a:xfrm>
            <a:off x="704850" y="5486400"/>
            <a:ext cx="49655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Reset controls how to consider the previous</a:t>
            </a:r>
            <a:br>
              <a:rPr lang="en-US" sz="2000" dirty="0"/>
            </a:br>
            <a:r>
              <a:rPr lang="en-US" sz="2000" dirty="0"/>
              <a:t>prediction (0 do not consider, 1 fully consider)</a:t>
            </a:r>
          </a:p>
        </p:txBody>
      </p:sp>
    </p:spTree>
    <p:extLst>
      <p:ext uri="{BB962C8B-B14F-4D97-AF65-F5344CB8AC3E}">
        <p14:creationId xmlns:p14="http://schemas.microsoft.com/office/powerpoint/2010/main" val="343248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8F26-4BDE-4C30-A948-983BDE92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LSTM: Long Short Term Memory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000914D-800D-4847-93B1-E6B9A2B78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242" y="1437444"/>
            <a:ext cx="5157787" cy="823912"/>
          </a:xfrm>
        </p:spPr>
        <p:txBody>
          <a:bodyPr/>
          <a:lstStyle/>
          <a:p>
            <a:r>
              <a:rPr lang="en-US" dirty="0"/>
              <a:t>GRU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71599E-8451-472F-828A-E7876731C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5949" y="1522906"/>
            <a:ext cx="5183188" cy="823912"/>
          </a:xfrm>
        </p:spPr>
        <p:txBody>
          <a:bodyPr/>
          <a:lstStyle/>
          <a:p>
            <a:r>
              <a:rPr lang="en-US" dirty="0"/>
              <a:t>LSTM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273CA76-69C1-4E9E-B49A-81C33AB76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302933"/>
              </p:ext>
            </p:extLst>
          </p:nvPr>
        </p:nvGraphicFramePr>
        <p:xfrm>
          <a:off x="5685784" y="33338"/>
          <a:ext cx="63976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396840" imgH="331560" progId="Paint.Picture">
                  <p:embed/>
                </p:oleObj>
              </mc:Choice>
              <mc:Fallback>
                <p:oleObj name="Bitmap Image" r:id="rId2" imgW="6396840" imgH="331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85784" y="33338"/>
                        <a:ext cx="6397625" cy="331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E1B3FB-E629-46AB-8027-146CAC172204}"/>
                  </a:ext>
                </a:extLst>
              </p:cNvPr>
              <p:cNvSpPr txBox="1"/>
              <p:nvPr/>
            </p:nvSpPr>
            <p:spPr>
              <a:xfrm>
                <a:off x="384242" y="3659041"/>
                <a:ext cx="413965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E1B3FB-E629-46AB-8027-146CAC172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2" y="3659041"/>
                <a:ext cx="4139659" cy="4168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E6E70-8128-416D-952A-1E98859A8E49}"/>
                  </a:ext>
                </a:extLst>
              </p:cNvPr>
              <p:cNvSpPr txBox="1"/>
              <p:nvPr/>
            </p:nvSpPr>
            <p:spPr>
              <a:xfrm>
                <a:off x="384242" y="4375389"/>
                <a:ext cx="48940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E6E70-8128-416D-952A-1E98859A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2" y="4375389"/>
                <a:ext cx="4894032" cy="369332"/>
              </a:xfrm>
              <a:prstGeom prst="rect">
                <a:avLst/>
              </a:prstGeom>
              <a:blipFill>
                <a:blip r:embed="rId6"/>
                <a:stretch>
                  <a:fillRect l="-374" t="-5000" r="-12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3C4AA-19FD-435C-B7D4-120A745EF5AE}"/>
                  </a:ext>
                </a:extLst>
              </p:cNvPr>
              <p:cNvSpPr txBox="1"/>
              <p:nvPr/>
            </p:nvSpPr>
            <p:spPr>
              <a:xfrm>
                <a:off x="384242" y="2401546"/>
                <a:ext cx="5357749" cy="4168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3C4AA-19FD-435C-B7D4-120A745EF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2" y="2401546"/>
                <a:ext cx="5357749" cy="4168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6A1B47-59F3-4F47-8484-98B66439AB98}"/>
                  </a:ext>
                </a:extLst>
              </p:cNvPr>
              <p:cNvSpPr txBox="1"/>
              <p:nvPr/>
            </p:nvSpPr>
            <p:spPr>
              <a:xfrm>
                <a:off x="384242" y="2977103"/>
                <a:ext cx="4067717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6A1B47-59F3-4F47-8484-98B66439A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2" y="2977103"/>
                <a:ext cx="4067717" cy="4168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4D0A2E-9EB7-4751-9A1B-FD672CDFE615}"/>
                  </a:ext>
                </a:extLst>
              </p:cNvPr>
              <p:cNvSpPr txBox="1"/>
              <p:nvPr/>
            </p:nvSpPr>
            <p:spPr>
              <a:xfrm>
                <a:off x="384242" y="4950946"/>
                <a:ext cx="17009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4D0A2E-9EB7-4751-9A1B-FD672CDFE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2" y="4950946"/>
                <a:ext cx="1700978" cy="369332"/>
              </a:xfrm>
              <a:prstGeom prst="rect">
                <a:avLst/>
              </a:prstGeom>
              <a:blipFill>
                <a:blip r:embed="rId9"/>
                <a:stretch>
                  <a:fillRect l="-1792" r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C660CB-9883-4A37-B305-4DF86486B39E}"/>
                  </a:ext>
                </a:extLst>
              </p:cNvPr>
              <p:cNvSpPr txBox="1"/>
              <p:nvPr/>
            </p:nvSpPr>
            <p:spPr>
              <a:xfrm>
                <a:off x="6334328" y="2427390"/>
                <a:ext cx="4824847" cy="4168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C660CB-9883-4A37-B305-4DF86486B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328" y="2427390"/>
                <a:ext cx="4824847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02CB53-4E1B-4CF4-BF1E-1B341427BFA9}"/>
                  </a:ext>
                </a:extLst>
              </p:cNvPr>
              <p:cNvSpPr txBox="1"/>
              <p:nvPr/>
            </p:nvSpPr>
            <p:spPr>
              <a:xfrm>
                <a:off x="6334328" y="3012155"/>
                <a:ext cx="4162613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02CB53-4E1B-4CF4-BF1E-1B341427B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328" y="3012155"/>
                <a:ext cx="4162613" cy="41684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2CE429-62E3-4D17-BB64-354406AA89FE}"/>
                  </a:ext>
                </a:extLst>
              </p:cNvPr>
              <p:cNvSpPr txBox="1"/>
              <p:nvPr/>
            </p:nvSpPr>
            <p:spPr>
              <a:xfrm>
                <a:off x="6286588" y="3588393"/>
                <a:ext cx="4258089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2CE429-62E3-4D17-BB64-354406AA8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88" y="3588393"/>
                <a:ext cx="4258089" cy="4253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4F41DA2-0AFE-4FB3-ACE3-15FA255B2387}"/>
              </a:ext>
            </a:extLst>
          </p:cNvPr>
          <p:cNvSpPr txBox="1"/>
          <p:nvPr/>
        </p:nvSpPr>
        <p:spPr>
          <a:xfrm>
            <a:off x="10696250" y="3630740"/>
            <a:ext cx="124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Forget</a:t>
            </a:r>
            <a:r>
              <a:rPr lang="en-US" dirty="0"/>
              <a:t>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6C5132-759D-4F85-BFF9-B4FE46ED6270}"/>
                  </a:ext>
                </a:extLst>
              </p:cNvPr>
              <p:cNvSpPr txBox="1"/>
              <p:nvPr/>
            </p:nvSpPr>
            <p:spPr>
              <a:xfrm>
                <a:off x="6286589" y="4134682"/>
                <a:ext cx="4258089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6C5132-759D-4F85-BFF9-B4FE46ED6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89" y="4134682"/>
                <a:ext cx="4258089" cy="4253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9E9D24B-655E-4A5D-86C7-1BC96137167B}"/>
              </a:ext>
            </a:extLst>
          </p:cNvPr>
          <p:cNvSpPr txBox="1"/>
          <p:nvPr/>
        </p:nvSpPr>
        <p:spPr>
          <a:xfrm>
            <a:off x="10696250" y="4129253"/>
            <a:ext cx="1326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</a:t>
            </a:r>
            <a:r>
              <a:rPr lang="en-US" dirty="0"/>
              <a:t>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FF3044-5494-427F-A10E-32BA96F41689}"/>
                  </a:ext>
                </a:extLst>
              </p:cNvPr>
              <p:cNvSpPr txBox="1"/>
              <p:nvPr/>
            </p:nvSpPr>
            <p:spPr>
              <a:xfrm>
                <a:off x="6334328" y="4801952"/>
                <a:ext cx="4202112" cy="405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FF3044-5494-427F-A10E-32BA96F41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328" y="4801952"/>
                <a:ext cx="4202112" cy="405624"/>
              </a:xfrm>
              <a:prstGeom prst="rect">
                <a:avLst/>
              </a:prstGeom>
              <a:blipFill>
                <a:blip r:embed="rId14"/>
                <a:stretch>
                  <a:fillRect t="-151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40688BC2-B824-4B04-A8FA-180EBDD66BF4}"/>
              </a:ext>
            </a:extLst>
          </p:cNvPr>
          <p:cNvSpPr txBox="1"/>
          <p:nvPr/>
        </p:nvSpPr>
        <p:spPr>
          <a:xfrm>
            <a:off x="10549992" y="4786577"/>
            <a:ext cx="1525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/>
              <a:t> to forget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6DB5FCB-3059-40F9-B31C-D68B4E544A69}"/>
                  </a:ext>
                </a:extLst>
              </p:cNvPr>
              <p:cNvSpPr txBox="1"/>
              <p:nvPr/>
            </p:nvSpPr>
            <p:spPr>
              <a:xfrm>
                <a:off x="6334328" y="5449473"/>
                <a:ext cx="31560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6DB5FCB-3059-40F9-B31C-D68B4E544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328" y="5449473"/>
                <a:ext cx="3156057" cy="369332"/>
              </a:xfrm>
              <a:prstGeom prst="rect">
                <a:avLst/>
              </a:prstGeom>
              <a:blipFill>
                <a:blip r:embed="rId15"/>
                <a:stretch>
                  <a:fillRect l="-772" r="-3089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603A45B-18B4-4484-AA26-E074DCFCB691}"/>
              </a:ext>
            </a:extLst>
          </p:cNvPr>
          <p:cNvSpPr txBox="1"/>
          <p:nvPr/>
        </p:nvSpPr>
        <p:spPr>
          <a:xfrm>
            <a:off x="10696250" y="3070757"/>
            <a:ext cx="134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Update</a:t>
            </a:r>
            <a:r>
              <a:rPr lang="en-US" dirty="0"/>
              <a:t> 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BE4AF-F01F-4C8A-A6DB-D338580D643F}"/>
              </a:ext>
            </a:extLst>
          </p:cNvPr>
          <p:cNvSpPr txBox="1"/>
          <p:nvPr/>
        </p:nvSpPr>
        <p:spPr>
          <a:xfrm>
            <a:off x="384242" y="6301719"/>
            <a:ext cx="845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models the possibility of keeping the old content </a:t>
            </a:r>
            <a:r>
              <a:rPr lang="en-US" b="1" dirty="0"/>
              <a:t>and adding it to </a:t>
            </a:r>
            <a:r>
              <a:rPr lang="en-US" dirty="0"/>
              <a:t>the new candidate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4D93F5-0E9F-4B9B-82CA-101D351100A1}"/>
              </a:ext>
            </a:extLst>
          </p:cNvPr>
          <p:cNvCxnSpPr>
            <a:stCxn id="3" idx="0"/>
          </p:cNvCxnSpPr>
          <p:nvPr/>
        </p:nvCxnSpPr>
        <p:spPr>
          <a:xfrm flipV="1">
            <a:off x="4613733" y="5135612"/>
            <a:ext cx="1720595" cy="11661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8C2FBB1-6AE0-4BEB-86B6-A8FD46528465}"/>
              </a:ext>
            </a:extLst>
          </p:cNvPr>
          <p:cNvSpPr txBox="1"/>
          <p:nvPr/>
        </p:nvSpPr>
        <p:spPr>
          <a:xfrm>
            <a:off x="327092" y="5832644"/>
            <a:ext cx="7730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models the possibility of keeping the old content </a:t>
            </a:r>
            <a:r>
              <a:rPr lang="en-US" b="1" dirty="0"/>
              <a:t>or</a:t>
            </a:r>
            <a:r>
              <a:rPr lang="en-US" dirty="0"/>
              <a:t> using the new candidate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13C447-B00A-4A3B-9F36-276FED7871E2}"/>
              </a:ext>
            </a:extLst>
          </p:cNvPr>
          <p:cNvCxnSpPr>
            <a:stCxn id="24" idx="0"/>
            <a:endCxn id="8" idx="2"/>
          </p:cNvCxnSpPr>
          <p:nvPr/>
        </p:nvCxnSpPr>
        <p:spPr>
          <a:xfrm flipH="1" flipV="1">
            <a:off x="2831258" y="4744721"/>
            <a:ext cx="1360963" cy="10879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1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  <p:bldP spid="2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CFE6-E2A7-4654-A51A-25A14233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0D026A-2A3A-4F07-8942-BECD3D4DD987}"/>
              </a:ext>
            </a:extLst>
          </p:cNvPr>
          <p:cNvGrpSpPr/>
          <p:nvPr/>
        </p:nvGrpSpPr>
        <p:grpSpPr>
          <a:xfrm>
            <a:off x="182366" y="1308271"/>
            <a:ext cx="5809266" cy="3737586"/>
            <a:chOff x="136970" y="1976237"/>
            <a:chExt cx="5809266" cy="3737586"/>
          </a:xfrm>
        </p:grpSpPr>
        <p:pic>
          <p:nvPicPr>
            <p:cNvPr id="4" name="Content Placeholder 4" descr="Diagram&#10;&#10;Description automatically generated">
              <a:extLst>
                <a:ext uri="{FF2B5EF4-FFF2-40B4-BE49-F238E27FC236}">
                  <a16:creationId xmlns:a16="http://schemas.microsoft.com/office/drawing/2014/main" id="{5469B040-61D2-4158-AB7E-7C2CB319D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663" y="2073311"/>
              <a:ext cx="5066692" cy="364051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5908C22-AD91-4527-87A0-40EAC6BADD61}"/>
                    </a:ext>
                  </a:extLst>
                </p:cNvPr>
                <p:cNvSpPr txBox="1"/>
                <p:nvPr/>
              </p:nvSpPr>
              <p:spPr>
                <a:xfrm>
                  <a:off x="136970" y="2690891"/>
                  <a:ext cx="977447" cy="30066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−1&gt; 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p/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5908C22-AD91-4527-87A0-40EAC6BAD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70" y="2690891"/>
                  <a:ext cx="977447" cy="300660"/>
                </a:xfrm>
                <a:prstGeom prst="rect">
                  <a:avLst/>
                </a:prstGeom>
                <a:blipFill>
                  <a:blip r:embed="rId3"/>
                  <a:stretch>
                    <a:fillRect l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76E44C9-DA69-4221-8E30-E2CD42F2C5E2}"/>
                    </a:ext>
                  </a:extLst>
                </p:cNvPr>
                <p:cNvSpPr txBox="1"/>
                <p:nvPr/>
              </p:nvSpPr>
              <p:spPr>
                <a:xfrm>
                  <a:off x="165144" y="4655878"/>
                  <a:ext cx="74103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76E44C9-DA69-4221-8E30-E2CD42F2C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44" y="4655878"/>
                  <a:ext cx="74103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132" t="-4348" r="-33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3D1B9ED-7086-4B9D-B643-69151C2D3A31}"/>
                    </a:ext>
                  </a:extLst>
                </p:cNvPr>
                <p:cNvSpPr txBox="1"/>
                <p:nvPr/>
              </p:nvSpPr>
              <p:spPr>
                <a:xfrm>
                  <a:off x="1114417" y="5436824"/>
                  <a:ext cx="52360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3D1B9ED-7086-4B9D-B643-69151C2D3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417" y="5436824"/>
                  <a:ext cx="52360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814" r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F785512-6B56-4B32-A73B-B1D7BF9AC807}"/>
                    </a:ext>
                  </a:extLst>
                </p:cNvPr>
                <p:cNvSpPr txBox="1"/>
                <p:nvPr/>
              </p:nvSpPr>
              <p:spPr>
                <a:xfrm>
                  <a:off x="4734051" y="1976237"/>
                  <a:ext cx="52867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F785512-6B56-4B32-A73B-B1D7BF9AC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051" y="1976237"/>
                  <a:ext cx="52867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0345" t="-2222" r="-344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C9B47C-7898-4C89-A078-2B014FEE4AD1}"/>
                    </a:ext>
                  </a:extLst>
                </p:cNvPr>
                <p:cNvSpPr txBox="1"/>
                <p:nvPr/>
              </p:nvSpPr>
              <p:spPr>
                <a:xfrm>
                  <a:off x="5424811" y="4574814"/>
                  <a:ext cx="52142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C9B47C-7898-4C89-A078-2B014FEE4A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4811" y="4574814"/>
                  <a:ext cx="52142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5814" t="-2222" r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D8E0224-920C-4BA4-82D5-C2BF836B456A}"/>
                    </a:ext>
                  </a:extLst>
                </p:cNvPr>
                <p:cNvSpPr txBox="1"/>
                <p:nvPr/>
              </p:nvSpPr>
              <p:spPr>
                <a:xfrm>
                  <a:off x="5171826" y="2635859"/>
                  <a:ext cx="50462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D8E0224-920C-4BA4-82D5-C2BF836B4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826" y="2635859"/>
                  <a:ext cx="50462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6024" t="-2222" r="-36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872780C-4E6B-4E35-84BF-3FDBB74467C8}"/>
                    </a:ext>
                  </a:extLst>
                </p:cNvPr>
                <p:cNvSpPr txBox="1"/>
                <p:nvPr/>
              </p:nvSpPr>
              <p:spPr>
                <a:xfrm>
                  <a:off x="1319719" y="3605443"/>
                  <a:ext cx="252184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872780C-4E6B-4E35-84BF-3FDBB7446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9719" y="3605443"/>
                  <a:ext cx="252184" cy="299249"/>
                </a:xfrm>
                <a:prstGeom prst="rect">
                  <a:avLst/>
                </a:prstGeom>
                <a:blipFill>
                  <a:blip r:embed="rId9"/>
                  <a:stretch>
                    <a:fillRect l="-24390" r="-17073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63672E1-4DE4-442C-8C1E-10F10B110A38}"/>
                    </a:ext>
                  </a:extLst>
                </p:cNvPr>
                <p:cNvSpPr txBox="1"/>
                <p:nvPr/>
              </p:nvSpPr>
              <p:spPr>
                <a:xfrm>
                  <a:off x="2103775" y="3377120"/>
                  <a:ext cx="2725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63672E1-4DE4-442C-8C1E-10F10B110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3775" y="3377120"/>
                  <a:ext cx="27251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2727" r="-2273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23CC65C-D02F-45CF-B794-7EE508092C7B}"/>
                    </a:ext>
                  </a:extLst>
                </p:cNvPr>
                <p:cNvSpPr txBox="1"/>
                <p:nvPr/>
              </p:nvSpPr>
              <p:spPr>
                <a:xfrm>
                  <a:off x="3334945" y="3336850"/>
                  <a:ext cx="2584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23CC65C-D02F-45CF-B794-7EE508092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4945" y="3336850"/>
                  <a:ext cx="25840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3810" r="-7143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9781D27-219B-4C7B-A4FF-B2B2C2AEEAA7}"/>
                    </a:ext>
                  </a:extLst>
                </p:cNvPr>
                <p:cNvSpPr txBox="1"/>
                <p:nvPr/>
              </p:nvSpPr>
              <p:spPr>
                <a:xfrm>
                  <a:off x="2910692" y="3766192"/>
                  <a:ext cx="31663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9781D27-219B-4C7B-A4FF-B2B2C2AEE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692" y="3766192"/>
                  <a:ext cx="316633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9231" t="-2174" r="-5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A5DE0F-13FF-4A4E-B6EF-0D50D954E0D7}"/>
                  </a:ext>
                </a:extLst>
              </p:cNvPr>
              <p:cNvSpPr txBox="1"/>
              <p:nvPr/>
            </p:nvSpPr>
            <p:spPr>
              <a:xfrm>
                <a:off x="6988884" y="225213"/>
                <a:ext cx="4824847" cy="4168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A5DE0F-13FF-4A4E-B6EF-0D50D954E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84" y="225213"/>
                <a:ext cx="4824847" cy="4168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B56645-4C30-43C8-BB75-92359468CC87}"/>
                  </a:ext>
                </a:extLst>
              </p:cNvPr>
              <p:cNvSpPr txBox="1"/>
              <p:nvPr/>
            </p:nvSpPr>
            <p:spPr>
              <a:xfrm>
                <a:off x="6988884" y="809978"/>
                <a:ext cx="4162613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B56645-4C30-43C8-BB75-92359468C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84" y="809978"/>
                <a:ext cx="4162613" cy="4168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BB29BB-5909-4714-967D-D326E2082ACD}"/>
                  </a:ext>
                </a:extLst>
              </p:cNvPr>
              <p:cNvSpPr txBox="1"/>
              <p:nvPr/>
            </p:nvSpPr>
            <p:spPr>
              <a:xfrm>
                <a:off x="6941144" y="1386216"/>
                <a:ext cx="4258089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BB29BB-5909-4714-967D-D326E2082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44" y="1386216"/>
                <a:ext cx="4258089" cy="42537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CC8206-D285-4153-84A1-8F4D90C3C1B6}"/>
                  </a:ext>
                </a:extLst>
              </p:cNvPr>
              <p:cNvSpPr txBox="1"/>
              <p:nvPr/>
            </p:nvSpPr>
            <p:spPr>
              <a:xfrm>
                <a:off x="6941145" y="1932505"/>
                <a:ext cx="4258089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−1&gt;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CC8206-D285-4153-84A1-8F4D90C3C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45" y="1932505"/>
                <a:ext cx="4258089" cy="42537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FA045B-49D1-45A1-9E87-8905B29F2AB7}"/>
                  </a:ext>
                </a:extLst>
              </p:cNvPr>
              <p:cNvSpPr txBox="1"/>
              <p:nvPr/>
            </p:nvSpPr>
            <p:spPr>
              <a:xfrm>
                <a:off x="6988884" y="2599775"/>
                <a:ext cx="4202112" cy="405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−1&gt;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FA045B-49D1-45A1-9E87-8905B29F2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84" y="2599775"/>
                <a:ext cx="4202112" cy="405624"/>
              </a:xfrm>
              <a:prstGeom prst="rect">
                <a:avLst/>
              </a:prstGeom>
              <a:blipFill>
                <a:blip r:embed="rId17"/>
                <a:stretch>
                  <a:fillRect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72E14E2-C55C-423A-9EDA-4E284F20EF7C}"/>
                  </a:ext>
                </a:extLst>
              </p:cNvPr>
              <p:cNvSpPr txBox="1"/>
              <p:nvPr/>
            </p:nvSpPr>
            <p:spPr>
              <a:xfrm>
                <a:off x="6988884" y="3247296"/>
                <a:ext cx="31560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72E14E2-C55C-423A-9EDA-4E284F20E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84" y="3247296"/>
                <a:ext cx="3156057" cy="369332"/>
              </a:xfrm>
              <a:prstGeom prst="rect">
                <a:avLst/>
              </a:prstGeom>
              <a:blipFill>
                <a:blip r:embed="rId18"/>
                <a:stretch>
                  <a:fillRect l="-772" t="-1667" r="-3089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0BA767-0F5D-415E-8649-917628C3E6E9}"/>
                  </a:ext>
                </a:extLst>
              </p:cNvPr>
              <p:cNvSpPr txBox="1"/>
              <p:nvPr/>
            </p:nvSpPr>
            <p:spPr>
              <a:xfrm>
                <a:off x="6988884" y="3858525"/>
                <a:ext cx="4902945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e>
                      </m:d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classification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0BA767-0F5D-415E-8649-917628C3E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84" y="3858525"/>
                <a:ext cx="4902945" cy="41684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60CA27B-0D7B-4D71-8923-5F7B5F9EE802}"/>
              </a:ext>
            </a:extLst>
          </p:cNvPr>
          <p:cNvSpPr txBox="1"/>
          <p:nvPr/>
        </p:nvSpPr>
        <p:spPr>
          <a:xfrm>
            <a:off x="376136" y="5473430"/>
            <a:ext cx="97699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Forget gate </a:t>
            </a:r>
            <a:r>
              <a:rPr lang="en-US" sz="2000" dirty="0"/>
              <a:t>is used to forget/no forget past memory cell</a:t>
            </a:r>
            <a:br>
              <a:rPr lang="en-US" sz="2000" dirty="0"/>
            </a:br>
            <a:r>
              <a:rPr lang="en-US" sz="2000" b="1" dirty="0"/>
              <a:t>Update gate </a:t>
            </a:r>
            <a:r>
              <a:rPr lang="en-US" sz="2000" dirty="0"/>
              <a:t>is used to propose update of memory cell eventually composed with past value</a:t>
            </a:r>
          </a:p>
          <a:p>
            <a:r>
              <a:rPr lang="en-US" sz="2000" b="1" dirty="0"/>
              <a:t>Output gate </a:t>
            </a:r>
            <a:r>
              <a:rPr lang="en-US" sz="2000" dirty="0"/>
              <a:t>is used to determine how much of memory cell to output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3E28CFC-C92A-49B3-8CD2-79CA8314582F}"/>
              </a:ext>
            </a:extLst>
          </p:cNvPr>
          <p:cNvCxnSpPr/>
          <p:nvPr/>
        </p:nvCxnSpPr>
        <p:spPr>
          <a:xfrm flipV="1">
            <a:off x="1076528" y="3616628"/>
            <a:ext cx="408561" cy="1933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3403A1-C61C-4F72-852F-71836F4D112B}"/>
              </a:ext>
            </a:extLst>
          </p:cNvPr>
          <p:cNvCxnSpPr>
            <a:cxnSpLocks/>
          </p:cNvCxnSpPr>
          <p:nvPr/>
        </p:nvCxnSpPr>
        <p:spPr>
          <a:xfrm flipV="1">
            <a:off x="1504739" y="3664299"/>
            <a:ext cx="1820474" cy="2518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487860-7EA3-49EE-9C74-488F214DF47F}"/>
              </a:ext>
            </a:extLst>
          </p:cNvPr>
          <p:cNvCxnSpPr>
            <a:cxnSpLocks/>
          </p:cNvCxnSpPr>
          <p:nvPr/>
        </p:nvCxnSpPr>
        <p:spPr>
          <a:xfrm flipV="1">
            <a:off x="1159813" y="3780817"/>
            <a:ext cx="941893" cy="2057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C71472-8E38-445E-BE93-7328CD699486}"/>
              </a:ext>
            </a:extLst>
          </p:cNvPr>
          <p:cNvSpPr/>
          <p:nvPr/>
        </p:nvSpPr>
        <p:spPr>
          <a:xfrm>
            <a:off x="8534400" y="809978"/>
            <a:ext cx="1670050" cy="4553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3094A36-98ED-4756-B270-03D27F3F8E95}"/>
              </a:ext>
            </a:extLst>
          </p:cNvPr>
          <p:cNvSpPr/>
          <p:nvPr/>
        </p:nvSpPr>
        <p:spPr>
          <a:xfrm>
            <a:off x="8507825" y="1371241"/>
            <a:ext cx="1670050" cy="4553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A913BD1-D307-411C-BD24-257679DEB091}"/>
              </a:ext>
            </a:extLst>
          </p:cNvPr>
          <p:cNvSpPr/>
          <p:nvPr/>
        </p:nvSpPr>
        <p:spPr>
          <a:xfrm>
            <a:off x="8534400" y="1910712"/>
            <a:ext cx="1670050" cy="4553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09E6EE-6A08-4911-A259-F935C9AAF54E}"/>
              </a:ext>
            </a:extLst>
          </p:cNvPr>
          <p:cNvSpPr/>
          <p:nvPr/>
        </p:nvSpPr>
        <p:spPr>
          <a:xfrm>
            <a:off x="1365115" y="3247296"/>
            <a:ext cx="615443" cy="5335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0D3D085-6A79-4D07-8F98-3AB92E14773D}"/>
              </a:ext>
            </a:extLst>
          </p:cNvPr>
          <p:cNvSpPr/>
          <p:nvPr/>
        </p:nvSpPr>
        <p:spPr>
          <a:xfrm>
            <a:off x="1883782" y="3241722"/>
            <a:ext cx="615443" cy="5335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A8DFA0-CB67-441E-9020-91DD310D4591}"/>
              </a:ext>
            </a:extLst>
          </p:cNvPr>
          <p:cNvSpPr/>
          <p:nvPr/>
        </p:nvSpPr>
        <p:spPr>
          <a:xfrm>
            <a:off x="3167033" y="3234957"/>
            <a:ext cx="615443" cy="5335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7205877-18D3-4A13-9EEB-A956AB2FC5AA}"/>
              </a:ext>
            </a:extLst>
          </p:cNvPr>
          <p:cNvSpPr/>
          <p:nvPr/>
        </p:nvSpPr>
        <p:spPr>
          <a:xfrm>
            <a:off x="9239250" y="225213"/>
            <a:ext cx="1625600" cy="41684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E35AE53-632C-407C-BECE-063AA1E4BE01}"/>
              </a:ext>
            </a:extLst>
          </p:cNvPr>
          <p:cNvSpPr/>
          <p:nvPr/>
        </p:nvSpPr>
        <p:spPr>
          <a:xfrm>
            <a:off x="2499225" y="3241722"/>
            <a:ext cx="667808" cy="52675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7F133C-2B37-4616-8ABC-8C7C1A40DF8E}"/>
                  </a:ext>
                </a:extLst>
              </p:cNvPr>
              <p:cNvSpPr txBox="1"/>
              <p:nvPr/>
            </p:nvSpPr>
            <p:spPr>
              <a:xfrm>
                <a:off x="7014167" y="4264911"/>
                <a:ext cx="32590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regression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7F133C-2B37-4616-8ABC-8C7C1A40D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167" y="4264911"/>
                <a:ext cx="3259097" cy="369332"/>
              </a:xfrm>
              <a:prstGeom prst="rect">
                <a:avLst/>
              </a:prstGeom>
              <a:blipFill>
                <a:blip r:embed="rId20"/>
                <a:stretch>
                  <a:fillRect l="-1498" t="-1667" r="-243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17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9" grpId="0" animBg="1"/>
      <p:bldP spid="30" grpId="0" animBg="1"/>
      <p:bldP spid="15" grpId="0" animBg="1"/>
      <p:bldP spid="32" grpId="0" animBg="1"/>
      <p:bldP spid="33" grpId="0" animBg="1"/>
      <p:bldP spid="26" grpId="0" animBg="1"/>
      <p:bldP spid="3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8DE2D25-FBCA-4214-9763-55BDFCEAC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787638"/>
              </p:ext>
            </p:extLst>
          </p:nvPr>
        </p:nvGraphicFramePr>
        <p:xfrm>
          <a:off x="312739" y="350838"/>
          <a:ext cx="4183062" cy="2684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977800" imgH="3836520" progId="Paint.Picture">
                  <p:embed/>
                </p:oleObj>
              </mc:Choice>
              <mc:Fallback>
                <p:oleObj name="Bitmap Image" r:id="rId2" imgW="5977800" imgH="38365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2739" y="350838"/>
                        <a:ext cx="4183062" cy="2684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F131550-2D6A-4537-9234-708A5B589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573873"/>
              </p:ext>
            </p:extLst>
          </p:nvPr>
        </p:nvGraphicFramePr>
        <p:xfrm>
          <a:off x="146844" y="2857500"/>
          <a:ext cx="11898312" cy="260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1898720" imgH="2602080" progId="Paint.Picture">
                  <p:embed/>
                </p:oleObj>
              </mc:Choice>
              <mc:Fallback>
                <p:oleObj name="Bitmap Image" r:id="rId4" imgW="11898720" imgH="26020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844" y="2857500"/>
                        <a:ext cx="11898312" cy="2601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6DA01A-A543-4A8F-8845-4B388578E9D7}"/>
                  </a:ext>
                </a:extLst>
              </p:cNvPr>
              <p:cNvSpPr txBox="1"/>
              <p:nvPr/>
            </p:nvSpPr>
            <p:spPr>
              <a:xfrm>
                <a:off x="215900" y="5905500"/>
                <a:ext cx="11696343" cy="678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Notice that if forget and update gates are suitably set, a given content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dirty="0"/>
                  <a:t> can be kept along the next time steps (memory)</a:t>
                </a:r>
              </a:p>
              <a:p>
                <a:r>
                  <a:rPr lang="en-US" dirty="0"/>
                  <a:t>NB dimensions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the same (In </a:t>
                </a:r>
                <a:r>
                  <a:rPr lang="en-US" dirty="0" err="1"/>
                  <a:t>Keras</a:t>
                </a:r>
                <a:r>
                  <a:rPr lang="en-US" dirty="0"/>
                  <a:t> they are the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units</a:t>
                </a:r>
                <a:r>
                  <a:rPr lang="en-US" dirty="0"/>
                  <a:t> argument of LSTM layer)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6DA01A-A543-4A8F-8845-4B388578E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5905500"/>
                <a:ext cx="11696343" cy="678904"/>
              </a:xfrm>
              <a:prstGeom prst="rect">
                <a:avLst/>
              </a:prstGeom>
              <a:blipFill>
                <a:blip r:embed="rId7"/>
                <a:stretch>
                  <a:fillRect l="-417" t="-3604" r="-52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712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6E20-0413-44E4-B2C4-24F567B4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809F5-2592-49F5-8A79-8095106F0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Attention models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Transformers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2A81D30-CF38-4E67-8E9D-0517C3FE81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870409"/>
              </p:ext>
            </p:extLst>
          </p:nvPr>
        </p:nvGraphicFramePr>
        <p:xfrm>
          <a:off x="1187030" y="2427592"/>
          <a:ext cx="11004970" cy="365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983640" imgH="232560" progId="Paint.Picture">
                  <p:embed/>
                </p:oleObj>
              </mc:Choice>
              <mc:Fallback>
                <p:oleObj name="Bitmap Image" r:id="rId2" imgW="6983640" imgH="232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7030" y="2427592"/>
                        <a:ext cx="11004970" cy="365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F38C422-9785-48A5-B5BB-1EF7895C6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39746"/>
              </p:ext>
            </p:extLst>
          </p:nvPr>
        </p:nvGraphicFramePr>
        <p:xfrm>
          <a:off x="1187030" y="4318349"/>
          <a:ext cx="6345742" cy="333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808160" imgH="251640" progId="Paint.Picture">
                  <p:embed/>
                </p:oleObj>
              </mc:Choice>
              <mc:Fallback>
                <p:oleObj name="Bitmap Image" r:id="rId4" imgW="4808160" imgH="2516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7030" y="4318349"/>
                        <a:ext cx="6345742" cy="333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1959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96377F1C-0F4F-4E8D-9A01-C1EBDBF5C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6687"/>
            <a:ext cx="114300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32AF4F7-EC9C-42F0-A719-52F0D3BA07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31025"/>
              </p:ext>
            </p:extLst>
          </p:nvPr>
        </p:nvGraphicFramePr>
        <p:xfrm>
          <a:off x="1303338" y="4337050"/>
          <a:ext cx="257277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379160" imgH="986760" progId="Paint.Picture">
                  <p:embed/>
                </p:oleObj>
              </mc:Choice>
              <mc:Fallback>
                <p:oleObj name="Bitmap Image" r:id="rId3" imgW="1379160" imgH="986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3338" y="4337050"/>
                        <a:ext cx="2572770" cy="184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6B81519-7F7E-4D8E-8625-440D99522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918507"/>
              </p:ext>
            </p:extLst>
          </p:nvPr>
        </p:nvGraphicFramePr>
        <p:xfrm>
          <a:off x="5487988" y="3930650"/>
          <a:ext cx="3350124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367640" imgH="948600" progId="Paint.Picture">
                  <p:embed/>
                </p:oleObj>
              </mc:Choice>
              <mc:Fallback>
                <p:oleObj name="Bitmap Image" r:id="rId5" imgW="1367640" imgH="948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7988" y="3930650"/>
                        <a:ext cx="3350124" cy="232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BF0CAAD-3662-4583-B4A1-B8471D400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778614"/>
              </p:ext>
            </p:extLst>
          </p:nvPr>
        </p:nvGraphicFramePr>
        <p:xfrm>
          <a:off x="5972784" y="3605212"/>
          <a:ext cx="5965892" cy="363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6176160" imgH="3760560" progId="Paint.Picture">
                  <p:embed/>
                </p:oleObj>
              </mc:Choice>
              <mc:Fallback>
                <p:oleObj name="Bitmap Image" r:id="rId7" imgW="6176160" imgH="3760560" progId="Paint.Pictur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45FA744-F52E-463F-8F1A-15D818AEB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72784" y="3605212"/>
                        <a:ext cx="5965892" cy="363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5572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0DBA-75D4-46A0-8A61-E44C72AC7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LSTM layer in </a:t>
            </a:r>
            <a:r>
              <a:rPr lang="en-US" dirty="0" err="1"/>
              <a:t>Keras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1AF92-9615-4777-8567-67C5C595A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410700" cy="1655762"/>
          </a:xfrm>
        </p:spPr>
        <p:txBody>
          <a:bodyPr/>
          <a:lstStyle/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keras.layers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LSTM</a:t>
            </a:r>
          </a:p>
          <a:p>
            <a:pPr algn="l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LSTM(units,…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return_sequence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=False,…stateful=False)</a:t>
            </a:r>
          </a:p>
        </p:txBody>
      </p:sp>
    </p:spTree>
    <p:extLst>
      <p:ext uri="{BB962C8B-B14F-4D97-AF65-F5344CB8AC3E}">
        <p14:creationId xmlns:p14="http://schemas.microsoft.com/office/powerpoint/2010/main" val="453983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8E19-ADB2-4539-A850-DBBC66EE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arguments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20CD5-F767-406F-8A18-613435D6E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172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units: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integer.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Size of content/hidden/output vectors</a:t>
                </a:r>
              </a:p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activation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: Activation function to use for content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)/hidden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) state. Default: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tanh</a:t>
                </a:r>
              </a:p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recurrent_activation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+mj-lt"/>
                    <a:cs typeface="Times New Roman" panose="02020603050405020304" pitchFamily="18" charset="0"/>
                  </a:rPr>
                  <a:t>Activation function to use for the recurrent step (input, forget and output gates). Default: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sigmoid</a:t>
                </a:r>
              </a:p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dropout: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float between 0 and 1. Fraction of the units to drop for the linear transformation of the inputs. Default: 0</a:t>
                </a:r>
              </a:p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recurrent_dropout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: float between 0 and 1. Fraction of the units to drop for the linear transformation of the recurrent state. Default: 0</a:t>
                </a:r>
              </a:p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return_sequences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: </a:t>
                </a:r>
                <a:r>
                  <a:rPr lang="en-US" dirty="0" err="1">
                    <a:latin typeface="+mj-lt"/>
                    <a:cs typeface="Courier New" panose="02070309020205020404" pitchFamily="49" charset="0"/>
                  </a:rPr>
                  <a:t>boolean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. Whether to return the last output in the output sequence, or the full sequence. Default: False</a:t>
                </a:r>
              </a:p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stateful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: Boolean. If True, the last state for each sample at index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in a batch will be used as initial state for the sample of index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+mj-lt"/>
                    <a:cs typeface="Courier New" panose="02070309020205020404" pitchFamily="49" charset="0"/>
                  </a:rPr>
                  <a:t> in the following batch. Default False.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20CD5-F767-406F-8A18-613435D6E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1725"/>
              </a:xfrm>
              <a:blipFill>
                <a:blip r:embed="rId2"/>
                <a:stretch>
                  <a:fillRect l="-928" t="-3102" r="-696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014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ManyToMany">
            <a:extLst>
              <a:ext uri="{FF2B5EF4-FFF2-40B4-BE49-F238E27FC236}">
                <a16:creationId xmlns:a16="http://schemas.microsoft.com/office/drawing/2014/main" id="{B134B080-CDF2-413D-A895-DC8138DDC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559" y="150858"/>
            <a:ext cx="8724901" cy="655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E93063-C5E7-431E-90E6-01556D0D9FE5}"/>
                  </a:ext>
                </a:extLst>
              </p:cNvPr>
              <p:cNvSpPr txBox="1"/>
              <p:nvPr/>
            </p:nvSpPr>
            <p:spPr>
              <a:xfrm>
                <a:off x="186872" y="222250"/>
                <a:ext cx="1785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features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E93063-C5E7-431E-90E6-01556D0D9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72" y="222250"/>
                <a:ext cx="1785232" cy="276999"/>
              </a:xfrm>
              <a:prstGeom prst="rect">
                <a:avLst/>
              </a:prstGeom>
              <a:blipFill>
                <a:blip r:embed="rId3"/>
                <a:stretch>
                  <a:fillRect l="-2730" t="-2174" r="-4096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222BFF7-5723-451A-92B3-06A19CF9F05E}"/>
              </a:ext>
            </a:extLst>
          </p:cNvPr>
          <p:cNvSpPr txBox="1"/>
          <p:nvPr/>
        </p:nvSpPr>
        <p:spPr>
          <a:xfrm>
            <a:off x="7561481" y="5632450"/>
            <a:ext cx="1168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batch_size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63C43-09BF-4A3E-9EF9-36AC043AFC08}"/>
              </a:ext>
            </a:extLst>
          </p:cNvPr>
          <p:cNvSpPr txBox="1"/>
          <p:nvPr/>
        </p:nvSpPr>
        <p:spPr>
          <a:xfrm>
            <a:off x="9032736" y="5632450"/>
            <a:ext cx="1217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time_steps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ADD57-080D-4B9D-AD14-F3BAF0BC0CF2}"/>
              </a:ext>
            </a:extLst>
          </p:cNvPr>
          <p:cNvSpPr txBox="1"/>
          <p:nvPr/>
        </p:nvSpPr>
        <p:spPr>
          <a:xfrm>
            <a:off x="10538615" y="5632450"/>
            <a:ext cx="1069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#features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D66E63-1F49-4B7F-A66E-4E754F0D2285}"/>
              </a:ext>
            </a:extLst>
          </p:cNvPr>
          <p:cNvCxnSpPr>
            <a:stCxn id="3" idx="0"/>
          </p:cNvCxnSpPr>
          <p:nvPr/>
        </p:nvCxnSpPr>
        <p:spPr>
          <a:xfrm flipV="1">
            <a:off x="8145680" y="4965700"/>
            <a:ext cx="1036420" cy="666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E48F25-0EBD-4E98-9036-F49B389B127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9641333" y="5010150"/>
            <a:ext cx="499617" cy="622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331D72-8B9B-4C1C-B159-DB65A2D41821}"/>
              </a:ext>
            </a:extLst>
          </p:cNvPr>
          <p:cNvCxnSpPr>
            <a:cxnSpLocks/>
          </p:cNvCxnSpPr>
          <p:nvPr/>
        </p:nvCxnSpPr>
        <p:spPr>
          <a:xfrm flipH="1" flipV="1">
            <a:off x="10655300" y="5010150"/>
            <a:ext cx="489440" cy="622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871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StandardManyToMany">
            <a:extLst>
              <a:ext uri="{FF2B5EF4-FFF2-40B4-BE49-F238E27FC236}">
                <a16:creationId xmlns:a16="http://schemas.microsoft.com/office/drawing/2014/main" id="{819B7EB9-57D0-4977-AFF1-EEAEE50D7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487" y="342900"/>
            <a:ext cx="3534019" cy="576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C93255-26D9-4270-ABF7-25B21D332D17}"/>
              </a:ext>
            </a:extLst>
          </p:cNvPr>
          <p:cNvSpPr txBox="1"/>
          <p:nvPr/>
        </p:nvSpPr>
        <p:spPr>
          <a:xfrm>
            <a:off x="2736850" y="6026150"/>
            <a:ext cx="7353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outputs = LSTM(units,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return_sequences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=True)(inputs)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#output_shape -&gt;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steps, units)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FCC99-1557-42A4-8988-5A7FB62FBD0D}"/>
              </a:ext>
            </a:extLst>
          </p:cNvPr>
          <p:cNvSpPr txBox="1"/>
          <p:nvPr/>
        </p:nvSpPr>
        <p:spPr>
          <a:xfrm>
            <a:off x="3606800" y="342900"/>
            <a:ext cx="1532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Standard</a:t>
            </a:r>
          </a:p>
        </p:txBody>
      </p:sp>
    </p:spTree>
    <p:extLst>
      <p:ext uri="{BB962C8B-B14F-4D97-AF65-F5344CB8AC3E}">
        <p14:creationId xmlns:p14="http://schemas.microsoft.com/office/powerpoint/2010/main" val="3006560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ManyToOne">
            <a:extLst>
              <a:ext uri="{FF2B5EF4-FFF2-40B4-BE49-F238E27FC236}">
                <a16:creationId xmlns:a16="http://schemas.microsoft.com/office/drawing/2014/main" id="{45766D9D-5CA5-4C52-8691-AE31F00C0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713" y="152400"/>
            <a:ext cx="6973456" cy="513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EA54D9-E17B-4913-B952-FD026070F892}"/>
              </a:ext>
            </a:extLst>
          </p:cNvPr>
          <p:cNvSpPr txBox="1"/>
          <p:nvPr/>
        </p:nvSpPr>
        <p:spPr>
          <a:xfrm>
            <a:off x="1993900" y="5734050"/>
            <a:ext cx="88697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outputs = LSTM(units)(inputs)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#output_shape -&gt;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units) --&gt; steps were discarded,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#only the last was returned</a:t>
            </a:r>
          </a:p>
        </p:txBody>
      </p:sp>
    </p:spTree>
    <p:extLst>
      <p:ext uri="{BB962C8B-B14F-4D97-AF65-F5344CB8AC3E}">
        <p14:creationId xmlns:p14="http://schemas.microsoft.com/office/powerpoint/2010/main" val="281564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OneToManyRepeat">
            <a:extLst>
              <a:ext uri="{FF2B5EF4-FFF2-40B4-BE49-F238E27FC236}">
                <a16:creationId xmlns:a16="http://schemas.microsoft.com/office/drawing/2014/main" id="{68729B05-EA3E-48A7-8755-0A38B4BD6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759564"/>
            <a:ext cx="7016750" cy="458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54BA7D-325E-4848-B666-7ADF76B97C0C}"/>
              </a:ext>
            </a:extLst>
          </p:cNvPr>
          <p:cNvSpPr txBox="1"/>
          <p:nvPr/>
        </p:nvSpPr>
        <p:spPr>
          <a:xfrm>
            <a:off x="3546904" y="63500"/>
            <a:ext cx="5098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One-to-many with repeated input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9630E-08EC-4812-9564-52A617778229}"/>
              </a:ext>
            </a:extLst>
          </p:cNvPr>
          <p:cNvSpPr txBox="1"/>
          <p:nvPr/>
        </p:nvSpPr>
        <p:spPr>
          <a:xfrm>
            <a:off x="1308100" y="5498271"/>
            <a:ext cx="9972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RepeatVector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(steps)(inputs) #where inputs is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batch,features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outputs = LSTM(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units,return_sequences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=True)(outputs)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#output_shape -&gt;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steps, units) </a:t>
            </a:r>
          </a:p>
        </p:txBody>
      </p:sp>
    </p:spTree>
    <p:extLst>
      <p:ext uri="{BB962C8B-B14F-4D97-AF65-F5344CB8AC3E}">
        <p14:creationId xmlns:p14="http://schemas.microsoft.com/office/powerpoint/2010/main" val="39030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54BA7D-325E-4848-B666-7ADF76B97C0C}"/>
              </a:ext>
            </a:extLst>
          </p:cNvPr>
          <p:cNvSpPr txBox="1"/>
          <p:nvPr/>
        </p:nvSpPr>
        <p:spPr>
          <a:xfrm>
            <a:off x="3546904" y="63500"/>
            <a:ext cx="4818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Steteful</a:t>
            </a:r>
            <a:r>
              <a:rPr lang="en-US" sz="2800" dirty="0"/>
              <a:t> LSTM vs Stateless LSTM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9630E-08EC-4812-9564-52A617778229}"/>
              </a:ext>
            </a:extLst>
          </p:cNvPr>
          <p:cNvSpPr txBox="1"/>
          <p:nvPr/>
        </p:nvSpPr>
        <p:spPr>
          <a:xfrm>
            <a:off x="1308100" y="5498271"/>
            <a:ext cx="9972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RepeatVector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(steps)(inputs) #where inputs is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batch,features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outputs = LSTM(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units,return_sequences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=True)(outputs)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#output_shape -&gt;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steps, units)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F8267-F73E-4D59-BB0A-D82BFE24A9F8}"/>
              </a:ext>
            </a:extLst>
          </p:cNvPr>
          <p:cNvSpPr txBox="1"/>
          <p:nvPr/>
        </p:nvSpPr>
        <p:spPr>
          <a:xfrm>
            <a:off x="692151" y="1073150"/>
            <a:ext cx="10795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Stateless LSTM: after every batch the model is reset</a:t>
            </a:r>
          </a:p>
          <a:p>
            <a:r>
              <a:rPr lang="en-US" dirty="0"/>
              <a:t>Stateful=True: every new batch will be interpreted as continuing the previous batch; </a:t>
            </a:r>
            <a:r>
              <a:rPr lang="en-US" dirty="0" err="1"/>
              <a:t>i.e</a:t>
            </a:r>
            <a:r>
              <a:rPr lang="en-US" dirty="0"/>
              <a:t>, the sample sequence at index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 is continued as the sample at index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 in the next batch; for this reason if an LSTM is stateful, a complete </a:t>
            </a:r>
            <a:r>
              <a:rPr lang="en-US" dirty="0" err="1"/>
              <a:t>input_shape</a:t>
            </a:r>
            <a:r>
              <a:rPr lang="en-US" dirty="0"/>
              <a:t> must be provided (including batch size)</a:t>
            </a:r>
          </a:p>
          <a:p>
            <a:endParaRPr lang="en-US" dirty="0"/>
          </a:p>
          <a:p>
            <a:r>
              <a:rPr lang="en-US" dirty="0"/>
              <a:t>Serve quando </a:t>
            </a:r>
            <a:r>
              <a:rPr lang="en-US" dirty="0" err="1"/>
              <a:t>c`è</a:t>
            </a:r>
            <a:r>
              <a:rPr lang="en-US" dirty="0"/>
              <a:t> </a:t>
            </a:r>
            <a:r>
              <a:rPr lang="en-US" dirty="0" err="1"/>
              <a:t>periodicità</a:t>
            </a:r>
            <a:r>
              <a:rPr lang="en-US" dirty="0"/>
              <a:t>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sequenze</a:t>
            </a:r>
            <a:r>
              <a:rPr lang="en-US" dirty="0"/>
              <a:t> e </a:t>
            </a:r>
            <a:r>
              <a:rPr lang="en-US" dirty="0" err="1"/>
              <a:t>quindi</a:t>
            </a:r>
            <a:r>
              <a:rPr lang="en-US" dirty="0"/>
              <a:t> devo divider I batch </a:t>
            </a:r>
            <a:r>
              <a:rPr lang="en-US" dirty="0" err="1"/>
              <a:t>seguendo</a:t>
            </a:r>
            <a:r>
              <a:rPr lang="en-US" dirty="0"/>
              <a:t> </a:t>
            </a:r>
            <a:r>
              <a:rPr lang="en-US" dirty="0" err="1"/>
              <a:t>quella</a:t>
            </a:r>
            <a:r>
              <a:rPr lang="en-US" dirty="0"/>
              <a:t> periodicit1a ed </a:t>
            </a:r>
            <a:r>
              <a:rPr lang="en-US" dirty="0" err="1"/>
              <a:t>evitare</a:t>
            </a:r>
            <a:br>
              <a:rPr lang="en-US" dirty="0"/>
            </a:br>
            <a:r>
              <a:rPr lang="en-US" dirty="0"/>
              <a:t>lo shuffling </a:t>
            </a:r>
            <a:r>
              <a:rPr lang="en-US" dirty="0" err="1"/>
              <a:t>dell’input</a:t>
            </a:r>
            <a:r>
              <a:rPr lang="en-US" dirty="0"/>
              <a:t>  (la </a:t>
            </a:r>
            <a:r>
              <a:rPr lang="en-US" dirty="0" err="1"/>
              <a:t>sequenza</a:t>
            </a:r>
            <a:r>
              <a:rPr lang="en-US" dirty="0"/>
              <a:t> n.10 </a:t>
            </a:r>
            <a:r>
              <a:rPr lang="en-US" dirty="0" err="1"/>
              <a:t>nel</a:t>
            </a:r>
            <a:r>
              <a:rPr lang="en-US" dirty="0"/>
              <a:t> batch </a:t>
            </a:r>
            <a:r>
              <a:rPr lang="en-US" dirty="0" err="1"/>
              <a:t>numero</a:t>
            </a:r>
            <a:r>
              <a:rPr lang="en-US" dirty="0"/>
              <a:t> 1 </a:t>
            </a:r>
            <a:r>
              <a:rPr lang="en-US" dirty="0" err="1"/>
              <a:t>e’correlate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sequenza</a:t>
            </a:r>
            <a:r>
              <a:rPr lang="en-US" dirty="0"/>
              <a:t> n. 10 </a:t>
            </a:r>
            <a:r>
              <a:rPr lang="en-US"/>
              <a:t>del batch 2,3,4,….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F6073-99D3-4345-B1C1-D5816564C518}"/>
              </a:ext>
            </a:extLst>
          </p:cNvPr>
          <p:cNvSpPr txBox="1"/>
          <p:nvPr/>
        </p:nvSpPr>
        <p:spPr>
          <a:xfrm>
            <a:off x="2152650" y="3905250"/>
            <a:ext cx="6056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https://medium.com/@jroessl/lstm-with-keras-4c4db55dd349</a:t>
            </a:r>
          </a:p>
        </p:txBody>
      </p:sp>
    </p:spTree>
    <p:extLst>
      <p:ext uri="{BB962C8B-B14F-4D97-AF65-F5344CB8AC3E}">
        <p14:creationId xmlns:p14="http://schemas.microsoft.com/office/powerpoint/2010/main" val="2390528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ManyToManyStateful">
            <a:extLst>
              <a:ext uri="{FF2B5EF4-FFF2-40B4-BE49-F238E27FC236}">
                <a16:creationId xmlns:a16="http://schemas.microsoft.com/office/drawing/2014/main" id="{4204643B-6B5A-4FF3-BFE8-EFED071BF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" y="222250"/>
            <a:ext cx="5954453" cy="30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0B37C5-7246-4AF2-B07E-587F68AB9F08}"/>
              </a:ext>
            </a:extLst>
          </p:cNvPr>
          <p:cNvSpPr txBox="1"/>
          <p:nvPr/>
        </p:nvSpPr>
        <p:spPr>
          <a:xfrm>
            <a:off x="6299200" y="381000"/>
            <a:ext cx="5626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 = LSTM(units=features, </a:t>
            </a:r>
          </a:p>
          <a:p>
            <a:r>
              <a:rPr lang="en-US" dirty="0"/>
              <a:t>               stateful=True, </a:t>
            </a:r>
          </a:p>
          <a:p>
            <a:r>
              <a:rPr lang="en-US" dirty="0"/>
              <a:t>               </a:t>
            </a:r>
            <a:r>
              <a:rPr lang="en-US" dirty="0" err="1"/>
              <a:t>return_sequences</a:t>
            </a:r>
            <a:r>
              <a:rPr lang="en-US" dirty="0"/>
              <a:t>=True, </a:t>
            </a:r>
          </a:p>
          <a:p>
            <a:r>
              <a:rPr lang="en-US" dirty="0"/>
              <a:t>               </a:t>
            </a:r>
            <a:r>
              <a:rPr lang="en-US" dirty="0" err="1"/>
              <a:t>input_shape</a:t>
            </a:r>
            <a:r>
              <a:rPr lang="en-US" dirty="0"/>
              <a:t>=(</a:t>
            </a:r>
            <a:r>
              <a:rPr lang="en-US" dirty="0" err="1"/>
              <a:t>None,features</a:t>
            </a:r>
            <a:r>
              <a:rPr lang="en-US" dirty="0"/>
              <a:t>))(inputs) </a:t>
            </a:r>
          </a:p>
          <a:p>
            <a:r>
              <a:rPr lang="en-US" dirty="0"/>
              <a:t>    #units = features because we want to use the outputs as inputs</a:t>
            </a:r>
          </a:p>
          <a:p>
            <a:r>
              <a:rPr lang="en-US" dirty="0"/>
              <a:t>    #None because we want variable length</a:t>
            </a:r>
          </a:p>
          <a:p>
            <a:endParaRPr lang="en-US" dirty="0"/>
          </a:p>
          <a:p>
            <a:r>
              <a:rPr lang="en-US" dirty="0"/>
              <a:t>#output_shape -&gt; (</a:t>
            </a:r>
            <a:r>
              <a:rPr lang="en-US" dirty="0" err="1"/>
              <a:t>batch_size</a:t>
            </a:r>
            <a:r>
              <a:rPr lang="en-US" dirty="0"/>
              <a:t>, steps, units)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8A2E6-2F36-41E1-9727-A7316C5FBCE9}"/>
              </a:ext>
            </a:extLst>
          </p:cNvPr>
          <p:cNvSpPr txBox="1"/>
          <p:nvPr/>
        </p:nvSpPr>
        <p:spPr>
          <a:xfrm>
            <a:off x="527050" y="3613150"/>
            <a:ext cx="713573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Training:</a:t>
            </a:r>
            <a:br>
              <a:rPr lang="en-US" dirty="0"/>
            </a:br>
            <a:r>
              <a:rPr lang="en-US" dirty="0" err="1"/>
              <a:t>totalSequences</a:t>
            </a:r>
            <a:r>
              <a:rPr lang="en-US" dirty="0"/>
              <a:t> = </a:t>
            </a:r>
            <a:r>
              <a:rPr lang="en-US" dirty="0" err="1"/>
              <a:t>someSequencesShaped</a:t>
            </a:r>
            <a:r>
              <a:rPr lang="en-US" dirty="0"/>
              <a:t>((batch, steps, features))</a:t>
            </a:r>
          </a:p>
          <a:p>
            <a:r>
              <a:rPr lang="en-US" dirty="0"/>
              <a:t>    #batch size is usually 1 in these cases </a:t>
            </a:r>
          </a:p>
          <a:p>
            <a:endParaRPr lang="en-US" dirty="0"/>
          </a:p>
          <a:p>
            <a:r>
              <a:rPr lang="en-US" dirty="0"/>
              <a:t>X = </a:t>
            </a:r>
            <a:r>
              <a:rPr lang="en-US" dirty="0" err="1"/>
              <a:t>totalSequences</a:t>
            </a:r>
            <a:r>
              <a:rPr lang="en-US" dirty="0"/>
              <a:t>[:,:-1] #the entire known sequence, except the last step</a:t>
            </a:r>
          </a:p>
          <a:p>
            <a:r>
              <a:rPr lang="en-US" dirty="0"/>
              <a:t>Y = </a:t>
            </a:r>
            <a:r>
              <a:rPr lang="en-US" dirty="0" err="1"/>
              <a:t>totalSequences</a:t>
            </a:r>
            <a:r>
              <a:rPr lang="en-US" dirty="0"/>
              <a:t>[:,1:] #one step ahead of X</a:t>
            </a:r>
          </a:p>
          <a:p>
            <a:endParaRPr lang="en-US" dirty="0"/>
          </a:p>
          <a:p>
            <a:r>
              <a:rPr lang="en-US" dirty="0"/>
              <a:t>#loop for resetting states at the start/end of the sequences:</a:t>
            </a:r>
          </a:p>
          <a:p>
            <a:r>
              <a:rPr lang="en-US" dirty="0"/>
              <a:t>for epoch in range(epochs):</a:t>
            </a:r>
          </a:p>
          <a:p>
            <a:r>
              <a:rPr lang="en-US" dirty="0"/>
              <a:t>    </a:t>
            </a:r>
            <a:r>
              <a:rPr lang="en-US" dirty="0" err="1"/>
              <a:t>model.reset_states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model.train_on_batch</a:t>
            </a:r>
            <a:r>
              <a:rPr lang="en-US" dirty="0"/>
              <a:t>(X,Y)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9B1AB-856B-4805-B438-418E500F8C0C}"/>
              </a:ext>
            </a:extLst>
          </p:cNvPr>
          <p:cNvSpPr txBox="1"/>
          <p:nvPr/>
        </p:nvSpPr>
        <p:spPr>
          <a:xfrm>
            <a:off x="7662786" y="2920652"/>
            <a:ext cx="476643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Predict:</a:t>
            </a:r>
            <a:br>
              <a:rPr lang="en-US" dirty="0"/>
            </a:br>
            <a:r>
              <a:rPr lang="en-US" dirty="0" err="1"/>
              <a:t>model.reset_states</a:t>
            </a:r>
            <a:r>
              <a:rPr lang="en-US" dirty="0"/>
              <a:t>() #starting a new sequence</a:t>
            </a:r>
          </a:p>
          <a:p>
            <a:r>
              <a:rPr lang="en-US" dirty="0"/>
              <a:t>predicted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totalSequences</a:t>
            </a:r>
            <a:r>
              <a:rPr lang="en-US" dirty="0"/>
              <a:t>)</a:t>
            </a:r>
          </a:p>
          <a:p>
            <a:r>
              <a:rPr lang="en-US" dirty="0" err="1"/>
              <a:t>firstNewStep</a:t>
            </a:r>
            <a:r>
              <a:rPr lang="en-US" dirty="0"/>
              <a:t> = predicted[:,-1:] </a:t>
            </a:r>
            <a:br>
              <a:rPr lang="en-US" dirty="0"/>
            </a:br>
            <a:r>
              <a:rPr lang="en-US" dirty="0"/>
              <a:t>#the last step of the pred. is the first future step</a:t>
            </a:r>
          </a:p>
          <a:p>
            <a:r>
              <a:rPr lang="en-US" dirty="0" err="1"/>
              <a:t>output_sequence</a:t>
            </a:r>
            <a:r>
              <a:rPr lang="en-US" dirty="0"/>
              <a:t> = [</a:t>
            </a:r>
            <a:r>
              <a:rPr lang="en-US" dirty="0" err="1"/>
              <a:t>firstNewStep</a:t>
            </a:r>
            <a:r>
              <a:rPr lang="en-US" dirty="0"/>
              <a:t>]</a:t>
            </a:r>
          </a:p>
          <a:p>
            <a:r>
              <a:rPr lang="en-US" dirty="0" err="1"/>
              <a:t>last_step</a:t>
            </a:r>
            <a:r>
              <a:rPr lang="en-US" dirty="0"/>
              <a:t> = </a:t>
            </a:r>
            <a:r>
              <a:rPr lang="en-US" dirty="0" err="1"/>
              <a:t>firstNewStep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steps_to_predict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new_step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last_step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output_sequence.append</a:t>
            </a:r>
            <a:r>
              <a:rPr lang="en-US" dirty="0"/>
              <a:t>(</a:t>
            </a:r>
            <a:r>
              <a:rPr lang="en-US" dirty="0" err="1"/>
              <a:t>new_step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last_step</a:t>
            </a:r>
            <a:r>
              <a:rPr lang="en-US" dirty="0"/>
              <a:t> = </a:t>
            </a:r>
            <a:r>
              <a:rPr lang="en-US" dirty="0" err="1"/>
              <a:t>new_step</a:t>
            </a:r>
            <a:endParaRPr lang="en-US" dirty="0"/>
          </a:p>
          <a:p>
            <a:endParaRPr lang="en-US" dirty="0"/>
          </a:p>
          <a:p>
            <a:r>
              <a:rPr lang="en-US" dirty="0"/>
              <a:t> #end of the sequences</a:t>
            </a:r>
          </a:p>
          <a:p>
            <a:r>
              <a:rPr lang="en-US" dirty="0"/>
              <a:t> </a:t>
            </a:r>
            <a:r>
              <a:rPr lang="en-US" dirty="0" err="1"/>
              <a:t>model.reset_states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45904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2947-D8E4-4905-93CC-1A3FD25C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e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A2BF-1C69-4EE0-8C57-8F93B0008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https://www.analyticsvidhya.com/blog/2019/11/comprehensive-guide-attention-mechanism-deep-learning/</a:t>
            </a:r>
          </a:p>
        </p:txBody>
      </p:sp>
    </p:spTree>
    <p:extLst>
      <p:ext uri="{BB962C8B-B14F-4D97-AF65-F5344CB8AC3E}">
        <p14:creationId xmlns:p14="http://schemas.microsoft.com/office/powerpoint/2010/main" val="282945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2253</Words>
  <Application>Microsoft Office PowerPoint</Application>
  <PresentationFormat>Widescreen</PresentationFormat>
  <Paragraphs>319</Paragraphs>
  <Slides>41</Slides>
  <Notes>0</Notes>
  <HiddenSlides>5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Bitmap Image</vt:lpstr>
      <vt:lpstr>Recurrent Neural Networks</vt:lpstr>
      <vt:lpstr>PowerPoint Presentation</vt:lpstr>
      <vt:lpstr>Different types of Sequence Modeling Tasks</vt:lpstr>
      <vt:lpstr>PowerPoint Presentation</vt:lpstr>
      <vt:lpstr>PowerPoint Presentation</vt:lpstr>
      <vt:lpstr>PowerPoint Presentation</vt:lpstr>
      <vt:lpstr>Motivating example: name entity recognition</vt:lpstr>
      <vt:lpstr>NLP example: representing words</vt:lpstr>
      <vt:lpstr>Why not a standard network?</vt:lpstr>
      <vt:lpstr>1D Convolution</vt:lpstr>
      <vt:lpstr>RNN: Recurrent Neural Network</vt:lpstr>
      <vt:lpstr>Forward propagation</vt:lpstr>
      <vt:lpstr>Simplified notation</vt:lpstr>
      <vt:lpstr>PowerPoint Presentation</vt:lpstr>
      <vt:lpstr>PowerPoint Presentation</vt:lpstr>
      <vt:lpstr>PowerPoint Presentation</vt:lpstr>
      <vt:lpstr>Language model and sequence generation</vt:lpstr>
      <vt:lpstr>Speech recognition</vt:lpstr>
      <vt:lpstr>Language modeling with RNN</vt:lpstr>
      <vt:lpstr>PowerPoint Presentation</vt:lpstr>
      <vt:lpstr>Generating random sentences</vt:lpstr>
      <vt:lpstr>Sequence generation</vt:lpstr>
      <vt:lpstr>Vocabulary</vt:lpstr>
      <vt:lpstr>Vanishing or exploding gradient</vt:lpstr>
      <vt:lpstr>Standard RNN</vt:lpstr>
      <vt:lpstr>GRU (simplified)</vt:lpstr>
      <vt:lpstr>Full GRU</vt:lpstr>
      <vt:lpstr>LSTM: Long Short Term Memory</vt:lpstr>
      <vt:lpstr>LSTM</vt:lpstr>
      <vt:lpstr>PowerPoint Presentation</vt:lpstr>
      <vt:lpstr>Current trends</vt:lpstr>
      <vt:lpstr>PowerPoint Presentation</vt:lpstr>
      <vt:lpstr>LSTM layer in Keras</vt:lpstr>
      <vt:lpstr>Main arguments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Attention e transformers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Luigi Portinale</dc:creator>
  <cp:lastModifiedBy>Luigi Portinale</cp:lastModifiedBy>
  <cp:revision>127</cp:revision>
  <dcterms:created xsi:type="dcterms:W3CDTF">2021-02-24T09:45:16Z</dcterms:created>
  <dcterms:modified xsi:type="dcterms:W3CDTF">2025-04-29T10:02:29Z</dcterms:modified>
</cp:coreProperties>
</file>